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4"/>
  </p:notesMasterIdLst>
  <p:handoutMasterIdLst>
    <p:handoutMasterId r:id="rId35"/>
  </p:handoutMasterIdLst>
  <p:sldIdLst>
    <p:sldId id="438" r:id="rId5"/>
    <p:sldId id="439" r:id="rId6"/>
    <p:sldId id="440" r:id="rId7"/>
    <p:sldId id="432" r:id="rId8"/>
    <p:sldId id="279" r:id="rId9"/>
    <p:sldId id="420" r:id="rId10"/>
    <p:sldId id="276" r:id="rId11"/>
    <p:sldId id="417" r:id="rId12"/>
    <p:sldId id="418" r:id="rId13"/>
    <p:sldId id="287" r:id="rId14"/>
    <p:sldId id="419" r:id="rId15"/>
    <p:sldId id="442" r:id="rId16"/>
    <p:sldId id="431" r:id="rId17"/>
    <p:sldId id="428" r:id="rId18"/>
    <p:sldId id="441" r:id="rId19"/>
    <p:sldId id="293" r:id="rId20"/>
    <p:sldId id="427" r:id="rId21"/>
    <p:sldId id="330" r:id="rId22"/>
    <p:sldId id="412" r:id="rId23"/>
    <p:sldId id="414" r:id="rId24"/>
    <p:sldId id="407" r:id="rId25"/>
    <p:sldId id="437" r:id="rId26"/>
    <p:sldId id="422" r:id="rId27"/>
    <p:sldId id="415" r:id="rId28"/>
    <p:sldId id="410" r:id="rId29"/>
    <p:sldId id="433" r:id="rId30"/>
    <p:sldId id="413" r:id="rId31"/>
    <p:sldId id="421" r:id="rId32"/>
    <p:sldId id="348" r:id="rId33"/>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EEEEEE"/>
    <a:srgbClr val="E2E2E2"/>
    <a:srgbClr val="FFFFEB"/>
    <a:srgbClr val="FFFFD9"/>
    <a:srgbClr val="EFF5FB"/>
    <a:srgbClr val="E5EDFB"/>
    <a:srgbClr val="FFFFB3"/>
    <a:srgbClr val="ECF3FA"/>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p:scale>
          <a:sx n="220" d="100"/>
          <a:sy n="220" d="100"/>
        </p:scale>
        <p:origin x="572" y="-2212"/>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2025-03-25</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2025-03-25</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19. MAR.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C161FDB-3F03-49CE-6FE9-BF408FB45720}"/>
              </a:ext>
            </a:extLst>
          </p:cNvPr>
          <p:cNvSpPr txBox="1"/>
          <p:nvPr userDrawn="1"/>
        </p:nvSpPr>
        <p:spPr>
          <a:xfrm rot="18900000">
            <a:off x="1549127" y="4537500"/>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mn-ea"/>
                <a:ea typeface="+mn-ea"/>
              </a:rPr>
              <a:t>Preliminary</a:t>
            </a:r>
            <a:endParaRPr lang="ko-KR" altLang="en-US" sz="5400" b="1" dirty="0">
              <a:solidFill>
                <a:srgbClr val="EFEFEF"/>
              </a:solidFill>
              <a:latin typeface="+mn-ea"/>
              <a:ea typeface="+mn-ea"/>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XD04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895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High-Current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XD04 is a 4-channel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high-current sink driver for mini-LED Backlight display applications in AM direct driving methodology. It supports max 128mA and 80V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indication signal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XD04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364057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551952"/>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80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(8/16/24/32/48/64/92/128mA)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brightness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dimming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detection level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generating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a:t>
            </a:r>
            <a:r>
              <a:rPr lang="en-US" altLang="ko-KR" sz="1000" dirty="0">
                <a:latin typeface="Arial" panose="020B0604020202020204" pitchFamily="34" charset="0"/>
                <a:ea typeface="Arial" panose="020B0604020202020204" pitchFamily="34" charset="0"/>
                <a:cs typeface="굴림" panose="020B0600000101010101" pitchFamily="50" charset="-127"/>
              </a:rPr>
              <a:t>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(T</a:t>
            </a:r>
            <a:r>
              <a:rPr lang="en-US" altLang="ko-KR" sz="1000" baseline="-25000" dirty="0">
                <a:effectLst/>
                <a:latin typeface="Arial" panose="020B0604020202020204" pitchFamily="34" charset="0"/>
                <a:ea typeface="Yu Mincho Light" panose="02020300000000000000" pitchFamily="18" charset="-128"/>
                <a:cs typeface="Arial" panose="020B0604020202020204" pitchFamily="34" charset="0"/>
              </a:rPr>
              <a:t>J</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 150℃)</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3921949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92846" y="4957321"/>
            <a:ext cx="14713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20192"/>
            <a:ext cx="169734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2.  Application scheme</a:t>
            </a:r>
          </a:p>
        </p:txBody>
      </p:sp>
      <p:grpSp>
        <p:nvGrpSpPr>
          <p:cNvPr id="4" name="그룹 3">
            <a:extLst>
              <a:ext uri="{FF2B5EF4-FFF2-40B4-BE49-F238E27FC236}">
                <a16:creationId xmlns:a16="http://schemas.microsoft.com/office/drawing/2014/main" id="{E6974948-0F8C-F975-B9B5-17CDE8DAC999}"/>
              </a:ext>
            </a:extLst>
          </p:cNvPr>
          <p:cNvGrpSpPr/>
          <p:nvPr/>
        </p:nvGrpSpPr>
        <p:grpSpPr>
          <a:xfrm>
            <a:off x="419100" y="6013688"/>
            <a:ext cx="6156000" cy="2244494"/>
            <a:chOff x="419100" y="6013688"/>
            <a:chExt cx="6156000" cy="2244494"/>
          </a:xfrm>
        </p:grpSpPr>
        <p:pic>
          <p:nvPicPr>
            <p:cNvPr id="11" name="그림 10">
              <a:extLst>
                <a:ext uri="{FF2B5EF4-FFF2-40B4-BE49-F238E27FC236}">
                  <a16:creationId xmlns:a16="http://schemas.microsoft.com/office/drawing/2014/main" id="{A4720236-66FA-4AA4-1910-F68E17B5A73F}"/>
                </a:ext>
              </a:extLst>
            </p:cNvPr>
            <p:cNvPicPr>
              <a:picLocks noChangeAspect="1"/>
            </p:cNvPicPr>
            <p:nvPr/>
          </p:nvPicPr>
          <p:blipFill>
            <a:blip r:embed="rId2"/>
            <a:stretch>
              <a:fillRect/>
            </a:stretch>
          </p:blipFill>
          <p:spPr>
            <a:xfrm>
              <a:off x="419100" y="6013688"/>
              <a:ext cx="6156000" cy="2244494"/>
            </a:xfrm>
            <a:prstGeom prst="rect">
              <a:avLst/>
            </a:prstGeom>
          </p:spPr>
        </p:pic>
        <p:sp>
          <p:nvSpPr>
            <p:cNvPr id="2" name="TextBox 1">
              <a:extLst>
                <a:ext uri="{FF2B5EF4-FFF2-40B4-BE49-F238E27FC236}">
                  <a16:creationId xmlns:a16="http://schemas.microsoft.com/office/drawing/2014/main" id="{C728E358-8ADE-FFF7-F14A-C6F12505412E}"/>
                </a:ext>
              </a:extLst>
            </p:cNvPr>
            <p:cNvSpPr txBox="1"/>
            <p:nvPr/>
          </p:nvSpPr>
          <p:spPr>
            <a:xfrm>
              <a:off x="1757238" y="6484282"/>
              <a:ext cx="184346" cy="107722"/>
            </a:xfrm>
            <a:prstGeom prst="rect">
              <a:avLst/>
            </a:prstGeom>
            <a:noFill/>
          </p:spPr>
          <p:txBody>
            <a:bodyPr wrap="none" lIns="0" tIns="0" rIns="0" bIns="0" rtlCol="0" anchor="ctr" anchorCtr="0">
              <a:spAutoFit/>
            </a:bodyPr>
            <a:lstStyle/>
            <a:p>
              <a:r>
                <a:rPr lang="en-US" altLang="ko-KR" sz="700" dirty="0"/>
                <a:t>XC24</a:t>
              </a:r>
              <a:endParaRPr lang="ko-KR" altLang="en-US" sz="700" dirty="0"/>
            </a:p>
          </p:txBody>
        </p:sp>
      </p:grpSp>
      <p:pic>
        <p:nvPicPr>
          <p:cNvPr id="6" name="그림 5">
            <a:extLst>
              <a:ext uri="{FF2B5EF4-FFF2-40B4-BE49-F238E27FC236}">
                <a16:creationId xmlns:a16="http://schemas.microsoft.com/office/drawing/2014/main" id="{E6C92B6C-CA64-7061-5743-C66BD1D415F3}"/>
              </a:ext>
            </a:extLst>
          </p:cNvPr>
          <p:cNvPicPr>
            <a:picLocks noChangeAspect="1"/>
          </p:cNvPicPr>
          <p:nvPr/>
        </p:nvPicPr>
        <p:blipFill>
          <a:blip r:embed="rId3"/>
          <a:stretch>
            <a:fillRect/>
          </a:stretch>
        </p:blipFill>
        <p:spPr>
          <a:xfrm>
            <a:off x="1526518" y="1162715"/>
            <a:ext cx="3852000" cy="3638161"/>
          </a:xfrm>
          <a:prstGeom prst="rect">
            <a:avLst/>
          </a:prstGeom>
        </p:spPr>
      </p:pic>
    </p:spTree>
    <p:extLst>
      <p:ext uri="{BB962C8B-B14F-4D97-AF65-F5344CB8AC3E}">
        <p14:creationId xmlns:p14="http://schemas.microsoft.com/office/powerpoint/2010/main" val="9514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27479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a:t>
            </a:r>
            <a:r>
              <a:rPr lang="en-US" sz="881" b="1" spc="15" dirty="0">
                <a:solidFill>
                  <a:prstClr val="black"/>
                </a:solidFill>
                <a:latin typeface="Arial" panose="020B0604020202020204" pitchFamily="34" charset="0"/>
                <a:cs typeface="Arial" panose="020B0604020202020204" pitchFamily="34" charset="0"/>
              </a:rPr>
              <a:t>ure</a:t>
            </a:r>
            <a:r>
              <a:rPr kumimoji="0" lang="en-US" sz="881" b="1" spc="15" dirty="0">
                <a:solidFill>
                  <a:prstClr val="black"/>
                </a:solidFill>
                <a:latin typeface="Arial" panose="020B0604020202020204" pitchFamily="34" charset="0"/>
                <a:ea typeface="+mn-ea"/>
                <a:cs typeface="Arial" panose="020B0604020202020204" pitchFamily="34" charset="0"/>
              </a:rPr>
              <a:t>. 3 Pin diagram </a:t>
            </a:r>
          </a:p>
        </p:txBody>
      </p:sp>
      <p:sp>
        <p:nvSpPr>
          <p:cNvPr id="8" name="object 11">
            <a:extLst>
              <a:ext uri="{FF2B5EF4-FFF2-40B4-BE49-F238E27FC236}">
                <a16:creationId xmlns:a16="http://schemas.microsoft.com/office/drawing/2014/main" id="{77924AB2-D427-3E11-9D10-6C2E350D7DF3}"/>
              </a:ext>
            </a:extLst>
          </p:cNvPr>
          <p:cNvSpPr txBox="1"/>
          <p:nvPr/>
        </p:nvSpPr>
        <p:spPr>
          <a:xfrm>
            <a:off x="2877357" y="8814099"/>
            <a:ext cx="142281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1</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Pin Description </a:t>
            </a:r>
            <a:endParaRPr kumimoji="0" sz="881" dirty="0">
              <a:solidFill>
                <a:prstClr val="black"/>
              </a:solidFill>
              <a:latin typeface="Arial" panose="020B0604020202020204" pitchFamily="34" charset="0"/>
              <a:ea typeface="+mn-ea"/>
              <a:cs typeface="Arial" panose="020B0604020202020204" pitchFamily="34" charset="0"/>
            </a:endParaRPr>
          </a:p>
        </p:txBody>
      </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4268541085"/>
              </p:ext>
            </p:extLst>
          </p:nvPr>
        </p:nvGraphicFramePr>
        <p:xfrm>
          <a:off x="404813" y="4627395"/>
          <a:ext cx="6042618" cy="4105686"/>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865059">
                  <a:extLst>
                    <a:ext uri="{9D8B030D-6E8A-4147-A177-3AD203B41FA5}">
                      <a16:colId xmlns:a16="http://schemas.microsoft.com/office/drawing/2014/main" val="3900317923"/>
                    </a:ext>
                  </a:extLst>
                </a:gridCol>
                <a:gridCol w="1649306">
                  <a:extLst>
                    <a:ext uri="{9D8B030D-6E8A-4147-A177-3AD203B41FA5}">
                      <a16:colId xmlns:a16="http://schemas.microsoft.com/office/drawing/2014/main" val="3382103366"/>
                    </a:ext>
                  </a:extLst>
                </a:gridCol>
                <a:gridCol w="1634978">
                  <a:extLst>
                    <a:ext uri="{9D8B030D-6E8A-4147-A177-3AD203B41FA5}">
                      <a16:colId xmlns:a16="http://schemas.microsoft.com/office/drawing/2014/main" val="915546717"/>
                    </a:ext>
                  </a:extLst>
                </a:gridCol>
              </a:tblGrid>
              <a:tr h="324966">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51340">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3744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FBO</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Open-drain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Required an external PU</a:t>
                      </a:r>
                    </a:p>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1340">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1340">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3744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Daisied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(with an internal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51340">
                <a:tc>
                  <a:txBody>
                    <a:bodyPr/>
                    <a:lstStyle/>
                    <a:p>
                      <a:pPr algn="ctr" fontAlgn="ct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VSYNCO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daisied output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grpSp>
        <p:nvGrpSpPr>
          <p:cNvPr id="16" name="그룹 15">
            <a:extLst>
              <a:ext uri="{FF2B5EF4-FFF2-40B4-BE49-F238E27FC236}">
                <a16:creationId xmlns:a16="http://schemas.microsoft.com/office/drawing/2014/main" id="{E2564807-6FB1-968D-C1B1-2B967C38C396}"/>
              </a:ext>
            </a:extLst>
          </p:cNvPr>
          <p:cNvGrpSpPr/>
          <p:nvPr/>
        </p:nvGrpSpPr>
        <p:grpSpPr>
          <a:xfrm>
            <a:off x="2212806" y="1348942"/>
            <a:ext cx="2467939" cy="2436832"/>
            <a:chOff x="2212806" y="1389451"/>
            <a:chExt cx="2467939" cy="2436832"/>
          </a:xfrm>
        </p:grpSpPr>
        <p:sp>
          <p:nvSpPr>
            <p:cNvPr id="7" name="직사각형 6">
              <a:extLst>
                <a:ext uri="{FF2B5EF4-FFF2-40B4-BE49-F238E27FC236}">
                  <a16:creationId xmlns:a16="http://schemas.microsoft.com/office/drawing/2014/main" id="{24173BF2-DB0A-D35A-848F-7A76EF3BA56E}"/>
                </a:ext>
              </a:extLst>
            </p:cNvPr>
            <p:cNvSpPr/>
            <p:nvPr/>
          </p:nvSpPr>
          <p:spPr>
            <a:xfrm>
              <a:off x="2212806" y="1392569"/>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2917292"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3207249"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3497206"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3787163"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2818667" y="1979830"/>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3210714" y="2458392"/>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2655238" y="3364169"/>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2936412" y="336201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FEBADC9C-F259-5274-99C9-A6E847B1FF58}"/>
                </a:ext>
              </a:extLst>
            </p:cNvPr>
            <p:cNvSpPr txBox="1"/>
            <p:nvPr/>
          </p:nvSpPr>
          <p:spPr>
            <a:xfrm>
              <a:off x="3789004" y="3379069"/>
              <a:ext cx="149079" cy="123111"/>
            </a:xfrm>
            <a:prstGeom prst="rect">
              <a:avLst/>
            </a:prstGeom>
            <a:noFill/>
          </p:spPr>
          <p:txBody>
            <a:bodyPr wrap="non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VSI</a:t>
              </a:r>
              <a:endPar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4205488" y="18712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4205488" y="212971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4198943" y="239799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4199879" y="29726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2557218" y="322530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2557218" y="297861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2564329" y="270494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2557278" y="213569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2651191" y="169851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FE89D4C6-C1C3-22F9-AB68-58975A18166C}"/>
                </a:ext>
              </a:extLst>
            </p:cNvPr>
            <p:cNvSpPr txBox="1"/>
            <p:nvPr/>
          </p:nvSpPr>
          <p:spPr>
            <a:xfrm>
              <a:off x="3758227" y="1712772"/>
              <a:ext cx="263925" cy="123111"/>
            </a:xfrm>
            <a:prstGeom prst="rect">
              <a:avLst/>
            </a:prstGeom>
            <a:no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VSO</a:t>
              </a:r>
              <a:endParaRPr kumimoji="0" lang="ko-KR" altLang="en-US" sz="7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3503544" y="170443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2564329" y="241867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2561654" y="188907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3230235"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4198943" y="268369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4199879" y="321876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3213843" y="3366373"/>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3510964" y="3369573"/>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79A50F2E-F789-E75E-B8F7-8F9153FFEB7F}"/>
                </a:ext>
              </a:extLst>
            </p:cNvPr>
            <p:cNvGrpSpPr/>
            <p:nvPr/>
          </p:nvGrpSpPr>
          <p:grpSpPr>
            <a:xfrm>
              <a:off x="2608988" y="3515561"/>
              <a:ext cx="1665977" cy="307603"/>
              <a:chOff x="2608988" y="3515561"/>
              <a:chExt cx="1665977" cy="307603"/>
            </a:xfrm>
          </p:grpSpPr>
          <p:sp>
            <p:nvSpPr>
              <p:cNvPr id="22" name="직사각형 21">
                <a:extLst>
                  <a:ext uri="{FF2B5EF4-FFF2-40B4-BE49-F238E27FC236}">
                    <a16:creationId xmlns:a16="http://schemas.microsoft.com/office/drawing/2014/main" id="{D88B1C9D-0216-E57F-E04D-507FC56BB12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E981FD84-853F-8FAF-9432-B8F172BBBE90}"/>
                  </a:ext>
                </a:extLst>
              </p:cNvPr>
              <p:cNvGrpSpPr/>
              <p:nvPr/>
            </p:nvGrpSpPr>
            <p:grpSpPr>
              <a:xfrm>
                <a:off x="2608988" y="3515561"/>
                <a:ext cx="223838" cy="306640"/>
                <a:chOff x="2608988" y="3515561"/>
                <a:chExt cx="223838" cy="306640"/>
              </a:xfrm>
            </p:grpSpPr>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 name="TextBox 4">
                  <a:extLst>
                    <a:ext uri="{FF2B5EF4-FFF2-40B4-BE49-F238E27FC236}">
                      <a16:creationId xmlns:a16="http://schemas.microsoft.com/office/drawing/2014/main" id="{E61C4C77-7142-236E-EC3F-50544A74E7B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5AF46A53-B25C-ED6A-B336-16749CADBCA7}"/>
                  </a:ext>
                </a:extLst>
              </p:cNvPr>
              <p:cNvGrpSpPr/>
              <p:nvPr/>
            </p:nvGrpSpPr>
            <p:grpSpPr>
              <a:xfrm>
                <a:off x="4051127" y="3515563"/>
                <a:ext cx="223838" cy="307601"/>
                <a:chOff x="4051127" y="3515563"/>
                <a:chExt cx="223838" cy="307601"/>
              </a:xfrm>
            </p:grpSpPr>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67C15DD-EAA5-0D7B-A49F-CCAC036A1854}"/>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8" name="그룹 47">
              <a:extLst>
                <a:ext uri="{FF2B5EF4-FFF2-40B4-BE49-F238E27FC236}">
                  <a16:creationId xmlns:a16="http://schemas.microsoft.com/office/drawing/2014/main" id="{92DDCB73-ED46-B6BE-794A-021B7D02DAE2}"/>
                </a:ext>
              </a:extLst>
            </p:cNvPr>
            <p:cNvGrpSpPr/>
            <p:nvPr/>
          </p:nvGrpSpPr>
          <p:grpSpPr>
            <a:xfrm rot="16200000">
              <a:off x="3693955" y="2448285"/>
              <a:ext cx="1665977" cy="307603"/>
              <a:chOff x="2608988" y="3515561"/>
              <a:chExt cx="1665977" cy="307603"/>
            </a:xfrm>
          </p:grpSpPr>
          <p:sp>
            <p:nvSpPr>
              <p:cNvPr id="52" name="직사각형 51">
                <a:extLst>
                  <a:ext uri="{FF2B5EF4-FFF2-40B4-BE49-F238E27FC236}">
                    <a16:creationId xmlns:a16="http://schemas.microsoft.com/office/drawing/2014/main" id="{316F3CAE-987E-7D5D-25A5-3A137E5C0B78}"/>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4" name="직사각형 53">
                <a:extLst>
                  <a:ext uri="{FF2B5EF4-FFF2-40B4-BE49-F238E27FC236}">
                    <a16:creationId xmlns:a16="http://schemas.microsoft.com/office/drawing/2014/main" id="{573B954B-6551-E8E0-4A87-22EFDDFEE68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직사각형 56">
                <a:extLst>
                  <a:ext uri="{FF2B5EF4-FFF2-40B4-BE49-F238E27FC236}">
                    <a16:creationId xmlns:a16="http://schemas.microsoft.com/office/drawing/2014/main" id="{33B1F904-4E22-4C6F-5F0D-BD93A27C698E}"/>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직사각형 68">
                <a:extLst>
                  <a:ext uri="{FF2B5EF4-FFF2-40B4-BE49-F238E27FC236}">
                    <a16:creationId xmlns:a16="http://schemas.microsoft.com/office/drawing/2014/main" id="{278A6836-AFEE-1878-497C-7CD12A0C77D4}"/>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1" name="그룹 70">
                <a:extLst>
                  <a:ext uri="{FF2B5EF4-FFF2-40B4-BE49-F238E27FC236}">
                    <a16:creationId xmlns:a16="http://schemas.microsoft.com/office/drawing/2014/main" id="{B66ED791-9102-C9AF-2184-0BE2C61F6221}"/>
                  </a:ext>
                </a:extLst>
              </p:cNvPr>
              <p:cNvGrpSpPr/>
              <p:nvPr/>
            </p:nvGrpSpPr>
            <p:grpSpPr>
              <a:xfrm>
                <a:off x="2608988" y="3515561"/>
                <a:ext cx="223838" cy="306640"/>
                <a:chOff x="2608988" y="3515561"/>
                <a:chExt cx="223838" cy="306640"/>
              </a:xfrm>
            </p:grpSpPr>
            <p:sp>
              <p:nvSpPr>
                <p:cNvPr id="75" name="사각형: 잘린 한쪽 모서리 74">
                  <a:extLst>
                    <a:ext uri="{FF2B5EF4-FFF2-40B4-BE49-F238E27FC236}">
                      <a16:creationId xmlns:a16="http://schemas.microsoft.com/office/drawing/2014/main" id="{26AD36EA-E370-A603-3E22-0648DC61369C}"/>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17BD8FA0-DC73-837F-6ACD-244D0E7E4DC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2" name="그룹 71">
                <a:extLst>
                  <a:ext uri="{FF2B5EF4-FFF2-40B4-BE49-F238E27FC236}">
                    <a16:creationId xmlns:a16="http://schemas.microsoft.com/office/drawing/2014/main" id="{FE7625B6-A7E5-7B44-0D13-15D397CBA683}"/>
                  </a:ext>
                </a:extLst>
              </p:cNvPr>
              <p:cNvGrpSpPr/>
              <p:nvPr/>
            </p:nvGrpSpPr>
            <p:grpSpPr>
              <a:xfrm>
                <a:off x="4051127" y="3515563"/>
                <a:ext cx="223838" cy="307601"/>
                <a:chOff x="4051127" y="3515563"/>
                <a:chExt cx="223838" cy="307601"/>
              </a:xfrm>
            </p:grpSpPr>
            <p:sp>
              <p:nvSpPr>
                <p:cNvPr id="73" name="사각형: 잘린 한쪽 모서리 72">
                  <a:extLst>
                    <a:ext uri="{FF2B5EF4-FFF2-40B4-BE49-F238E27FC236}">
                      <a16:creationId xmlns:a16="http://schemas.microsoft.com/office/drawing/2014/main" id="{8C60D6FE-52D9-5358-6B5C-BEB243DD1092}"/>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4" name="TextBox 73">
                  <a:extLst>
                    <a:ext uri="{FF2B5EF4-FFF2-40B4-BE49-F238E27FC236}">
                      <a16:creationId xmlns:a16="http://schemas.microsoft.com/office/drawing/2014/main" id="{DA8C2BA8-8AE0-D11E-C413-55B77C5AC90E}"/>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7" name="그룹 76">
              <a:extLst>
                <a:ext uri="{FF2B5EF4-FFF2-40B4-BE49-F238E27FC236}">
                  <a16:creationId xmlns:a16="http://schemas.microsoft.com/office/drawing/2014/main" id="{14948385-3755-B2B9-42C1-29939784167D}"/>
                </a:ext>
              </a:extLst>
            </p:cNvPr>
            <p:cNvGrpSpPr/>
            <p:nvPr/>
          </p:nvGrpSpPr>
          <p:grpSpPr>
            <a:xfrm rot="5400000">
              <a:off x="1535989" y="2463903"/>
              <a:ext cx="1665977" cy="307603"/>
              <a:chOff x="2608988" y="3515561"/>
              <a:chExt cx="1665977" cy="307603"/>
            </a:xfrm>
          </p:grpSpPr>
          <p:sp>
            <p:nvSpPr>
              <p:cNvPr id="78" name="직사각형 77">
                <a:extLst>
                  <a:ext uri="{FF2B5EF4-FFF2-40B4-BE49-F238E27FC236}">
                    <a16:creationId xmlns:a16="http://schemas.microsoft.com/office/drawing/2014/main" id="{0BFA90CF-561A-BBDC-91FC-5B14CF85B62C}"/>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5AA833C6-BC81-F87B-7C23-B6417D533A6A}"/>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직사각형 79">
                <a:extLst>
                  <a:ext uri="{FF2B5EF4-FFF2-40B4-BE49-F238E27FC236}">
                    <a16:creationId xmlns:a16="http://schemas.microsoft.com/office/drawing/2014/main" id="{FA53EDFA-8F55-B82E-C6B6-C2631318F46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직사각형 80">
                <a:extLst>
                  <a:ext uri="{FF2B5EF4-FFF2-40B4-BE49-F238E27FC236}">
                    <a16:creationId xmlns:a16="http://schemas.microsoft.com/office/drawing/2014/main" id="{100985ED-1770-3E61-99BF-2BA3ACC1B8E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82" name="그룹 81">
                <a:extLst>
                  <a:ext uri="{FF2B5EF4-FFF2-40B4-BE49-F238E27FC236}">
                    <a16:creationId xmlns:a16="http://schemas.microsoft.com/office/drawing/2014/main" id="{BB9FBB60-AE4A-1BA1-0E80-69335F01D8A1}"/>
                  </a:ext>
                </a:extLst>
              </p:cNvPr>
              <p:cNvGrpSpPr/>
              <p:nvPr/>
            </p:nvGrpSpPr>
            <p:grpSpPr>
              <a:xfrm>
                <a:off x="2608988" y="3515561"/>
                <a:ext cx="223838" cy="306640"/>
                <a:chOff x="2608988" y="3515561"/>
                <a:chExt cx="223838" cy="306640"/>
              </a:xfrm>
            </p:grpSpPr>
            <p:sp>
              <p:nvSpPr>
                <p:cNvPr id="87" name="사각형: 잘린 한쪽 모서리 86">
                  <a:extLst>
                    <a:ext uri="{FF2B5EF4-FFF2-40B4-BE49-F238E27FC236}">
                      <a16:creationId xmlns:a16="http://schemas.microsoft.com/office/drawing/2014/main" id="{1C5993AF-DB1B-36A8-F20B-FCD8EF4EDA25}"/>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8" name="TextBox 87">
                  <a:extLst>
                    <a:ext uri="{FF2B5EF4-FFF2-40B4-BE49-F238E27FC236}">
                      <a16:creationId xmlns:a16="http://schemas.microsoft.com/office/drawing/2014/main" id="{EBE31161-ACCA-48E3-4DF0-9F2F7A85A2DA}"/>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83" name="그룹 82">
                <a:extLst>
                  <a:ext uri="{FF2B5EF4-FFF2-40B4-BE49-F238E27FC236}">
                    <a16:creationId xmlns:a16="http://schemas.microsoft.com/office/drawing/2014/main" id="{3583525B-5B87-2106-F083-0EE6A01C2549}"/>
                  </a:ext>
                </a:extLst>
              </p:cNvPr>
              <p:cNvGrpSpPr/>
              <p:nvPr/>
            </p:nvGrpSpPr>
            <p:grpSpPr>
              <a:xfrm>
                <a:off x="4051127" y="3515563"/>
                <a:ext cx="223838" cy="307601"/>
                <a:chOff x="4051127" y="3515563"/>
                <a:chExt cx="223838" cy="307601"/>
              </a:xfrm>
            </p:grpSpPr>
            <p:sp>
              <p:nvSpPr>
                <p:cNvPr id="85" name="사각형: 잘린 한쪽 모서리 84">
                  <a:extLst>
                    <a:ext uri="{FF2B5EF4-FFF2-40B4-BE49-F238E27FC236}">
                      <a16:creationId xmlns:a16="http://schemas.microsoft.com/office/drawing/2014/main" id="{70E09A4B-C3D5-EB0B-680D-7A7D912DE831}"/>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DC8C237E-1254-A86C-048F-00948F3E6D67}"/>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102" name="그룹 101">
              <a:extLst>
                <a:ext uri="{FF2B5EF4-FFF2-40B4-BE49-F238E27FC236}">
                  <a16:creationId xmlns:a16="http://schemas.microsoft.com/office/drawing/2014/main" id="{5D7AA53F-AB68-FE45-2F9E-D641C60ED273}"/>
                </a:ext>
              </a:extLst>
            </p:cNvPr>
            <p:cNvGrpSpPr/>
            <p:nvPr/>
          </p:nvGrpSpPr>
          <p:grpSpPr>
            <a:xfrm>
              <a:off x="2608988" y="1392923"/>
              <a:ext cx="223838" cy="307601"/>
              <a:chOff x="2608988" y="1395304"/>
              <a:chExt cx="223838" cy="307601"/>
            </a:xfrm>
          </p:grpSpPr>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0" name="TextBox 99">
                <a:extLst>
                  <a:ext uri="{FF2B5EF4-FFF2-40B4-BE49-F238E27FC236}">
                    <a16:creationId xmlns:a16="http://schemas.microsoft.com/office/drawing/2014/main" id="{A3E027D6-C877-61F9-DD80-A78B5B8F823F}"/>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103" name="그룹 102">
              <a:extLst>
                <a:ext uri="{FF2B5EF4-FFF2-40B4-BE49-F238E27FC236}">
                  <a16:creationId xmlns:a16="http://schemas.microsoft.com/office/drawing/2014/main" id="{56E7E5C0-AA3E-8037-65F0-CF398AA18D53}"/>
                </a:ext>
              </a:extLst>
            </p:cNvPr>
            <p:cNvGrpSpPr/>
            <p:nvPr/>
          </p:nvGrpSpPr>
          <p:grpSpPr>
            <a:xfrm>
              <a:off x="4051127" y="1389451"/>
              <a:ext cx="223838" cy="307601"/>
              <a:chOff x="4051127" y="1389451"/>
              <a:chExt cx="223838" cy="307601"/>
            </a:xfrm>
          </p:grpSpPr>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1" name="TextBox 100">
                <a:extLst>
                  <a:ext uri="{FF2B5EF4-FFF2-40B4-BE49-F238E27FC236}">
                    <a16:creationId xmlns:a16="http://schemas.microsoft.com/office/drawing/2014/main" id="{1A6A85D9-5306-C467-1288-730FAC5CBFC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4" name="TextBox 3">
              <a:extLst>
                <a:ext uri="{FF2B5EF4-FFF2-40B4-BE49-F238E27FC236}">
                  <a16:creationId xmlns:a16="http://schemas.microsoft.com/office/drawing/2014/main" id="{B3D97487-704D-428B-2360-29EB6C069310}"/>
                </a:ext>
              </a:extLst>
            </p:cNvPr>
            <p:cNvSpPr txBox="1"/>
            <p:nvPr/>
          </p:nvSpPr>
          <p:spPr>
            <a:xfrm>
              <a:off x="4046779" y="1715368"/>
              <a:ext cx="205415" cy="123111"/>
            </a:xfrm>
            <a:prstGeom prst="rect">
              <a:avLst/>
            </a:prstGeom>
            <a:noFill/>
          </p:spPr>
          <p:txBody>
            <a:bodyPr wrap="squar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a:t>
              </a:r>
              <a:r>
                <a:rPr lang="en-US" altLang="ko-KR" sz="800" dirty="0">
                  <a:latin typeface="맑은 고딕" panose="020F0502020204030204"/>
                  <a:ea typeface="맑은 고딕" panose="020B0503020000020004" pitchFamily="50" charset="-127"/>
                </a:rPr>
                <a:t>BI</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1C1413D6-6613-131A-C136-6F972A366F76}"/>
                </a:ext>
              </a:extLst>
            </p:cNvPr>
            <p:cNvSpPr txBox="1"/>
            <p:nvPr/>
          </p:nvSpPr>
          <p:spPr>
            <a:xfrm>
              <a:off x="4059289" y="3376056"/>
              <a:ext cx="190758" cy="123111"/>
            </a:xfrm>
            <a:prstGeom prst="rect">
              <a:avLst/>
            </a:prstGeom>
            <a:noFill/>
          </p:spPr>
          <p:txBody>
            <a:bodyPr wrap="none" lIns="0" tIns="0" rIns="0" bIns="0"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noProof="0" dirty="0">
                  <a:ln>
                    <a:noFill/>
                  </a:ln>
                  <a:effectLst/>
                  <a:uLnTx/>
                  <a:uFillTx/>
                  <a:latin typeface="맑은 고딕" panose="020F0502020204030204"/>
                  <a:ea typeface="맑은 고딕" panose="020B0503020000020004" pitchFamily="50" charset="-127"/>
                  <a:cs typeface="+mn-cs"/>
                </a:rPr>
                <a:t>FBO</a:t>
              </a:r>
              <a:endParaRPr kumimoji="0" lang="ko-KR" altLang="en-US" sz="800" b="0" i="0" u="none" strike="noStrike" kern="1200" cap="none" spc="0" normalizeH="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83E5FD85-5AE4-4A07-0D78-21E02338F15C}"/>
                </a:ext>
              </a:extLst>
            </p:cNvPr>
            <p:cNvSpPr txBox="1"/>
            <p:nvPr/>
          </p:nvSpPr>
          <p:spPr>
            <a:xfrm>
              <a:off x="2950152" y="1704432"/>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020614319"/>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648648">
                  <a:extLst>
                    <a:ext uri="{9D8B030D-6E8A-4147-A177-3AD203B41FA5}">
                      <a16:colId xmlns:a16="http://schemas.microsoft.com/office/drawing/2014/main" val="3382103366"/>
                    </a:ext>
                  </a:extLst>
                </a:gridCol>
                <a:gridCol w="1634210">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4978325"/>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708915177"/>
              </p:ext>
            </p:extLst>
          </p:nvPr>
        </p:nvGraphicFramePr>
        <p:xfrm>
          <a:off x="404812" y="5384165"/>
          <a:ext cx="6048623" cy="3473591"/>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193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2"/>
          <a:stretch>
            <a:fillRect/>
          </a:stretch>
        </p:blipFill>
        <p:spPr>
          <a:xfrm>
            <a:off x="2635433" y="5819995"/>
            <a:ext cx="1185328" cy="772701"/>
          </a:xfrm>
          <a:prstGeom prst="rect">
            <a:avLst/>
          </a:prstGeom>
        </p:spPr>
      </p:pic>
      <p:grpSp>
        <p:nvGrpSpPr>
          <p:cNvPr id="4" name="그룹 3">
            <a:extLst>
              <a:ext uri="{FF2B5EF4-FFF2-40B4-BE49-F238E27FC236}">
                <a16:creationId xmlns:a16="http://schemas.microsoft.com/office/drawing/2014/main" id="{658195D5-DB43-DACF-88E9-0CE03095A781}"/>
              </a:ext>
            </a:extLst>
          </p:cNvPr>
          <p:cNvGrpSpPr/>
          <p:nvPr/>
        </p:nvGrpSpPr>
        <p:grpSpPr>
          <a:xfrm>
            <a:off x="2794443" y="6850431"/>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906348"/>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79446"/>
            <a:ext cx="6048623"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In case of using FB and VSYNC function, it needs to set the FBO_E and EXT_VS_E bit. If not used, it is  </a:t>
            </a:r>
          </a:p>
          <a:p>
            <a:pPr marL="38100">
              <a:lnSpc>
                <a:spcPct val="100000"/>
              </a:lnSpc>
              <a:spcBef>
                <a:spcPts val="100"/>
              </a:spcBef>
            </a:pPr>
            <a:r>
              <a:rPr lang="en-US" sz="900" dirty="0">
                <a:latin typeface="Arial" panose="020B0604020202020204" pitchFamily="34" charset="0"/>
                <a:cs typeface="Arial" panose="020B0604020202020204" pitchFamily="34" charset="0"/>
              </a:rPr>
              <a:t>                recommended to connect to GND.  The FBO pin is an open-drain port.</a:t>
            </a:r>
            <a:endParaRPr lang="en-US" sz="900" spc="-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34325"/>
            <a:ext cx="112374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782280" y="2830695"/>
            <a:ext cx="1038538"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83261" y="8667223"/>
            <a:ext cx="2647156"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pSp>
        <p:nvGrpSpPr>
          <p:cNvPr id="4" name="그룹 3">
            <a:extLst>
              <a:ext uri="{FF2B5EF4-FFF2-40B4-BE49-F238E27FC236}">
                <a16:creationId xmlns:a16="http://schemas.microsoft.com/office/drawing/2014/main" id="{50AF96E9-0A56-10F3-1C77-BC618B07C59C}"/>
              </a:ext>
            </a:extLst>
          </p:cNvPr>
          <p:cNvGrpSpPr/>
          <p:nvPr/>
        </p:nvGrpSpPr>
        <p:grpSpPr>
          <a:xfrm>
            <a:off x="2851895" y="5262037"/>
            <a:ext cx="1026319" cy="836432"/>
            <a:chOff x="2838451" y="6667968"/>
            <a:chExt cx="1026319" cy="836432"/>
          </a:xfrm>
        </p:grpSpPr>
        <p:pic>
          <p:nvPicPr>
            <p:cNvPr id="6" name="그림 5">
              <a:extLst>
                <a:ext uri="{FF2B5EF4-FFF2-40B4-BE49-F238E27FC236}">
                  <a16:creationId xmlns:a16="http://schemas.microsoft.com/office/drawing/2014/main" id="{8988E274-95A5-A750-187D-0E7741948AC9}"/>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9" name="타원 8">
              <a:extLst>
                <a:ext uri="{FF2B5EF4-FFF2-40B4-BE49-F238E27FC236}">
                  <a16:creationId xmlns:a16="http://schemas.microsoft.com/office/drawing/2014/main" id="{581C8968-5D84-ECAB-A192-1ECB761E3E2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직사각형 9">
              <a:extLst>
                <a:ext uri="{FF2B5EF4-FFF2-40B4-BE49-F238E27FC236}">
                  <a16:creationId xmlns:a16="http://schemas.microsoft.com/office/drawing/2014/main" id="{BBACBE69-38C1-8199-2B97-81A52B80DA7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2" name="연결선: 꺾임 11">
              <a:extLst>
                <a:ext uri="{FF2B5EF4-FFF2-40B4-BE49-F238E27FC236}">
                  <a16:creationId xmlns:a16="http://schemas.microsoft.com/office/drawing/2014/main" id="{0E22D9D0-231A-757A-105F-39F72C0C34B3}"/>
                </a:ext>
              </a:extLst>
            </p:cNvPr>
            <p:cNvCxnSpPr>
              <a:cxnSpLocks/>
              <a:endCxn id="9"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3" name="직선 연결선 12">
              <a:extLst>
                <a:ext uri="{FF2B5EF4-FFF2-40B4-BE49-F238E27FC236}">
                  <a16:creationId xmlns:a16="http://schemas.microsoft.com/office/drawing/2014/main" id="{4303BC78-2CB6-F06B-10A7-956E58F690E5}"/>
                </a:ext>
              </a:extLst>
            </p:cNvPr>
            <p:cNvCxnSpPr>
              <a:cxnSpLocks/>
              <a:endCxn id="10"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4" name="이등변 삼각형 13">
              <a:extLst>
                <a:ext uri="{FF2B5EF4-FFF2-40B4-BE49-F238E27FC236}">
                  <a16:creationId xmlns:a16="http://schemas.microsoft.com/office/drawing/2014/main" id="{5FFC0AA7-4FDF-C52F-1047-6A9F5C82F02A}"/>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 name="연결선: 꺾임 14">
              <a:extLst>
                <a:ext uri="{FF2B5EF4-FFF2-40B4-BE49-F238E27FC236}">
                  <a16:creationId xmlns:a16="http://schemas.microsoft.com/office/drawing/2014/main" id="{AD950CD0-03C1-A62A-0C75-DC99FE786569}"/>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7" name="이등변 삼각형 16">
              <a:extLst>
                <a:ext uri="{FF2B5EF4-FFF2-40B4-BE49-F238E27FC236}">
                  <a16:creationId xmlns:a16="http://schemas.microsoft.com/office/drawing/2014/main" id="{279EE206-ABD8-8B0D-F7E7-B839DD01D5E6}"/>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8" name="직선 연결선 17">
              <a:extLst>
                <a:ext uri="{FF2B5EF4-FFF2-40B4-BE49-F238E27FC236}">
                  <a16:creationId xmlns:a16="http://schemas.microsoft.com/office/drawing/2014/main" id="{F7272D55-3C4B-7170-7AB1-24F4C709B90F}"/>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0" name="직선 연결선 19">
              <a:extLst>
                <a:ext uri="{FF2B5EF4-FFF2-40B4-BE49-F238E27FC236}">
                  <a16:creationId xmlns:a16="http://schemas.microsoft.com/office/drawing/2014/main" id="{21B67113-2054-7F9A-6882-D884417F0440}"/>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21" name="그룹 20">
            <a:extLst>
              <a:ext uri="{FF2B5EF4-FFF2-40B4-BE49-F238E27FC236}">
                <a16:creationId xmlns:a16="http://schemas.microsoft.com/office/drawing/2014/main" id="{A9C3A163-339A-FF43-8EE5-1AF17447D794}"/>
              </a:ext>
            </a:extLst>
          </p:cNvPr>
          <p:cNvGrpSpPr/>
          <p:nvPr/>
        </p:nvGrpSpPr>
        <p:grpSpPr>
          <a:xfrm>
            <a:off x="2851895" y="4204928"/>
            <a:ext cx="1027337" cy="589050"/>
            <a:chOff x="4168118" y="4273347"/>
            <a:chExt cx="1027337" cy="589050"/>
          </a:xfrm>
        </p:grpSpPr>
        <p:sp>
          <p:nvSpPr>
            <p:cNvPr id="22" name="직사각형 21">
              <a:extLst>
                <a:ext uri="{FF2B5EF4-FFF2-40B4-BE49-F238E27FC236}">
                  <a16:creationId xmlns:a16="http://schemas.microsoft.com/office/drawing/2014/main" id="{24286E64-A786-412A-6FC0-BF2C148EB741}"/>
                </a:ext>
              </a:extLst>
            </p:cNvPr>
            <p:cNvSpPr/>
            <p:nvPr/>
          </p:nvSpPr>
          <p:spPr>
            <a:xfrm>
              <a:off x="4168118" y="4379664"/>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3" name="직선 연결선 22">
              <a:extLst>
                <a:ext uri="{FF2B5EF4-FFF2-40B4-BE49-F238E27FC236}">
                  <a16:creationId xmlns:a16="http://schemas.microsoft.com/office/drawing/2014/main" id="{F04D3FA2-87D5-3A9B-3D4A-4528FCCBCED6}"/>
                </a:ext>
              </a:extLst>
            </p:cNvPr>
            <p:cNvCxnSpPr>
              <a:cxnSpLocks/>
            </p:cNvCxnSpPr>
            <p:nvPr/>
          </p:nvCxnSpPr>
          <p:spPr>
            <a:xfrm>
              <a:off x="4168118" y="4377983"/>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5958DF1F-FF35-1610-CB1D-E960CB20E4BD}"/>
                </a:ext>
              </a:extLst>
            </p:cNvPr>
            <p:cNvCxnSpPr>
              <a:cxnSpLocks/>
            </p:cNvCxnSpPr>
            <p:nvPr/>
          </p:nvCxnSpPr>
          <p:spPr>
            <a:xfrm flipH="1">
              <a:off x="4171362" y="4382045"/>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5" name="직선 연결선 24">
              <a:extLst>
                <a:ext uri="{FF2B5EF4-FFF2-40B4-BE49-F238E27FC236}">
                  <a16:creationId xmlns:a16="http://schemas.microsoft.com/office/drawing/2014/main" id="{913C30D6-2B4B-8D09-EBB3-D8367BE04162}"/>
                </a:ext>
              </a:extLst>
            </p:cNvPr>
            <p:cNvCxnSpPr>
              <a:cxnSpLocks/>
            </p:cNvCxnSpPr>
            <p:nvPr/>
          </p:nvCxnSpPr>
          <p:spPr>
            <a:xfrm>
              <a:off x="4329544" y="4453894"/>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6" name="이등변 삼각형 25">
              <a:extLst>
                <a:ext uri="{FF2B5EF4-FFF2-40B4-BE49-F238E27FC236}">
                  <a16:creationId xmlns:a16="http://schemas.microsoft.com/office/drawing/2014/main" id="{D1DDBC20-8232-A7EB-2DFA-ADEE5C8E39C9}"/>
                </a:ext>
              </a:extLst>
            </p:cNvPr>
            <p:cNvSpPr/>
            <p:nvPr/>
          </p:nvSpPr>
          <p:spPr>
            <a:xfrm rot="5400000">
              <a:off x="4636983" y="432131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7" name="그림 26">
              <a:extLst>
                <a:ext uri="{FF2B5EF4-FFF2-40B4-BE49-F238E27FC236}">
                  <a16:creationId xmlns:a16="http://schemas.microsoft.com/office/drawing/2014/main" id="{40804962-F2D2-4D73-9E5C-26CD18FFB185}"/>
                </a:ext>
              </a:extLst>
            </p:cNvPr>
            <p:cNvPicPr>
              <a:picLocks noChangeAspect="1"/>
            </p:cNvPicPr>
            <p:nvPr/>
          </p:nvPicPr>
          <p:blipFill>
            <a:blip r:embed="rId4"/>
            <a:stretch>
              <a:fillRect/>
            </a:stretch>
          </p:blipFill>
          <p:spPr>
            <a:xfrm>
              <a:off x="4403702" y="4462213"/>
              <a:ext cx="176479" cy="400184"/>
            </a:xfrm>
            <a:prstGeom prst="rect">
              <a:avLst/>
            </a:prstGeom>
            <a:ln>
              <a:noFill/>
            </a:ln>
          </p:spPr>
        </p:pic>
      </p:grpSp>
      <p:grpSp>
        <p:nvGrpSpPr>
          <p:cNvPr id="28" name="그룹 27">
            <a:extLst>
              <a:ext uri="{FF2B5EF4-FFF2-40B4-BE49-F238E27FC236}">
                <a16:creationId xmlns:a16="http://schemas.microsoft.com/office/drawing/2014/main" id="{65375F51-B09A-8312-E337-500FC66DCBB0}"/>
              </a:ext>
            </a:extLst>
          </p:cNvPr>
          <p:cNvGrpSpPr/>
          <p:nvPr/>
        </p:nvGrpSpPr>
        <p:grpSpPr>
          <a:xfrm>
            <a:off x="2857099" y="7527347"/>
            <a:ext cx="1026319" cy="836432"/>
            <a:chOff x="2838451" y="6667968"/>
            <a:chExt cx="1026319" cy="836432"/>
          </a:xfrm>
        </p:grpSpPr>
        <p:pic>
          <p:nvPicPr>
            <p:cNvPr id="29" name="그림 28">
              <a:extLst>
                <a:ext uri="{FF2B5EF4-FFF2-40B4-BE49-F238E27FC236}">
                  <a16:creationId xmlns:a16="http://schemas.microsoft.com/office/drawing/2014/main" id="{822F3ACA-F0D1-86E1-6CDA-31AC028C842B}"/>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30" name="타원 29">
              <a:extLst>
                <a:ext uri="{FF2B5EF4-FFF2-40B4-BE49-F238E27FC236}">
                  <a16:creationId xmlns:a16="http://schemas.microsoft.com/office/drawing/2014/main" id="{86F028B4-79C6-4386-3E65-EA43F6A2660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직사각형 30">
              <a:extLst>
                <a:ext uri="{FF2B5EF4-FFF2-40B4-BE49-F238E27FC236}">
                  <a16:creationId xmlns:a16="http://schemas.microsoft.com/office/drawing/2014/main" id="{38151D64-1B3F-A51F-F5CF-57F0521A58D9}"/>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2" name="연결선: 꺾임 31">
              <a:extLst>
                <a:ext uri="{FF2B5EF4-FFF2-40B4-BE49-F238E27FC236}">
                  <a16:creationId xmlns:a16="http://schemas.microsoft.com/office/drawing/2014/main" id="{0C0934E6-30B8-178F-AE4A-1BD43EA3B09E}"/>
                </a:ext>
              </a:extLst>
            </p:cNvPr>
            <p:cNvCxnSpPr>
              <a:cxnSpLocks/>
              <a:endCxn id="30"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3" name="직선 연결선 32">
              <a:extLst>
                <a:ext uri="{FF2B5EF4-FFF2-40B4-BE49-F238E27FC236}">
                  <a16:creationId xmlns:a16="http://schemas.microsoft.com/office/drawing/2014/main" id="{FF3A7AAA-9CD7-F5F8-2E50-F69A0EB562FB}"/>
                </a:ext>
              </a:extLst>
            </p:cNvPr>
            <p:cNvCxnSpPr>
              <a:cxnSpLocks/>
              <a:endCxn id="31"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4" name="이등변 삼각형 33">
              <a:extLst>
                <a:ext uri="{FF2B5EF4-FFF2-40B4-BE49-F238E27FC236}">
                  <a16:creationId xmlns:a16="http://schemas.microsoft.com/office/drawing/2014/main" id="{F194DF03-38DA-8407-124E-8249E1A3B43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5" name="연결선: 꺾임 34">
              <a:extLst>
                <a:ext uri="{FF2B5EF4-FFF2-40B4-BE49-F238E27FC236}">
                  <a16:creationId xmlns:a16="http://schemas.microsoft.com/office/drawing/2014/main" id="{0F1BA19B-34AC-CE11-EEC2-9D87A41D43EF}"/>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6" name="이등변 삼각형 35">
              <a:extLst>
                <a:ext uri="{FF2B5EF4-FFF2-40B4-BE49-F238E27FC236}">
                  <a16:creationId xmlns:a16="http://schemas.microsoft.com/office/drawing/2014/main" id="{40BAE5BD-CEA7-1D04-9D98-31EAE8FB455C}"/>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7" name="직선 연결선 36">
              <a:extLst>
                <a:ext uri="{FF2B5EF4-FFF2-40B4-BE49-F238E27FC236}">
                  <a16:creationId xmlns:a16="http://schemas.microsoft.com/office/drawing/2014/main" id="{EE93DBB2-CED6-CAFF-B017-C7D07D6AB97C}"/>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22C5A4EF-1AEF-E593-CB03-036366585373}"/>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39" name="그룹 38">
            <a:extLst>
              <a:ext uri="{FF2B5EF4-FFF2-40B4-BE49-F238E27FC236}">
                <a16:creationId xmlns:a16="http://schemas.microsoft.com/office/drawing/2014/main" id="{4CC8B35E-F9E6-AC3A-7927-F9159FB43936}"/>
              </a:ext>
            </a:extLst>
          </p:cNvPr>
          <p:cNvGrpSpPr/>
          <p:nvPr/>
        </p:nvGrpSpPr>
        <p:grpSpPr>
          <a:xfrm>
            <a:off x="2859290" y="6341178"/>
            <a:ext cx="1123686" cy="898089"/>
            <a:chOff x="4171198" y="5049968"/>
            <a:chExt cx="1123686" cy="898089"/>
          </a:xfrm>
        </p:grpSpPr>
        <p:sp>
          <p:nvSpPr>
            <p:cNvPr id="40" name="타원 39">
              <a:extLst>
                <a:ext uri="{FF2B5EF4-FFF2-40B4-BE49-F238E27FC236}">
                  <a16:creationId xmlns:a16="http://schemas.microsoft.com/office/drawing/2014/main" id="{ED902A66-39AE-9A37-4B4F-B14E1094CCAC}"/>
                </a:ext>
              </a:extLst>
            </p:cNvPr>
            <p:cNvSpPr/>
            <p:nvPr/>
          </p:nvSpPr>
          <p:spPr>
            <a:xfrm>
              <a:off x="4421897" y="5226041"/>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직사각형 40">
              <a:extLst>
                <a:ext uri="{FF2B5EF4-FFF2-40B4-BE49-F238E27FC236}">
                  <a16:creationId xmlns:a16="http://schemas.microsoft.com/office/drawing/2014/main" id="{18F3A431-F289-4D97-9223-5759B5701384}"/>
                </a:ext>
              </a:extLst>
            </p:cNvPr>
            <p:cNvSpPr/>
            <p:nvPr/>
          </p:nvSpPr>
          <p:spPr>
            <a:xfrm>
              <a:off x="5134476" y="5377857"/>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2" name="연결선: 꺾임 41">
              <a:extLst>
                <a:ext uri="{FF2B5EF4-FFF2-40B4-BE49-F238E27FC236}">
                  <a16:creationId xmlns:a16="http://schemas.microsoft.com/office/drawing/2014/main" id="{D8F3960E-F228-7BDF-CDAC-95B738CF13B8}"/>
                </a:ext>
              </a:extLst>
            </p:cNvPr>
            <p:cNvCxnSpPr>
              <a:cxnSpLocks/>
              <a:endCxn id="40" idx="0"/>
            </p:cNvCxnSpPr>
            <p:nvPr/>
          </p:nvCxnSpPr>
          <p:spPr>
            <a:xfrm>
              <a:off x="4171198" y="5111625"/>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3" name="직선 연결선 42">
              <a:extLst>
                <a:ext uri="{FF2B5EF4-FFF2-40B4-BE49-F238E27FC236}">
                  <a16:creationId xmlns:a16="http://schemas.microsoft.com/office/drawing/2014/main" id="{01904893-C5F7-C43E-9A85-F083650D19C3}"/>
                </a:ext>
              </a:extLst>
            </p:cNvPr>
            <p:cNvCxnSpPr>
              <a:cxnSpLocks/>
              <a:endCxn id="41" idx="1"/>
            </p:cNvCxnSpPr>
            <p:nvPr/>
          </p:nvCxnSpPr>
          <p:spPr>
            <a:xfrm>
              <a:off x="4176184" y="5454057"/>
              <a:ext cx="958292"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4" name="이등변 삼각형 43">
              <a:extLst>
                <a:ext uri="{FF2B5EF4-FFF2-40B4-BE49-F238E27FC236}">
                  <a16:creationId xmlns:a16="http://schemas.microsoft.com/office/drawing/2014/main" id="{3A96BA8D-BFD8-21DD-4BFA-4A5DB488D943}"/>
                </a:ext>
              </a:extLst>
            </p:cNvPr>
            <p:cNvSpPr/>
            <p:nvPr/>
          </p:nvSpPr>
          <p:spPr>
            <a:xfrm rot="5400000">
              <a:off x="4285009" y="5321729"/>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5" name="연결선: 꺾임 44">
              <a:extLst>
                <a:ext uri="{FF2B5EF4-FFF2-40B4-BE49-F238E27FC236}">
                  <a16:creationId xmlns:a16="http://schemas.microsoft.com/office/drawing/2014/main" id="{27EDA2AF-3B1C-D8AB-1927-D002184A8237}"/>
                </a:ext>
              </a:extLst>
            </p:cNvPr>
            <p:cNvCxnSpPr>
              <a:cxnSpLocks/>
            </p:cNvCxnSpPr>
            <p:nvPr/>
          </p:nvCxnSpPr>
          <p:spPr>
            <a:xfrm rot="10800000" flipV="1">
              <a:off x="4171199" y="5453785"/>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6" name="이등변 삼각형 45">
              <a:extLst>
                <a:ext uri="{FF2B5EF4-FFF2-40B4-BE49-F238E27FC236}">
                  <a16:creationId xmlns:a16="http://schemas.microsoft.com/office/drawing/2014/main" id="{51A470BB-88C7-ACC3-6A16-96328DDA5772}"/>
                </a:ext>
              </a:extLst>
            </p:cNvPr>
            <p:cNvSpPr/>
            <p:nvPr/>
          </p:nvSpPr>
          <p:spPr>
            <a:xfrm rot="16200000">
              <a:off x="4375148" y="5753062"/>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7" name="직선 연결선 46">
              <a:extLst>
                <a:ext uri="{FF2B5EF4-FFF2-40B4-BE49-F238E27FC236}">
                  <a16:creationId xmlns:a16="http://schemas.microsoft.com/office/drawing/2014/main" id="{D62CC94C-0857-7879-4E55-994380457CED}"/>
                </a:ext>
              </a:extLst>
            </p:cNvPr>
            <p:cNvCxnSpPr>
              <a:cxnSpLocks/>
            </p:cNvCxnSpPr>
            <p:nvPr/>
          </p:nvCxnSpPr>
          <p:spPr>
            <a:xfrm>
              <a:off x="5134476" y="5376176"/>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8" name="직선 연결선 47">
              <a:extLst>
                <a:ext uri="{FF2B5EF4-FFF2-40B4-BE49-F238E27FC236}">
                  <a16:creationId xmlns:a16="http://schemas.microsoft.com/office/drawing/2014/main" id="{7867BB4B-AD34-E32B-2389-276095D7A08A}"/>
                </a:ext>
              </a:extLst>
            </p:cNvPr>
            <p:cNvCxnSpPr>
              <a:cxnSpLocks/>
            </p:cNvCxnSpPr>
            <p:nvPr/>
          </p:nvCxnSpPr>
          <p:spPr>
            <a:xfrm flipH="1">
              <a:off x="5137720" y="5380238"/>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9" name="직선 연결선 48">
              <a:extLst>
                <a:ext uri="{FF2B5EF4-FFF2-40B4-BE49-F238E27FC236}">
                  <a16:creationId xmlns:a16="http://schemas.microsoft.com/office/drawing/2014/main" id="{19987AA5-8667-5175-0ED7-1B0087486ED1}"/>
                </a:ext>
              </a:extLst>
            </p:cNvPr>
            <p:cNvCxnSpPr>
              <a:cxnSpLocks/>
            </p:cNvCxnSpPr>
            <p:nvPr/>
          </p:nvCxnSpPr>
          <p:spPr>
            <a:xfrm>
              <a:off x="4919048" y="5049968"/>
              <a:ext cx="193591" cy="0"/>
            </a:xfrm>
            <a:prstGeom prst="line">
              <a:avLst/>
            </a:prstGeom>
            <a:ln w="254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pic>
          <p:nvPicPr>
            <p:cNvPr id="50" name="그림 49">
              <a:extLst>
                <a:ext uri="{FF2B5EF4-FFF2-40B4-BE49-F238E27FC236}">
                  <a16:creationId xmlns:a16="http://schemas.microsoft.com/office/drawing/2014/main" id="{15123501-5249-40A4-A0E5-DAB1F0F4E961}"/>
                </a:ext>
              </a:extLst>
            </p:cNvPr>
            <p:cNvPicPr>
              <a:picLocks noChangeAspect="1"/>
            </p:cNvPicPr>
            <p:nvPr/>
          </p:nvPicPr>
          <p:blipFill>
            <a:blip r:embed="rId4"/>
            <a:srcRect l="1" r="-1" b="44400"/>
            <a:stretch/>
          </p:blipFill>
          <p:spPr>
            <a:xfrm>
              <a:off x="4926023" y="5223407"/>
              <a:ext cx="176479" cy="222501"/>
            </a:xfrm>
            <a:prstGeom prst="rect">
              <a:avLst/>
            </a:prstGeom>
            <a:ln>
              <a:noFill/>
            </a:ln>
          </p:spPr>
        </p:pic>
        <p:pic>
          <p:nvPicPr>
            <p:cNvPr id="51" name="그림 50">
              <a:extLst>
                <a:ext uri="{FF2B5EF4-FFF2-40B4-BE49-F238E27FC236}">
                  <a16:creationId xmlns:a16="http://schemas.microsoft.com/office/drawing/2014/main" id="{6612EB21-9662-1122-8DA3-42D5D9A60D92}"/>
                </a:ext>
              </a:extLst>
            </p:cNvPr>
            <p:cNvPicPr>
              <a:picLocks noChangeAspect="1"/>
            </p:cNvPicPr>
            <p:nvPr/>
          </p:nvPicPr>
          <p:blipFill>
            <a:blip r:embed="rId4"/>
            <a:srcRect l="1" t="63005" r="-1"/>
            <a:stretch/>
          </p:blipFill>
          <p:spPr>
            <a:xfrm>
              <a:off x="4925399" y="5792891"/>
              <a:ext cx="176479" cy="148050"/>
            </a:xfrm>
            <a:prstGeom prst="rect">
              <a:avLst/>
            </a:prstGeom>
            <a:ln>
              <a:noFill/>
            </a:ln>
          </p:spPr>
        </p:pic>
        <p:pic>
          <p:nvPicPr>
            <p:cNvPr id="52" name="그림 51">
              <a:extLst>
                <a:ext uri="{FF2B5EF4-FFF2-40B4-BE49-F238E27FC236}">
                  <a16:creationId xmlns:a16="http://schemas.microsoft.com/office/drawing/2014/main" id="{5374D318-7667-24FE-881B-3F18EDB1591D}"/>
                </a:ext>
              </a:extLst>
            </p:cNvPr>
            <p:cNvPicPr>
              <a:picLocks noChangeAspect="1"/>
            </p:cNvPicPr>
            <p:nvPr/>
          </p:nvPicPr>
          <p:blipFill>
            <a:blip r:embed="rId4"/>
            <a:srcRect l="1" r="-1" b="44400"/>
            <a:stretch/>
          </p:blipFill>
          <p:spPr>
            <a:xfrm>
              <a:off x="4925399" y="5462207"/>
              <a:ext cx="176479" cy="222501"/>
            </a:xfrm>
            <a:prstGeom prst="rect">
              <a:avLst/>
            </a:prstGeom>
            <a:ln>
              <a:noFill/>
            </a:ln>
          </p:spPr>
        </p:pic>
        <p:cxnSp>
          <p:nvCxnSpPr>
            <p:cNvPr id="53" name="직선 연결선 52">
              <a:extLst>
                <a:ext uri="{FF2B5EF4-FFF2-40B4-BE49-F238E27FC236}">
                  <a16:creationId xmlns:a16="http://schemas.microsoft.com/office/drawing/2014/main" id="{CA1F2512-4D23-F22F-70CA-DFB5E67F30B3}"/>
                </a:ext>
              </a:extLst>
            </p:cNvPr>
            <p:cNvCxnSpPr>
              <a:cxnSpLocks/>
            </p:cNvCxnSpPr>
            <p:nvPr/>
          </p:nvCxnSpPr>
          <p:spPr>
            <a:xfrm flipV="1">
              <a:off x="5005171" y="5684708"/>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직선 연결선 53">
              <a:extLst>
                <a:ext uri="{FF2B5EF4-FFF2-40B4-BE49-F238E27FC236}">
                  <a16:creationId xmlns:a16="http://schemas.microsoft.com/office/drawing/2014/main" id="{241EBA4A-C51F-4CEC-9B3C-52D7D2E3FFBD}"/>
                </a:ext>
              </a:extLst>
            </p:cNvPr>
            <p:cNvCxnSpPr>
              <a:cxnSpLocks/>
            </p:cNvCxnSpPr>
            <p:nvPr/>
          </p:nvCxnSpPr>
          <p:spPr>
            <a:xfrm flipV="1">
              <a:off x="5005171" y="5121787"/>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직선 연결선 54">
              <a:extLst>
                <a:ext uri="{FF2B5EF4-FFF2-40B4-BE49-F238E27FC236}">
                  <a16:creationId xmlns:a16="http://schemas.microsoft.com/office/drawing/2014/main" id="{FC19465F-3F09-410F-A6A9-A9BD06667D77}"/>
                </a:ext>
              </a:extLst>
            </p:cNvPr>
            <p:cNvCxnSpPr>
              <a:cxnSpLocks/>
            </p:cNvCxnSpPr>
            <p:nvPr/>
          </p:nvCxnSpPr>
          <p:spPr>
            <a:xfrm flipV="1">
              <a:off x="5010200" y="5059857"/>
              <a:ext cx="0" cy="75051"/>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grpSp>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2954196268"/>
              </p:ext>
            </p:extLst>
          </p:nvPr>
        </p:nvGraphicFramePr>
        <p:xfrm>
          <a:off x="411754" y="1341152"/>
          <a:ext cx="6119828" cy="7199807"/>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1199541810"/>
                    </a:ext>
                  </a:extLst>
                </a:gridCol>
                <a:gridCol w="557587">
                  <a:extLst>
                    <a:ext uri="{9D8B030D-6E8A-4147-A177-3AD203B41FA5}">
                      <a16:colId xmlns:a16="http://schemas.microsoft.com/office/drawing/2014/main" val="112759525"/>
                    </a:ext>
                  </a:extLst>
                </a:gridCol>
                <a:gridCol w="3232666">
                  <a:extLst>
                    <a:ext uri="{9D8B030D-6E8A-4147-A177-3AD203B41FA5}">
                      <a16:colId xmlns:a16="http://schemas.microsoft.com/office/drawing/2014/main" val="3900317923"/>
                    </a:ext>
                  </a:extLst>
                </a:gridCol>
                <a:gridCol w="1504075">
                  <a:extLst>
                    <a:ext uri="{9D8B030D-6E8A-4147-A177-3AD203B41FA5}">
                      <a16:colId xmlns:a16="http://schemas.microsoft.com/office/drawing/2014/main" val="3382103366"/>
                    </a:ext>
                  </a:extLst>
                </a:gridCol>
              </a:tblGrid>
              <a:tr h="34452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8039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daisied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daisied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962828"/>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4813" y="5553014"/>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2773717457"/>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80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128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762377940"/>
              </p:ext>
            </p:extLst>
          </p:nvPr>
        </p:nvGraphicFramePr>
        <p:xfrm>
          <a:off x="400853" y="66895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647949" y="7971907"/>
            <a:ext cx="1808757"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3</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647950" y="5258725"/>
            <a:ext cx="2007539" cy="140211"/>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2</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Maximum Absolute ratings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2305202855"/>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92mA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951422"/>
            <a:ext cx="6086677" cy="821315"/>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lnSpc>
                <a:spcPts val="1200"/>
              </a:lnSpc>
            </a:pPr>
            <a:r>
              <a:rPr lang="en-US" altLang="ko-KR" dirty="0"/>
              <a:t>Note :  1) The operation below V</a:t>
            </a:r>
            <a:r>
              <a:rPr lang="en-US" altLang="ko-KR" baseline="-25000" dirty="0"/>
              <a:t>DD</a:t>
            </a:r>
            <a:r>
              <a:rPr lang="en-US" altLang="ko-KR" dirty="0"/>
              <a:t>, 5V will limit a maximum LED sinking current and affect a current variation.</a:t>
            </a:r>
          </a:p>
          <a:p>
            <a:pPr>
              <a:lnSpc>
                <a:spcPts val="1200"/>
              </a:lnSpc>
            </a:pPr>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pPr>
              <a:lnSpc>
                <a:spcPts val="1200"/>
              </a:lnSpc>
            </a:pPr>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pPr>
              <a:lnSpc>
                <a:spcPts val="12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pPr>
              <a:lnSpc>
                <a:spcPts val="1200"/>
              </a:lnSpc>
            </a:pP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object 11">
            <a:extLst>
              <a:ext uri="{FF2B5EF4-FFF2-40B4-BE49-F238E27FC236}">
                <a16:creationId xmlns:a16="http://schemas.microsoft.com/office/drawing/2014/main" id="{87CABEE8-CF49-D17C-32A0-7F84F639B856}"/>
              </a:ext>
            </a:extLst>
          </p:cNvPr>
          <p:cNvSpPr txBox="1"/>
          <p:nvPr/>
        </p:nvSpPr>
        <p:spPr>
          <a:xfrm>
            <a:off x="2591388" y="7704943"/>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3336233014"/>
              </p:ext>
            </p:extLst>
          </p:nvPr>
        </p:nvGraphicFramePr>
        <p:xfrm>
          <a:off x="411753" y="1136650"/>
          <a:ext cx="6041678" cy="6595749"/>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829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gn="ctr">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a:t>
                      </a:r>
                    </a:p>
                    <a:p>
                      <a:pPr marL="0" marR="46355" indent="0">
                        <a:lnSpc>
                          <a:spcPct val="100000"/>
                        </a:lnSpc>
                        <a:spcBef>
                          <a:spcPts val="85"/>
                        </a:spcBef>
                      </a:pPr>
                      <a:r>
                        <a:rPr lang="it-IT" altLang="ko-KR" sz="900" b="0" spc="-5" dirty="0">
                          <a:solidFill>
                            <a:schemeClr val="tx1"/>
                          </a:solidFill>
                          <a:latin typeface="Arial"/>
                          <a:cs typeface="Arial"/>
                        </a:rPr>
                        <a:t> 0.55V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8mA,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0.60V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dirty="0">
                          <a:solidFill>
                            <a:schemeClr val="tx1"/>
                          </a:solidFill>
                          <a:latin typeface="Arial"/>
                          <a:cs typeface="Arial"/>
                        </a:rPr>
                        <a:t>16mA</a:t>
                      </a:r>
                    </a:p>
                    <a:p>
                      <a:pPr marL="0" indent="0">
                        <a:lnSpc>
                          <a:spcPct val="100000"/>
                        </a:lnSpc>
                      </a:pPr>
                      <a:r>
                        <a:rPr lang="it-IT" altLang="ko-KR" sz="900" b="0" spc="-5" dirty="0">
                          <a:solidFill>
                            <a:schemeClr val="tx1"/>
                          </a:solidFill>
                          <a:latin typeface="Arial"/>
                          <a:cs typeface="Arial"/>
                        </a:rPr>
                        <a:t> 0.65V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0.70V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0" indent="0">
                        <a:lnSpc>
                          <a:spcPct val="100000"/>
                        </a:lnSpc>
                      </a:pPr>
                      <a:r>
                        <a:rPr lang="it-IT" altLang="ko-KR" sz="900" b="0" spc="-5" dirty="0">
                          <a:solidFill>
                            <a:schemeClr val="tx1"/>
                          </a:solidFill>
                          <a:latin typeface="Arial"/>
                          <a:cs typeface="Arial"/>
                        </a:rPr>
                        <a:t> 0.75V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48mA,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0.80V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p>
                      <a:pPr marL="0" indent="0">
                        <a:lnSpc>
                          <a:spcPct val="100000"/>
                        </a:lnSpc>
                      </a:pPr>
                      <a:r>
                        <a:rPr lang="it-IT" altLang="ko-KR" sz="900" b="0" spc="-5" dirty="0">
                          <a:solidFill>
                            <a:schemeClr val="tx1"/>
                          </a:solidFill>
                          <a:latin typeface="Arial"/>
                          <a:cs typeface="Arial"/>
                        </a:rPr>
                        <a:t> 0.85V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92mA,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dirty="0">
                          <a:solidFill>
                            <a:schemeClr val="tx1"/>
                          </a:solidFill>
                          <a:latin typeface="Arial"/>
                          <a:cs typeface="Arial"/>
                        </a:rPr>
                        <a:t>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770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ctr">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a:t>
                      </a:r>
                      <a:r>
                        <a:rPr lang="en-US" sz="900" dirty="0">
                          <a:solidFill>
                            <a:schemeClr val="tx1"/>
                          </a:solidFill>
                          <a:latin typeface="Arial"/>
                          <a:cs typeface="Arial"/>
                        </a:rPr>
                        <a:t>  </a:t>
                      </a:r>
                      <a:r>
                        <a:rPr sz="900" dirty="0">
                          <a:solidFill>
                            <a:schemeClr val="tx1"/>
                          </a:solidFill>
                          <a:latin typeface="Arial"/>
                          <a:cs typeface="Arial"/>
                        </a:rPr>
                        <a:t>3V,</a:t>
                      </a:r>
                      <a:r>
                        <a:rPr lang="en-US" sz="90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  4</a:t>
                      </a:r>
                      <a:r>
                        <a:rPr sz="900" dirty="0">
                          <a:solidFill>
                            <a:schemeClr val="tx1"/>
                          </a:solidFill>
                          <a:latin typeface="Arial"/>
                          <a:cs typeface="Arial"/>
                        </a:rPr>
                        <a:t>V</a:t>
                      </a:r>
                    </a:p>
                    <a:p>
                      <a:pPr marL="275590" algn="l">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  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  8</a:t>
                      </a:r>
                      <a:r>
                        <a:rPr sz="900" dirty="0">
                          <a:solidFill>
                            <a:schemeClr val="tx1"/>
                          </a:solidFill>
                          <a:latin typeface="Arial"/>
                          <a:cs typeface="Arial"/>
                        </a:rPr>
                        <a:t>V</a:t>
                      </a:r>
                    </a:p>
                    <a:p>
                      <a:pPr marL="275590" algn="l">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gn="l">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76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8mA, 3’b001 =  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24mA, 3’b011 = 32mA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48mA, 3’b101 = 64mA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92mA, 3’b111 = 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930">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Imax(64</a:t>
                      </a:r>
                      <a:r>
                        <a:rPr lang="en-US" altLang="ko-KR" sz="900" dirty="0">
                          <a:latin typeface="Arial"/>
                          <a:cs typeface="Arial"/>
                        </a:rPr>
                        <a:t>mA)*0.03</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=Imax(64mA)*0.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Imax(64mA)*1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lang="en-US" sz="900" spc="-5" dirty="0">
                          <a:latin typeface="Arial"/>
                          <a:cs typeface="Arial"/>
                        </a:rPr>
                        <a:t>8</a:t>
                      </a:r>
                      <a:r>
                        <a:rPr sz="900" spc="-5" dirty="0">
                          <a:latin typeface="Arial"/>
                          <a:cs typeface="Arial"/>
                        </a:rPr>
                        <a:t>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703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494">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346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097806"/>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
        <p:nvSpPr>
          <p:cNvPr id="3" name="object 11">
            <a:extLst>
              <a:ext uri="{FF2B5EF4-FFF2-40B4-BE49-F238E27FC236}">
                <a16:creationId xmlns:a16="http://schemas.microsoft.com/office/drawing/2014/main" id="{67E3E77C-C881-5301-041D-8B6C077E4E3D}"/>
              </a:ext>
            </a:extLst>
          </p:cNvPr>
          <p:cNvSpPr txBox="1"/>
          <p:nvPr/>
        </p:nvSpPr>
        <p:spPr>
          <a:xfrm>
            <a:off x="2495752" y="784796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413936976"/>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32,768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762505"/>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27073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314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1384" y="450561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95664" y="8230855"/>
            <a:ext cx="2763827"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5 Power up sequence </a:t>
            </a:r>
            <a:r>
              <a:rPr lang="en-US" sz="881" b="1" spc="15" dirty="0">
                <a:solidFill>
                  <a:prstClr val="black"/>
                </a:solidFill>
                <a:latin typeface="Arial" panose="020B0604020202020204" pitchFamily="34" charset="0"/>
                <a:cs typeface="Arial" panose="020B0604020202020204" pitchFamily="34" charset="0"/>
              </a:rPr>
              <a:t>and Ramp-up time</a:t>
            </a:r>
            <a:endParaRPr kumimoji="0" lang="en-US" sz="881"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0560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274547" y="4435149"/>
            <a:ext cx="2289723"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9" name="그림 8">
            <a:extLst>
              <a:ext uri="{FF2B5EF4-FFF2-40B4-BE49-F238E27FC236}">
                <a16:creationId xmlns:a16="http://schemas.microsoft.com/office/drawing/2014/main" id="{F390DB76-D5A5-754F-F425-5B556F1299BC}"/>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317FA0EF-EFAB-F17E-3326-914DE964E7AB}"/>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4EFE2DE5-2616-4BED-6DAC-AFD3DA36129B}"/>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561C-8075-E36E-05C8-345165E35D8A}"/>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77455C85-B5ED-3709-B2FF-CED7DCEF31F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53C6B3-7C55-A065-2AC7-CDB16B0A9AD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7D6F1135-E905-7B28-9007-E8C61347C8F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B971551B-630D-1EDB-5A23-F30B74A5D52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9" name="표 8">
            <a:extLst>
              <a:ext uri="{FF2B5EF4-FFF2-40B4-BE49-F238E27FC236}">
                <a16:creationId xmlns:a16="http://schemas.microsoft.com/office/drawing/2014/main" id="{2604386E-7FCF-6D77-5F51-79ED1E7C1ACF}"/>
              </a:ext>
            </a:extLst>
          </p:cNvPr>
          <p:cNvGraphicFramePr>
            <a:graphicFrameLocks noGrp="1"/>
          </p:cNvGraphicFramePr>
          <p:nvPr>
            <p:extLst>
              <p:ext uri="{D42A27DB-BD31-4B8C-83A1-F6EECF244321}">
                <p14:modId xmlns:p14="http://schemas.microsoft.com/office/powerpoint/2010/main" val="3220895676"/>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10" name="TextBox 9">
            <a:extLst>
              <a:ext uri="{FF2B5EF4-FFF2-40B4-BE49-F238E27FC236}">
                <a16:creationId xmlns:a16="http://schemas.microsoft.com/office/drawing/2014/main" id="{5233CC96-82E6-28A5-5732-057587C52524}"/>
              </a:ext>
            </a:extLst>
          </p:cNvPr>
          <p:cNvSpPr txBox="1"/>
          <p:nvPr/>
        </p:nvSpPr>
        <p:spPr>
          <a:xfrm>
            <a:off x="2737390" y="4673768"/>
            <a:ext cx="1682210"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14" name="TextBox 13">
            <a:extLst>
              <a:ext uri="{FF2B5EF4-FFF2-40B4-BE49-F238E27FC236}">
                <a16:creationId xmlns:a16="http://schemas.microsoft.com/office/drawing/2014/main" id="{9D69F09E-889F-DFA2-9794-59A729776ED2}"/>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15" name="그룹 14">
            <a:extLst>
              <a:ext uri="{FF2B5EF4-FFF2-40B4-BE49-F238E27FC236}">
                <a16:creationId xmlns:a16="http://schemas.microsoft.com/office/drawing/2014/main" id="{B2DC445E-772B-315F-519F-88932BD2E882}"/>
              </a:ext>
            </a:extLst>
          </p:cNvPr>
          <p:cNvGrpSpPr/>
          <p:nvPr/>
        </p:nvGrpSpPr>
        <p:grpSpPr>
          <a:xfrm>
            <a:off x="4989784" y="1999581"/>
            <a:ext cx="1332255" cy="230832"/>
            <a:chOff x="4989784" y="5674847"/>
            <a:chExt cx="1332255" cy="230832"/>
          </a:xfrm>
        </p:grpSpPr>
        <p:sp>
          <p:nvSpPr>
            <p:cNvPr id="21" name="TextBox 20">
              <a:extLst>
                <a:ext uri="{FF2B5EF4-FFF2-40B4-BE49-F238E27FC236}">
                  <a16:creationId xmlns:a16="http://schemas.microsoft.com/office/drawing/2014/main" id="{6C368C4F-D732-94C2-96E3-BE672F2EAD7D}"/>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22" name="직사각형 21">
              <a:extLst>
                <a:ext uri="{FF2B5EF4-FFF2-40B4-BE49-F238E27FC236}">
                  <a16:creationId xmlns:a16="http://schemas.microsoft.com/office/drawing/2014/main" id="{C9BF8BFF-DD61-F9B5-B421-A55C2E214402}"/>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23" name="직사각형 22">
              <a:extLst>
                <a:ext uri="{FF2B5EF4-FFF2-40B4-BE49-F238E27FC236}">
                  <a16:creationId xmlns:a16="http://schemas.microsoft.com/office/drawing/2014/main" id="{34A186AC-D5AD-EB64-520A-C7A4392D5C6D}"/>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24" name="TextBox 23">
              <a:extLst>
                <a:ext uri="{FF2B5EF4-FFF2-40B4-BE49-F238E27FC236}">
                  <a16:creationId xmlns:a16="http://schemas.microsoft.com/office/drawing/2014/main" id="{21AFB052-E3BD-A0EF-938A-F582E84FA827}"/>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1893294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728005" y="34592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728005" y="510887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728005" y="6689735"/>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728005" y="8359729"/>
            <a:ext cx="3618695"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067782" y="4232399"/>
            <a:ext cx="2711350"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476938" y="6679213"/>
            <a:ext cx="1909748"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FBI and FBO Scheme</a:t>
            </a:r>
          </a:p>
        </p:txBody>
      </p:sp>
      <p:grpSp>
        <p:nvGrpSpPr>
          <p:cNvPr id="14" name="그룹 13">
            <a:extLst>
              <a:ext uri="{FF2B5EF4-FFF2-40B4-BE49-F238E27FC236}">
                <a16:creationId xmlns:a16="http://schemas.microsoft.com/office/drawing/2014/main" id="{D8B9DB83-2CAB-91BE-4EF8-6FCD365C6E84}"/>
              </a:ext>
            </a:extLst>
          </p:cNvPr>
          <p:cNvGrpSpPr/>
          <p:nvPr/>
        </p:nvGrpSpPr>
        <p:grpSpPr>
          <a:xfrm>
            <a:off x="1456249" y="2798539"/>
            <a:ext cx="4074424" cy="1245089"/>
            <a:chOff x="1253227" y="1795603"/>
            <a:chExt cx="4074424" cy="1245089"/>
          </a:xfrm>
        </p:grpSpPr>
        <p:grpSp>
          <p:nvGrpSpPr>
            <p:cNvPr id="105" name="그룹 104">
              <a:extLst>
                <a:ext uri="{FF2B5EF4-FFF2-40B4-BE49-F238E27FC236}">
                  <a16:creationId xmlns:a16="http://schemas.microsoft.com/office/drawing/2014/main" id="{6B7C0134-75EF-6A07-0C11-9EFA5BF695CB}"/>
                </a:ext>
              </a:extLst>
            </p:cNvPr>
            <p:cNvGrpSpPr/>
            <p:nvPr/>
          </p:nvGrpSpPr>
          <p:grpSpPr>
            <a:xfrm>
              <a:off x="1507227" y="1798692"/>
              <a:ext cx="1427516" cy="1242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53" name="그룹 52">
                <a:extLst>
                  <a:ext uri="{FF2B5EF4-FFF2-40B4-BE49-F238E27FC236}">
                    <a16:creationId xmlns:a16="http://schemas.microsoft.com/office/drawing/2014/main" id="{C27B0B18-7443-8AE5-10F4-AB9101C46ED5}"/>
                  </a:ext>
                </a:extLst>
              </p:cNvPr>
              <p:cNvGrpSpPr/>
              <p:nvPr/>
            </p:nvGrpSpPr>
            <p:grpSpPr>
              <a:xfrm>
                <a:off x="1224805" y="4939058"/>
                <a:ext cx="144000" cy="329782"/>
                <a:chOff x="3253381" y="4530705"/>
                <a:chExt cx="144000" cy="329782"/>
              </a:xfrm>
            </p:grpSpPr>
            <p:pic>
              <p:nvPicPr>
                <p:cNvPr id="44" name="그림 43">
                  <a:extLst>
                    <a:ext uri="{FF2B5EF4-FFF2-40B4-BE49-F238E27FC236}">
                      <a16:creationId xmlns:a16="http://schemas.microsoft.com/office/drawing/2014/main" id="{FD15B129-E053-F82B-853A-62A79697096D}"/>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48" name="그림 47">
                  <a:extLst>
                    <a:ext uri="{FF2B5EF4-FFF2-40B4-BE49-F238E27FC236}">
                      <a16:creationId xmlns:a16="http://schemas.microsoft.com/office/drawing/2014/main" id="{EAFCB7A7-7EA3-1E24-25FA-388BFD32568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grpSp>
          <p:nvGrpSpPr>
            <p:cNvPr id="131" name="그룹 130">
              <a:extLst>
                <a:ext uri="{FF2B5EF4-FFF2-40B4-BE49-F238E27FC236}">
                  <a16:creationId xmlns:a16="http://schemas.microsoft.com/office/drawing/2014/main" id="{07D34400-D341-090C-C8D5-2EA3BBC6A5F8}"/>
                </a:ext>
              </a:extLst>
            </p:cNvPr>
            <p:cNvGrpSpPr/>
            <p:nvPr/>
          </p:nvGrpSpPr>
          <p:grpSpPr>
            <a:xfrm>
              <a:off x="3650193" y="1795603"/>
              <a:ext cx="1427516" cy="1242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grpSp>
            <p:nvGrpSpPr>
              <p:cNvPr id="134" name="그룹 133">
                <a:extLst>
                  <a:ext uri="{FF2B5EF4-FFF2-40B4-BE49-F238E27FC236}">
                    <a16:creationId xmlns:a16="http://schemas.microsoft.com/office/drawing/2014/main" id="{E960E0FD-AACC-4E28-B5BC-F52B9842D5F3}"/>
                  </a:ext>
                </a:extLst>
              </p:cNvPr>
              <p:cNvGrpSpPr/>
              <p:nvPr/>
            </p:nvGrpSpPr>
            <p:grpSpPr>
              <a:xfrm>
                <a:off x="1224805" y="4939058"/>
                <a:ext cx="144000" cy="329782"/>
                <a:chOff x="3253381" y="4530705"/>
                <a:chExt cx="144000" cy="329782"/>
              </a:xfrm>
            </p:grpSpPr>
            <p:pic>
              <p:nvPicPr>
                <p:cNvPr id="142" name="그림 141">
                  <a:extLst>
                    <a:ext uri="{FF2B5EF4-FFF2-40B4-BE49-F238E27FC236}">
                      <a16:creationId xmlns:a16="http://schemas.microsoft.com/office/drawing/2014/main" id="{5E45DAED-CFC6-CF1C-FA90-3C61A5390993}"/>
                    </a:ext>
                  </a:extLst>
                </p:cNvPr>
                <p:cNvPicPr>
                  <a:picLocks noChangeAspect="1"/>
                </p:cNvPicPr>
                <p:nvPr/>
              </p:nvPicPr>
              <p:blipFill>
                <a:blip r:embed="rId3"/>
                <a:stretch>
                  <a:fillRect/>
                </a:stretch>
              </p:blipFill>
              <p:spPr>
                <a:xfrm>
                  <a:off x="3292469" y="4530705"/>
                  <a:ext cx="65825" cy="252000"/>
                </a:xfrm>
                <a:prstGeom prst="rect">
                  <a:avLst/>
                </a:prstGeom>
              </p:spPr>
            </p:pic>
            <p:pic>
              <p:nvPicPr>
                <p:cNvPr id="143" name="그림 142">
                  <a:extLst>
                    <a:ext uri="{FF2B5EF4-FFF2-40B4-BE49-F238E27FC236}">
                      <a16:creationId xmlns:a16="http://schemas.microsoft.com/office/drawing/2014/main" id="{C0602349-532F-E93D-2873-F476052DD5C3}"/>
                    </a:ext>
                  </a:extLst>
                </p:cNvPr>
                <p:cNvPicPr>
                  <a:picLocks noChangeAspect="1"/>
                </p:cNvPicPr>
                <p:nvPr/>
              </p:nvPicPr>
              <p:blipFill>
                <a:blip r:embed="rId4"/>
                <a:stretch>
                  <a:fillRect/>
                </a:stretch>
              </p:blipFill>
              <p:spPr>
                <a:xfrm>
                  <a:off x="3253381" y="4782705"/>
                  <a:ext cx="144000" cy="77782"/>
                </a:xfrm>
                <a:prstGeom prst="rect">
                  <a:avLst/>
                </a:prstGeom>
              </p:spPr>
            </p:pic>
          </p:grpSp>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41" name="직사각형 140">
                <a:extLst>
                  <a:ext uri="{FF2B5EF4-FFF2-40B4-BE49-F238E27FC236}">
                    <a16:creationId xmlns:a16="http://schemas.microsoft.com/office/drawing/2014/main" id="{C089A6F7-2B9B-574F-0B8D-34DAB0E5D848}"/>
                  </a:ext>
                </a:extLst>
              </p:cNvPr>
              <p:cNvSpPr/>
              <p:nvPr/>
            </p:nvSpPr>
            <p:spPr>
              <a:xfrm>
                <a:off x="1611644" y="475000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EXT_VS_E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1930075" y="1798942"/>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9" name="TextBox 148">
              <a:extLst>
                <a:ext uri="{FF2B5EF4-FFF2-40B4-BE49-F238E27FC236}">
                  <a16:creationId xmlns:a16="http://schemas.microsoft.com/office/drawing/2014/main" id="{3F6B0F1D-FED5-0482-2333-AEFF6FCE2C58}"/>
                </a:ext>
              </a:extLst>
            </p:cNvPr>
            <p:cNvSpPr txBox="1"/>
            <p:nvPr/>
          </p:nvSpPr>
          <p:spPr>
            <a:xfrm>
              <a:off x="4040098" y="1796099"/>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73651"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253227" y="241028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32877" y="2405467"/>
              <a:ext cx="720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E48848F8-82EC-6D71-C3B4-A15A50872B79}"/>
              </a:ext>
            </a:extLst>
          </p:cNvPr>
          <p:cNvSpPr txBox="1"/>
          <p:nvPr/>
        </p:nvSpPr>
        <p:spPr>
          <a:xfrm>
            <a:off x="843704" y="3289623"/>
            <a:ext cx="679994" cy="230832"/>
          </a:xfrm>
          <a:prstGeom prst="rect">
            <a:avLst/>
          </a:prstGeom>
          <a:noFill/>
        </p:spPr>
        <p:txBody>
          <a:bodyPr wrap="none" rtlCol="0">
            <a:spAutoFit/>
          </a:bodyPr>
          <a:lstStyle/>
          <a:p>
            <a:r>
              <a:rPr lang="en-US" altLang="ko-KR" sz="900" dirty="0"/>
              <a:t>(n) VSYNCI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471741" y="3282297"/>
            <a:ext cx="843501" cy="230832"/>
          </a:xfrm>
          <a:prstGeom prst="rect">
            <a:avLst/>
          </a:prstGeom>
          <a:noFill/>
        </p:spPr>
        <p:txBody>
          <a:bodyPr wrap="none" rtlCol="0">
            <a:spAutoFit/>
          </a:bodyPr>
          <a:lstStyle/>
          <a:p>
            <a:r>
              <a:rPr lang="en-US" altLang="ko-KR" sz="900" dirty="0"/>
              <a:t>(n+1) VSYNCO</a:t>
            </a:r>
            <a:endParaRPr lang="ko-KR" altLang="en-US" sz="900" dirty="0"/>
          </a:p>
        </p:txBody>
      </p:sp>
      <p:grpSp>
        <p:nvGrpSpPr>
          <p:cNvPr id="54" name="그룹 53">
            <a:extLst>
              <a:ext uri="{FF2B5EF4-FFF2-40B4-BE49-F238E27FC236}">
                <a16:creationId xmlns:a16="http://schemas.microsoft.com/office/drawing/2014/main" id="{F76E499C-CAF2-FA3A-3DD3-0B3E5B841858}"/>
              </a:ext>
            </a:extLst>
          </p:cNvPr>
          <p:cNvGrpSpPr/>
          <p:nvPr/>
        </p:nvGrpSpPr>
        <p:grpSpPr>
          <a:xfrm>
            <a:off x="982860" y="5252406"/>
            <a:ext cx="5090328" cy="1244442"/>
            <a:chOff x="941917" y="4274317"/>
            <a:chExt cx="5090328" cy="1244442"/>
          </a:xfrm>
        </p:grpSpPr>
        <p:grpSp>
          <p:nvGrpSpPr>
            <p:cNvPr id="40" name="그룹 39">
              <a:extLst>
                <a:ext uri="{FF2B5EF4-FFF2-40B4-BE49-F238E27FC236}">
                  <a16:creationId xmlns:a16="http://schemas.microsoft.com/office/drawing/2014/main" id="{5F89EB03-ED93-E5A0-3D40-1455BCE522BE}"/>
                </a:ext>
              </a:extLst>
            </p:cNvPr>
            <p:cNvGrpSpPr/>
            <p:nvPr/>
          </p:nvGrpSpPr>
          <p:grpSpPr>
            <a:xfrm>
              <a:off x="1410430" y="4274317"/>
              <a:ext cx="4074424" cy="1244442"/>
              <a:chOff x="1248351" y="4249470"/>
              <a:chExt cx="4074424" cy="1244442"/>
            </a:xfrm>
          </p:grpSpPr>
          <p:sp>
            <p:nvSpPr>
              <p:cNvPr id="98" name="직사각형 97">
                <a:extLst>
                  <a:ext uri="{FF2B5EF4-FFF2-40B4-BE49-F238E27FC236}">
                    <a16:creationId xmlns:a16="http://schemas.microsoft.com/office/drawing/2014/main" id="{D6F64604-7F94-92C9-E9EF-494E2AE7F39E}"/>
                  </a:ext>
                </a:extLst>
              </p:cNvPr>
              <p:cNvSpPr/>
              <p:nvPr/>
            </p:nvSpPr>
            <p:spPr>
              <a:xfrm>
                <a:off x="1602750" y="424947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5"/>
              <a:stretch>
                <a:fillRect/>
              </a:stretch>
            </p:blipFill>
            <p:spPr>
              <a:xfrm flipH="1">
                <a:off x="1979916" y="500839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077576" y="481477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524015" y="460631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3"/>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775361" y="494673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1847055" y="486595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569153" y="486800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507227" y="481366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1941778" y="506720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1941778" y="511551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150233" y="504033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254272" y="491159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148690" y="502593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580317" y="481458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578830" y="487395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752877" y="481912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08" name="직사각형 107">
                <a:extLst>
                  <a:ext uri="{FF2B5EF4-FFF2-40B4-BE49-F238E27FC236}">
                    <a16:creationId xmlns:a16="http://schemas.microsoft.com/office/drawing/2014/main" id="{475780EC-D250-1D65-E22D-59EA312C0A95}"/>
                  </a:ext>
                </a:extLst>
              </p:cNvPr>
              <p:cNvSpPr/>
              <p:nvPr/>
            </p:nvSpPr>
            <p:spPr>
              <a:xfrm>
                <a:off x="3743524" y="425191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5"/>
              <a:stretch>
                <a:fillRect/>
              </a:stretch>
            </p:blipFill>
            <p:spPr>
              <a:xfrm flipH="1">
                <a:off x="4120690" y="501083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218350" y="481721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664789" y="460875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3"/>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3916135" y="494918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4"/>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3987829" y="486839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709927" y="487044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648001" y="481610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6</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082552" y="506964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082552" y="511795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291007" y="504277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395046" y="491404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289464" y="502837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721091" y="482115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719604" y="487639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4893651" y="482157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13</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1947357" y="4250387"/>
                <a:ext cx="522900" cy="230832"/>
              </a:xfrm>
              <a:prstGeom prst="rect">
                <a:avLst/>
              </a:prstGeom>
              <a:noFill/>
            </p:spPr>
            <p:txBody>
              <a:bodyPr wrap="none" rtlCol="0">
                <a:spAutoFit/>
              </a:bodyPr>
              <a:lstStyle/>
              <a:p>
                <a:r>
                  <a:rPr lang="en-US" altLang="ko-KR" sz="900" dirty="0"/>
                  <a:t>Dev (n)</a:t>
                </a:r>
                <a:endParaRPr lang="ko-KR" altLang="en-US" sz="900" dirty="0"/>
              </a:p>
            </p:txBody>
          </p:sp>
          <p:sp>
            <p:nvSpPr>
              <p:cNvPr id="147" name="TextBox 146">
                <a:extLst>
                  <a:ext uri="{FF2B5EF4-FFF2-40B4-BE49-F238E27FC236}">
                    <a16:creationId xmlns:a16="http://schemas.microsoft.com/office/drawing/2014/main" id="{71C3F13E-DEA3-C1A0-C23E-7311AF2EC9E4}"/>
                  </a:ext>
                </a:extLst>
              </p:cNvPr>
              <p:cNvSpPr txBox="1"/>
              <p:nvPr/>
            </p:nvSpPr>
            <p:spPr>
              <a:xfrm>
                <a:off x="4057380" y="4250484"/>
                <a:ext cx="638316" cy="230832"/>
              </a:xfrm>
              <a:prstGeom prst="rect">
                <a:avLst/>
              </a:prstGeom>
              <a:noFill/>
            </p:spPr>
            <p:txBody>
              <a:bodyPr wrap="none" rtlCol="0">
                <a:spAutoFit/>
              </a:bodyPr>
              <a:lstStyle/>
              <a:p>
                <a:r>
                  <a:rPr lang="en-US" altLang="ko-KR" sz="900" dirty="0"/>
                  <a:t>Dev (n+1)</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8775"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248351" y="4878773"/>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28001" y="4873955"/>
                <a:ext cx="720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BC8FC5B2-878D-FF34-4A1A-CD26B23AA901}"/>
                  </a:ext>
                </a:extLst>
              </p:cNvPr>
              <p:cNvSpPr/>
              <p:nvPr/>
            </p:nvSpPr>
            <p:spPr>
              <a:xfrm>
                <a:off x="2151156" y="505982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151549" y="507236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147421" y="510357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574530" y="510691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378373" y="521334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sp>
            <p:nvSpPr>
              <p:cNvPr id="35" name="직사각형 34">
                <a:extLst>
                  <a:ext uri="{FF2B5EF4-FFF2-40B4-BE49-F238E27FC236}">
                    <a16:creationId xmlns:a16="http://schemas.microsoft.com/office/drawing/2014/main" id="{F0222C0C-AE68-F969-79CD-A97603DCE174}"/>
                  </a:ext>
                </a:extLst>
              </p:cNvPr>
              <p:cNvSpPr/>
              <p:nvPr/>
            </p:nvSpPr>
            <p:spPr>
              <a:xfrm>
                <a:off x="4293215" y="506085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293608" y="507338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289480" y="510459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716589" y="510793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520432" y="521437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FBO_E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41917" y="4789404"/>
              <a:ext cx="534121"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430798" y="4775382"/>
              <a:ext cx="601447" cy="230832"/>
            </a:xfrm>
            <a:prstGeom prst="rect">
              <a:avLst/>
            </a:prstGeom>
            <a:noFill/>
          </p:spPr>
          <p:txBody>
            <a:bodyPr wrap="none" rtlCol="0">
              <a:spAutoFit/>
            </a:bodyPr>
            <a:lstStyle/>
            <a:p>
              <a:r>
                <a:rPr lang="en-US" altLang="ko-KR" sz="900" dirty="0"/>
                <a:t>(n+1) FBI</a:t>
              </a:r>
              <a:endParaRPr lang="ko-KR" altLang="en-US" sz="900" dirty="0"/>
            </a:p>
          </p:txBody>
        </p:sp>
      </p:gr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615553"/>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two external signal modes, VSYNC and FB, and if each external mode is enabled, each function is operated using its external signal instead of using the information obtained from the serial communication. These functions are helpful for the single PCB layout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an external VSYNC and FB</a:t>
            </a:r>
          </a:p>
        </p:txBody>
      </p:sp>
    </p:spTree>
    <p:extLst>
      <p:ext uri="{BB962C8B-B14F-4D97-AF65-F5344CB8AC3E}">
        <p14:creationId xmlns:p14="http://schemas.microsoft.com/office/powerpoint/2010/main" val="345942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D6F19-DFCA-FC13-3285-D49A670B6ED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209F503C-1B72-88A0-1BB6-21F36FF4866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E19F9FB-A713-8A0B-A0D1-21133E5A4FE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7FCB4BEA-E976-ACCA-7F8B-7DB16C37048A}"/>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4" name="TextBox 3">
            <a:extLst>
              <a:ext uri="{FF2B5EF4-FFF2-40B4-BE49-F238E27FC236}">
                <a16:creationId xmlns:a16="http://schemas.microsoft.com/office/drawing/2014/main" id="{8FA39F01-4395-0207-2B5D-6D7B75816C9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Switching a frame frequency without a flicker</a:t>
            </a:r>
          </a:p>
        </p:txBody>
      </p:sp>
      <p:sp>
        <p:nvSpPr>
          <p:cNvPr id="5" name="TextBox 4">
            <a:extLst>
              <a:ext uri="{FF2B5EF4-FFF2-40B4-BE49-F238E27FC236}">
                <a16:creationId xmlns:a16="http://schemas.microsoft.com/office/drawing/2014/main" id="{AA5DFF72-9204-DAC2-F575-F84334C17C70}"/>
              </a:ext>
            </a:extLst>
          </p:cNvPr>
          <p:cNvSpPr txBox="1"/>
          <p:nvPr/>
        </p:nvSpPr>
        <p:spPr>
          <a:xfrm rot="5400000">
            <a:off x="3276594"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pic>
        <p:nvPicPr>
          <p:cNvPr id="6" name="그림 5">
            <a:extLst>
              <a:ext uri="{FF2B5EF4-FFF2-40B4-BE49-F238E27FC236}">
                <a16:creationId xmlns:a16="http://schemas.microsoft.com/office/drawing/2014/main" id="{752658DB-26E7-DAC0-512C-5BDF075B7677}"/>
              </a:ext>
            </a:extLst>
          </p:cNvPr>
          <p:cNvPicPr>
            <a:picLocks noChangeAspect="1"/>
          </p:cNvPicPr>
          <p:nvPr/>
        </p:nvPicPr>
        <p:blipFill>
          <a:blip r:embed="rId2"/>
          <a:stretch>
            <a:fillRect/>
          </a:stretch>
        </p:blipFill>
        <p:spPr>
          <a:xfrm rot="5400000">
            <a:off x="1253982" y="4560606"/>
            <a:ext cx="7488000" cy="1408551"/>
          </a:xfrm>
          <a:prstGeom prst="rect">
            <a:avLst/>
          </a:prstGeom>
        </p:spPr>
      </p:pic>
      <p:pic>
        <p:nvPicPr>
          <p:cNvPr id="8" name="그림 7">
            <a:extLst>
              <a:ext uri="{FF2B5EF4-FFF2-40B4-BE49-F238E27FC236}">
                <a16:creationId xmlns:a16="http://schemas.microsoft.com/office/drawing/2014/main" id="{8F19D3C8-F0CE-C707-6B92-DBCED805D3FF}"/>
              </a:ext>
            </a:extLst>
          </p:cNvPr>
          <p:cNvPicPr>
            <a:picLocks noChangeAspect="1"/>
          </p:cNvPicPr>
          <p:nvPr/>
        </p:nvPicPr>
        <p:blipFill>
          <a:blip r:embed="rId3"/>
          <a:stretch>
            <a:fillRect/>
          </a:stretch>
        </p:blipFill>
        <p:spPr>
          <a:xfrm rot="5400000">
            <a:off x="-914398" y="4029052"/>
            <a:ext cx="6858000" cy="1847897"/>
          </a:xfrm>
          <a:prstGeom prst="rect">
            <a:avLst/>
          </a:prstGeom>
        </p:spPr>
      </p:pic>
      <p:sp>
        <p:nvSpPr>
          <p:cNvPr id="9" name="TextBox 8">
            <a:extLst>
              <a:ext uri="{FF2B5EF4-FFF2-40B4-BE49-F238E27FC236}">
                <a16:creationId xmlns:a16="http://schemas.microsoft.com/office/drawing/2014/main" id="{478D3455-3E9C-85D5-6740-4D9C7E7BB3B7}"/>
              </a:ext>
            </a:extLst>
          </p:cNvPr>
          <p:cNvSpPr txBox="1"/>
          <p:nvPr/>
        </p:nvSpPr>
        <p:spPr>
          <a:xfrm rot="5400000">
            <a:off x="512666"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spTree>
    <p:extLst>
      <p:ext uri="{BB962C8B-B14F-4D97-AF65-F5344CB8AC3E}">
        <p14:creationId xmlns:p14="http://schemas.microsoft.com/office/powerpoint/2010/main" val="3825853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938896285"/>
              </p:ext>
            </p:extLst>
          </p:nvPr>
        </p:nvGraphicFramePr>
        <p:xfrm>
          <a:off x="404812" y="2156360"/>
          <a:ext cx="6048622" cy="1816799"/>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627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219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661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XD04 will receive the ID-Gen command from the XC24 controller, then the ID value is automatically generated. The ID value is needed for proper reading, so, the ID-Gen command must be firstly executed by the XC24 controller before executing any commands.  If all XD04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777163783"/>
              </p:ext>
            </p:extLst>
          </p:nvPr>
        </p:nvGraphicFramePr>
        <p:xfrm>
          <a:off x="404811" y="1727442"/>
          <a:ext cx="6048624"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8">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442670783"/>
              </p:ext>
            </p:extLst>
          </p:nvPr>
        </p:nvGraphicFramePr>
        <p:xfrm>
          <a:off x="408946" y="1577336"/>
          <a:ext cx="6053219" cy="5796520"/>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The LD data to be transmitted will be mapped sequentially from channel 1 to channel n regardless of the corresponded CHx_EN bit activation.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the device activates external VSYNC input or internal VSYNC as the frame sync signal.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Internal VSYNC  (The internal VSYNC can be generated from the SYNC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External VSYNC (The TEST_EN bit should be not activated)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EXT_VS_POL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polarity of the external VSYNC input.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High active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Low active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5940277"/>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2516742705"/>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526420">
                  <a:extLst>
                    <a:ext uri="{9D8B030D-6E8A-4147-A177-3AD203B41FA5}">
                      <a16:colId xmlns:a16="http://schemas.microsoft.com/office/drawing/2014/main" val="3038050475"/>
                    </a:ext>
                  </a:extLst>
                </a:gridCol>
                <a:gridCol w="641743">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EXT_VS_E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EXT_VS_POL</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20353252"/>
              </p:ext>
            </p:extLst>
          </p:nvPr>
        </p:nvGraphicFramePr>
        <p:xfrm>
          <a:off x="389761" y="1549501"/>
          <a:ext cx="6053732" cy="226887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68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912188553"/>
              </p:ext>
            </p:extLst>
          </p:nvPr>
        </p:nvGraphicFramePr>
        <p:xfrm>
          <a:off x="389761" y="5132514"/>
          <a:ext cx="6058367" cy="106491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459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will be activated. The set value is independent of the value of the CH_SIZE. If the CHx_EN is not set, then the corresponding channel sink output including the its faults, OPENx, SHORTx, FBx, will be deactivated. The CHx_EN bits </a:t>
                      </a:r>
                      <a:r>
                        <a:rPr lang="en-US" altLang="ko-KR" sz="900" b="0" i="1" dirty="0">
                          <a:solidFill>
                            <a:schemeClr val="tx1"/>
                          </a:solidFill>
                          <a:latin typeface="Arial" panose="020B0604020202020204" pitchFamily="34" charset="0"/>
                          <a:ea typeface="+mn-ea"/>
                          <a:cs typeface="Arial" panose="020B0604020202020204" pitchFamily="34" charset="0"/>
                        </a:rPr>
                        <a:t>should be set consecutively</a:t>
                      </a:r>
                      <a:r>
                        <a:rPr lang="en-US" altLang="ko-KR" sz="900" b="0" dirty="0">
                          <a:solidFill>
                            <a:schemeClr val="tx1"/>
                          </a:solidFill>
                          <a:latin typeface="Arial" panose="020B0604020202020204" pitchFamily="34" charset="0"/>
                          <a:ea typeface="+mn-ea"/>
                          <a:cs typeface="Arial" panose="020B0604020202020204" pitchFamily="34" charset="0"/>
                        </a:rPr>
                        <a:t>, such as CH1_EN, CH2_EN, CH3_EN, and so on,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number of enabled channels does not need to match the CH_SIZE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412060"/>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70679842"/>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186508190"/>
              </p:ext>
            </p:extLst>
          </p:nvPr>
        </p:nvGraphicFramePr>
        <p:xfrm>
          <a:off x="394817" y="4677575"/>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53BD7BCF-2BBA-9C05-D584-6716FA12324C}"/>
              </a:ext>
            </a:extLst>
          </p:cNvPr>
          <p:cNvGraphicFramePr>
            <a:graphicFrameLocks noGrp="1"/>
          </p:cNvGraphicFramePr>
          <p:nvPr>
            <p:extLst>
              <p:ext uri="{D42A27DB-BD31-4B8C-83A1-F6EECF244321}">
                <p14:modId xmlns:p14="http://schemas.microsoft.com/office/powerpoint/2010/main" val="2843522498"/>
              </p:ext>
            </p:extLst>
          </p:nvPr>
        </p:nvGraphicFramePr>
        <p:xfrm>
          <a:off x="1944559" y="2694223"/>
          <a:ext cx="4496795" cy="645600"/>
        </p:xfrm>
        <a:graphic>
          <a:graphicData uri="http://schemas.openxmlformats.org/drawingml/2006/table">
            <a:tbl>
              <a:tblPr firstRow="1" bandRow="1">
                <a:tableStyleId>{5C22544A-7EE6-4342-B048-85BDC9FD1C3A}</a:tableStyleId>
              </a:tblPr>
              <a:tblGrid>
                <a:gridCol w="628841">
                  <a:extLst>
                    <a:ext uri="{9D8B030D-6E8A-4147-A177-3AD203B41FA5}">
                      <a16:colId xmlns:a16="http://schemas.microsoft.com/office/drawing/2014/main" val="2861869108"/>
                    </a:ext>
                  </a:extLst>
                </a:gridCol>
                <a:gridCol w="1196174">
                  <a:extLst>
                    <a:ext uri="{9D8B030D-6E8A-4147-A177-3AD203B41FA5}">
                      <a16:colId xmlns:a16="http://schemas.microsoft.com/office/drawing/2014/main" val="3471461862"/>
                    </a:ext>
                  </a:extLst>
                </a:gridCol>
                <a:gridCol w="534356">
                  <a:extLst>
                    <a:ext uri="{9D8B030D-6E8A-4147-A177-3AD203B41FA5}">
                      <a16:colId xmlns:a16="http://schemas.microsoft.com/office/drawing/2014/main" val="4138367841"/>
                    </a:ext>
                  </a:extLst>
                </a:gridCol>
                <a:gridCol w="534356">
                  <a:extLst>
                    <a:ext uri="{9D8B030D-6E8A-4147-A177-3AD203B41FA5}">
                      <a16:colId xmlns:a16="http://schemas.microsoft.com/office/drawing/2014/main" val="3589866634"/>
                    </a:ext>
                  </a:extLst>
                </a:gridCol>
                <a:gridCol w="534356">
                  <a:extLst>
                    <a:ext uri="{9D8B030D-6E8A-4147-A177-3AD203B41FA5}">
                      <a16:colId xmlns:a16="http://schemas.microsoft.com/office/drawing/2014/main" val="203027085"/>
                    </a:ext>
                  </a:extLst>
                </a:gridCol>
                <a:gridCol w="534356">
                  <a:extLst>
                    <a:ext uri="{9D8B030D-6E8A-4147-A177-3AD203B41FA5}">
                      <a16:colId xmlns:a16="http://schemas.microsoft.com/office/drawing/2014/main" val="1213780966"/>
                    </a:ext>
                  </a:extLst>
                </a:gridCol>
                <a:gridCol w="534356">
                  <a:extLst>
                    <a:ext uri="{9D8B030D-6E8A-4147-A177-3AD203B41FA5}">
                      <a16:colId xmlns:a16="http://schemas.microsoft.com/office/drawing/2014/main" val="4000803811"/>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393,120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278,460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393,192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327,660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278,511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245,745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163,830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476291" y="3458460"/>
            <a:ext cx="1708685"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7. FPWM Configuration</a:t>
            </a:r>
          </a:p>
        </p:txBody>
      </p:sp>
    </p:spTree>
    <p:extLst>
      <p:ext uri="{BB962C8B-B14F-4D97-AF65-F5344CB8AC3E}">
        <p14:creationId xmlns:p14="http://schemas.microsoft.com/office/powerpoint/2010/main" val="270873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4133289624"/>
              </p:ext>
            </p:extLst>
          </p:nvPr>
        </p:nvGraphicFramePr>
        <p:xfrm>
          <a:off x="403136" y="6650290"/>
          <a:ext cx="6053977" cy="2110495"/>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11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8mA     3b’001 : max 16mA     3b’010 : max 24mA    3b’011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48mA     3b’101 : max 64mA     3b’110 : max 92mA    3b’111 : max 128mA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0.85V          3b’101 : &lt; 1.00V         3b’110 : &lt; 1.15V         3b’111 : &lt; 1.30V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5967569"/>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028048660"/>
              </p:ext>
            </p:extLst>
          </p:nvPr>
        </p:nvGraphicFramePr>
        <p:xfrm>
          <a:off x="403137" y="6232206"/>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19176798"/>
              </p:ext>
            </p:extLst>
          </p:nvPr>
        </p:nvGraphicFramePr>
        <p:xfrm>
          <a:off x="404563" y="1528398"/>
          <a:ext cx="6047025" cy="41308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07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581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72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92908644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444804561"/>
              </p:ext>
            </p:extLst>
          </p:nvPr>
        </p:nvGraphicFramePr>
        <p:xfrm>
          <a:off x="406838" y="1556231"/>
          <a:ext cx="6046597" cy="6928162"/>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from receiving some read-back command and stops after receiving the first response bit from daisied devices. If the timer will be expired due to any no response, internal communication logics will be recovered to the standby state. The timeout counter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expires at approximately 800us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6237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FB In/Out function is enabled. The internal FB status will be driven out active-low directly to the FBO open-drain pin #6 after being ORed with the FBI input pin #13 which is active-low with internally pull-up resistor. This function makes the FB status possible to be supplied in real-time unlike the FB value in the FAULT STATUS register. In case this bit is set and the FBI input pin #13 is unused, then the pin should be open or pull-up.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091321"/>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031320578"/>
              </p:ext>
            </p:extLst>
          </p:nvPr>
        </p:nvGraphicFramePr>
        <p:xfrm>
          <a:off x="399453" y="1113183"/>
          <a:ext cx="6053982" cy="372600"/>
        </p:xfrm>
        <a:graphic>
          <a:graphicData uri="http://schemas.openxmlformats.org/drawingml/2006/table">
            <a:tbl>
              <a:tblPr firstRow="1" bandRow="1">
                <a:tableStyleId>{5C22544A-7EE6-4342-B048-85BDC9FD1C3A}</a:tableStyleId>
              </a:tblPr>
              <a:tblGrid>
                <a:gridCol w="268685">
                  <a:extLst>
                    <a:ext uri="{9D8B030D-6E8A-4147-A177-3AD203B41FA5}">
                      <a16:colId xmlns:a16="http://schemas.microsoft.com/office/drawing/2014/main" val="657570846"/>
                    </a:ext>
                  </a:extLst>
                </a:gridCol>
                <a:gridCol w="314423">
                  <a:extLst>
                    <a:ext uri="{9D8B030D-6E8A-4147-A177-3AD203B41FA5}">
                      <a16:colId xmlns:a16="http://schemas.microsoft.com/office/drawing/2014/main" val="3259894497"/>
                    </a:ext>
                  </a:extLst>
                </a:gridCol>
                <a:gridCol w="421674">
                  <a:extLst>
                    <a:ext uri="{9D8B030D-6E8A-4147-A177-3AD203B41FA5}">
                      <a16:colId xmlns:a16="http://schemas.microsoft.com/office/drawing/2014/main" val="4170535043"/>
                    </a:ext>
                  </a:extLst>
                </a:gridCol>
                <a:gridCol w="492088">
                  <a:extLst>
                    <a:ext uri="{9D8B030D-6E8A-4147-A177-3AD203B41FA5}">
                      <a16:colId xmlns:a16="http://schemas.microsoft.com/office/drawing/2014/main" val="2079070694"/>
                    </a:ext>
                  </a:extLst>
                </a:gridCol>
                <a:gridCol w="291784">
                  <a:extLst>
                    <a:ext uri="{9D8B030D-6E8A-4147-A177-3AD203B41FA5}">
                      <a16:colId xmlns:a16="http://schemas.microsoft.com/office/drawing/2014/main" val="4213315911"/>
                    </a:ext>
                  </a:extLst>
                </a:gridCol>
                <a:gridCol w="224523">
                  <a:extLst>
                    <a:ext uri="{9D8B030D-6E8A-4147-A177-3AD203B41FA5}">
                      <a16:colId xmlns:a16="http://schemas.microsoft.com/office/drawing/2014/main" val="2769999950"/>
                    </a:ext>
                  </a:extLst>
                </a:gridCol>
                <a:gridCol w="570949">
                  <a:extLst>
                    <a:ext uri="{9D8B030D-6E8A-4147-A177-3AD203B41FA5}">
                      <a16:colId xmlns:a16="http://schemas.microsoft.com/office/drawing/2014/main" val="135637185"/>
                    </a:ext>
                  </a:extLst>
                </a:gridCol>
                <a:gridCol w="564640">
                  <a:extLst>
                    <a:ext uri="{9D8B030D-6E8A-4147-A177-3AD203B41FA5}">
                      <a16:colId xmlns:a16="http://schemas.microsoft.com/office/drawing/2014/main" val="3038050475"/>
                    </a:ext>
                  </a:extLst>
                </a:gridCol>
                <a:gridCol w="613534">
                  <a:extLst>
                    <a:ext uri="{9D8B030D-6E8A-4147-A177-3AD203B41FA5}">
                      <a16:colId xmlns:a16="http://schemas.microsoft.com/office/drawing/2014/main" val="1979433044"/>
                    </a:ext>
                  </a:extLst>
                </a:gridCol>
                <a:gridCol w="337522">
                  <a:extLst>
                    <a:ext uri="{9D8B030D-6E8A-4147-A177-3AD203B41FA5}">
                      <a16:colId xmlns:a16="http://schemas.microsoft.com/office/drawing/2014/main" val="4270661649"/>
                    </a:ext>
                  </a:extLst>
                </a:gridCol>
                <a:gridCol w="397457">
                  <a:extLst>
                    <a:ext uri="{9D8B030D-6E8A-4147-A177-3AD203B41FA5}">
                      <a16:colId xmlns:a16="http://schemas.microsoft.com/office/drawing/2014/main" val="3027041370"/>
                    </a:ext>
                  </a:extLst>
                </a:gridCol>
                <a:gridCol w="389571">
                  <a:extLst>
                    <a:ext uri="{9D8B030D-6E8A-4147-A177-3AD203B41FA5}">
                      <a16:colId xmlns:a16="http://schemas.microsoft.com/office/drawing/2014/main" val="2852526216"/>
                    </a:ext>
                  </a:extLst>
                </a:gridCol>
                <a:gridCol w="383261">
                  <a:extLst>
                    <a:ext uri="{9D8B030D-6E8A-4147-A177-3AD203B41FA5}">
                      <a16:colId xmlns:a16="http://schemas.microsoft.com/office/drawing/2014/main" val="103420222"/>
                    </a:ext>
                  </a:extLst>
                </a:gridCol>
                <a:gridCol w="387993">
                  <a:extLst>
                    <a:ext uri="{9D8B030D-6E8A-4147-A177-3AD203B41FA5}">
                      <a16:colId xmlns:a16="http://schemas.microsoft.com/office/drawing/2014/main" val="1470405609"/>
                    </a:ext>
                  </a:extLst>
                </a:gridCol>
                <a:gridCol w="3958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FBO_E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57995576"/>
              </p:ext>
            </p:extLst>
          </p:nvPr>
        </p:nvGraphicFramePr>
        <p:xfrm>
          <a:off x="404564" y="3915902"/>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20312744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spTree>
    <p:extLst>
      <p:ext uri="{BB962C8B-B14F-4D97-AF65-F5344CB8AC3E}">
        <p14:creationId xmlns:p14="http://schemas.microsoft.com/office/powerpoint/2010/main" val="2566225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2905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39927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nvGraphicFramePr>
        <p:xfrm>
          <a:off x="404565" y="460599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XD04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nvGraphicFramePr>
        <p:xfrm>
          <a:off x="404565" y="408970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nvGraphicFramePr>
        <p:xfrm>
          <a:off x="404552" y="7182256"/>
          <a:ext cx="6048610" cy="78163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last bit time of the current command and the first bit time of the next command. The setting value should be larger than the 1-bit serial data time. If not so,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extLst>
              <p:ext uri="{D42A27DB-BD31-4B8C-83A1-F6EECF244321}">
                <p14:modId xmlns:p14="http://schemas.microsoft.com/office/powerpoint/2010/main" val="548421897"/>
              </p:ext>
            </p:extLst>
          </p:nvPr>
        </p:nvGraphicFramePr>
        <p:xfrm>
          <a:off x="404552" y="6661617"/>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[6:0]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777644744"/>
              </p:ext>
            </p:extLst>
          </p:nvPr>
        </p:nvGraphicFramePr>
        <p:xfrm>
          <a:off x="404560" y="2020504"/>
          <a:ext cx="6061539" cy="128598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7.</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439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3648435"/>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324896897"/>
              </p:ext>
            </p:extLst>
          </p:nvPr>
        </p:nvGraphicFramePr>
        <p:xfrm>
          <a:off x="404564" y="4382566"/>
          <a:ext cx="6057230" cy="6747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010188678"/>
              </p:ext>
            </p:extLst>
          </p:nvPr>
        </p:nvGraphicFramePr>
        <p:xfrm>
          <a:off x="404812" y="1553915"/>
          <a:ext cx="6048621" cy="372600"/>
        </p:xfrm>
        <a:graphic>
          <a:graphicData uri="http://schemas.openxmlformats.org/drawingml/2006/table">
            <a:tbl>
              <a:tblPr firstRow="1" bandRow="1">
                <a:tableStyleId>{5C22544A-7EE6-4342-B048-85BDC9FD1C3A}</a:tableStyleId>
              </a:tblPr>
              <a:tblGrid>
                <a:gridCol w="295291">
                  <a:extLst>
                    <a:ext uri="{9D8B030D-6E8A-4147-A177-3AD203B41FA5}">
                      <a16:colId xmlns:a16="http://schemas.microsoft.com/office/drawing/2014/main" val="657570846"/>
                    </a:ext>
                  </a:extLst>
                </a:gridCol>
                <a:gridCol w="346803">
                  <a:extLst>
                    <a:ext uri="{9D8B030D-6E8A-4147-A177-3AD203B41FA5}">
                      <a16:colId xmlns:a16="http://schemas.microsoft.com/office/drawing/2014/main" val="3259894497"/>
                    </a:ext>
                  </a:extLst>
                </a:gridCol>
                <a:gridCol w="473519">
                  <a:extLst>
                    <a:ext uri="{9D8B030D-6E8A-4147-A177-3AD203B41FA5}">
                      <a16:colId xmlns:a16="http://schemas.microsoft.com/office/drawing/2014/main" val="4170535043"/>
                    </a:ext>
                  </a:extLst>
                </a:gridCol>
                <a:gridCol w="853820">
                  <a:extLst>
                    <a:ext uri="{9D8B030D-6E8A-4147-A177-3AD203B41FA5}">
                      <a16:colId xmlns:a16="http://schemas.microsoft.com/office/drawing/2014/main" val="2079070694"/>
                    </a:ext>
                  </a:extLst>
                </a:gridCol>
                <a:gridCol w="389242">
                  <a:extLst>
                    <a:ext uri="{9D8B030D-6E8A-4147-A177-3AD203B41FA5}">
                      <a16:colId xmlns:a16="http://schemas.microsoft.com/office/drawing/2014/main" val="4213315911"/>
                    </a:ext>
                  </a:extLst>
                </a:gridCol>
                <a:gridCol w="381417">
                  <a:extLst>
                    <a:ext uri="{9D8B030D-6E8A-4147-A177-3AD203B41FA5}">
                      <a16:colId xmlns:a16="http://schemas.microsoft.com/office/drawing/2014/main" val="2769999950"/>
                    </a:ext>
                  </a:extLst>
                </a:gridCol>
                <a:gridCol w="353987">
                  <a:extLst>
                    <a:ext uri="{9D8B030D-6E8A-4147-A177-3AD203B41FA5}">
                      <a16:colId xmlns:a16="http://schemas.microsoft.com/office/drawing/2014/main" val="135637185"/>
                    </a:ext>
                  </a:extLst>
                </a:gridCol>
                <a:gridCol w="366539">
                  <a:extLst>
                    <a:ext uri="{9D8B030D-6E8A-4147-A177-3AD203B41FA5}">
                      <a16:colId xmlns:a16="http://schemas.microsoft.com/office/drawing/2014/main" val="3038050475"/>
                    </a:ext>
                  </a:extLst>
                </a:gridCol>
                <a:gridCol w="379091">
                  <a:extLst>
                    <a:ext uri="{9D8B030D-6E8A-4147-A177-3AD203B41FA5}">
                      <a16:colId xmlns:a16="http://schemas.microsoft.com/office/drawing/2014/main" val="1979433044"/>
                    </a:ext>
                  </a:extLst>
                </a:gridCol>
                <a:gridCol w="374070">
                  <a:extLst>
                    <a:ext uri="{9D8B030D-6E8A-4147-A177-3AD203B41FA5}">
                      <a16:colId xmlns:a16="http://schemas.microsoft.com/office/drawing/2014/main" val="4270661649"/>
                    </a:ext>
                  </a:extLst>
                </a:gridCol>
                <a:gridCol w="381601">
                  <a:extLst>
                    <a:ext uri="{9D8B030D-6E8A-4147-A177-3AD203B41FA5}">
                      <a16:colId xmlns:a16="http://schemas.microsoft.com/office/drawing/2014/main" val="3027041370"/>
                    </a:ext>
                  </a:extLst>
                </a:gridCol>
                <a:gridCol w="371559">
                  <a:extLst>
                    <a:ext uri="{9D8B030D-6E8A-4147-A177-3AD203B41FA5}">
                      <a16:colId xmlns:a16="http://schemas.microsoft.com/office/drawing/2014/main" val="2852526216"/>
                    </a:ext>
                  </a:extLst>
                </a:gridCol>
                <a:gridCol w="356498">
                  <a:extLst>
                    <a:ext uri="{9D8B030D-6E8A-4147-A177-3AD203B41FA5}">
                      <a16:colId xmlns:a16="http://schemas.microsoft.com/office/drawing/2014/main" val="103420222"/>
                    </a:ext>
                  </a:extLst>
                </a:gridCol>
                <a:gridCol w="356497">
                  <a:extLst>
                    <a:ext uri="{9D8B030D-6E8A-4147-A177-3AD203B41FA5}">
                      <a16:colId xmlns:a16="http://schemas.microsoft.com/office/drawing/2014/main" val="1470405609"/>
                    </a:ext>
                  </a:extLst>
                </a:gridCol>
                <a:gridCol w="36868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178182604"/>
              </p:ext>
            </p:extLst>
          </p:nvPr>
        </p:nvGraphicFramePr>
        <p:xfrm>
          <a:off x="404564" y="3914149"/>
          <a:ext cx="6057231" cy="372600"/>
        </p:xfrm>
        <a:graphic>
          <a:graphicData uri="http://schemas.openxmlformats.org/drawingml/2006/table">
            <a:tbl>
              <a:tblPr firstRow="1" bandRow="1">
                <a:tableStyleId>{5C22544A-7EE6-4342-B048-85BDC9FD1C3A}</a:tableStyleId>
              </a:tblPr>
              <a:tblGrid>
                <a:gridCol w="351887">
                  <a:extLst>
                    <a:ext uri="{9D8B030D-6E8A-4147-A177-3AD203B41FA5}">
                      <a16:colId xmlns:a16="http://schemas.microsoft.com/office/drawing/2014/main" val="657570846"/>
                    </a:ext>
                  </a:extLst>
                </a:gridCol>
                <a:gridCol w="386913">
                  <a:extLst>
                    <a:ext uri="{9D8B030D-6E8A-4147-A177-3AD203B41FA5}">
                      <a16:colId xmlns:a16="http://schemas.microsoft.com/office/drawing/2014/main" val="3259894497"/>
                    </a:ext>
                  </a:extLst>
                </a:gridCol>
                <a:gridCol w="454723">
                  <a:extLst>
                    <a:ext uri="{9D8B030D-6E8A-4147-A177-3AD203B41FA5}">
                      <a16:colId xmlns:a16="http://schemas.microsoft.com/office/drawing/2014/main" val="4170535043"/>
                    </a:ext>
                  </a:extLst>
                </a:gridCol>
                <a:gridCol w="405309">
                  <a:extLst>
                    <a:ext uri="{9D8B030D-6E8A-4147-A177-3AD203B41FA5}">
                      <a16:colId xmlns:a16="http://schemas.microsoft.com/office/drawing/2014/main" val="2079070694"/>
                    </a:ext>
                  </a:extLst>
                </a:gridCol>
                <a:gridCol w="405309">
                  <a:extLst>
                    <a:ext uri="{9D8B030D-6E8A-4147-A177-3AD203B41FA5}">
                      <a16:colId xmlns:a16="http://schemas.microsoft.com/office/drawing/2014/main" val="4213315911"/>
                    </a:ext>
                  </a:extLst>
                </a:gridCol>
                <a:gridCol w="405309">
                  <a:extLst>
                    <a:ext uri="{9D8B030D-6E8A-4147-A177-3AD203B41FA5}">
                      <a16:colId xmlns:a16="http://schemas.microsoft.com/office/drawing/2014/main" val="2769999950"/>
                    </a:ext>
                  </a:extLst>
                </a:gridCol>
                <a:gridCol w="405309">
                  <a:extLst>
                    <a:ext uri="{9D8B030D-6E8A-4147-A177-3AD203B41FA5}">
                      <a16:colId xmlns:a16="http://schemas.microsoft.com/office/drawing/2014/main" val="135637185"/>
                    </a:ext>
                  </a:extLst>
                </a:gridCol>
                <a:gridCol w="405309">
                  <a:extLst>
                    <a:ext uri="{9D8B030D-6E8A-4147-A177-3AD203B41FA5}">
                      <a16:colId xmlns:a16="http://schemas.microsoft.com/office/drawing/2014/main" val="3038050475"/>
                    </a:ext>
                  </a:extLst>
                </a:gridCol>
                <a:gridCol w="405309">
                  <a:extLst>
                    <a:ext uri="{9D8B030D-6E8A-4147-A177-3AD203B41FA5}">
                      <a16:colId xmlns:a16="http://schemas.microsoft.com/office/drawing/2014/main" val="1979433044"/>
                    </a:ext>
                  </a:extLst>
                </a:gridCol>
                <a:gridCol w="405309">
                  <a:extLst>
                    <a:ext uri="{9D8B030D-6E8A-4147-A177-3AD203B41FA5}">
                      <a16:colId xmlns:a16="http://schemas.microsoft.com/office/drawing/2014/main" val="4270661649"/>
                    </a:ext>
                  </a:extLst>
                </a:gridCol>
                <a:gridCol w="405309">
                  <a:extLst>
                    <a:ext uri="{9D8B030D-6E8A-4147-A177-3AD203B41FA5}">
                      <a16:colId xmlns:a16="http://schemas.microsoft.com/office/drawing/2014/main" val="3027041370"/>
                    </a:ext>
                  </a:extLst>
                </a:gridCol>
                <a:gridCol w="405309">
                  <a:extLst>
                    <a:ext uri="{9D8B030D-6E8A-4147-A177-3AD203B41FA5}">
                      <a16:colId xmlns:a16="http://schemas.microsoft.com/office/drawing/2014/main" val="2852526216"/>
                    </a:ext>
                  </a:extLst>
                </a:gridCol>
                <a:gridCol w="405309">
                  <a:extLst>
                    <a:ext uri="{9D8B030D-6E8A-4147-A177-3AD203B41FA5}">
                      <a16:colId xmlns:a16="http://schemas.microsoft.com/office/drawing/2014/main" val="103420222"/>
                    </a:ext>
                  </a:extLst>
                </a:gridCol>
                <a:gridCol w="405309">
                  <a:extLst>
                    <a:ext uri="{9D8B030D-6E8A-4147-A177-3AD203B41FA5}">
                      <a16:colId xmlns:a16="http://schemas.microsoft.com/office/drawing/2014/main" val="1470405609"/>
                    </a:ext>
                  </a:extLst>
                </a:gridCol>
                <a:gridCol w="40530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537605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3948275071"/>
              </p:ext>
            </p:extLst>
          </p:nvPr>
        </p:nvGraphicFramePr>
        <p:xfrm>
          <a:off x="404560" y="6547190"/>
          <a:ext cx="6057234" cy="74133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871488543"/>
              </p:ext>
            </p:extLst>
          </p:nvPr>
        </p:nvGraphicFramePr>
        <p:xfrm>
          <a:off x="404563" y="5641667"/>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701739427"/>
              </p:ext>
            </p:extLst>
          </p:nvPr>
        </p:nvGraphicFramePr>
        <p:xfrm>
          <a:off x="404563" y="6084624"/>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78039513"/>
              </p:ext>
            </p:extLst>
          </p:nvPr>
        </p:nvGraphicFramePr>
        <p:xfrm>
          <a:off x="395875" y="1734018"/>
          <a:ext cx="6063640" cy="312008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378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26935104"/>
              </p:ext>
            </p:extLst>
          </p:nvPr>
        </p:nvGraphicFramePr>
        <p:xfrm>
          <a:off x="404812" y="1258316"/>
          <a:ext cx="6054705" cy="372600"/>
        </p:xfrm>
        <a:graphic>
          <a:graphicData uri="http://schemas.openxmlformats.org/drawingml/2006/table">
            <a:tbl>
              <a:tblPr firstRow="1" bandRow="1">
                <a:tableStyleId>{5C22544A-7EE6-4342-B048-85BDC9FD1C3A}</a:tableStyleId>
              </a:tblPr>
              <a:tblGrid>
                <a:gridCol w="277927">
                  <a:extLst>
                    <a:ext uri="{9D8B030D-6E8A-4147-A177-3AD203B41FA5}">
                      <a16:colId xmlns:a16="http://schemas.microsoft.com/office/drawing/2014/main" val="657570846"/>
                    </a:ext>
                  </a:extLst>
                </a:gridCol>
                <a:gridCol w="325239">
                  <a:extLst>
                    <a:ext uri="{9D8B030D-6E8A-4147-A177-3AD203B41FA5}">
                      <a16:colId xmlns:a16="http://schemas.microsoft.com/office/drawing/2014/main" val="3259894497"/>
                    </a:ext>
                  </a:extLst>
                </a:gridCol>
                <a:gridCol w="436177">
                  <a:extLst>
                    <a:ext uri="{9D8B030D-6E8A-4147-A177-3AD203B41FA5}">
                      <a16:colId xmlns:a16="http://schemas.microsoft.com/office/drawing/2014/main" val="4170535043"/>
                    </a:ext>
                  </a:extLst>
                </a:gridCol>
                <a:gridCol w="433969">
                  <a:extLst>
                    <a:ext uri="{9D8B030D-6E8A-4147-A177-3AD203B41FA5}">
                      <a16:colId xmlns:a16="http://schemas.microsoft.com/office/drawing/2014/main" val="2079070694"/>
                    </a:ext>
                  </a:extLst>
                </a:gridCol>
                <a:gridCol w="451935">
                  <a:extLst>
                    <a:ext uri="{9D8B030D-6E8A-4147-A177-3AD203B41FA5}">
                      <a16:colId xmlns:a16="http://schemas.microsoft.com/office/drawing/2014/main" val="4213315911"/>
                    </a:ext>
                  </a:extLst>
                </a:gridCol>
                <a:gridCol w="360714">
                  <a:extLst>
                    <a:ext uri="{9D8B030D-6E8A-4147-A177-3AD203B41FA5}">
                      <a16:colId xmlns:a16="http://schemas.microsoft.com/office/drawing/2014/main" val="2769999950"/>
                    </a:ext>
                  </a:extLst>
                </a:gridCol>
                <a:gridCol w="360714">
                  <a:extLst>
                    <a:ext uri="{9D8B030D-6E8A-4147-A177-3AD203B41FA5}">
                      <a16:colId xmlns:a16="http://schemas.microsoft.com/office/drawing/2014/main" val="135637185"/>
                    </a:ext>
                  </a:extLst>
                </a:gridCol>
                <a:gridCol w="372835">
                  <a:extLst>
                    <a:ext uri="{9D8B030D-6E8A-4147-A177-3AD203B41FA5}">
                      <a16:colId xmlns:a16="http://schemas.microsoft.com/office/drawing/2014/main" val="3038050475"/>
                    </a:ext>
                  </a:extLst>
                </a:gridCol>
                <a:gridCol w="644428">
                  <a:extLst>
                    <a:ext uri="{9D8B030D-6E8A-4147-A177-3AD203B41FA5}">
                      <a16:colId xmlns:a16="http://schemas.microsoft.com/office/drawing/2014/main" val="1979433044"/>
                    </a:ext>
                  </a:extLst>
                </a:gridCol>
                <a:gridCol w="401339">
                  <a:extLst>
                    <a:ext uri="{9D8B030D-6E8A-4147-A177-3AD203B41FA5}">
                      <a16:colId xmlns:a16="http://schemas.microsoft.com/office/drawing/2014/main" val="4270661649"/>
                    </a:ext>
                  </a:extLst>
                </a:gridCol>
                <a:gridCol w="389921">
                  <a:extLst>
                    <a:ext uri="{9D8B030D-6E8A-4147-A177-3AD203B41FA5}">
                      <a16:colId xmlns:a16="http://schemas.microsoft.com/office/drawing/2014/main" val="3027041370"/>
                    </a:ext>
                  </a:extLst>
                </a:gridCol>
                <a:gridCol w="360714">
                  <a:extLst>
                    <a:ext uri="{9D8B030D-6E8A-4147-A177-3AD203B41FA5}">
                      <a16:colId xmlns:a16="http://schemas.microsoft.com/office/drawing/2014/main" val="2852526216"/>
                    </a:ext>
                  </a:extLst>
                </a:gridCol>
                <a:gridCol w="360714">
                  <a:extLst>
                    <a:ext uri="{9D8B030D-6E8A-4147-A177-3AD203B41FA5}">
                      <a16:colId xmlns:a16="http://schemas.microsoft.com/office/drawing/2014/main" val="103420222"/>
                    </a:ext>
                  </a:extLst>
                </a:gridCol>
                <a:gridCol w="360714">
                  <a:extLst>
                    <a:ext uri="{9D8B030D-6E8A-4147-A177-3AD203B41FA5}">
                      <a16:colId xmlns:a16="http://schemas.microsoft.com/office/drawing/2014/main" val="1470405609"/>
                    </a:ext>
                  </a:extLst>
                </a:gridCol>
                <a:gridCol w="517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065621"/>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478031098"/>
              </p:ext>
            </p:extLst>
          </p:nvPr>
        </p:nvGraphicFramePr>
        <p:xfrm>
          <a:off x="404813" y="6703065"/>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439979"/>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258743"/>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10398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2649923274"/>
              </p:ext>
            </p:extLst>
          </p:nvPr>
        </p:nvGraphicFramePr>
        <p:xfrm>
          <a:off x="399529" y="837059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471742922"/>
              </p:ext>
            </p:extLst>
          </p:nvPr>
        </p:nvGraphicFramePr>
        <p:xfrm>
          <a:off x="395877" y="5828065"/>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424597433"/>
              </p:ext>
            </p:extLst>
          </p:nvPr>
        </p:nvGraphicFramePr>
        <p:xfrm>
          <a:off x="395877" y="5381161"/>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403619965"/>
              </p:ext>
            </p:extLst>
          </p:nvPr>
        </p:nvGraphicFramePr>
        <p:xfrm>
          <a:off x="399529" y="7523931"/>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580390" y="8580565"/>
            <a:ext cx="4668520"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40710" y="4600640"/>
            <a:ext cx="2368421" cy="153888"/>
          </a:xfrm>
          <a:prstGeom prst="rect">
            <a:avLst/>
          </a:prstGeom>
        </p:spPr>
        <p:txBody>
          <a:bodyPr vert="horz" wrap="square" lIns="0" tIns="15240" rIns="0" bIns="0" rtlCol="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220551890"/>
              </p:ext>
            </p:extLst>
          </p:nvPr>
        </p:nvGraphicFramePr>
        <p:xfrm>
          <a:off x="859839" y="5081271"/>
          <a:ext cx="5130165" cy="1862456"/>
        </p:xfrm>
        <a:graphic>
          <a:graphicData uri="http://schemas.openxmlformats.org/drawingml/2006/table">
            <a:tbl>
              <a:tblPr firstRow="1" bandRow="1"/>
              <a:tblGrid>
                <a:gridCol w="2693035">
                  <a:extLst>
                    <a:ext uri="{9D8B030D-6E8A-4147-A177-3AD203B41FA5}">
                      <a16:colId xmlns:a16="http://schemas.microsoft.com/office/drawing/2014/main" val="20000"/>
                    </a:ext>
                  </a:extLst>
                </a:gridCol>
                <a:gridCol w="2437130">
                  <a:extLst>
                    <a:ext uri="{9D8B030D-6E8A-4147-A177-3AD203B41FA5}">
                      <a16:colId xmlns:a16="http://schemas.microsoft.com/office/drawing/2014/main" val="20001"/>
                    </a:ext>
                  </a:extLst>
                </a:gridCol>
              </a:tblGrid>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0"/>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448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5670">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3885">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288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952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803993" y="4874323"/>
            <a:ext cx="3037472" cy="144848"/>
          </a:xfrm>
          <a:prstGeom prst="rect">
            <a:avLst/>
          </a:prstGeom>
        </p:spPr>
        <p:txBody>
          <a:bodyPr vert="horz" wrap="square" lIns="0" tIns="12700" rIns="0" bIns="0" rtlCol="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7">
            <a:extLst>
              <a:ext uri="{FF2B5EF4-FFF2-40B4-BE49-F238E27FC236}">
                <a16:creationId xmlns:a16="http://schemas.microsoft.com/office/drawing/2014/main" id="{A0C13D78-B121-E931-7EEB-8699D7C4FF1A}"/>
              </a:ext>
            </a:extLst>
          </p:cNvPr>
          <p:cNvSpPr txBox="1"/>
          <p:nvPr/>
        </p:nvSpPr>
        <p:spPr>
          <a:xfrm>
            <a:off x="580390" y="7027411"/>
            <a:ext cx="6049010" cy="1525908"/>
          </a:xfrm>
          <a:prstGeom prst="rect">
            <a:avLst/>
          </a:prstGeom>
        </p:spPr>
        <p:txBody>
          <a:bodyPr vert="horz" wrap="square" lIns="0" tIns="20171" rIns="0" bIns="0" rtlCol="0">
            <a:spAutoFit/>
          </a:bodyPr>
          <a:lstStyle/>
          <a:p>
            <a:pPr marL="11527" marR="4611">
              <a:lnSpc>
                <a:spcPct val="120000"/>
              </a:lnSpc>
              <a:spcBef>
                <a:spcPts val="159"/>
              </a:spcBef>
            </a:pPr>
            <a:r>
              <a:rPr sz="908" spc="-5" dirty="0">
                <a:latin typeface="Arial"/>
                <a:cs typeface="Arial"/>
              </a:rPr>
              <a:t>Note: </a:t>
            </a:r>
            <a:endParaRPr lang="en-US" sz="908" spc="-5" dirty="0">
              <a:latin typeface="Arial"/>
              <a:cs typeface="Arial"/>
            </a:endParaRPr>
          </a:p>
          <a:p>
            <a:pPr marL="11527" marR="4611">
              <a:lnSpc>
                <a:spcPct val="120000"/>
              </a:lnSpc>
              <a:spcBef>
                <a:spcPts val="159"/>
              </a:spcBef>
            </a:pPr>
            <a:r>
              <a:rPr lang="en-US" sz="908" spc="-5" dirty="0">
                <a:latin typeface="Arial"/>
                <a:cs typeface="Arial"/>
              </a:rPr>
              <a:t>1. </a:t>
            </a:r>
            <a:r>
              <a:rPr sz="908" spc="-5" dirty="0">
                <a:latin typeface="Arial"/>
                <a:cs typeface="Arial"/>
              </a:rPr>
              <a:t>The</a:t>
            </a:r>
            <a:r>
              <a:rPr sz="908" spc="14" dirty="0">
                <a:latin typeface="Arial"/>
                <a:cs typeface="Arial"/>
              </a:rPr>
              <a:t> </a:t>
            </a:r>
            <a:r>
              <a:rPr sz="908" spc="-5" dirty="0">
                <a:latin typeface="Arial"/>
                <a:cs typeface="Arial"/>
              </a:rPr>
              <a:t>reflow</a:t>
            </a:r>
            <a:r>
              <a:rPr sz="908" spc="5" dirty="0">
                <a:latin typeface="Arial"/>
                <a:cs typeface="Arial"/>
              </a:rPr>
              <a:t> </a:t>
            </a:r>
            <a:r>
              <a:rPr sz="908" spc="-5" dirty="0">
                <a:latin typeface="Arial"/>
                <a:cs typeface="Arial"/>
              </a:rPr>
              <a:t>peak</a:t>
            </a:r>
            <a:r>
              <a:rPr sz="908" spc="9" dirty="0">
                <a:latin typeface="Arial"/>
                <a:cs typeface="Arial"/>
              </a:rPr>
              <a:t> </a:t>
            </a:r>
            <a:r>
              <a:rPr sz="908" spc="-5" dirty="0">
                <a:latin typeface="Arial"/>
                <a:cs typeface="Arial"/>
              </a:rPr>
              <a:t>soldering</a:t>
            </a:r>
            <a:r>
              <a:rPr sz="908" spc="14" dirty="0">
                <a:latin typeface="Arial"/>
                <a:cs typeface="Arial"/>
              </a:rPr>
              <a:t> </a:t>
            </a:r>
            <a:r>
              <a:rPr sz="908" spc="-5" dirty="0">
                <a:latin typeface="Arial"/>
                <a:cs typeface="Arial"/>
              </a:rPr>
              <a:t>temperature</a:t>
            </a:r>
            <a:r>
              <a:rPr sz="908" spc="14" dirty="0">
                <a:latin typeface="Arial"/>
                <a:cs typeface="Arial"/>
              </a:rPr>
              <a:t> </a:t>
            </a:r>
            <a:r>
              <a:rPr sz="908" spc="-9" dirty="0">
                <a:latin typeface="Arial"/>
                <a:cs typeface="Arial"/>
              </a:rPr>
              <a:t>is</a:t>
            </a:r>
            <a:r>
              <a:rPr sz="908" spc="23" dirty="0">
                <a:latin typeface="Arial"/>
                <a:cs typeface="Arial"/>
              </a:rPr>
              <a:t> </a:t>
            </a:r>
            <a:r>
              <a:rPr sz="908" spc="-9" dirty="0">
                <a:latin typeface="Arial"/>
                <a:cs typeface="Arial"/>
              </a:rPr>
              <a:t>peak</a:t>
            </a:r>
            <a:r>
              <a:rPr sz="908" spc="27" dirty="0">
                <a:latin typeface="Arial"/>
                <a:cs typeface="Arial"/>
              </a:rPr>
              <a:t> </a:t>
            </a:r>
            <a:r>
              <a:rPr sz="908" spc="-5" dirty="0">
                <a:latin typeface="Arial"/>
                <a:cs typeface="Arial"/>
              </a:rPr>
              <a:t>260°C</a:t>
            </a:r>
            <a:r>
              <a:rPr sz="908" spc="18" dirty="0">
                <a:latin typeface="Arial"/>
                <a:cs typeface="Arial"/>
              </a:rPr>
              <a:t> </a:t>
            </a:r>
            <a:r>
              <a:rPr sz="908" spc="-5" dirty="0">
                <a:latin typeface="Arial"/>
                <a:cs typeface="Arial"/>
              </a:rPr>
              <a:t>and</a:t>
            </a:r>
            <a:r>
              <a:rPr sz="908" spc="14" dirty="0">
                <a:latin typeface="Arial"/>
                <a:cs typeface="Arial"/>
              </a:rPr>
              <a:t> </a:t>
            </a:r>
            <a:r>
              <a:rPr sz="908" spc="-9" dirty="0">
                <a:latin typeface="Arial"/>
                <a:cs typeface="Arial"/>
              </a:rPr>
              <a:t>it</a:t>
            </a:r>
            <a:r>
              <a:rPr sz="908" spc="18" dirty="0">
                <a:latin typeface="Arial"/>
                <a:cs typeface="Arial"/>
              </a:rPr>
              <a:t> </a:t>
            </a:r>
            <a:r>
              <a:rPr sz="908" spc="-9" dirty="0">
                <a:latin typeface="Arial"/>
                <a:cs typeface="Arial"/>
              </a:rPr>
              <a:t>is</a:t>
            </a:r>
            <a:r>
              <a:rPr sz="908" spc="9" dirty="0">
                <a:latin typeface="Arial"/>
                <a:cs typeface="Arial"/>
              </a:rPr>
              <a:t> </a:t>
            </a:r>
            <a:r>
              <a:rPr sz="908" spc="-5" dirty="0">
                <a:latin typeface="Arial"/>
                <a:cs typeface="Arial"/>
              </a:rPr>
              <a:t>specified</a:t>
            </a:r>
            <a:r>
              <a:rPr sz="908" spc="5" dirty="0">
                <a:latin typeface="Arial"/>
                <a:cs typeface="Arial"/>
              </a:rPr>
              <a:t> </a:t>
            </a:r>
            <a:r>
              <a:rPr sz="908" spc="-5" dirty="0">
                <a:latin typeface="Arial"/>
                <a:cs typeface="Arial"/>
              </a:rPr>
              <a:t>based</a:t>
            </a:r>
            <a:r>
              <a:rPr sz="908" spc="5" dirty="0">
                <a:latin typeface="Arial"/>
                <a:cs typeface="Arial"/>
              </a:rPr>
              <a:t> </a:t>
            </a:r>
            <a:r>
              <a:rPr sz="908" dirty="0">
                <a:latin typeface="Arial"/>
                <a:cs typeface="Arial"/>
              </a:rPr>
              <a:t>on</a:t>
            </a:r>
            <a:r>
              <a:rPr sz="908" spc="5" dirty="0">
                <a:latin typeface="Arial"/>
                <a:cs typeface="Arial"/>
              </a:rPr>
              <a:t> </a:t>
            </a:r>
            <a:r>
              <a:rPr sz="908" spc="-5" dirty="0">
                <a:latin typeface="Arial"/>
                <a:cs typeface="Arial"/>
              </a:rPr>
              <a:t>IPC/JEDEC</a:t>
            </a:r>
            <a:r>
              <a:rPr sz="908" spc="5" dirty="0">
                <a:latin typeface="Arial"/>
                <a:cs typeface="Arial"/>
              </a:rPr>
              <a:t> </a:t>
            </a:r>
            <a:r>
              <a:rPr sz="908" spc="-5" dirty="0">
                <a:latin typeface="Arial"/>
                <a:cs typeface="Arial"/>
              </a:rPr>
              <a:t>J-STD- </a:t>
            </a:r>
            <a:r>
              <a:rPr sz="908" spc="-236" dirty="0">
                <a:latin typeface="Arial"/>
                <a:cs typeface="Arial"/>
              </a:rPr>
              <a:t> </a:t>
            </a:r>
            <a:r>
              <a:rPr sz="908" spc="-9" dirty="0">
                <a:latin typeface="Arial"/>
                <a:cs typeface="Arial"/>
              </a:rPr>
              <a:t>020</a:t>
            </a:r>
            <a:r>
              <a:rPr sz="908" dirty="0">
                <a:latin typeface="Arial"/>
                <a:cs typeface="Arial"/>
              </a:rPr>
              <a:t> </a:t>
            </a:r>
            <a:r>
              <a:rPr sz="908" spc="-5" dirty="0">
                <a:latin typeface="Arial"/>
                <a:cs typeface="Arial"/>
              </a:rPr>
              <a:t>“</a:t>
            </a:r>
            <a:endParaRPr lang="en-US" sz="908" spc="-5" dirty="0">
              <a:latin typeface="Arial"/>
              <a:cs typeface="Arial"/>
            </a:endParaRPr>
          </a:p>
          <a:p>
            <a:pPr marL="11527" marR="4611">
              <a:lnSpc>
                <a:spcPct val="120000"/>
              </a:lnSpc>
              <a:spcBef>
                <a:spcPts val="159"/>
              </a:spcBef>
            </a:pPr>
            <a:r>
              <a:rPr lang="en-US" sz="908" spc="-5" dirty="0">
                <a:latin typeface="Arial"/>
                <a:cs typeface="Arial"/>
              </a:rPr>
              <a:t>     </a:t>
            </a:r>
            <a:r>
              <a:rPr sz="908" spc="-5" dirty="0">
                <a:latin typeface="Arial"/>
                <a:cs typeface="Arial"/>
              </a:rPr>
              <a:t>Moisture/Reflow</a:t>
            </a:r>
            <a:r>
              <a:rPr sz="908" spc="14" dirty="0">
                <a:latin typeface="Arial"/>
                <a:cs typeface="Arial"/>
              </a:rPr>
              <a:t> </a:t>
            </a:r>
            <a:r>
              <a:rPr sz="908" spc="-5" dirty="0">
                <a:latin typeface="Arial"/>
                <a:cs typeface="Arial"/>
              </a:rPr>
              <a:t>Sensitivity</a:t>
            </a:r>
            <a:r>
              <a:rPr sz="908" spc="5" dirty="0">
                <a:latin typeface="Arial"/>
                <a:cs typeface="Arial"/>
              </a:rPr>
              <a:t> </a:t>
            </a:r>
            <a:r>
              <a:rPr sz="908" spc="-5" dirty="0">
                <a:latin typeface="Arial"/>
                <a:cs typeface="Arial"/>
              </a:rPr>
              <a:t>Classification</a:t>
            </a:r>
            <a:r>
              <a:rPr sz="908" spc="5" dirty="0">
                <a:latin typeface="Arial"/>
                <a:cs typeface="Arial"/>
              </a:rPr>
              <a:t> </a:t>
            </a:r>
            <a:r>
              <a:rPr sz="908" spc="-5" dirty="0">
                <a:latin typeface="Arial"/>
                <a:cs typeface="Arial"/>
              </a:rPr>
              <a:t>for</a:t>
            </a:r>
            <a:r>
              <a:rPr sz="908" spc="14" dirty="0">
                <a:latin typeface="Arial"/>
                <a:cs typeface="Arial"/>
              </a:rPr>
              <a:t> </a:t>
            </a:r>
            <a:r>
              <a:rPr sz="908" spc="-5" dirty="0">
                <a:latin typeface="Arial"/>
                <a:cs typeface="Arial"/>
              </a:rPr>
              <a:t>Non-Hermetic</a:t>
            </a:r>
            <a:r>
              <a:rPr sz="908" spc="9" dirty="0">
                <a:latin typeface="Arial"/>
                <a:cs typeface="Arial"/>
              </a:rPr>
              <a:t> </a:t>
            </a:r>
            <a:r>
              <a:rPr sz="908" spc="-5" dirty="0">
                <a:latin typeface="Arial"/>
                <a:cs typeface="Arial"/>
              </a:rPr>
              <a:t>Solid</a:t>
            </a:r>
            <a:r>
              <a:rPr sz="908" spc="9" dirty="0">
                <a:latin typeface="Arial"/>
                <a:cs typeface="Arial"/>
              </a:rPr>
              <a:t> </a:t>
            </a:r>
            <a:r>
              <a:rPr sz="908" spc="-5" dirty="0">
                <a:latin typeface="Arial"/>
                <a:cs typeface="Arial"/>
              </a:rPr>
              <a:t>State</a:t>
            </a:r>
            <a:r>
              <a:rPr sz="908" spc="5" dirty="0">
                <a:latin typeface="Arial"/>
                <a:cs typeface="Arial"/>
              </a:rPr>
              <a:t> </a:t>
            </a:r>
            <a:r>
              <a:rPr sz="908" dirty="0">
                <a:latin typeface="Arial"/>
                <a:cs typeface="Arial"/>
              </a:rPr>
              <a:t>Surface </a:t>
            </a:r>
            <a:r>
              <a:rPr sz="908" spc="-5" dirty="0">
                <a:latin typeface="Arial"/>
                <a:cs typeface="Arial"/>
              </a:rPr>
              <a:t>Mount</a:t>
            </a:r>
            <a:r>
              <a:rPr sz="908" spc="5" dirty="0">
                <a:latin typeface="Arial"/>
                <a:cs typeface="Arial"/>
              </a:rPr>
              <a:t> </a:t>
            </a:r>
            <a:r>
              <a:rPr sz="908" dirty="0">
                <a:latin typeface="Arial"/>
                <a:cs typeface="Arial"/>
              </a:rPr>
              <a:t>Devices”</a:t>
            </a:r>
            <a:endParaRPr lang="en-US" sz="908" dirty="0">
              <a:latin typeface="Arial"/>
              <a:cs typeface="Arial"/>
            </a:endParaRPr>
          </a:p>
          <a:p>
            <a:pPr marL="11527" marR="4611">
              <a:lnSpc>
                <a:spcPct val="120000"/>
              </a:lnSpc>
              <a:spcBef>
                <a:spcPts val="159"/>
              </a:spcBef>
            </a:pPr>
            <a:r>
              <a:rPr lang="en-US" sz="908" dirty="0">
                <a:latin typeface="Arial"/>
                <a:cs typeface="Arial"/>
              </a:rPr>
              <a:t>2. Tolerance for peak proﬁle temperature (Tp) is deﬁned as a supplier minimum and a user maximum.</a:t>
            </a:r>
          </a:p>
          <a:p>
            <a:pPr marL="11527" marR="4611">
              <a:lnSpc>
                <a:spcPct val="120000"/>
              </a:lnSpc>
              <a:spcBef>
                <a:spcPts val="159"/>
              </a:spcBef>
            </a:pPr>
            <a:r>
              <a:rPr lang="en-US" sz="908" dirty="0">
                <a:latin typeface="Arial"/>
                <a:cs typeface="Arial"/>
              </a:rPr>
              <a:t>3. This document should serve as recommendation only. Other parameters may also affect soldering, so these profiles</a:t>
            </a:r>
          </a:p>
          <a:p>
            <a:pPr marL="11527" marR="4611">
              <a:lnSpc>
                <a:spcPct val="120000"/>
              </a:lnSpc>
              <a:spcBef>
                <a:spcPts val="159"/>
              </a:spcBef>
            </a:pPr>
            <a:r>
              <a:rPr lang="en-US" sz="908" dirty="0">
                <a:latin typeface="Arial"/>
                <a:cs typeface="Arial"/>
              </a:rPr>
              <a:t>     do not guarantee absolute success.</a:t>
            </a:r>
          </a:p>
          <a:p>
            <a:pPr marL="11527" marR="4611">
              <a:lnSpc>
                <a:spcPct val="120000"/>
              </a:lnSpc>
              <a:spcBef>
                <a:spcPts val="159"/>
              </a:spcBef>
            </a:pPr>
            <a:r>
              <a:rPr lang="en-US" sz="908" dirty="0">
                <a:latin typeface="Arial"/>
                <a:cs typeface="Arial"/>
              </a:rPr>
              <a:t>4. Soldering profile should be determined by the manufacturer of the solder paste, providing there is no contradiction          </a:t>
            </a:r>
          </a:p>
          <a:p>
            <a:pPr marL="11527" marR="4611">
              <a:lnSpc>
                <a:spcPct val="120000"/>
              </a:lnSpc>
              <a:spcBef>
                <a:spcPts val="159"/>
              </a:spcBef>
            </a:pPr>
            <a:r>
              <a:rPr lang="en-US" sz="908" dirty="0">
                <a:latin typeface="Arial"/>
                <a:cs typeface="Arial"/>
              </a:rPr>
              <a:t>      with the recommendations in this document.</a:t>
            </a:r>
            <a:endParaRPr sz="908" dirty="0">
              <a:latin typeface="Arial"/>
              <a:cs typeface="Arial"/>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964689" y="1085850"/>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1514787" y="1225160"/>
            <a:ext cx="3781715" cy="271853"/>
          </a:xfrm>
          <a:prstGeom prst="rect">
            <a:avLst/>
          </a:prstGeom>
        </p:spPr>
        <p:txBody>
          <a:bodyPr vert="horz" wrap="square" lIns="0" tIns="60309" rIns="0" bIns="0" rtlCol="0">
            <a:spAutoFit/>
          </a:bodyPr>
          <a:lstStyle/>
          <a:p>
            <a:pPr algn="ctr" defTabSz="895327" fontAlgn="auto">
              <a:spcBef>
                <a:spcPts val="474"/>
              </a:spcBef>
              <a:spcAft>
                <a:spcPts val="0"/>
              </a:spcAft>
            </a:pPr>
            <a:r>
              <a:rPr lang="en-US" altLang="ko-KR" sz="1371" b="1" spc="-20" dirty="0">
                <a:solidFill>
                  <a:prstClr val="black"/>
                </a:solidFill>
                <a:latin typeface="Arial"/>
                <a:ea typeface="맑은 고딕" panose="020B0503020000020004" pitchFamily="50" charset="-127"/>
                <a:cs typeface="Arial"/>
              </a:rPr>
              <a:t>Q</a:t>
            </a:r>
            <a:r>
              <a:rPr kumimoji="0" lang="en-US" altLang="ko-KR" sz="1371" b="1" spc="-20" dirty="0">
                <a:solidFill>
                  <a:prstClr val="black"/>
                </a:solidFill>
                <a:latin typeface="Arial"/>
                <a:ea typeface="맑은 고딕" panose="020B0503020000020004" pitchFamily="50" charset="-127"/>
                <a:cs typeface="Arial"/>
              </a:rPr>
              <a:t>FN 3030-24L </a:t>
            </a:r>
            <a:r>
              <a:rPr kumimoji="0" lang="en-US" altLang="ko-KR" sz="1371" b="1" spc="-5" dirty="0">
                <a:solidFill>
                  <a:prstClr val="black"/>
                </a:solidFill>
                <a:latin typeface="Arial"/>
                <a:ea typeface="맑은 고딕" panose="020B0503020000020004" pitchFamily="50" charset="-127"/>
                <a:cs typeface="Arial"/>
              </a:rPr>
              <a:t> Package</a:t>
            </a:r>
            <a:r>
              <a:rPr kumimoji="0" lang="en-US" altLang="ko-KR" sz="1371" b="1" spc="-73" dirty="0">
                <a:solidFill>
                  <a:prstClr val="black"/>
                </a:solidFill>
                <a:latin typeface="Arial"/>
                <a:ea typeface="맑은 고딕" panose="020B0503020000020004" pitchFamily="50" charset="-127"/>
                <a:cs typeface="Arial"/>
              </a:rPr>
              <a:t> </a:t>
            </a:r>
            <a:r>
              <a:rPr kumimoji="0" lang="en-US" altLang="ko-KR" sz="1371" b="1" spc="-5" dirty="0">
                <a:solidFill>
                  <a:prstClr val="black"/>
                </a:solidFill>
                <a:latin typeface="Arial"/>
                <a:ea typeface="맑은 고딕" panose="020B0503020000020004" pitchFamily="50" charset="-127"/>
                <a:cs typeface="Arial"/>
              </a:rPr>
              <a:t>Outline</a:t>
            </a:r>
            <a:endParaRPr kumimoji="0" lang="en-US" altLang="ko-KR" sz="1371"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505837" y="164941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320251" y="1649413"/>
            <a:ext cx="1186543" cy="261610"/>
          </a:xfrm>
          <a:prstGeom prst="rect">
            <a:avLst/>
          </a:prstGeom>
          <a:noFill/>
        </p:spPr>
        <p:txBody>
          <a:bodyPr wrap="none" rtlCol="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dirty="0"/>
              <a:t>BOTTOM VIEW</a:t>
            </a:r>
            <a:endParaRPr lang="ko-KR" altLang="en-US" dirty="0"/>
          </a:p>
        </p:txBody>
      </p:sp>
      <p:sp>
        <p:nvSpPr>
          <p:cNvPr id="9" name="object 32">
            <a:extLst>
              <a:ext uri="{FF2B5EF4-FFF2-40B4-BE49-F238E27FC236}">
                <a16:creationId xmlns:a16="http://schemas.microsoft.com/office/drawing/2014/main" id="{FA69AAD3-05AD-3054-AE6D-181B268015C1}"/>
              </a:ext>
            </a:extLst>
          </p:cNvPr>
          <p:cNvSpPr txBox="1"/>
          <p:nvPr/>
        </p:nvSpPr>
        <p:spPr>
          <a:xfrm>
            <a:off x="5680576" y="5174390"/>
            <a:ext cx="5346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Unit</a:t>
            </a:r>
            <a:r>
              <a:rPr sz="1000" spc="-50" dirty="0">
                <a:latin typeface="Arial"/>
                <a:cs typeface="Arial"/>
              </a:rPr>
              <a:t> </a:t>
            </a:r>
            <a:r>
              <a:rPr sz="1000" dirty="0">
                <a:latin typeface="Arial"/>
                <a:cs typeface="Arial"/>
              </a:rPr>
              <a:t>:mm</a:t>
            </a:r>
          </a:p>
        </p:txBody>
      </p:sp>
      <p:sp>
        <p:nvSpPr>
          <p:cNvPr id="25" name="TextBox 24">
            <a:extLst>
              <a:ext uri="{FF2B5EF4-FFF2-40B4-BE49-F238E27FC236}">
                <a16:creationId xmlns:a16="http://schemas.microsoft.com/office/drawing/2014/main" id="{3F718B8D-5B0E-C219-4B20-1B9A6EE2DCAF}"/>
              </a:ext>
            </a:extLst>
          </p:cNvPr>
          <p:cNvSpPr txBox="1"/>
          <p:nvPr/>
        </p:nvSpPr>
        <p:spPr>
          <a:xfrm>
            <a:off x="1505837" y="5363579"/>
            <a:ext cx="1024003" cy="261610"/>
          </a:xfrm>
          <a:prstGeom prst="rect">
            <a:avLst/>
          </a:prstGeom>
          <a:noFill/>
        </p:spPr>
        <p:txBody>
          <a:bodyPr wrap="square" rtlCol="0">
            <a:spAutoFit/>
          </a:bodyPr>
          <a:lstStyle/>
          <a:p>
            <a:r>
              <a:rPr lang="en-US" altLang="ko-KR" sz="1100" dirty="0">
                <a:latin typeface="Arial" panose="020B0604020202020204" pitchFamily="34" charset="0"/>
                <a:cs typeface="Arial" panose="020B0604020202020204" pitchFamily="34" charset="0"/>
              </a:rPr>
              <a:t>SIDE VIEW</a:t>
            </a:r>
            <a:endParaRPr lang="ko-KR" altLang="en-US" sz="1100"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1273175" y="6829125"/>
            <a:ext cx="132334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10.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2417545464"/>
              </p:ext>
            </p:extLst>
          </p:nvPr>
        </p:nvGraphicFramePr>
        <p:xfrm>
          <a:off x="3850753" y="5142343"/>
          <a:ext cx="2369072" cy="3684152"/>
        </p:xfrm>
        <a:graphic>
          <a:graphicData uri="http://schemas.openxmlformats.org/drawingml/2006/table">
            <a:tbl>
              <a:tblPr firstRow="1" bandRow="1">
                <a:tableStyleId>{2D5ABB26-0587-4C30-8999-92F81FD0307C}</a:tableStyleId>
              </a:tblPr>
              <a:tblGrid>
                <a:gridCol w="696900">
                  <a:extLst>
                    <a:ext uri="{9D8B030D-6E8A-4147-A177-3AD203B41FA5}">
                      <a16:colId xmlns:a16="http://schemas.microsoft.com/office/drawing/2014/main" val="20000"/>
                    </a:ext>
                  </a:extLst>
                </a:gridCol>
                <a:gridCol w="558812">
                  <a:extLst>
                    <a:ext uri="{9D8B030D-6E8A-4147-A177-3AD203B41FA5}">
                      <a16:colId xmlns:a16="http://schemas.microsoft.com/office/drawing/2014/main" val="20001"/>
                    </a:ext>
                  </a:extLst>
                </a:gridCol>
                <a:gridCol w="547687">
                  <a:extLst>
                    <a:ext uri="{9D8B030D-6E8A-4147-A177-3AD203B41FA5}">
                      <a16:colId xmlns:a16="http://schemas.microsoft.com/office/drawing/2014/main" val="4065758931"/>
                    </a:ext>
                  </a:extLst>
                </a:gridCol>
                <a:gridCol w="565673">
                  <a:extLst>
                    <a:ext uri="{9D8B030D-6E8A-4147-A177-3AD203B41FA5}">
                      <a16:colId xmlns:a16="http://schemas.microsoft.com/office/drawing/2014/main" val="20002"/>
                    </a:ext>
                  </a:extLst>
                </a:gridCol>
              </a:tblGrid>
              <a:tr h="245492">
                <a:tc rowSpan="2">
                  <a:txBody>
                    <a:bodyPr/>
                    <a:lstStyle/>
                    <a:p>
                      <a:pPr marL="0" indent="0" algn="ctr">
                        <a:lnSpc>
                          <a:spcPct val="100000"/>
                        </a:lnSpc>
                        <a:spcBef>
                          <a:spcPts val="185"/>
                        </a:spcBef>
                      </a:pPr>
                      <a:r>
                        <a:rPr lang="en-US" sz="1000" b="1" dirty="0">
                          <a:latin typeface="Calibri"/>
                          <a:cs typeface="Calibri"/>
                        </a:rPr>
                        <a:t>Symbol</a:t>
                      </a:r>
                      <a:endParaRPr sz="1000" b="1" dirty="0">
                        <a:latin typeface="Calibri"/>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3">
                  <a:txBody>
                    <a:bodyPr/>
                    <a:lstStyle/>
                    <a:p>
                      <a:pPr marL="63500" algn="ctr">
                        <a:lnSpc>
                          <a:spcPct val="100000"/>
                        </a:lnSpc>
                        <a:spcBef>
                          <a:spcPts val="185"/>
                        </a:spcBef>
                      </a:pPr>
                      <a:r>
                        <a:rPr lang="en-US" sz="1000" b="1" dirty="0">
                          <a:latin typeface="Calibri"/>
                          <a:cs typeface="Calibri"/>
                        </a:rPr>
                        <a:t>Dimensions in mm</a:t>
                      </a:r>
                      <a:endParaRPr sz="1000" b="1" dirty="0">
                        <a:latin typeface="Calibri"/>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45492">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Min</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Nom</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Max</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0.60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A2</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0.45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A3</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0.152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0.13</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6"/>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7"/>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8"/>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9"/>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0"/>
                  </a:ext>
                </a:extLst>
              </a:tr>
              <a:tr h="245492">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 </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0.40 BSC</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K</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2"/>
                  </a:ext>
                </a:extLst>
              </a:tr>
              <a:tr h="246378">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L</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2210454"/>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525169" y="2208231"/>
            <a:ext cx="3195285" cy="2447589"/>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913" y="5714587"/>
            <a:ext cx="2522967" cy="763530"/>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500156" y="4803004"/>
            <a:ext cx="5633943" cy="405113"/>
          </a:xfrm>
          <a:prstGeom prst="rect">
            <a:avLst/>
          </a:prstGeom>
        </p:spPr>
        <p:txBody>
          <a:bodyPr vert="horz" wrap="square" lIns="0" tIns="19750" rIns="0" bIns="0" rtlCol="0">
            <a:spAutoFit/>
          </a:bodyPr>
          <a:lstStyle/>
          <a:p>
            <a:pPr marL="11286" marR="4515" defTabSz="895327" fontAlgn="auto">
              <a:lnSpc>
                <a:spcPct val="150000"/>
              </a:lnSpc>
              <a:spcBef>
                <a:spcPts val="156"/>
              </a:spcBef>
              <a:spcAft>
                <a:spcPts val="0"/>
              </a:spcAft>
            </a:pPr>
            <a:r>
              <a:rPr kumimoji="0" sz="889" spc="-5" dirty="0">
                <a:solidFill>
                  <a:prstClr val="black"/>
                </a:solidFill>
                <a:latin typeface="Arial"/>
                <a:ea typeface="+mn-ea"/>
                <a:cs typeface="Arial"/>
              </a:rPr>
              <a:t>Note: The</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reflow</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peak</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soldering</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temperature</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23" dirty="0">
                <a:solidFill>
                  <a:prstClr val="black"/>
                </a:solidFill>
                <a:latin typeface="Arial"/>
                <a:ea typeface="+mn-ea"/>
                <a:cs typeface="Arial"/>
              </a:rPr>
              <a:t> </a:t>
            </a:r>
            <a:r>
              <a:rPr kumimoji="0" sz="889" spc="-9" dirty="0">
                <a:solidFill>
                  <a:prstClr val="black"/>
                </a:solidFill>
                <a:latin typeface="Arial"/>
                <a:ea typeface="+mn-ea"/>
                <a:cs typeface="Arial"/>
              </a:rPr>
              <a:t>peak</a:t>
            </a:r>
            <a:r>
              <a:rPr kumimoji="0" sz="889" spc="26" dirty="0">
                <a:solidFill>
                  <a:prstClr val="black"/>
                </a:solidFill>
                <a:latin typeface="Arial"/>
                <a:ea typeface="+mn-ea"/>
                <a:cs typeface="Arial"/>
              </a:rPr>
              <a:t> </a:t>
            </a:r>
            <a:r>
              <a:rPr kumimoji="0" sz="889" spc="-5" dirty="0">
                <a:solidFill>
                  <a:prstClr val="black"/>
                </a:solidFill>
                <a:latin typeface="Arial"/>
                <a:ea typeface="+mn-ea"/>
                <a:cs typeface="Arial"/>
              </a:rPr>
              <a:t>260°C</a:t>
            </a:r>
            <a:r>
              <a:rPr kumimoji="0" sz="889" spc="17" dirty="0">
                <a:solidFill>
                  <a:prstClr val="black"/>
                </a:solidFill>
                <a:latin typeface="Arial"/>
                <a:ea typeface="+mn-ea"/>
                <a:cs typeface="Arial"/>
              </a:rPr>
              <a:t> </a:t>
            </a:r>
            <a:r>
              <a:rPr kumimoji="0" sz="889" spc="-5" dirty="0">
                <a:solidFill>
                  <a:prstClr val="black"/>
                </a:solidFill>
                <a:latin typeface="Arial"/>
                <a:ea typeface="+mn-ea"/>
                <a:cs typeface="Arial"/>
              </a:rPr>
              <a:t>and</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it</a:t>
            </a:r>
            <a:r>
              <a:rPr kumimoji="0" sz="889" spc="17"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specified</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based</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IPC/JEDEC</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J-STD- </a:t>
            </a:r>
            <a:r>
              <a:rPr kumimoji="0" sz="889" spc="-231" dirty="0">
                <a:solidFill>
                  <a:prstClr val="black"/>
                </a:solidFill>
                <a:latin typeface="Arial"/>
                <a:ea typeface="+mn-ea"/>
                <a:cs typeface="Arial"/>
              </a:rPr>
              <a:t> </a:t>
            </a:r>
            <a:r>
              <a:rPr kumimoji="0" sz="889" spc="-9" dirty="0">
                <a:solidFill>
                  <a:prstClr val="black"/>
                </a:solidFill>
                <a:latin typeface="Arial"/>
                <a:ea typeface="+mn-ea"/>
                <a:cs typeface="Arial"/>
              </a:rPr>
              <a:t>020</a:t>
            </a:r>
            <a:r>
              <a:rPr kumimoji="0" sz="889" dirty="0">
                <a:solidFill>
                  <a:prstClr val="black"/>
                </a:solidFill>
                <a:latin typeface="Arial"/>
                <a:ea typeface="+mn-ea"/>
                <a:cs typeface="Arial"/>
              </a:rPr>
              <a:t> </a:t>
            </a:r>
            <a:r>
              <a:rPr kumimoji="0" sz="889" spc="-5" dirty="0">
                <a:solidFill>
                  <a:prstClr val="black"/>
                </a:solidFill>
                <a:latin typeface="Arial"/>
                <a:ea typeface="+mn-ea"/>
                <a:cs typeface="Arial"/>
              </a:rPr>
              <a:t>“Moisture/Reflow</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Sensitivity</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Classification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for</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Non-Hermetic</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Solid</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State</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Surface </a:t>
            </a:r>
            <a:r>
              <a:rPr kumimoji="0" sz="889" spc="-5" dirty="0">
                <a:solidFill>
                  <a:prstClr val="black"/>
                </a:solidFill>
                <a:latin typeface="Arial"/>
                <a:ea typeface="+mn-ea"/>
                <a:cs typeface="Arial"/>
              </a:rPr>
              <a:t>Mount</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Devices”</a:t>
            </a:r>
          </a:p>
        </p:txBody>
      </p:sp>
      <p:grpSp>
        <p:nvGrpSpPr>
          <p:cNvPr id="4" name="그룹 3">
            <a:extLst>
              <a:ext uri="{FF2B5EF4-FFF2-40B4-BE49-F238E27FC236}">
                <a16:creationId xmlns:a16="http://schemas.microsoft.com/office/drawing/2014/main" id="{2760E916-B3EF-D2F2-9189-C7E6A994EDF1}"/>
              </a:ext>
            </a:extLst>
          </p:cNvPr>
          <p:cNvGrpSpPr/>
          <p:nvPr/>
        </p:nvGrpSpPr>
        <p:grpSpPr>
          <a:xfrm>
            <a:off x="404813" y="5818889"/>
            <a:ext cx="6048622" cy="3046378"/>
            <a:chOff x="404813" y="5818889"/>
            <a:chExt cx="6048622" cy="3046378"/>
          </a:xfrm>
        </p:grpSpPr>
        <p:grpSp>
          <p:nvGrpSpPr>
            <p:cNvPr id="5" name="그룹 4">
              <a:extLst>
                <a:ext uri="{FF2B5EF4-FFF2-40B4-BE49-F238E27FC236}">
                  <a16:creationId xmlns:a16="http://schemas.microsoft.com/office/drawing/2014/main" id="{3A21EEDF-C233-F4FF-FA4A-AD748043FB86}"/>
                </a:ext>
              </a:extLst>
            </p:cNvPr>
            <p:cNvGrpSpPr/>
            <p:nvPr/>
          </p:nvGrpSpPr>
          <p:grpSpPr>
            <a:xfrm>
              <a:off x="404813" y="5818889"/>
              <a:ext cx="6048622" cy="707886"/>
              <a:chOff x="404813" y="6805198"/>
              <a:chExt cx="6048622" cy="707886"/>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6805198"/>
                <a:ext cx="6048622" cy="70788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800" dirty="0">
                  <a:latin typeface="+mj-lt"/>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392" y="6857451"/>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그룹 8">
              <a:extLst>
                <a:ext uri="{FF2B5EF4-FFF2-40B4-BE49-F238E27FC236}">
                  <a16:creationId xmlns:a16="http://schemas.microsoft.com/office/drawing/2014/main" id="{BE115A25-7F3D-FCE7-6A5F-21B78D105075}"/>
                </a:ext>
              </a:extLst>
            </p:cNvPr>
            <p:cNvGrpSpPr/>
            <p:nvPr/>
          </p:nvGrpSpPr>
          <p:grpSpPr>
            <a:xfrm>
              <a:off x="404813" y="6556943"/>
              <a:ext cx="6048622" cy="2308324"/>
              <a:chOff x="404813" y="6992541"/>
              <a:chExt cx="6048622" cy="2308324"/>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92541"/>
                <a:ext cx="6048622" cy="23083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8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800" dirty="0">
                  <a:latin typeface="+mj-lt"/>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9264" y="7015779"/>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404813" y="1304613"/>
            <a:ext cx="3674887" cy="2990717"/>
          </a:xfrm>
          <a:prstGeom prst="rect">
            <a:avLst/>
          </a:prstGeom>
        </p:spPr>
      </p:pic>
      <p:sp>
        <p:nvSpPr>
          <p:cNvPr id="22" name="object 84">
            <a:extLst>
              <a:ext uri="{FF2B5EF4-FFF2-40B4-BE49-F238E27FC236}">
                <a16:creationId xmlns:a16="http://schemas.microsoft.com/office/drawing/2014/main" id="{41BAB755-FB36-1F06-C7E7-A42C7DDC284B}"/>
              </a:ext>
            </a:extLst>
          </p:cNvPr>
          <p:cNvSpPr txBox="1"/>
          <p:nvPr/>
        </p:nvSpPr>
        <p:spPr>
          <a:xfrm>
            <a:off x="2486025" y="4547266"/>
            <a:ext cx="18859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14.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2514603811"/>
              </p:ext>
            </p:extLst>
          </p:nvPr>
        </p:nvGraphicFramePr>
        <p:xfrm>
          <a:off x="4229101" y="1316375"/>
          <a:ext cx="2141220" cy="3050544"/>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926449">
                  <a:extLst>
                    <a:ext uri="{9D8B030D-6E8A-4147-A177-3AD203B41FA5}">
                      <a16:colId xmlns:a16="http://schemas.microsoft.com/office/drawing/2014/main" val="20002"/>
                    </a:ext>
                  </a:extLst>
                </a:gridCol>
              </a:tblGrid>
              <a:tr h="169226">
                <a:tc rowSpan="2">
                  <a:txBody>
                    <a:bodyPr/>
                    <a:lstStyle/>
                    <a:p>
                      <a:pPr marL="63500" indent="-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4135">
                        <a:lnSpc>
                          <a:spcPct val="100000"/>
                        </a:lnSpc>
                        <a:spcBef>
                          <a:spcPts val="185"/>
                        </a:spcBef>
                      </a:pP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endParaRPr dirty="0"/>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sz="900" b="1" spc="-5" dirty="0">
                          <a:latin typeface="Arial" panose="020B0604020202020204" pitchFamily="34" charset="0"/>
                          <a:cs typeface="Arial" panose="020B0604020202020204" pitchFamily="34" charset="0"/>
                        </a:rPr>
                        <a:t>Value(mm)</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4135" algn="ctr">
                        <a:lnSpc>
                          <a:spcPct val="100000"/>
                        </a:lnSpc>
                        <a:spcBef>
                          <a:spcPts val="185"/>
                        </a:spcBef>
                      </a:pPr>
                      <a:r>
                        <a:rPr sz="900" b="1" spc="-5" dirty="0">
                          <a:latin typeface="Arial" panose="020B0604020202020204" pitchFamily="34" charset="0"/>
                          <a:cs typeface="Arial" panose="020B0604020202020204" pitchFamily="34" charset="0"/>
                        </a:rPr>
                        <a:t>Margin(Typ+)</a:t>
                      </a:r>
                      <a:endParaRPr sz="900" b="1"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41859" y="2118342"/>
            <a:ext cx="1160445" cy="1375656"/>
          </a:xfrm>
          <a:prstGeom prst="rect">
            <a:avLst/>
          </a:prstGeom>
        </p:spPr>
      </p:pic>
      <p:grpSp>
        <p:nvGrpSpPr>
          <p:cNvPr id="25" name="그룹 24">
            <a:extLst>
              <a:ext uri="{FF2B5EF4-FFF2-40B4-BE49-F238E27FC236}">
                <a16:creationId xmlns:a16="http://schemas.microsoft.com/office/drawing/2014/main" id="{2BBCC28A-E7B2-FA3A-E2C8-C61FD6BC6E0E}"/>
              </a:ext>
            </a:extLst>
          </p:cNvPr>
          <p:cNvGrpSpPr/>
          <p:nvPr/>
        </p:nvGrpSpPr>
        <p:grpSpPr>
          <a:xfrm>
            <a:off x="1392256" y="2181449"/>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3" name="직선 화살표 연결선 42">
            <a:extLst>
              <a:ext uri="{FF2B5EF4-FFF2-40B4-BE49-F238E27FC236}">
                <a16:creationId xmlns:a16="http://schemas.microsoft.com/office/drawing/2014/main" id="{B3689333-D1AC-DCCC-6BD5-4B75FCD953A2}"/>
              </a:ext>
            </a:extLst>
          </p:cNvPr>
          <p:cNvCxnSpPr>
            <a:cxnSpLocks/>
          </p:cNvCxnSpPr>
          <p:nvPr/>
        </p:nvCxnSpPr>
        <p:spPr>
          <a:xfrm flipV="1">
            <a:off x="1384697" y="3234881"/>
            <a:ext cx="166688" cy="128587"/>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46195</TotalTime>
  <Words>7944</Words>
  <Application>Microsoft Office PowerPoint</Application>
  <PresentationFormat>A4 용지(210x297mm)</PresentationFormat>
  <Paragraphs>2395</Paragraphs>
  <Slides>29</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29</vt:i4>
      </vt:variant>
    </vt:vector>
  </HeadingPairs>
  <TitlesOfParts>
    <vt:vector size="36"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1744</cp:revision>
  <cp:lastPrinted>2023-08-01T07:21:23Z</cp:lastPrinted>
  <dcterms:created xsi:type="dcterms:W3CDTF">2020-06-17T04:27:48Z</dcterms:created>
  <dcterms:modified xsi:type="dcterms:W3CDTF">2025-03-25T02:16:26Z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