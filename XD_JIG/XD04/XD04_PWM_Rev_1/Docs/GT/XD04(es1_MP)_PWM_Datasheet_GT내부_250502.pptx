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35"/>
  </p:notesMasterIdLst>
  <p:handoutMasterIdLst>
    <p:handoutMasterId r:id="rId36"/>
  </p:handoutMasterIdLst>
  <p:sldIdLst>
    <p:sldId id="438" r:id="rId5"/>
    <p:sldId id="439" r:id="rId6"/>
    <p:sldId id="440" r:id="rId7"/>
    <p:sldId id="432" r:id="rId8"/>
    <p:sldId id="279" r:id="rId9"/>
    <p:sldId id="420" r:id="rId10"/>
    <p:sldId id="276" r:id="rId11"/>
    <p:sldId id="417" r:id="rId12"/>
    <p:sldId id="418" r:id="rId13"/>
    <p:sldId id="287" r:id="rId14"/>
    <p:sldId id="419" r:id="rId15"/>
    <p:sldId id="442" r:id="rId16"/>
    <p:sldId id="431" r:id="rId17"/>
    <p:sldId id="428" r:id="rId18"/>
    <p:sldId id="441" r:id="rId19"/>
    <p:sldId id="293" r:id="rId20"/>
    <p:sldId id="427" r:id="rId21"/>
    <p:sldId id="330" r:id="rId22"/>
    <p:sldId id="412" r:id="rId23"/>
    <p:sldId id="414" r:id="rId24"/>
    <p:sldId id="407" r:id="rId25"/>
    <p:sldId id="437" r:id="rId26"/>
    <p:sldId id="422" r:id="rId27"/>
    <p:sldId id="443" r:id="rId28"/>
    <p:sldId id="415" r:id="rId29"/>
    <p:sldId id="410" r:id="rId30"/>
    <p:sldId id="433" r:id="rId31"/>
    <p:sldId id="413" r:id="rId32"/>
    <p:sldId id="421" r:id="rId33"/>
    <p:sldId id="348" r:id="rId34"/>
  </p:sldIdLst>
  <p:sldSz cx="6858000" cy="9906000" type="A4"/>
  <p:notesSz cx="6791325" cy="99218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 userDrawn="1">
          <p15:clr>
            <a:srgbClr val="A4A3A4"/>
          </p15:clr>
        </p15:guide>
        <p15:guide id="4" orient="horz" pos="5910" userDrawn="1">
          <p15:clr>
            <a:srgbClr val="A4A3A4"/>
          </p15:clr>
        </p15:guide>
        <p15:guide id="5" pos="4110" userDrawn="1">
          <p15:clr>
            <a:srgbClr val="A4A3A4"/>
          </p15:clr>
        </p15:guide>
        <p15:guide id="9" orient="horz" pos="2689" userDrawn="1">
          <p15:clr>
            <a:srgbClr val="A4A3A4"/>
          </p15:clr>
        </p15:guide>
        <p15:guide id="10" pos="255" userDrawn="1">
          <p15:clr>
            <a:srgbClr val="A4A3A4"/>
          </p15:clr>
        </p15:guide>
        <p15:guide id="12" pos="580" userDrawn="1">
          <p15:clr>
            <a:srgbClr val="A4A3A4"/>
          </p15:clr>
        </p15:guide>
        <p15:guide id="13" pos="1988" userDrawn="1">
          <p15:clr>
            <a:srgbClr val="A4A3A4"/>
          </p15:clr>
        </p15:guide>
        <p15:guide id="14" pos="2511" userDrawn="1">
          <p15:clr>
            <a:srgbClr val="A4A3A4"/>
          </p15:clr>
        </p15:guide>
        <p15:guide id="15" pos="3906" userDrawn="1">
          <p15:clr>
            <a:srgbClr val="A4A3A4"/>
          </p15:clr>
        </p15:guide>
        <p15:guide id="16" orient="horz" pos="943" userDrawn="1">
          <p15:clr>
            <a:srgbClr val="A4A3A4"/>
          </p15:clr>
        </p15:guide>
        <p15:guide id="17" orient="horz" pos="2054" userDrawn="1">
          <p15:clr>
            <a:srgbClr val="A4A3A4"/>
          </p15:clr>
        </p15:guide>
        <p15:guide id="18" orient="horz" pos="3800" userDrawn="1">
          <p15:clr>
            <a:srgbClr val="A4A3A4"/>
          </p15:clr>
        </p15:guide>
        <p15:guide id="19" orient="horz" pos="4390" userDrawn="1">
          <p15:clr>
            <a:srgbClr val="A4A3A4"/>
          </p15:clr>
        </p15:guide>
        <p15:guide id="20" orient="horz" pos="5568" userDrawn="1">
          <p15:clr>
            <a:srgbClr val="A4A3A4"/>
          </p15:clr>
        </p15:guide>
        <p15:guide id="21" orient="horz" pos="1419" userDrawn="1">
          <p15:clr>
            <a:srgbClr val="A4A3A4"/>
          </p15:clr>
        </p15:guide>
        <p15:guide id="22" orient="horz" pos="1056" userDrawn="1">
          <p15:clr>
            <a:srgbClr val="A4A3A4"/>
          </p15:clr>
        </p15:guide>
        <p15:guide id="23" orient="horz" pos="71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n dongkook" initials="sd" lastIdx="1" clrIdx="0">
    <p:extLst>
      <p:ext uri="{19B8F6BF-5375-455C-9EA6-DF929625EA0E}">
        <p15:presenceInfo xmlns:p15="http://schemas.microsoft.com/office/powerpoint/2012/main" userId="99770237f39f986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EFEF"/>
    <a:srgbClr val="EBEBEB"/>
    <a:srgbClr val="ECECEC"/>
    <a:srgbClr val="F0F0F0"/>
    <a:srgbClr val="0066FF"/>
    <a:srgbClr val="00CC00"/>
    <a:srgbClr val="FF00FF"/>
    <a:srgbClr val="FFFFEB"/>
    <a:srgbClr val="FFFFD9"/>
    <a:srgbClr val="EFF5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보통 스타일 4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5190" autoAdjust="0"/>
    <p:restoredTop sz="97202" autoAdjust="0"/>
  </p:normalViewPr>
  <p:slideViewPr>
    <p:cSldViewPr snapToGrid="0">
      <p:cViewPr varScale="1">
        <p:scale>
          <a:sx n="108" d="100"/>
          <a:sy n="108" d="100"/>
        </p:scale>
        <p:origin x="2456" y="72"/>
      </p:cViewPr>
      <p:guideLst>
        <p:guide orient="horz" pos="240"/>
        <p:guide orient="horz" pos="5910"/>
        <p:guide pos="4110"/>
        <p:guide orient="horz" pos="2689"/>
        <p:guide pos="255"/>
        <p:guide pos="580"/>
        <p:guide pos="1988"/>
        <p:guide pos="2511"/>
        <p:guide pos="3906"/>
        <p:guide orient="horz" pos="943"/>
        <p:guide orient="horz" pos="2054"/>
        <p:guide orient="horz" pos="3800"/>
        <p:guide orient="horz" pos="4390"/>
        <p:guide orient="horz" pos="5568"/>
        <p:guide orient="horz" pos="1419"/>
        <p:guide orient="horz" pos="1056"/>
        <p:guide orient="horz" pos="71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4" d="100"/>
          <a:sy n="104" d="100"/>
        </p:scale>
        <p:origin x="33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BD34A0D-62E5-4126-B420-4B8945E29C66}"/>
              </a:ext>
            </a:extLst>
          </p:cNvPr>
          <p:cNvSpPr>
            <a:spLocks noGrp="1"/>
          </p:cNvSpPr>
          <p:nvPr>
            <p:ph type="hdr" sz="quarter"/>
          </p:nvPr>
        </p:nvSpPr>
        <p:spPr>
          <a:xfrm>
            <a:off x="0" y="0"/>
            <a:ext cx="2943648" cy="496650"/>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a:extLst>
              <a:ext uri="{FF2B5EF4-FFF2-40B4-BE49-F238E27FC236}">
                <a16:creationId xmlns:a16="http://schemas.microsoft.com/office/drawing/2014/main" id="{6CD09051-50E8-45CF-8F91-5640B4F504F1}"/>
              </a:ext>
            </a:extLst>
          </p:cNvPr>
          <p:cNvSpPr>
            <a:spLocks noGrp="1"/>
          </p:cNvSpPr>
          <p:nvPr>
            <p:ph type="dt" sz="quarter" idx="1"/>
          </p:nvPr>
        </p:nvSpPr>
        <p:spPr>
          <a:xfrm>
            <a:off x="3846092" y="0"/>
            <a:ext cx="2943648" cy="496650"/>
          </a:xfrm>
          <a:prstGeom prst="rect">
            <a:avLst/>
          </a:prstGeom>
        </p:spPr>
        <p:txBody>
          <a:bodyPr vert="horz" lIns="91376" tIns="45688" rIns="91376" bIns="45688" rtlCol="0"/>
          <a:lstStyle>
            <a:lvl1pPr algn="r">
              <a:defRPr sz="1200"/>
            </a:lvl1pPr>
          </a:lstStyle>
          <a:p>
            <a:fld id="{2281637F-B6E0-4E7F-AD60-C289DCB0986F}" type="datetimeFigureOut">
              <a:rPr lang="ko-KR" altLang="en-US" smtClean="0"/>
              <a:t>2025-04-29</a:t>
            </a:fld>
            <a:endParaRPr lang="ko-KR" altLang="en-US" dirty="0"/>
          </a:p>
        </p:txBody>
      </p:sp>
      <p:sp>
        <p:nvSpPr>
          <p:cNvPr id="4" name="바닥글 개체 틀 3">
            <a:extLst>
              <a:ext uri="{FF2B5EF4-FFF2-40B4-BE49-F238E27FC236}">
                <a16:creationId xmlns:a16="http://schemas.microsoft.com/office/drawing/2014/main" id="{DDF8D031-E1F4-4D34-8C66-5F846CCEFA41}"/>
              </a:ext>
            </a:extLst>
          </p:cNvPr>
          <p:cNvSpPr>
            <a:spLocks noGrp="1"/>
          </p:cNvSpPr>
          <p:nvPr>
            <p:ph type="ftr" sz="quarter" idx="2"/>
          </p:nvPr>
        </p:nvSpPr>
        <p:spPr>
          <a:xfrm>
            <a:off x="0" y="9425225"/>
            <a:ext cx="2943648" cy="496650"/>
          </a:xfrm>
          <a:prstGeom prst="rect">
            <a:avLst/>
          </a:prstGeom>
        </p:spPr>
        <p:txBody>
          <a:bodyPr vert="horz" lIns="91376" tIns="45688" rIns="91376" bIns="45688" rtlCol="0" anchor="b"/>
          <a:lstStyle>
            <a:lvl1pPr algn="l">
              <a:defRPr sz="1200"/>
            </a:lvl1pPr>
          </a:lstStyle>
          <a:p>
            <a:endParaRPr lang="ko-KR" altLang="en-US" dirty="0"/>
          </a:p>
        </p:txBody>
      </p:sp>
      <p:sp>
        <p:nvSpPr>
          <p:cNvPr id="5" name="슬라이드 번호 개체 틀 4">
            <a:extLst>
              <a:ext uri="{FF2B5EF4-FFF2-40B4-BE49-F238E27FC236}">
                <a16:creationId xmlns:a16="http://schemas.microsoft.com/office/drawing/2014/main" id="{4D21CD1D-D96D-4EBE-978F-F2636A42F1C9}"/>
              </a:ext>
            </a:extLst>
          </p:cNvPr>
          <p:cNvSpPr>
            <a:spLocks noGrp="1"/>
          </p:cNvSpPr>
          <p:nvPr>
            <p:ph type="sldNum" sz="quarter" idx="3"/>
          </p:nvPr>
        </p:nvSpPr>
        <p:spPr>
          <a:xfrm>
            <a:off x="3846092" y="9425225"/>
            <a:ext cx="2943648" cy="496650"/>
          </a:xfrm>
          <a:prstGeom prst="rect">
            <a:avLst/>
          </a:prstGeom>
        </p:spPr>
        <p:txBody>
          <a:bodyPr vert="horz" lIns="91376" tIns="45688" rIns="91376" bIns="45688" rtlCol="0" anchor="b"/>
          <a:lstStyle>
            <a:lvl1pPr algn="r">
              <a:defRPr sz="1200"/>
            </a:lvl1pPr>
          </a:lstStyle>
          <a:p>
            <a:fld id="{BB9A4DEB-4C72-49D7-9C33-58C15789186D}" type="slidenum">
              <a:rPr lang="ko-KR" altLang="en-US" smtClean="0"/>
              <a:t>‹#›</a:t>
            </a:fld>
            <a:endParaRPr lang="ko-KR" altLang="en-US" dirty="0"/>
          </a:p>
        </p:txBody>
      </p:sp>
    </p:spTree>
    <p:extLst>
      <p:ext uri="{BB962C8B-B14F-4D97-AF65-F5344CB8AC3E}">
        <p14:creationId xmlns:p14="http://schemas.microsoft.com/office/powerpoint/2010/main" val="3703748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0"/>
            <a:ext cx="2942907" cy="497817"/>
          </a:xfrm>
          <a:prstGeom prst="rect">
            <a:avLst/>
          </a:prstGeom>
        </p:spPr>
        <p:txBody>
          <a:bodyPr vert="horz" lIns="91376" tIns="45688" rIns="91376" bIns="45688" rtlCol="0"/>
          <a:lstStyle>
            <a:lvl1pPr algn="l">
              <a:defRPr sz="1200"/>
            </a:lvl1pPr>
          </a:lstStyle>
          <a:p>
            <a:endParaRPr lang="ko-KR" altLang="en-US" dirty="0"/>
          </a:p>
        </p:txBody>
      </p:sp>
      <p:sp>
        <p:nvSpPr>
          <p:cNvPr id="3" name="날짜 개체 틀 2"/>
          <p:cNvSpPr>
            <a:spLocks noGrp="1"/>
          </p:cNvSpPr>
          <p:nvPr>
            <p:ph type="dt" idx="1"/>
          </p:nvPr>
        </p:nvSpPr>
        <p:spPr>
          <a:xfrm>
            <a:off x="3846847" y="0"/>
            <a:ext cx="2942907" cy="497817"/>
          </a:xfrm>
          <a:prstGeom prst="rect">
            <a:avLst/>
          </a:prstGeom>
        </p:spPr>
        <p:txBody>
          <a:bodyPr vert="horz" lIns="91376" tIns="45688" rIns="91376" bIns="45688" rtlCol="0"/>
          <a:lstStyle>
            <a:lvl1pPr algn="r">
              <a:defRPr sz="1200"/>
            </a:lvl1pPr>
          </a:lstStyle>
          <a:p>
            <a:fld id="{1905B5A4-DDD3-42F4-9B43-01BA73DC80EA}" type="datetimeFigureOut">
              <a:rPr lang="ko-KR" altLang="en-US" smtClean="0"/>
              <a:t>2025-04-29</a:t>
            </a:fld>
            <a:endParaRPr lang="ko-KR" altLang="en-US" dirty="0"/>
          </a:p>
        </p:txBody>
      </p:sp>
      <p:sp>
        <p:nvSpPr>
          <p:cNvPr id="4" name="슬라이드 이미지 개체 틀 3"/>
          <p:cNvSpPr>
            <a:spLocks noGrp="1" noRot="1" noChangeAspect="1"/>
          </p:cNvSpPr>
          <p:nvPr>
            <p:ph type="sldImg" idx="2"/>
          </p:nvPr>
        </p:nvSpPr>
        <p:spPr>
          <a:xfrm>
            <a:off x="2236788" y="1241425"/>
            <a:ext cx="2317750" cy="3348038"/>
          </a:xfrm>
          <a:prstGeom prst="rect">
            <a:avLst/>
          </a:prstGeom>
          <a:noFill/>
          <a:ln w="12700">
            <a:solidFill>
              <a:prstClr val="black"/>
            </a:solidFill>
          </a:ln>
        </p:spPr>
        <p:txBody>
          <a:bodyPr vert="horz" lIns="91376" tIns="45688" rIns="91376" bIns="45688" rtlCol="0" anchor="ctr"/>
          <a:lstStyle/>
          <a:p>
            <a:endParaRPr lang="ko-KR" altLang="en-US" dirty="0"/>
          </a:p>
        </p:txBody>
      </p:sp>
      <p:sp>
        <p:nvSpPr>
          <p:cNvPr id="5" name="슬라이드 노트 개체 틀 4"/>
          <p:cNvSpPr>
            <a:spLocks noGrp="1"/>
          </p:cNvSpPr>
          <p:nvPr>
            <p:ph type="body" sz="quarter" idx="3"/>
          </p:nvPr>
        </p:nvSpPr>
        <p:spPr>
          <a:xfrm>
            <a:off x="679133" y="4774902"/>
            <a:ext cx="5433060" cy="3906739"/>
          </a:xfrm>
          <a:prstGeom prst="rect">
            <a:avLst/>
          </a:prstGeom>
        </p:spPr>
        <p:txBody>
          <a:bodyPr vert="horz" lIns="91376" tIns="45688" rIns="91376" bIns="45688"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1" y="9424060"/>
            <a:ext cx="2942907" cy="497816"/>
          </a:xfrm>
          <a:prstGeom prst="rect">
            <a:avLst/>
          </a:prstGeom>
        </p:spPr>
        <p:txBody>
          <a:bodyPr vert="horz" lIns="91376" tIns="45688" rIns="91376" bIns="45688"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46847" y="9424060"/>
            <a:ext cx="2942907" cy="497816"/>
          </a:xfrm>
          <a:prstGeom prst="rect">
            <a:avLst/>
          </a:prstGeom>
        </p:spPr>
        <p:txBody>
          <a:bodyPr vert="horz" lIns="91376" tIns="45688" rIns="91376" bIns="45688" rtlCol="0" anchor="b"/>
          <a:lstStyle>
            <a:lvl1pPr algn="r">
              <a:defRPr sz="1200"/>
            </a:lvl1pPr>
          </a:lstStyle>
          <a:p>
            <a:fld id="{E0166A3B-8ACD-4EFC-80A7-344EDF6621A2}" type="slidenum">
              <a:rPr lang="ko-KR" altLang="en-US" smtClean="0"/>
              <a:t>‹#›</a:t>
            </a:fld>
            <a:endParaRPr lang="ko-KR" altLang="en-US" dirty="0"/>
          </a:p>
        </p:txBody>
      </p:sp>
    </p:spTree>
    <p:extLst>
      <p:ext uri="{BB962C8B-B14F-4D97-AF65-F5344CB8AC3E}">
        <p14:creationId xmlns:p14="http://schemas.microsoft.com/office/powerpoint/2010/main" val="283462906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3" name="Holder 3"/>
          <p:cNvSpPr>
            <a:spLocks noGrp="1"/>
          </p:cNvSpPr>
          <p:nvPr>
            <p:ph type="body" idx="1"/>
          </p:nvPr>
        </p:nvSpPr>
        <p:spPr>
          <a:xfrm>
            <a:off x="471488" y="2637014"/>
            <a:ext cx="5915025" cy="6285266"/>
          </a:xfrm>
          <a:prstGeom prst="rect">
            <a:avLst/>
          </a:prstGeom>
        </p:spPr>
        <p:txBody>
          <a:bodyPr lIns="0" tIns="0" rIns="0" bIns="0"/>
          <a:lstStyle>
            <a:lvl1pPr>
              <a:defRPr/>
            </a:lvl1pPr>
          </a:lstStyle>
          <a:p>
            <a:endParaRPr dirty="0"/>
          </a:p>
        </p:txBody>
      </p:sp>
      <p:grpSp>
        <p:nvGrpSpPr>
          <p:cNvPr id="8" name="그룹 7">
            <a:extLst>
              <a:ext uri="{FF2B5EF4-FFF2-40B4-BE49-F238E27FC236}">
                <a16:creationId xmlns:a16="http://schemas.microsoft.com/office/drawing/2014/main" id="{2FCD22CD-A9EE-E210-7AD8-AFD633C45516}"/>
              </a:ext>
            </a:extLst>
          </p:cNvPr>
          <p:cNvGrpSpPr/>
          <p:nvPr userDrawn="1"/>
        </p:nvGrpSpPr>
        <p:grpSpPr>
          <a:xfrm>
            <a:off x="4366818" y="433977"/>
            <a:ext cx="2088304" cy="752967"/>
            <a:chOff x="4136310" y="299116"/>
            <a:chExt cx="2597866" cy="873507"/>
          </a:xfrm>
        </p:grpSpPr>
        <p:pic>
          <p:nvPicPr>
            <p:cNvPr id="9" name="그림 8">
              <a:extLst>
                <a:ext uri="{FF2B5EF4-FFF2-40B4-BE49-F238E27FC236}">
                  <a16:creationId xmlns:a16="http://schemas.microsoft.com/office/drawing/2014/main" id="{7038390E-AB2E-9D84-6BA0-EE882BF9F9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10" name="TextBox 9">
              <a:extLst>
                <a:ext uri="{FF2B5EF4-FFF2-40B4-BE49-F238E27FC236}">
                  <a16:creationId xmlns:a16="http://schemas.microsoft.com/office/drawing/2014/main" id="{678F61E0-9BDD-6BD9-EB3D-41608A839E0B}"/>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875538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cxnSp>
        <p:nvCxnSpPr>
          <p:cNvPr id="7" name="직선 연결선 6">
            <a:extLst>
              <a:ext uri="{FF2B5EF4-FFF2-40B4-BE49-F238E27FC236}">
                <a16:creationId xmlns:a16="http://schemas.microsoft.com/office/drawing/2014/main" id="{FC6C40EC-0F6C-C824-EF25-F07C52217003}"/>
              </a:ext>
            </a:extLst>
          </p:cNvPr>
          <p:cNvCxnSpPr/>
          <p:nvPr userDrawn="1"/>
        </p:nvCxnSpPr>
        <p:spPr>
          <a:xfrm>
            <a:off x="404813" y="72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Holder 2">
            <a:extLst>
              <a:ext uri="{FF2B5EF4-FFF2-40B4-BE49-F238E27FC236}">
                <a16:creationId xmlns:a16="http://schemas.microsoft.com/office/drawing/2014/main" id="{56F15421-7FDC-AF5F-7050-18B6BB28B9AB}"/>
              </a:ext>
            </a:extLst>
          </p:cNvPr>
          <p:cNvSpPr>
            <a:spLocks noGrp="1"/>
          </p:cNvSpPr>
          <p:nvPr>
            <p:ph type="title"/>
          </p:nvPr>
        </p:nvSpPr>
        <p:spPr>
          <a:xfrm>
            <a:off x="2610357" y="1599438"/>
            <a:ext cx="1637284" cy="492488"/>
          </a:xfrm>
          <a:prstGeom prst="rect">
            <a:avLst/>
          </a:prstGeom>
        </p:spPr>
        <p:txBody>
          <a:bodyPr lIns="0" tIns="0" rIns="0" bIns="0"/>
          <a:lstStyle>
            <a:lvl1pPr>
              <a:defRPr sz="3133" b="1" i="0">
                <a:solidFill>
                  <a:srgbClr val="7E7E7E"/>
                </a:solidFill>
                <a:latin typeface="Arial"/>
                <a:cs typeface="Arial"/>
              </a:defRPr>
            </a:lvl1pPr>
          </a:lstStyle>
          <a:p>
            <a:endParaRPr dirty="0"/>
          </a:p>
        </p:txBody>
      </p:sp>
      <p:sp>
        <p:nvSpPr>
          <p:cNvPr id="9" name="Holder 3">
            <a:extLst>
              <a:ext uri="{FF2B5EF4-FFF2-40B4-BE49-F238E27FC236}">
                <a16:creationId xmlns:a16="http://schemas.microsoft.com/office/drawing/2014/main" id="{F7D19935-977E-EB05-03F2-58E9B62E7215}"/>
              </a:ext>
            </a:extLst>
          </p:cNvPr>
          <p:cNvSpPr>
            <a:spLocks noGrp="1"/>
          </p:cNvSpPr>
          <p:nvPr>
            <p:ph type="body" idx="1"/>
          </p:nvPr>
        </p:nvSpPr>
        <p:spPr>
          <a:xfrm>
            <a:off x="342900" y="2278383"/>
            <a:ext cx="6172200" cy="276999"/>
          </a:xfrm>
          <a:prstGeom prst="rect">
            <a:avLst/>
          </a:prstGeom>
        </p:spPr>
        <p:txBody>
          <a:bodyPr lIns="0" tIns="0" rIns="0" bIns="0"/>
          <a:lstStyle>
            <a:lvl1pPr>
              <a:defRPr/>
            </a:lvl1pPr>
          </a:lstStyle>
          <a:p>
            <a:endParaRPr dirty="0"/>
          </a:p>
        </p:txBody>
      </p:sp>
      <p:sp>
        <p:nvSpPr>
          <p:cNvPr id="10" name="object 4">
            <a:extLst>
              <a:ext uri="{FF2B5EF4-FFF2-40B4-BE49-F238E27FC236}">
                <a16:creationId xmlns:a16="http://schemas.microsoft.com/office/drawing/2014/main" id="{2978683C-BA9C-6C5C-A746-031BC95F64E6}"/>
              </a:ext>
            </a:extLst>
          </p:cNvPr>
          <p:cNvSpPr txBox="1"/>
          <p:nvPr userDrawn="1"/>
        </p:nvSpPr>
        <p:spPr>
          <a:xfrm>
            <a:off x="464061" y="398874"/>
            <a:ext cx="1606039" cy="283400"/>
          </a:xfrm>
          <a:prstGeom prst="rect">
            <a:avLst/>
          </a:prstGeom>
        </p:spPr>
        <p:txBody>
          <a:bodyPr vert="horz" wrap="square" lIns="0" tIns="12435" rIns="0" bIns="0" rtlCol="0">
            <a:spAutoFit/>
          </a:bodyPr>
          <a:lstStyle/>
          <a:p>
            <a:pPr marL="12435" defTabSz="895327" fontAlgn="auto">
              <a:spcBef>
                <a:spcPts val="98"/>
              </a:spcBef>
              <a:spcAft>
                <a:spcPts val="0"/>
              </a:spcAft>
            </a:pPr>
            <a:r>
              <a:rPr lang="en-US" sz="1760" b="1" dirty="0">
                <a:solidFill>
                  <a:srgbClr val="7E7E7E"/>
                </a:solidFill>
                <a:latin typeface="Arial"/>
                <a:ea typeface="+mj-ea"/>
                <a:cs typeface="Arial"/>
              </a:rPr>
              <a:t>XD04</a:t>
            </a:r>
            <a:endParaRPr sz="1760" b="1" dirty="0">
              <a:solidFill>
                <a:srgbClr val="0000FF"/>
              </a:solidFill>
              <a:latin typeface="Arial"/>
              <a:ea typeface="+mj-ea"/>
              <a:cs typeface="Arial"/>
            </a:endParaRPr>
          </a:p>
        </p:txBody>
      </p:sp>
    </p:spTree>
    <p:extLst>
      <p:ext uri="{BB962C8B-B14F-4D97-AF65-F5344CB8AC3E}">
        <p14:creationId xmlns:p14="http://schemas.microsoft.com/office/powerpoint/2010/main" val="2380017233"/>
      </p:ext>
    </p:extLst>
  </p:cSld>
  <p:clrMapOvr>
    <a:masterClrMapping/>
  </p:clrMapOvr>
  <p:extLst>
    <p:ext uri="{DCECCB84-F9BA-43D5-87BE-67443E8EF086}">
      <p15:sldGuideLst xmlns:p15="http://schemas.microsoft.com/office/powerpoint/2012/main">
        <p15:guide id="1" orient="horz" pos="3120">
          <p15:clr>
            <a:srgbClr val="FBAE40"/>
          </p15:clr>
        </p15:guide>
        <p15:guide id="2" pos="261">
          <p15:clr>
            <a:srgbClr val="FBAE40"/>
          </p15:clr>
        </p15:guide>
        <p15:guide id="3" pos="405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a:prstGeom prst="rect">
            <a:avLst/>
          </a:prstGeom>
        </p:spPr>
        <p:txBody>
          <a:bodyPr anchor="b"/>
          <a:lstStyle>
            <a:lvl1pPr algn="ctr">
              <a:defRPr sz="4500"/>
            </a:lvl1pPr>
          </a:lstStyle>
          <a:p>
            <a:r>
              <a:rPr lang="ko-KR" altLang="en-US"/>
              <a:t>마스터 제목 스타일 편집</a:t>
            </a:r>
            <a:endParaRPr lang="en-US" dirty="0"/>
          </a:p>
        </p:txBody>
      </p:sp>
      <p:sp>
        <p:nvSpPr>
          <p:cNvPr id="3" name="Subtitle 2"/>
          <p:cNvSpPr>
            <a:spLocks noGrp="1"/>
          </p:cNvSpPr>
          <p:nvPr>
            <p:ph type="subTitle" idx="1"/>
          </p:nvPr>
        </p:nvSpPr>
        <p:spPr>
          <a:xfrm>
            <a:off x="857250" y="5202944"/>
            <a:ext cx="5143500" cy="2391656"/>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Tree>
    <p:extLst>
      <p:ext uri="{BB962C8B-B14F-4D97-AF65-F5344CB8AC3E}">
        <p14:creationId xmlns:p14="http://schemas.microsoft.com/office/powerpoint/2010/main" val="2371163162"/>
      </p:ext>
    </p:extLst>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idx="1"/>
          </p:nvPr>
        </p:nvSpPr>
        <p:spPr>
          <a:xfrm>
            <a:off x="471488" y="2637014"/>
            <a:ext cx="5915025"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559610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a:prstGeom prst="rect">
            <a:avLst/>
          </a:prstGeo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a:prstGeom prst="rect">
            <a:avLst/>
          </a:prstGeo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3583204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507668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a:prstGeom prst="rect">
            <a:avLst/>
          </a:prstGeo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a:prstGeom prst="rect">
            <a:avLst/>
          </a:prstGeo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8" name="Footer Placeholder 7"/>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9" name="Slide Number Placeholder 8"/>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702557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Date Placeholder 2"/>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4" name="Footer Placeholder 3"/>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5" name="Slide Number Placeholder 4"/>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191415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3" name="Footer Placeholder 2"/>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4" name="Slide Number Placeholder 3"/>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33408585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2069352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a:prstGeom prst="rect">
            <a:avLst/>
          </a:prstGeo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a:prstGeom prst="rect">
            <a:avLst/>
          </a:prstGeo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dirty="0"/>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6" name="Footer Placeholder 5"/>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7" name="Slide Number Placeholder 6"/>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1805499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a:xfrm>
            <a:off x="471488" y="527405"/>
            <a:ext cx="5915025" cy="1914702"/>
          </a:xfrm>
          <a:prstGeom prst="rect">
            <a:avLst/>
          </a:prstGeo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2637014"/>
            <a:ext cx="5915025" cy="6285266"/>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515454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a:prstGeom prst="rect">
            <a:avLst/>
          </a:prstGeo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a:prstGeom prst="rect">
            <a:avLst/>
          </a:prstGeo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a:xfrm>
            <a:off x="471488" y="9181397"/>
            <a:ext cx="1543050" cy="527403"/>
          </a:xfrm>
          <a:prstGeom prst="rect">
            <a:avLst/>
          </a:prstGeom>
        </p:spPr>
        <p:txBody>
          <a:bodyPr/>
          <a:lstStyle/>
          <a:p>
            <a:fld id="{16873398-DE21-4240-8E46-88B25EED5E96}" type="datetimeFigureOut">
              <a:rPr lang="ko-KR" altLang="en-US" smtClean="0"/>
              <a:t>2025-04-29</a:t>
            </a:fld>
            <a:endParaRPr lang="ko-KR" altLang="en-US" dirty="0"/>
          </a:p>
        </p:txBody>
      </p:sp>
      <p:sp>
        <p:nvSpPr>
          <p:cNvPr id="5" name="Footer Placeholder 4"/>
          <p:cNvSpPr>
            <a:spLocks noGrp="1"/>
          </p:cNvSpPr>
          <p:nvPr>
            <p:ph type="ftr" sz="quarter" idx="11"/>
          </p:nvPr>
        </p:nvSpPr>
        <p:spPr>
          <a:xfrm>
            <a:off x="2271713" y="9181397"/>
            <a:ext cx="2314575" cy="527403"/>
          </a:xfrm>
          <a:prstGeom prst="rect">
            <a:avLst/>
          </a:prstGeom>
        </p:spPr>
        <p:txBody>
          <a:bodyPr/>
          <a:lstStyle/>
          <a:p>
            <a:endParaRPr lang="ko-KR" altLang="en-US" dirty="0"/>
          </a:p>
        </p:txBody>
      </p:sp>
      <p:sp>
        <p:nvSpPr>
          <p:cNvPr id="6" name="Slide Number Placeholder 5"/>
          <p:cNvSpPr>
            <a:spLocks noGrp="1"/>
          </p:cNvSpPr>
          <p:nvPr>
            <p:ph type="sldNum" sz="quarter" idx="12"/>
          </p:nvPr>
        </p:nvSpPr>
        <p:spPr>
          <a:xfrm>
            <a:off x="4843463" y="9181397"/>
            <a:ext cx="1543050" cy="527403"/>
          </a:xfrm>
          <a:prstGeom prst="rect">
            <a:avLst/>
          </a:prstGeom>
        </p:spPr>
        <p:txBody>
          <a:bodyPr/>
          <a:lstStyle/>
          <a:p>
            <a:fld id="{B623EE35-9840-447C-A58D-A40D8B8F6B2E}" type="slidenum">
              <a:rPr lang="ko-KR" altLang="en-US" smtClean="0"/>
              <a:t>‹#›</a:t>
            </a:fld>
            <a:endParaRPr lang="ko-KR" altLang="en-US" dirty="0"/>
          </a:p>
        </p:txBody>
      </p:sp>
    </p:spTree>
    <p:extLst>
      <p:ext uri="{BB962C8B-B14F-4D97-AF65-F5344CB8AC3E}">
        <p14:creationId xmlns:p14="http://schemas.microsoft.com/office/powerpoint/2010/main" val="95513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glbltech.com/"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object 9">
            <a:extLst>
              <a:ext uri="{FF2B5EF4-FFF2-40B4-BE49-F238E27FC236}">
                <a16:creationId xmlns:a16="http://schemas.microsoft.com/office/drawing/2014/main" id="{451BF618-E9B3-EC23-A10B-0CB97A947104}"/>
              </a:ext>
            </a:extLst>
          </p:cNvPr>
          <p:cNvSpPr txBox="1"/>
          <p:nvPr userDrawn="1"/>
        </p:nvSpPr>
        <p:spPr>
          <a:xfrm>
            <a:off x="414000" y="8981992"/>
            <a:ext cx="1990968" cy="283849"/>
          </a:xfrm>
          <a:prstGeom prst="rect">
            <a:avLst/>
          </a:prstGeom>
        </p:spPr>
        <p:txBody>
          <a:bodyPr vert="horz" wrap="square" lIns="0" tIns="12435" rIns="0" bIns="0" rtlCol="0">
            <a:spAutoFit/>
          </a:bodyPr>
          <a:lstStyle/>
          <a:p>
            <a:pPr marL="12435" defTabSz="895327" fontAlgn="auto">
              <a:spcBef>
                <a:spcPts val="98"/>
              </a:spcBef>
              <a:spcAft>
                <a:spcPts val="0"/>
              </a:spcAft>
            </a:pPr>
            <a:r>
              <a:rPr kumimoji="0" sz="1763" b="1" spc="-5" dirty="0">
                <a:solidFill>
                  <a:srgbClr val="FF0000"/>
                </a:solidFill>
                <a:latin typeface="Calibri"/>
                <a:ea typeface="+mn-ea"/>
                <a:cs typeface="Perpetua Titling MT"/>
              </a:rPr>
              <a:t>CONFIDENTIAL</a:t>
            </a:r>
            <a:endParaRPr kumimoji="0" sz="1763" dirty="0">
              <a:solidFill>
                <a:prstClr val="black"/>
              </a:solidFill>
              <a:latin typeface="Calibri"/>
              <a:ea typeface="+mn-ea"/>
              <a:cs typeface="Perpetua Titling MT"/>
            </a:endParaRPr>
          </a:p>
        </p:txBody>
      </p:sp>
      <p:sp>
        <p:nvSpPr>
          <p:cNvPr id="9" name="슬라이드 번호 개체 틀 3">
            <a:hlinkClick r:id="rId15"/>
            <a:extLst>
              <a:ext uri="{FF2B5EF4-FFF2-40B4-BE49-F238E27FC236}">
                <a16:creationId xmlns:a16="http://schemas.microsoft.com/office/drawing/2014/main" id="{7EEE58CB-7CB8-E53E-08F2-9ED6093EF097}"/>
              </a:ext>
            </a:extLst>
          </p:cNvPr>
          <p:cNvSpPr txBox="1">
            <a:spLocks/>
          </p:cNvSpPr>
          <p:nvPr userDrawn="1"/>
        </p:nvSpPr>
        <p:spPr>
          <a:xfrm>
            <a:off x="5115682" y="9408000"/>
            <a:ext cx="1327982" cy="180500"/>
          </a:xfrm>
          <a:prstGeom prst="rect">
            <a:avLst/>
          </a:prstGeom>
        </p:spPr>
        <p:txBody>
          <a:bodyPr vert="horz" lIns="0" tIns="0" rIns="0"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http://www.glbltech.com/</a:t>
            </a:r>
            <a:endParaRPr kumimoji="0" lang="ko-KR" alt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0" name="object 38">
            <a:extLst>
              <a:ext uri="{FF2B5EF4-FFF2-40B4-BE49-F238E27FC236}">
                <a16:creationId xmlns:a16="http://schemas.microsoft.com/office/drawing/2014/main" id="{1B5D1032-3349-06CD-5B46-8A6262F0EE24}"/>
              </a:ext>
            </a:extLst>
          </p:cNvPr>
          <p:cNvSpPr txBox="1">
            <a:spLocks/>
          </p:cNvSpPr>
          <p:nvPr userDrawn="1"/>
        </p:nvSpPr>
        <p:spPr>
          <a:xfrm>
            <a:off x="3311568" y="9452164"/>
            <a:ext cx="476888" cy="135550"/>
          </a:xfrm>
          <a:prstGeom prst="rect">
            <a:avLst/>
          </a:prstGeom>
        </p:spPr>
        <p:txBody>
          <a:bodyPr vert="horz" wrap="square" lIns="0" tIns="0" rIns="0" bIns="0" rtlCol="0">
            <a:noAutofit/>
          </a:bodyPr>
          <a:lstStyle>
            <a:defPPr>
              <a:defRPr lang="ko-KR"/>
            </a:defPPr>
            <a:lvl1pPr marL="0" algn="l" defTabSz="914400" rtl="0" eaLnBrk="1" latinLnBrk="1" hangingPunct="1">
              <a:defRPr sz="1050" b="0" i="0" kern="1200">
                <a:solidFill>
                  <a:schemeClr val="tx1"/>
                </a:solidFill>
                <a:latin typeface="Arial"/>
                <a:ea typeface="+mn-ea"/>
                <a:cs typeface="Arial"/>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defTabSz="447663" fontAlgn="auto" latinLnBrk="0">
              <a:spcBef>
                <a:spcPts val="0"/>
              </a:spcBef>
              <a:spcAft>
                <a:spcPts val="0"/>
              </a:spcAft>
              <a:defRPr/>
            </a:pPr>
            <a:r>
              <a:rPr kumimoji="0" lang="en-US" sz="881" dirty="0">
                <a:solidFill>
                  <a:prstClr val="black"/>
                </a:solidFill>
                <a:latin typeface="Arial" panose="020B0604020202020204" pitchFamily="34" charset="0"/>
                <a:ea typeface="맑은 고딕" panose="020B0503020000020004" pitchFamily="50" charset="-127"/>
                <a:cs typeface="Arial" panose="020B0604020202020204" pitchFamily="34" charset="0"/>
              </a:rPr>
              <a:t>Page </a:t>
            </a:r>
            <a:fld id="{81D60167-4931-47E6-BA6A-407CBD079E47}" type="slidenum">
              <a:rPr kumimoji="0" sz="881">
                <a:solidFill>
                  <a:prstClr val="black"/>
                </a:solidFill>
                <a:latin typeface="Arial" panose="020B0604020202020204" pitchFamily="34" charset="0"/>
                <a:ea typeface="맑은 고딕" panose="020B0503020000020004" pitchFamily="50" charset="-127"/>
                <a:cs typeface="Arial" panose="020B0604020202020204" pitchFamily="34" charset="0"/>
              </a:rPr>
              <a:pPr algn="ctr" defTabSz="447663" fontAlgn="auto" latinLnBrk="0">
                <a:spcBef>
                  <a:spcPts val="0"/>
                </a:spcBef>
                <a:spcAft>
                  <a:spcPts val="0"/>
                </a:spcAft>
                <a:defRPr/>
              </a:pPr>
              <a:t>‹#›</a:t>
            </a:fld>
            <a:endParaRPr kumimoji="0" sz="881" dirty="0">
              <a:solidFill>
                <a:prstClr val="black"/>
              </a:solidFill>
              <a:latin typeface="Arial" panose="020B0604020202020204" pitchFamily="34" charset="0"/>
              <a:ea typeface="맑은 고딕" panose="020B0503020000020004" pitchFamily="50" charset="-127"/>
              <a:cs typeface="Arial" panose="020B0604020202020204" pitchFamily="34" charset="0"/>
            </a:endParaRPr>
          </a:p>
        </p:txBody>
      </p:sp>
      <p:sp>
        <p:nvSpPr>
          <p:cNvPr id="11" name="슬라이드 번호 개체 틀 3">
            <a:extLst>
              <a:ext uri="{FF2B5EF4-FFF2-40B4-BE49-F238E27FC236}">
                <a16:creationId xmlns:a16="http://schemas.microsoft.com/office/drawing/2014/main" id="{64B1755F-10B5-8238-A9A8-9B4A613AC068}"/>
              </a:ext>
            </a:extLst>
          </p:cNvPr>
          <p:cNvSpPr txBox="1">
            <a:spLocks/>
          </p:cNvSpPr>
          <p:nvPr userDrawn="1"/>
        </p:nvSpPr>
        <p:spPr>
          <a:xfrm>
            <a:off x="404813" y="9408000"/>
            <a:ext cx="2310252" cy="192515"/>
          </a:xfrm>
          <a:prstGeom prst="rect">
            <a:avLst/>
          </a:prstGeom>
        </p:spPr>
        <p:txBody>
          <a:bodyPr vert="horz" lIns="0" tIns="0" rIns="89533" bIns="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defTabSz="447663" fontAlgn="auto">
              <a:spcBef>
                <a:spcPts val="0"/>
              </a:spcBef>
              <a:spcAft>
                <a:spcPts val="0"/>
              </a:spcAft>
            </a:pPr>
            <a:r>
              <a:rPr kumimoji="0" lang="en-US" altLang="ko-KR" sz="881" dirty="0">
                <a:solidFill>
                  <a:prstClr val="black"/>
                </a:solidFill>
                <a:latin typeface="Arial" panose="020B0604020202020204" pitchFamily="34" charset="0"/>
                <a:ea typeface="맑은 고딕" panose="020B0503020000020004" pitchFamily="50" charset="-127"/>
                <a:cs typeface="Arial" panose="020B0604020202020204" pitchFamily="34" charset="0"/>
              </a:rPr>
              <a:t>Dated  2. MAY. 2025  Rev. 03</a:t>
            </a:r>
            <a:endParaRPr kumimoji="0" lang="ko-KR" altLang="en-US" sz="881" dirty="0">
              <a:solidFill>
                <a:schemeClr val="accent2">
                  <a:lumMod val="75000"/>
                </a:schemeClr>
              </a:solidFill>
              <a:latin typeface="Arial" panose="020B0604020202020204" pitchFamily="34" charset="0"/>
              <a:ea typeface="맑은 고딕" panose="020B0503020000020004" pitchFamily="50" charset="-127"/>
              <a:cs typeface="Arial" panose="020B0604020202020204" pitchFamily="34" charset="0"/>
            </a:endParaRPr>
          </a:p>
        </p:txBody>
      </p:sp>
      <p:cxnSp>
        <p:nvCxnSpPr>
          <p:cNvPr id="12" name="직선 연결선 11">
            <a:extLst>
              <a:ext uri="{FF2B5EF4-FFF2-40B4-BE49-F238E27FC236}">
                <a16:creationId xmlns:a16="http://schemas.microsoft.com/office/drawing/2014/main" id="{BD0A5AB9-9B4F-97CA-0A77-1385281C935F}"/>
              </a:ext>
            </a:extLst>
          </p:cNvPr>
          <p:cNvCxnSpPr/>
          <p:nvPr userDrawn="1"/>
        </p:nvCxnSpPr>
        <p:spPr>
          <a:xfrm>
            <a:off x="404813" y="9363000"/>
            <a:ext cx="6048375"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58B2FFC-7CE9-644C-488E-D9AD4F9B6761}"/>
              </a:ext>
            </a:extLst>
          </p:cNvPr>
          <p:cNvSpPr txBox="1"/>
          <p:nvPr userDrawn="1"/>
        </p:nvSpPr>
        <p:spPr>
          <a:xfrm rot="18900000">
            <a:off x="1670137" y="4537501"/>
            <a:ext cx="3759747" cy="830997"/>
          </a:xfrm>
          <a:prstGeom prst="rect">
            <a:avLst/>
          </a:prstGeom>
          <a:noFill/>
        </p:spPr>
        <p:txBody>
          <a:bodyPr wrap="none" lIns="0" tIns="0" rIns="0" bIns="0" rtlCol="0" anchor="ctr" anchorCtr="0">
            <a:spAutoFit/>
          </a:bodyPr>
          <a:lstStyle/>
          <a:p>
            <a:r>
              <a:rPr lang="en-US" altLang="ko-KR" sz="5400" b="1" dirty="0">
                <a:solidFill>
                  <a:srgbClr val="EFEFEF"/>
                </a:solidFill>
                <a:latin typeface="Arial" panose="020B0604020202020204" pitchFamily="34" charset="0"/>
                <a:ea typeface="+mn-ea"/>
                <a:cs typeface="Arial" panose="020B0604020202020204" pitchFamily="34" charset="0"/>
              </a:rPr>
              <a:t>Preliminary</a:t>
            </a:r>
            <a:endParaRPr lang="ko-KR" altLang="en-US" sz="5400" b="1" dirty="0">
              <a:solidFill>
                <a:srgbClr val="EFEFEF"/>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79806652"/>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Lst>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12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A06CC78-9F83-436A-9A0F-12F273C5E8B4}"/>
              </a:ext>
            </a:extLst>
          </p:cNvPr>
          <p:cNvSpPr txBox="1"/>
          <p:nvPr/>
        </p:nvSpPr>
        <p:spPr>
          <a:xfrm>
            <a:off x="2622335" y="1624048"/>
            <a:ext cx="1025922" cy="492443"/>
          </a:xfrm>
          <a:prstGeom prst="rect">
            <a:avLst/>
          </a:prstGeom>
          <a:noFill/>
        </p:spPr>
        <p:txBody>
          <a:bodyPr wrap="none" lIns="0" tIns="0" rIns="0" bIns="0" rtlCol="0">
            <a:spAutoFit/>
          </a:bodyPr>
          <a:lstStyle/>
          <a:p>
            <a:r>
              <a:rPr lang="en-US" altLang="ko-KR" sz="3200" b="1" dirty="0">
                <a:solidFill>
                  <a:schemeClr val="bg1">
                    <a:lumMod val="50000"/>
                  </a:schemeClr>
                </a:solidFill>
                <a:latin typeface="Arial" panose="020B0604020202020204" pitchFamily="34" charset="0"/>
                <a:cs typeface="Arial" panose="020B0604020202020204" pitchFamily="34" charset="0"/>
              </a:rPr>
              <a:t>XD04</a:t>
            </a:r>
            <a:endParaRPr lang="ko-KR" altLang="en-US" sz="3200" b="1" dirty="0">
              <a:solidFill>
                <a:schemeClr val="bg1">
                  <a:lumMod val="50000"/>
                </a:schemeClr>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3351C546-D4C1-4FC4-9AD8-956625090B6D}"/>
              </a:ext>
            </a:extLst>
          </p:cNvPr>
          <p:cNvSpPr txBox="1"/>
          <p:nvPr/>
        </p:nvSpPr>
        <p:spPr>
          <a:xfrm>
            <a:off x="2633691" y="2211029"/>
            <a:ext cx="3198953" cy="307777"/>
          </a:xfrm>
          <a:prstGeom prst="rect">
            <a:avLst/>
          </a:prstGeom>
          <a:noFill/>
        </p:spPr>
        <p:txBody>
          <a:bodyPr wrap="none" lIns="0" rtlCol="0">
            <a:spAutoFit/>
          </a:bodyPr>
          <a:lstStyle/>
          <a:p>
            <a:r>
              <a:rPr lang="en-US" altLang="ko-KR" sz="1400" b="1" dirty="0">
                <a:solidFill>
                  <a:schemeClr val="bg1">
                    <a:lumMod val="50000"/>
                  </a:schemeClr>
                </a:solidFill>
                <a:latin typeface="Arial" panose="020B0604020202020204" pitchFamily="34" charset="0"/>
                <a:cs typeface="Arial" panose="020B0604020202020204" pitchFamily="34" charset="0"/>
              </a:rPr>
              <a:t>The LED</a:t>
            </a:r>
            <a:r>
              <a:rPr lang="ko-KR" altLang="en-US" sz="1400" b="1" dirty="0">
                <a:solidFill>
                  <a:schemeClr val="bg1">
                    <a:lumMod val="50000"/>
                  </a:schemeClr>
                </a:solidFill>
                <a:latin typeface="Arial" panose="020B0604020202020204" pitchFamily="34" charset="0"/>
                <a:cs typeface="Arial" panose="020B0604020202020204" pitchFamily="34" charset="0"/>
              </a:rPr>
              <a:t> </a:t>
            </a:r>
            <a:r>
              <a:rPr lang="en-US" altLang="ko-KR" sz="1400" b="1" dirty="0">
                <a:solidFill>
                  <a:schemeClr val="bg1">
                    <a:lumMod val="50000"/>
                  </a:schemeClr>
                </a:solidFill>
                <a:latin typeface="Arial" panose="020B0604020202020204" pitchFamily="34" charset="0"/>
                <a:cs typeface="Arial" panose="020B0604020202020204" pitchFamily="34" charset="0"/>
              </a:rPr>
              <a:t>High-Current Sink Driver IC</a:t>
            </a:r>
            <a:endParaRPr lang="ko-KR" altLang="en-US" sz="1400" b="1" dirty="0">
              <a:solidFill>
                <a:schemeClr val="bg1">
                  <a:lumMod val="50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105BB2A0-CA1A-4992-AAF9-F7F876D0920C}"/>
              </a:ext>
            </a:extLst>
          </p:cNvPr>
          <p:cNvSpPr txBox="1"/>
          <p:nvPr/>
        </p:nvSpPr>
        <p:spPr>
          <a:xfrm>
            <a:off x="393456" y="3909214"/>
            <a:ext cx="1800000"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General Description</a:t>
            </a:r>
            <a:endParaRPr lang="ko-KR" altLang="en-US" sz="1400" b="1" dirty="0">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6675BEFE-2745-40D7-8726-3D0F5317B01B}"/>
              </a:ext>
            </a:extLst>
          </p:cNvPr>
          <p:cNvSpPr txBox="1"/>
          <p:nvPr/>
        </p:nvSpPr>
        <p:spPr>
          <a:xfrm>
            <a:off x="2622336" y="3911154"/>
            <a:ext cx="3842208" cy="1692771"/>
          </a:xfrm>
          <a:prstGeom prst="rect">
            <a:avLst/>
          </a:prstGeom>
          <a:noFill/>
        </p:spPr>
        <p:txBody>
          <a:bodyPr wrap="square" lIns="0" tIns="0" rIns="0" bIns="0" rtlCol="0">
            <a:spAutoFit/>
          </a:bodyPr>
          <a:lstStyle/>
          <a:p>
            <a:pPr algn="just"/>
            <a:r>
              <a:rPr lang="en-US" altLang="ko-KR" sz="1000" dirty="0">
                <a:effectLst/>
                <a:latin typeface="Arial" panose="020B0604020202020204" pitchFamily="34" charset="0"/>
                <a:ea typeface="Arial" panose="020B0604020202020204" pitchFamily="34" charset="0"/>
                <a:cs typeface="Arial" panose="020B0604020202020204" pitchFamily="34" charset="0"/>
              </a:rPr>
              <a:t>The XD04 is a </a:t>
            </a:r>
            <a:r>
              <a:rPr lang="en-US" altLang="ko-KR" sz="1000" dirty="0">
                <a:latin typeface="Arial" panose="020B0604020202020204" pitchFamily="34" charset="0"/>
                <a:ea typeface="Arial" panose="020B0604020202020204" pitchFamily="34" charset="0"/>
                <a:cs typeface="Arial" panose="020B0604020202020204" pitchFamily="34" charset="0"/>
              </a:rPr>
              <a:t>4</a:t>
            </a:r>
            <a:r>
              <a:rPr lang="en-US" altLang="ko-KR" sz="1000" dirty="0">
                <a:effectLst/>
                <a:latin typeface="Arial" panose="020B0604020202020204" pitchFamily="34" charset="0"/>
                <a:ea typeface="Arial" panose="020B0604020202020204" pitchFamily="34" charset="0"/>
                <a:cs typeface="Arial" panose="020B0604020202020204" pitchFamily="34" charset="0"/>
              </a:rPr>
              <a:t>-channel constant </a:t>
            </a:r>
            <a:r>
              <a:rPr lang="en-US" altLang="ko-KR" sz="1000" dirty="0">
                <a:latin typeface="Arial" panose="020B0604020202020204" pitchFamily="34" charset="0"/>
                <a:ea typeface="Arial" panose="020B0604020202020204" pitchFamily="34" charset="0"/>
                <a:cs typeface="Arial" panose="020B0604020202020204" pitchFamily="34" charset="0"/>
              </a:rPr>
              <a:t>high-current sink driver for mini-LED Backlight display applications in AM direct driving methodology. It supports max 128mA and 80V at each channel output pin rating. This device can support max 14-bit PWM dimming resolution and a 12-bit DAC global brightness resolution.</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The self-protections features, LED open/short detection and thermal shutdown, are embedded. In addition, a Feedback indication signal  for adjusting a VLED power is included.</a:t>
            </a:r>
          </a:p>
          <a:p>
            <a:pPr algn="just"/>
            <a:r>
              <a:rPr lang="en-US" altLang="ko-KR" sz="1000" dirty="0">
                <a:latin typeface="Arial" panose="020B0604020202020204" pitchFamily="34" charset="0"/>
                <a:ea typeface="Arial" panose="020B0604020202020204" pitchFamily="34" charset="0"/>
                <a:cs typeface="Arial" panose="020B0604020202020204" pitchFamily="34" charset="0"/>
              </a:rPr>
              <a:t>It is used with a XC24 controller as a companion chip. A lot of the  XD04 can be daisied to a XC24 channels and controlled through a serial interface by a XC24 controller.</a:t>
            </a:r>
          </a:p>
        </p:txBody>
      </p:sp>
      <p:sp>
        <p:nvSpPr>
          <p:cNvPr id="33" name="TextBox 32">
            <a:extLst>
              <a:ext uri="{FF2B5EF4-FFF2-40B4-BE49-F238E27FC236}">
                <a16:creationId xmlns:a16="http://schemas.microsoft.com/office/drawing/2014/main" id="{014AD39C-3B16-4EC8-B3D3-D8F1117370B5}"/>
              </a:ext>
            </a:extLst>
          </p:cNvPr>
          <p:cNvSpPr txBox="1"/>
          <p:nvPr/>
        </p:nvSpPr>
        <p:spPr>
          <a:xfrm>
            <a:off x="2622335" y="2580779"/>
            <a:ext cx="884216" cy="261610"/>
          </a:xfrm>
          <a:prstGeom prst="rect">
            <a:avLst/>
          </a:prstGeom>
          <a:noFill/>
        </p:spPr>
        <p:txBody>
          <a:bodyPr wrap="none" lIns="0" rtlCol="0">
            <a:spAutoFit/>
          </a:bodyPr>
          <a:lstStyle/>
          <a:p>
            <a:r>
              <a:rPr lang="en-US" altLang="ko-KR" sz="1100" b="1" dirty="0">
                <a:solidFill>
                  <a:schemeClr val="bg1">
                    <a:lumMod val="50000"/>
                  </a:schemeClr>
                </a:solidFill>
                <a:latin typeface="Arial" panose="020B0604020202020204" pitchFamily="34" charset="0"/>
                <a:cs typeface="Arial" panose="020B0604020202020204" pitchFamily="34" charset="0"/>
              </a:rPr>
              <a:t>4 Channels </a:t>
            </a:r>
            <a:endParaRPr lang="ko-KR" altLang="en-US" sz="1100" b="1" dirty="0">
              <a:solidFill>
                <a:schemeClr val="bg1">
                  <a:lumMod val="50000"/>
                </a:schemeClr>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0C9D8F7A-0457-48C9-9A23-F46C4BDD3432}"/>
              </a:ext>
            </a:extLst>
          </p:cNvPr>
          <p:cNvSpPr txBox="1"/>
          <p:nvPr/>
        </p:nvSpPr>
        <p:spPr>
          <a:xfrm>
            <a:off x="393456" y="7484417"/>
            <a:ext cx="6061666" cy="215444"/>
          </a:xfrm>
          <a:prstGeom prst="rect">
            <a:avLst/>
          </a:prstGeom>
          <a:noFill/>
        </p:spPr>
        <p:txBody>
          <a:bodyPr wrap="square" lIns="0" tIns="0" rIns="0" bIns="0" rtlCol="0">
            <a:spAutoFit/>
          </a:bodyPr>
          <a:lstStyle/>
          <a:p>
            <a:r>
              <a:rPr lang="en-US" altLang="ko-KR" sz="1400" b="1" dirty="0">
                <a:latin typeface="Arial" panose="020B0604020202020204" pitchFamily="34" charset="0"/>
                <a:cs typeface="Arial" panose="020B0604020202020204" pitchFamily="34" charset="0"/>
              </a:rPr>
              <a:t>Application</a:t>
            </a:r>
            <a:endParaRPr lang="ko-KR" altLang="en-US" sz="1400" b="1"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8D67C485-ABE7-4B33-85EE-599EA97A8C6B}"/>
              </a:ext>
            </a:extLst>
          </p:cNvPr>
          <p:cNvSpPr txBox="1"/>
          <p:nvPr/>
        </p:nvSpPr>
        <p:spPr>
          <a:xfrm>
            <a:off x="2633691" y="7541083"/>
            <a:ext cx="3946113" cy="153888"/>
          </a:xfrm>
          <a:prstGeom prst="rect">
            <a:avLst/>
          </a:prstGeom>
          <a:noFill/>
        </p:spPr>
        <p:txBody>
          <a:bodyPr wrap="square" lIns="0" tIns="0" rIns="0" bIns="0" rtlCol="0">
            <a:spAutoFit/>
          </a:bodyPr>
          <a:lstStyle/>
          <a:p>
            <a:r>
              <a:rPr lang="en-US" altLang="ko-KR" sz="1000" dirty="0">
                <a:latin typeface="Arial" panose="020B0604020202020204" pitchFamily="34" charset="0"/>
                <a:cs typeface="Arial" panose="020B0604020202020204" pitchFamily="34" charset="0"/>
              </a:rPr>
              <a:t>LED back-lighting with local dimming</a:t>
            </a:r>
          </a:p>
        </p:txBody>
      </p:sp>
      <p:grpSp>
        <p:nvGrpSpPr>
          <p:cNvPr id="2" name="그룹 1">
            <a:extLst>
              <a:ext uri="{FF2B5EF4-FFF2-40B4-BE49-F238E27FC236}">
                <a16:creationId xmlns:a16="http://schemas.microsoft.com/office/drawing/2014/main" id="{6C3AE02B-FA85-D5E1-9E9A-4D744280F1E1}"/>
              </a:ext>
            </a:extLst>
          </p:cNvPr>
          <p:cNvGrpSpPr/>
          <p:nvPr/>
        </p:nvGrpSpPr>
        <p:grpSpPr>
          <a:xfrm>
            <a:off x="4366818" y="433977"/>
            <a:ext cx="2088304" cy="752967"/>
            <a:chOff x="4136310" y="299116"/>
            <a:chExt cx="2597866" cy="873507"/>
          </a:xfrm>
        </p:grpSpPr>
        <p:pic>
          <p:nvPicPr>
            <p:cNvPr id="3" name="그림 2">
              <a:extLst>
                <a:ext uri="{FF2B5EF4-FFF2-40B4-BE49-F238E27FC236}">
                  <a16:creationId xmlns:a16="http://schemas.microsoft.com/office/drawing/2014/main" id="{5E6E8B54-D78E-A385-9A5E-612DFC0BD92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6310" y="299116"/>
              <a:ext cx="639895" cy="873507"/>
            </a:xfrm>
            <a:prstGeom prst="rect">
              <a:avLst/>
            </a:prstGeom>
          </p:spPr>
        </p:pic>
        <p:sp>
          <p:nvSpPr>
            <p:cNvPr id="7" name="TextBox 6">
              <a:extLst>
                <a:ext uri="{FF2B5EF4-FFF2-40B4-BE49-F238E27FC236}">
                  <a16:creationId xmlns:a16="http://schemas.microsoft.com/office/drawing/2014/main" id="{CD680508-1D21-B8C2-4122-C25AF38E9DCA}"/>
                </a:ext>
              </a:extLst>
            </p:cNvPr>
            <p:cNvSpPr txBox="1"/>
            <p:nvPr/>
          </p:nvSpPr>
          <p:spPr>
            <a:xfrm>
              <a:off x="4604472" y="550651"/>
              <a:ext cx="2129704" cy="351840"/>
            </a:xfrm>
            <a:prstGeom prst="rect">
              <a:avLst/>
            </a:prstGeom>
            <a:noFill/>
          </p:spPr>
          <p:txBody>
            <a:bodyPr wrap="square" rtlCol="0">
              <a:spAutoFit/>
            </a:bodyPr>
            <a:lstStyle/>
            <a:p>
              <a:pPr defTabSz="841696" fontAlgn="auto" latinLnBrk="0">
                <a:spcBef>
                  <a:spcPts val="0"/>
                </a:spcBef>
                <a:spcAft>
                  <a:spcPts val="0"/>
                </a:spcAft>
                <a:defRPr/>
              </a:pPr>
              <a:r>
                <a:rPr kumimoji="0" lang="en-US" altLang="ko-KR" sz="1371" kern="0" dirty="0">
                  <a:solidFill>
                    <a:prstClr val="black"/>
                  </a:solidFill>
                  <a:latin typeface="Calibri"/>
                  <a:ea typeface="맑은 고딕" panose="020B0503020000020004" pitchFamily="50" charset="-127"/>
                </a:rPr>
                <a:t>Global Technologies</a:t>
              </a:r>
              <a:endParaRPr kumimoji="0" lang="ko-KR" altLang="en-US" sz="1371" kern="0" dirty="0">
                <a:solidFill>
                  <a:prstClr val="black"/>
                </a:solidFill>
                <a:latin typeface="Calibri"/>
                <a:ea typeface="맑은 고딕" panose="020B0503020000020004" pitchFamily="50" charset="-127"/>
              </a:endParaRPr>
            </a:p>
          </p:txBody>
        </p:sp>
      </p:grpSp>
    </p:spTree>
    <p:extLst>
      <p:ext uri="{BB962C8B-B14F-4D97-AF65-F5344CB8AC3E}">
        <p14:creationId xmlns:p14="http://schemas.microsoft.com/office/powerpoint/2010/main" val="3640578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F3D50322-94E0-446F-9F13-DCD22B08D5D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Features</a:t>
            </a:r>
            <a:endParaRPr lang="ko-KR" altLang="en-US" sz="12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9EE0DD9E-9FC9-075A-1D58-E68C916D7964}"/>
              </a:ext>
            </a:extLst>
          </p:cNvPr>
          <p:cNvSpPr txBox="1"/>
          <p:nvPr/>
        </p:nvSpPr>
        <p:spPr>
          <a:xfrm>
            <a:off x="404813" y="1341458"/>
            <a:ext cx="6048621" cy="4821256"/>
          </a:xfrm>
          <a:prstGeom prst="rect">
            <a:avLst/>
          </a:prstGeom>
          <a:noFill/>
        </p:spPr>
        <p:txBody>
          <a:bodyPr wrap="square" lIns="0">
            <a:spAutoFit/>
          </a:bodyPr>
          <a:lstStyle/>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Bi-directional 1-wire </a:t>
            </a:r>
            <a:r>
              <a:rPr lang="en-US" altLang="ko-KR" sz="1000" dirty="0">
                <a:latin typeface="Arial" panose="020B0604020202020204" pitchFamily="34" charset="0"/>
                <a:ea typeface="Arial" panose="020B0604020202020204" pitchFamily="34" charset="0"/>
                <a:cs typeface="굴림" panose="020B0600000101010101" pitchFamily="50" charset="-127"/>
              </a:rPr>
              <a:t>interface </a:t>
            </a:r>
            <a:r>
              <a:rPr lang="en-US" altLang="ko-KR" sz="1000" dirty="0">
                <a:effectLst/>
                <a:latin typeface="Arial" panose="020B0604020202020204" pitchFamily="34" charset="0"/>
                <a:ea typeface="Arial" panose="020B0604020202020204" pitchFamily="34" charset="0"/>
                <a:cs typeface="굴림" panose="020B0600000101010101" pitchFamily="50" charset="-127"/>
              </a:rPr>
              <a:t>and configurable transmit rate</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Daisied connection between devices </a:t>
            </a:r>
            <a:r>
              <a:rPr lang="en-US" altLang="ko-KR" sz="1000" dirty="0">
                <a:latin typeface="Arial" panose="020B0604020202020204" pitchFamily="34" charset="0"/>
                <a:ea typeface="Arial" panose="020B0604020202020204" pitchFamily="34" charset="0"/>
                <a:cs typeface="굴림" panose="020B0600000101010101" pitchFamily="50" charset="-127"/>
              </a:rPr>
              <a:t>and p</a:t>
            </a:r>
            <a:r>
              <a:rPr lang="en-US" altLang="ko-KR" sz="1000" dirty="0">
                <a:effectLst/>
                <a:latin typeface="Arial" panose="020B0604020202020204" pitchFamily="34" charset="0"/>
                <a:ea typeface="Arial" panose="020B0604020202020204" pitchFamily="34" charset="0"/>
                <a:cs typeface="굴림" panose="020B0600000101010101" pitchFamily="50" charset="-127"/>
              </a:rPr>
              <a:t>in layout suitable for single layer PCB</a:t>
            </a:r>
          </a:p>
          <a:p>
            <a:pPr marL="108000" marR="137795" lvl="0" indent="108000">
              <a:lnSpc>
                <a:spcPct val="150000"/>
              </a:lnSpc>
              <a:spcBef>
                <a:spcPts val="385"/>
              </a:spcBef>
              <a:spcAft>
                <a:spcPts val="0"/>
              </a:spcAft>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4 indepe</a:t>
            </a:r>
            <a:r>
              <a:rPr lang="en-US" altLang="ko-KR" sz="1000" dirty="0">
                <a:latin typeface="Arial" panose="020B0604020202020204" pitchFamily="34" charset="0"/>
                <a:ea typeface="Arial" panose="020B0604020202020204" pitchFamily="34" charset="0"/>
                <a:cs typeface="굴림" panose="020B0600000101010101" pitchFamily="50" charset="-127"/>
              </a:rPr>
              <a:t>ndent channels in a package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Maximum</a:t>
            </a:r>
            <a:r>
              <a:rPr lang="en-US" altLang="ko-KR" sz="1000" spc="-20" dirty="0">
                <a:effectLst/>
                <a:latin typeface="Arial" panose="020B0604020202020204" pitchFamily="34" charset="0"/>
                <a:ea typeface="Arial" panose="020B0604020202020204" pitchFamily="34" charset="0"/>
                <a:cs typeface="굴림" panose="020B0600000101010101" pitchFamily="50" charset="-127"/>
              </a:rPr>
              <a:t> 80</a:t>
            </a:r>
            <a:r>
              <a:rPr lang="en-US" altLang="ko-KR" sz="1000" dirty="0">
                <a:effectLst/>
                <a:latin typeface="Arial" panose="020B0604020202020204" pitchFamily="34" charset="0"/>
                <a:ea typeface="Arial" panose="020B0604020202020204" pitchFamily="34" charset="0"/>
                <a:cs typeface="굴림" panose="020B0600000101010101" pitchFamily="50" charset="-127"/>
              </a:rPr>
              <a:t>V</a:t>
            </a:r>
            <a:r>
              <a:rPr lang="en-US" altLang="ko-KR" sz="1000" spc="-5" dirty="0">
                <a:effectLst/>
                <a:latin typeface="Arial" panose="020B0604020202020204" pitchFamily="34" charset="0"/>
                <a:ea typeface="Arial" panose="020B0604020202020204" pitchFamily="34" charset="0"/>
                <a:cs typeface="굴림" panose="020B0600000101010101" pitchFamily="50" charset="-127"/>
              </a:rPr>
              <a:t> headroom</a:t>
            </a:r>
            <a:r>
              <a:rPr lang="en-US" altLang="ko-KR" sz="1000" spc="-10" dirty="0">
                <a:effectLst/>
                <a:latin typeface="Arial" panose="020B0604020202020204" pitchFamily="34" charset="0"/>
                <a:ea typeface="Arial" panose="020B0604020202020204" pitchFamily="34" charset="0"/>
                <a:cs typeface="굴림" panose="020B0600000101010101" pitchFamily="50" charset="-127"/>
              </a:rPr>
              <a:t> </a:t>
            </a:r>
            <a:r>
              <a:rPr lang="en-US" altLang="ko-KR" sz="1000" dirty="0">
                <a:effectLst/>
                <a:latin typeface="Arial" panose="020B0604020202020204" pitchFamily="34" charset="0"/>
                <a:ea typeface="Arial" panose="020B0604020202020204" pitchFamily="34" charset="0"/>
                <a:cs typeface="굴림" panose="020B0600000101010101" pitchFamily="50" charset="-127"/>
              </a:rPr>
              <a:t>voltage</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max current level (8/16/24/32/48/64/92/128mA)</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10"/>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12-bit DAC global </a:t>
            </a:r>
            <a:r>
              <a:rPr lang="en-US" altLang="ko-KR" sz="1000" dirty="0">
                <a:latin typeface="Arial" panose="020B0604020202020204" pitchFamily="34" charset="0"/>
                <a:ea typeface="Arial" panose="020B0604020202020204" pitchFamily="34" charset="0"/>
                <a:cs typeface="굴림" panose="020B0600000101010101" pitchFamily="50" charset="-127"/>
              </a:rPr>
              <a:t>brightness </a:t>
            </a:r>
            <a:r>
              <a:rPr lang="en-US" altLang="ko-KR" sz="1000" dirty="0">
                <a:effectLst/>
                <a:latin typeface="Arial" panose="020B0604020202020204" pitchFamily="34" charset="0"/>
                <a:ea typeface="Arial" panose="020B0604020202020204" pitchFamily="34" charset="0"/>
                <a:cs typeface="굴림" panose="020B0600000101010101" pitchFamily="50" charset="-127"/>
              </a:rPr>
              <a:t>control</a:t>
            </a:r>
            <a:endParaRPr lang="ko-KR"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14-bit PWM dimming</a:t>
            </a:r>
          </a:p>
          <a:p>
            <a:pPr marL="108000" lvl="0" indent="108000">
              <a:lnSpc>
                <a:spcPct val="150000"/>
              </a:lnSpc>
              <a:spcBef>
                <a:spcPts val="32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effectLst/>
                <a:latin typeface="Arial" panose="020B0604020202020204" pitchFamily="34" charset="0"/>
                <a:ea typeface="Arial" panose="020B0604020202020204" pitchFamily="34" charset="0"/>
                <a:cs typeface="굴림" panose="020B0600000101010101" pitchFamily="50" charset="-127"/>
              </a:rPr>
              <a:t>dimming directions, Head </a:t>
            </a:r>
            <a:r>
              <a:rPr lang="en-US" altLang="ko-KR" sz="1000" dirty="0">
                <a:latin typeface="Arial" panose="020B0604020202020204" pitchFamily="34" charset="0"/>
                <a:ea typeface="Arial" panose="020B0604020202020204" pitchFamily="34" charset="0"/>
                <a:cs typeface="굴림" panose="020B0600000101010101" pitchFamily="50" charset="-127"/>
              </a:rPr>
              <a:t>shift lighting and Tail shift lighting</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Sync controllability between daisied </a:t>
            </a:r>
            <a:r>
              <a:rPr lang="en-US" altLang="ko-KR" sz="1000" dirty="0">
                <a:latin typeface="Arial" panose="020B0604020202020204" pitchFamily="34" charset="0"/>
                <a:ea typeface="Arial" panose="020B0604020202020204" pitchFamily="34" charset="0"/>
                <a:cs typeface="굴림" panose="020B0600000101010101" pitchFamily="50" charset="-127"/>
              </a:rPr>
              <a:t>devices</a:t>
            </a:r>
            <a:endParaRPr lang="en-US" altLang="ko-KR" sz="1000" dirty="0">
              <a:latin typeface="Arial" panose="020B0604020202020204" pitchFamily="34" charset="0"/>
              <a:ea typeface="Microsoft GothicNeo" panose="020B0500000101010101" pitchFamily="50" charset="-127"/>
              <a:cs typeface="Arial" panose="020B0604020202020204" pitchFamily="34" charset="0"/>
            </a:endParaRPr>
          </a:p>
          <a:p>
            <a:pPr marL="108000" indent="108000">
              <a:lnSpc>
                <a:spcPct val="150000"/>
              </a:lnSpc>
              <a:spcBef>
                <a:spcPts val="32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Sink current </a:t>
            </a:r>
            <a:r>
              <a:rPr lang="en-US" altLang="ko-KR" sz="1000" dirty="0">
                <a:effectLst/>
                <a:latin typeface="Arial" panose="020B0604020202020204" pitchFamily="34" charset="0"/>
                <a:ea typeface="Arial" panose="020B0604020202020204" pitchFamily="34" charset="0"/>
                <a:cs typeface="Arial" panose="020B0604020202020204" pitchFamily="34" charset="0"/>
              </a:rPr>
              <a:t>accuracy </a:t>
            </a:r>
            <a:r>
              <a:rPr lang="en-US" altLang="ko-KR" sz="1000" dirty="0">
                <a:effectLst/>
                <a:latin typeface="Arial" panose="020B0604020202020204" pitchFamily="34" charset="0"/>
                <a:ea typeface="Microsoft GothicNeo" panose="020B0500000101010101" pitchFamily="50" charset="-127"/>
                <a:cs typeface="Arial" panose="020B0604020202020204" pitchFamily="34" charset="0"/>
              </a:rPr>
              <a:t>±1% (@ configured max current * 1)</a:t>
            </a:r>
            <a:endParaRPr lang="ko-KR" altLang="ko-KR" sz="1000" dirty="0">
              <a:effectLst/>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LED</a:t>
            </a:r>
            <a:r>
              <a:rPr lang="ko-KR" altLang="en-US" sz="1000" dirty="0">
                <a:latin typeface="Arial" panose="020B0604020202020204" pitchFamily="34" charset="0"/>
                <a:ea typeface="Arial" panose="020B0604020202020204" pitchFamily="34" charset="0"/>
                <a:cs typeface="굴림" panose="020B0600000101010101" pitchFamily="50" charset="-127"/>
              </a:rPr>
              <a:t> </a:t>
            </a:r>
            <a:r>
              <a:rPr lang="en-US" altLang="ko-KR" sz="1000" dirty="0">
                <a:latin typeface="Arial" panose="020B0604020202020204" pitchFamily="34" charset="0"/>
                <a:ea typeface="Arial" panose="020B0604020202020204" pitchFamily="34" charset="0"/>
                <a:cs typeface="굴림" panose="020B0600000101010101" pitchFamily="50" charset="-127"/>
              </a:rPr>
              <a:t>SHORT and OPEN detection</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Configurable FEEDBACK level</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Configurable </a:t>
            </a:r>
            <a:r>
              <a:rPr lang="en-US" altLang="ko-KR" sz="1000" dirty="0">
                <a:latin typeface="Arial" panose="020B0604020202020204" pitchFamily="34" charset="0"/>
                <a:ea typeface="Arial" panose="020B0604020202020204" pitchFamily="34" charset="0"/>
                <a:cs typeface="굴림" panose="020B0600000101010101" pitchFamily="50" charset="-127"/>
              </a:rPr>
              <a:t>Over-Temperature shutdown</a:t>
            </a:r>
            <a:r>
              <a:rPr lang="en-US" altLang="ko-KR" sz="1000" dirty="0">
                <a:effectLst/>
                <a:latin typeface="Arial" panose="020B0604020202020204" pitchFamily="34" charset="0"/>
                <a:ea typeface="Arial" panose="020B0604020202020204" pitchFamily="34" charset="0"/>
                <a:cs typeface="Arial" panose="020B0604020202020204" pitchFamily="34" charset="0"/>
              </a:rPr>
              <a:t> @ Typical 135</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(T</a:t>
            </a:r>
            <a:r>
              <a:rPr lang="en-US" altLang="ko-KR" sz="1000" baseline="-25000" dirty="0">
                <a:effectLst/>
                <a:latin typeface="Arial" panose="020B0604020202020204" pitchFamily="34" charset="0"/>
                <a:ea typeface="Yu Mincho Light" panose="02020300000000000000" pitchFamily="18" charset="-128"/>
                <a:cs typeface="Arial" panose="020B0604020202020204" pitchFamily="34" charset="0"/>
              </a:rPr>
              <a:t>J</a:t>
            </a:r>
            <a:r>
              <a:rPr lang="en-US" altLang="ko-KR" sz="1000" dirty="0">
                <a:effectLst/>
                <a:latin typeface="Arial" panose="020B0604020202020204" pitchFamily="34" charset="0"/>
                <a:ea typeface="Yu Mincho Light" panose="02020300000000000000" pitchFamily="18" charset="-128"/>
                <a:cs typeface="Arial" panose="020B0604020202020204" pitchFamily="34" charset="0"/>
              </a:rPr>
              <a:t> = 150℃)</a:t>
            </a: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Yu Mincho Light" panose="02020300000000000000" pitchFamily="18" charset="-128"/>
                <a:cs typeface="Arial" panose="020B0604020202020204" pitchFamily="34" charset="0"/>
              </a:rPr>
              <a:t>Configurable Over/Under-Voltage detection of internal LDO</a:t>
            </a:r>
            <a:endParaRPr lang="en-US" altLang="ko-KR" sz="1000" dirty="0">
              <a:latin typeface="Arial" panose="020B0604020202020204" pitchFamily="34" charset="0"/>
              <a:ea typeface="Arial" panose="020B0604020202020204" pitchFamily="34" charset="0"/>
              <a:cs typeface="Arial" panose="020B0604020202020204" pitchFamily="34" charset="0"/>
            </a:endParaRPr>
          </a:p>
          <a:p>
            <a:pPr marL="108000" indent="108000">
              <a:lnSpc>
                <a:spcPct val="150000"/>
              </a:lnSpc>
              <a:spcBef>
                <a:spcPts val="315"/>
              </a:spcBef>
              <a:buFont typeface="굴림" panose="020B0600000101010101" pitchFamily="50" charset="-127"/>
              <a:buChar char="•"/>
              <a:tabLst>
                <a:tab pos="460375" algn="l"/>
              </a:tabLst>
            </a:pPr>
            <a:r>
              <a:rPr lang="en-US" altLang="ko-KR" sz="1000" dirty="0">
                <a:latin typeface="Arial" panose="020B0604020202020204" pitchFamily="34" charset="0"/>
                <a:ea typeface="Arial" panose="020B0604020202020204" pitchFamily="34" charset="0"/>
                <a:cs typeface="굴림" panose="020B0600000101010101" pitchFamily="50" charset="-127"/>
              </a:rPr>
              <a:t>Supply voltage 4.5 ~ 5.5V</a:t>
            </a:r>
          </a:p>
          <a:p>
            <a:pPr marL="108000" indent="108000">
              <a:lnSpc>
                <a:spcPct val="150000"/>
              </a:lnSpc>
              <a:spcBef>
                <a:spcPts val="315"/>
              </a:spcBef>
              <a:buFont typeface="굴림" panose="020B0600000101010101" pitchFamily="50" charset="-127"/>
              <a:buChar char="•"/>
              <a:tabLst>
                <a:tab pos="460375" algn="l"/>
              </a:tabLst>
            </a:pPr>
            <a:r>
              <a:rPr lang="en-US" altLang="ko-KR" sz="1000" dirty="0">
                <a:effectLst/>
                <a:latin typeface="Arial" panose="020B0604020202020204" pitchFamily="34" charset="0"/>
                <a:ea typeface="Arial" panose="020B0604020202020204" pitchFamily="34" charset="0"/>
                <a:cs typeface="굴림" panose="020B0600000101010101" pitchFamily="50" charset="-127"/>
              </a:rPr>
              <a:t>24-PIN </a:t>
            </a:r>
            <a:r>
              <a:rPr lang="en-US" altLang="ko-KR" sz="1000" dirty="0">
                <a:latin typeface="Arial" panose="020B0604020202020204" pitchFamily="34" charset="0"/>
                <a:ea typeface="Arial" panose="020B0604020202020204" pitchFamily="34" charset="0"/>
                <a:cs typeface="굴림" panose="020B0600000101010101" pitchFamily="50" charset="-127"/>
              </a:rPr>
              <a:t>QFN 3030 package</a:t>
            </a:r>
            <a:endParaRPr lang="en-US" altLang="ko-KR" sz="1000" dirty="0">
              <a:effectLst/>
              <a:latin typeface="Arial" panose="020B0604020202020204" pitchFamily="34" charset="0"/>
              <a:ea typeface="Arial" panose="020B0604020202020204" pitchFamily="34" charset="0"/>
              <a:cs typeface="굴림" panose="020B0600000101010101" pitchFamily="50" charset="-127"/>
            </a:endParaRP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Latch-up Immunity, </a:t>
            </a:r>
            <a:r>
              <a:rPr lang="en-US" altLang="ko-KR" sz="1000" dirty="0">
                <a:effectLst/>
                <a:latin typeface="Arial" panose="020B0604020202020204" pitchFamily="34" charset="0"/>
                <a:ea typeface="Arial" panose="020B0604020202020204" pitchFamily="34" charset="0"/>
              </a:rPr>
              <a:t>I</a:t>
            </a:r>
            <a:r>
              <a:rPr lang="en-US" altLang="ko-KR" sz="1000" baseline="-25000" dirty="0">
                <a:effectLst/>
                <a:latin typeface="Arial" panose="020B0604020202020204" pitchFamily="34" charset="0"/>
                <a:ea typeface="Arial" panose="020B0604020202020204" pitchFamily="34" charset="0"/>
              </a:rPr>
              <a:t>LATCH</a:t>
            </a:r>
            <a:r>
              <a:rPr lang="en-US" altLang="ko-KR" sz="1000" dirty="0">
                <a:latin typeface="Arial" panose="020B0604020202020204" pitchFamily="34" charset="0"/>
                <a:cs typeface="Arial" panose="020B0604020202020204" pitchFamily="34" charset="0"/>
              </a:rPr>
              <a:t>  (JEDEC JESD78D Nov 2011) : ±100mA</a:t>
            </a:r>
          </a:p>
          <a:p>
            <a:pPr marL="108000" indent="108000">
              <a:lnSpc>
                <a:spcPct val="150000"/>
              </a:lnSpc>
              <a:buFont typeface="Arial" panose="020B0604020202020204" pitchFamily="34" charset="0"/>
              <a:buChar char="•"/>
            </a:pPr>
            <a:r>
              <a:rPr lang="en-US" altLang="ko-KR" sz="1000" dirty="0">
                <a:latin typeface="Arial" panose="020B0604020202020204" pitchFamily="34" charset="0"/>
                <a:cs typeface="Arial" panose="020B0604020202020204" pitchFamily="34" charset="0"/>
              </a:rPr>
              <a:t>ESD protection, ESD</a:t>
            </a:r>
            <a:r>
              <a:rPr lang="en-US" altLang="ko-KR" sz="1000" baseline="-25000" dirty="0">
                <a:latin typeface="Arial" panose="020B0604020202020204" pitchFamily="34" charset="0"/>
                <a:cs typeface="Arial" panose="020B0604020202020204" pitchFamily="34" charset="0"/>
              </a:rPr>
              <a:t>HBM</a:t>
            </a:r>
            <a:r>
              <a:rPr lang="en-US" altLang="ko-KR" sz="1000" dirty="0">
                <a:latin typeface="Arial" panose="020B0604020202020204" pitchFamily="34" charset="0"/>
                <a:cs typeface="Arial" panose="020B0604020202020204" pitchFamily="34" charset="0"/>
              </a:rPr>
              <a:t>  (Norm: MIL 883 E Method 3015 Human Body Model) : ±2KV</a:t>
            </a:r>
          </a:p>
        </p:txBody>
      </p:sp>
    </p:spTree>
    <p:extLst>
      <p:ext uri="{BB962C8B-B14F-4D97-AF65-F5344CB8AC3E}">
        <p14:creationId xmlns:p14="http://schemas.microsoft.com/office/powerpoint/2010/main" val="3921949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258D35A-631D-4626-90DE-C1C5A9445CDD}"/>
              </a:ext>
            </a:extLst>
          </p:cNvPr>
          <p:cNvSpPr txBox="1"/>
          <p:nvPr/>
        </p:nvSpPr>
        <p:spPr>
          <a:xfrm>
            <a:off x="404811" y="5598967"/>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Application Circuit</a:t>
            </a:r>
            <a:endParaRPr lang="ko-KR" altLang="en-US" sz="1200" dirty="0">
              <a:latin typeface="Arial" panose="020B0604020202020204" pitchFamily="34" charset="0"/>
              <a:cs typeface="Arial" panose="020B0604020202020204" pitchFamily="34" charset="0"/>
            </a:endParaRPr>
          </a:p>
        </p:txBody>
      </p:sp>
      <p:sp>
        <p:nvSpPr>
          <p:cNvPr id="31" name="TextBox 30">
            <a:extLst>
              <a:ext uri="{FF2B5EF4-FFF2-40B4-BE49-F238E27FC236}">
                <a16:creationId xmlns:a16="http://schemas.microsoft.com/office/drawing/2014/main" id="{AC3E16D9-A788-49BA-8106-BEE884D02ED2}"/>
              </a:ext>
            </a:extLst>
          </p:cNvPr>
          <p:cNvSpPr txBox="1"/>
          <p:nvPr/>
        </p:nvSpPr>
        <p:spPr>
          <a:xfrm>
            <a:off x="404812"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Block Diagram</a:t>
            </a:r>
            <a:endParaRPr lang="ko-KR" altLang="en-US" sz="12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7E78E9E8-011B-8E52-4EEB-9EF4FE4AC79C}"/>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7" name="object 84">
            <a:extLst>
              <a:ext uri="{FF2B5EF4-FFF2-40B4-BE49-F238E27FC236}">
                <a16:creationId xmlns:a16="http://schemas.microsoft.com/office/drawing/2014/main" id="{92C24942-18BA-F0B3-A66D-927A605E8108}"/>
              </a:ext>
            </a:extLst>
          </p:cNvPr>
          <p:cNvSpPr txBox="1"/>
          <p:nvPr/>
        </p:nvSpPr>
        <p:spPr>
          <a:xfrm>
            <a:off x="2844118" y="4928105"/>
            <a:ext cx="1471350"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  Block Diagram</a:t>
            </a:r>
          </a:p>
        </p:txBody>
      </p:sp>
      <p:sp>
        <p:nvSpPr>
          <p:cNvPr id="8" name="object 84">
            <a:extLst>
              <a:ext uri="{FF2B5EF4-FFF2-40B4-BE49-F238E27FC236}">
                <a16:creationId xmlns:a16="http://schemas.microsoft.com/office/drawing/2014/main" id="{7FEE2E92-D26D-E884-C2F8-559976A729A1}"/>
              </a:ext>
            </a:extLst>
          </p:cNvPr>
          <p:cNvSpPr txBox="1"/>
          <p:nvPr/>
        </p:nvSpPr>
        <p:spPr>
          <a:xfrm>
            <a:off x="2679849" y="8344416"/>
            <a:ext cx="1697344"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2.  Application scheme</a:t>
            </a:r>
          </a:p>
        </p:txBody>
      </p:sp>
      <p:pic>
        <p:nvPicPr>
          <p:cNvPr id="12" name="그림 11">
            <a:extLst>
              <a:ext uri="{FF2B5EF4-FFF2-40B4-BE49-F238E27FC236}">
                <a16:creationId xmlns:a16="http://schemas.microsoft.com/office/drawing/2014/main" id="{4C830753-CC92-55B1-EF45-4C5FBD0AA9D2}"/>
              </a:ext>
            </a:extLst>
          </p:cNvPr>
          <p:cNvPicPr>
            <a:picLocks noChangeAspect="1"/>
          </p:cNvPicPr>
          <p:nvPr/>
        </p:nvPicPr>
        <p:blipFill>
          <a:blip r:embed="rId2"/>
          <a:stretch>
            <a:fillRect/>
          </a:stretch>
        </p:blipFill>
        <p:spPr>
          <a:xfrm>
            <a:off x="413544" y="6026594"/>
            <a:ext cx="6039889" cy="2214313"/>
          </a:xfrm>
          <a:prstGeom prst="rect">
            <a:avLst/>
          </a:prstGeom>
        </p:spPr>
      </p:pic>
      <p:pic>
        <p:nvPicPr>
          <p:cNvPr id="5" name="그림 4">
            <a:extLst>
              <a:ext uri="{FF2B5EF4-FFF2-40B4-BE49-F238E27FC236}">
                <a16:creationId xmlns:a16="http://schemas.microsoft.com/office/drawing/2014/main" id="{FF656968-2EED-1744-DF39-23B7CBCF8C88}"/>
              </a:ext>
            </a:extLst>
          </p:cNvPr>
          <p:cNvPicPr>
            <a:picLocks noChangeAspect="1"/>
          </p:cNvPicPr>
          <p:nvPr/>
        </p:nvPicPr>
        <p:blipFill>
          <a:blip r:embed="rId3"/>
          <a:stretch>
            <a:fillRect/>
          </a:stretch>
        </p:blipFill>
        <p:spPr>
          <a:xfrm>
            <a:off x="1539000" y="1209828"/>
            <a:ext cx="3780000" cy="3557808"/>
          </a:xfrm>
          <a:prstGeom prst="rect">
            <a:avLst/>
          </a:prstGeom>
        </p:spPr>
      </p:pic>
    </p:spTree>
    <p:extLst>
      <p:ext uri="{BB962C8B-B14F-4D97-AF65-F5344CB8AC3E}">
        <p14:creationId xmlns:p14="http://schemas.microsoft.com/office/powerpoint/2010/main" val="951432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AC3E16D9-A788-49BA-8106-BEE884D02ED2}"/>
              </a:ext>
            </a:extLst>
          </p:cNvPr>
          <p:cNvSpPr txBox="1"/>
          <p:nvPr/>
        </p:nvSpPr>
        <p:spPr>
          <a:xfrm>
            <a:off x="420038" y="902696"/>
            <a:ext cx="2055434" cy="307777"/>
          </a:xfrm>
          <a:prstGeom prst="rect">
            <a:avLst/>
          </a:prstGeom>
          <a:noFill/>
        </p:spPr>
        <p:txBody>
          <a:bodyPr wrap="none" lIns="0" rtlCol="0">
            <a:spAutoFit/>
          </a:bodyPr>
          <a:lstStyle/>
          <a:p>
            <a:r>
              <a:rPr lang="en-US" altLang="ko-KR" sz="1400" b="1" dirty="0">
                <a:latin typeface="Arial" panose="020B0604020202020204" pitchFamily="34" charset="0"/>
                <a:cs typeface="Arial" panose="020B0604020202020204" pitchFamily="34" charset="0"/>
              </a:rPr>
              <a:t>Pin diagram (Top View)</a:t>
            </a:r>
          </a:p>
        </p:txBody>
      </p:sp>
      <p:sp>
        <p:nvSpPr>
          <p:cNvPr id="3" name="TextBox 2">
            <a:extLst>
              <a:ext uri="{FF2B5EF4-FFF2-40B4-BE49-F238E27FC236}">
                <a16:creationId xmlns:a16="http://schemas.microsoft.com/office/drawing/2014/main" id="{0673D932-0DC3-C4F2-313D-40C20553AED9}"/>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D7C30DE3-4D22-589E-192E-7C27E3DC89B9}"/>
              </a:ext>
            </a:extLst>
          </p:cNvPr>
          <p:cNvSpPr txBox="1"/>
          <p:nvPr/>
        </p:nvSpPr>
        <p:spPr>
          <a:xfrm>
            <a:off x="410818" y="4365627"/>
            <a:ext cx="6042618"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2" name="object 84">
            <a:extLst>
              <a:ext uri="{FF2B5EF4-FFF2-40B4-BE49-F238E27FC236}">
                <a16:creationId xmlns:a16="http://schemas.microsoft.com/office/drawing/2014/main" id="{1C14F43E-8172-A20E-E067-0C053869EA35}"/>
              </a:ext>
            </a:extLst>
          </p:cNvPr>
          <p:cNvSpPr txBox="1"/>
          <p:nvPr/>
        </p:nvSpPr>
        <p:spPr>
          <a:xfrm>
            <a:off x="2809619" y="3929622"/>
            <a:ext cx="1241975" cy="153567"/>
          </a:xfrm>
          <a:prstGeom prst="rect">
            <a:avLst/>
          </a:prstGeom>
        </p:spPr>
        <p:txBody>
          <a:bodyPr vert="horz" wrap="square" lIns="0" tIns="14922" rIns="0" bIns="0" rtlCol="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a:t>
            </a:r>
            <a:r>
              <a:rPr lang="en-US" sz="900" b="1" spc="15" dirty="0">
                <a:solidFill>
                  <a:prstClr val="black"/>
                </a:solidFill>
                <a:latin typeface="Arial" panose="020B0604020202020204" pitchFamily="34" charset="0"/>
                <a:cs typeface="Arial" panose="020B0604020202020204" pitchFamily="34" charset="0"/>
              </a:rPr>
              <a:t>ure</a:t>
            </a:r>
            <a:r>
              <a:rPr kumimoji="0" lang="en-US" sz="900" b="1" spc="15" dirty="0">
                <a:solidFill>
                  <a:prstClr val="black"/>
                </a:solidFill>
                <a:latin typeface="Arial" panose="020B0604020202020204" pitchFamily="34" charset="0"/>
                <a:ea typeface="+mn-ea"/>
                <a:cs typeface="Arial" panose="020B0604020202020204" pitchFamily="34" charset="0"/>
              </a:rPr>
              <a:t>. 3 Pin diagram </a:t>
            </a:r>
          </a:p>
        </p:txBody>
      </p:sp>
      <p:graphicFrame>
        <p:nvGraphicFramePr>
          <p:cNvPr id="70" name="표 69">
            <a:extLst>
              <a:ext uri="{FF2B5EF4-FFF2-40B4-BE49-F238E27FC236}">
                <a16:creationId xmlns:a16="http://schemas.microsoft.com/office/drawing/2014/main" id="{D3FD2C7A-6CF4-E776-8B23-FDF6BBB1DD60}"/>
              </a:ext>
            </a:extLst>
          </p:cNvPr>
          <p:cNvGraphicFramePr>
            <a:graphicFrameLocks noGrp="1"/>
          </p:cNvGraphicFramePr>
          <p:nvPr>
            <p:extLst>
              <p:ext uri="{D42A27DB-BD31-4B8C-83A1-F6EECF244321}">
                <p14:modId xmlns:p14="http://schemas.microsoft.com/office/powerpoint/2010/main" val="498912682"/>
              </p:ext>
            </p:extLst>
          </p:nvPr>
        </p:nvGraphicFramePr>
        <p:xfrm>
          <a:off x="404813" y="4718232"/>
          <a:ext cx="6042618" cy="4137567"/>
        </p:xfrm>
        <a:graphic>
          <a:graphicData uri="http://schemas.openxmlformats.org/drawingml/2006/table">
            <a:tbl>
              <a:tblPr>
                <a:tableStyleId>{5C22544A-7EE6-4342-B048-85BDC9FD1C3A}</a:tableStyleId>
              </a:tblPr>
              <a:tblGrid>
                <a:gridCol w="899201">
                  <a:extLst>
                    <a:ext uri="{9D8B030D-6E8A-4147-A177-3AD203B41FA5}">
                      <a16:colId xmlns:a16="http://schemas.microsoft.com/office/drawing/2014/main" val="1199541810"/>
                    </a:ext>
                  </a:extLst>
                </a:gridCol>
                <a:gridCol w="479950">
                  <a:extLst>
                    <a:ext uri="{9D8B030D-6E8A-4147-A177-3AD203B41FA5}">
                      <a16:colId xmlns:a16="http://schemas.microsoft.com/office/drawing/2014/main" val="2771136683"/>
                    </a:ext>
                  </a:extLst>
                </a:gridCol>
                <a:gridCol w="514124">
                  <a:extLst>
                    <a:ext uri="{9D8B030D-6E8A-4147-A177-3AD203B41FA5}">
                      <a16:colId xmlns:a16="http://schemas.microsoft.com/office/drawing/2014/main" val="112759525"/>
                    </a:ext>
                  </a:extLst>
                </a:gridCol>
                <a:gridCol w="911223">
                  <a:extLst>
                    <a:ext uri="{9D8B030D-6E8A-4147-A177-3AD203B41FA5}">
                      <a16:colId xmlns:a16="http://schemas.microsoft.com/office/drawing/2014/main" val="3900317923"/>
                    </a:ext>
                  </a:extLst>
                </a:gridCol>
                <a:gridCol w="1767880">
                  <a:extLst>
                    <a:ext uri="{9D8B030D-6E8A-4147-A177-3AD203B41FA5}">
                      <a16:colId xmlns:a16="http://schemas.microsoft.com/office/drawing/2014/main" val="3382103366"/>
                    </a:ext>
                  </a:extLst>
                </a:gridCol>
                <a:gridCol w="1470240">
                  <a:extLst>
                    <a:ext uri="{9D8B030D-6E8A-4147-A177-3AD203B41FA5}">
                      <a16:colId xmlns:a16="http://schemas.microsoft.com/office/drawing/2014/main" val="915546717"/>
                    </a:ext>
                  </a:extLst>
                </a:gridCol>
              </a:tblGrid>
              <a:tr h="282535">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398132"/>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6008213"/>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94985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053758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FBO is Open-drain output</a:t>
                      </a:r>
                    </a:p>
                    <a:p>
                      <a:pPr algn="l"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431532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74392"/>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O2</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2</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9</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0580614"/>
                  </a:ext>
                </a:extLst>
              </a:tr>
              <a:tr h="263036">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10</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40559267"/>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7978524"/>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mn-ea"/>
                          <a:cs typeface="Arial" panose="020B0604020202020204" pitchFamily="34" charset="0"/>
                        </a:rPr>
                        <a:t>O4</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4</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7588335"/>
                  </a:ext>
                </a:extLst>
              </a:tr>
              <a:tr h="263036">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13</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298966"/>
                  </a:ext>
                </a:extLst>
              </a:tr>
              <a:tr h="263036">
                <a:tc>
                  <a:txBody>
                    <a:bodyPr/>
                    <a:lstStyle/>
                    <a:p>
                      <a:pPr algn="ctr" fontAlgn="ct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r>
                        <a:rPr lang="en-US" altLang="ko-KR" sz="900" b="0" i="0" u="none" strike="noStrike" baseline="30000" dirty="0">
                          <a:solidFill>
                            <a:schemeClr val="tx1"/>
                          </a:solidFill>
                          <a:effectLst/>
                          <a:latin typeface="Arial" panose="020B0604020202020204" pitchFamily="34" charset="0"/>
                          <a:ea typeface="+mn-ea"/>
                          <a:cs typeface="Arial" panose="020B0604020202020204" pitchFamily="34" charset="0"/>
                        </a:rPr>
                        <a:t>1)</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14</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ts val="800"/>
                        </a:lnSpc>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 </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p>
                    <a:p>
                      <a:pPr algn="ctr" fontAlgn="ctr">
                        <a:lnSpc>
                          <a:spcPts val="800"/>
                        </a:lnSpc>
                      </a:pPr>
                      <a:r>
                        <a:rPr lang="en-US" altLang="ko-KR" sz="800" b="0" i="0" u="none" strike="noStrike" baseline="0" dirty="0">
                          <a:solidFill>
                            <a:schemeClr val="tx1"/>
                          </a:solidFill>
                          <a:effectLst/>
                          <a:latin typeface="Arial" panose="020B0604020202020204" pitchFamily="34" charset="0"/>
                          <a:ea typeface="+mn-ea"/>
                          <a:cs typeface="Arial" panose="020B0604020202020204" pitchFamily="34" charset="0"/>
                        </a:rPr>
                        <a:t>(Configurable through IO_MODE)</a:t>
                      </a:r>
                      <a:endParaRPr lang="ko-KR" altLang="ko-KR" sz="8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If not used, connect to 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7811736"/>
                  </a:ext>
                </a:extLst>
              </a:tr>
            </a:tbl>
          </a:graphicData>
        </a:graphic>
      </p:graphicFrame>
      <p:grpSp>
        <p:nvGrpSpPr>
          <p:cNvPr id="4" name="그룹 3">
            <a:extLst>
              <a:ext uri="{FF2B5EF4-FFF2-40B4-BE49-F238E27FC236}">
                <a16:creationId xmlns:a16="http://schemas.microsoft.com/office/drawing/2014/main" id="{6286CFF1-2029-D974-2C1B-2B19E5DDD31A}"/>
              </a:ext>
            </a:extLst>
          </p:cNvPr>
          <p:cNvGrpSpPr/>
          <p:nvPr/>
        </p:nvGrpSpPr>
        <p:grpSpPr>
          <a:xfrm>
            <a:off x="2210934" y="1348942"/>
            <a:ext cx="2469811" cy="2433714"/>
            <a:chOff x="2210934" y="1389451"/>
            <a:chExt cx="2469811" cy="2433714"/>
          </a:xfrm>
        </p:grpSpPr>
        <p:sp>
          <p:nvSpPr>
            <p:cNvPr id="7" name="직사각형 6">
              <a:extLst>
                <a:ext uri="{FF2B5EF4-FFF2-40B4-BE49-F238E27FC236}">
                  <a16:creationId xmlns:a16="http://schemas.microsoft.com/office/drawing/2014/main" id="{24173BF2-DB0A-D35A-848F-7A76EF3BA56E}"/>
                </a:ext>
              </a:extLst>
            </p:cNvPr>
            <p:cNvSpPr/>
            <p:nvPr/>
          </p:nvSpPr>
          <p:spPr>
            <a:xfrm>
              <a:off x="2210934" y="1389451"/>
              <a:ext cx="2466976" cy="2433714"/>
            </a:xfrm>
            <a:prstGeom prst="rect">
              <a:avLst/>
            </a:prstGeom>
            <a:solidFill>
              <a:schemeClr val="accent1">
                <a:alpha val="3000"/>
              </a:schemeClr>
            </a:solidFill>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9" name="직사각형 8">
              <a:extLst>
                <a:ext uri="{FF2B5EF4-FFF2-40B4-BE49-F238E27FC236}">
                  <a16:creationId xmlns:a16="http://schemas.microsoft.com/office/drawing/2014/main" id="{563C623B-84A8-EB56-0FE6-DA43DE8619F2}"/>
                </a:ext>
              </a:extLst>
            </p:cNvPr>
            <p:cNvSpPr/>
            <p:nvPr/>
          </p:nvSpPr>
          <p:spPr>
            <a:xfrm>
              <a:off x="2917292"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 name="직사각형 9">
              <a:extLst>
                <a:ext uri="{FF2B5EF4-FFF2-40B4-BE49-F238E27FC236}">
                  <a16:creationId xmlns:a16="http://schemas.microsoft.com/office/drawing/2014/main" id="{C3CB9E01-2468-9B5B-E207-24CEA8A9BE36}"/>
                </a:ext>
              </a:extLst>
            </p:cNvPr>
            <p:cNvSpPr/>
            <p:nvPr/>
          </p:nvSpPr>
          <p:spPr>
            <a:xfrm>
              <a:off x="3207249"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2" name="직사각형 11">
              <a:extLst>
                <a:ext uri="{FF2B5EF4-FFF2-40B4-BE49-F238E27FC236}">
                  <a16:creationId xmlns:a16="http://schemas.microsoft.com/office/drawing/2014/main" id="{C4B2C635-46C6-0AB3-C81A-DAD968AEF9A8}"/>
                </a:ext>
              </a:extLst>
            </p:cNvPr>
            <p:cNvSpPr/>
            <p:nvPr/>
          </p:nvSpPr>
          <p:spPr>
            <a:xfrm>
              <a:off x="3497206"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3" name="직사각형 12">
              <a:extLst>
                <a:ext uri="{FF2B5EF4-FFF2-40B4-BE49-F238E27FC236}">
                  <a16:creationId xmlns:a16="http://schemas.microsoft.com/office/drawing/2014/main" id="{02D0F6F7-DEDD-1D0E-1D67-E86D9BEEFA7D}"/>
                </a:ext>
              </a:extLst>
            </p:cNvPr>
            <p:cNvSpPr/>
            <p:nvPr/>
          </p:nvSpPr>
          <p:spPr>
            <a:xfrm>
              <a:off x="3787163" y="1391875"/>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6" name="순서도: 카드 25">
              <a:extLst>
                <a:ext uri="{FF2B5EF4-FFF2-40B4-BE49-F238E27FC236}">
                  <a16:creationId xmlns:a16="http://schemas.microsoft.com/office/drawing/2014/main" id="{0B1E1816-D3C3-204B-CC09-0FB086DA8C39}"/>
                </a:ext>
              </a:extLst>
            </p:cNvPr>
            <p:cNvSpPr/>
            <p:nvPr/>
          </p:nvSpPr>
          <p:spPr>
            <a:xfrm rot="16200000">
              <a:off x="2818667" y="1979830"/>
              <a:ext cx="1247715" cy="1261883"/>
            </a:xfrm>
            <a:prstGeom prst="flowChartPunchedCar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36" name="TextBox 35">
              <a:extLst>
                <a:ext uri="{FF2B5EF4-FFF2-40B4-BE49-F238E27FC236}">
                  <a16:creationId xmlns:a16="http://schemas.microsoft.com/office/drawing/2014/main" id="{A24A8AE2-8F78-CB2E-3A44-346169505E21}"/>
                </a:ext>
              </a:extLst>
            </p:cNvPr>
            <p:cNvSpPr txBox="1"/>
            <p:nvPr/>
          </p:nvSpPr>
          <p:spPr>
            <a:xfrm>
              <a:off x="3210714" y="2458392"/>
              <a:ext cx="487634" cy="230832"/>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T-Pad</a:t>
              </a:r>
              <a:endParaRPr kumimoji="0" lang="ko-KR" altLang="en-US" sz="9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37" name="TextBox 36">
              <a:extLst>
                <a:ext uri="{FF2B5EF4-FFF2-40B4-BE49-F238E27FC236}">
                  <a16:creationId xmlns:a16="http://schemas.microsoft.com/office/drawing/2014/main" id="{39BC82EA-8E35-CF98-7053-D05908EAAD69}"/>
                </a:ext>
              </a:extLst>
            </p:cNvPr>
            <p:cNvSpPr txBox="1"/>
            <p:nvPr/>
          </p:nvSpPr>
          <p:spPr>
            <a:xfrm>
              <a:off x="2664884" y="3362737"/>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10AF2524-F7FD-CB5C-FE8B-A04BE9342D21}"/>
                </a:ext>
              </a:extLst>
            </p:cNvPr>
            <p:cNvSpPr txBox="1"/>
            <p:nvPr/>
          </p:nvSpPr>
          <p:spPr>
            <a:xfrm>
              <a:off x="2943038"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lang="en-US" altLang="ko-KR" sz="800" baseline="-25000" dirty="0">
                  <a:latin typeface="맑은 고딕" panose="020F0502020204030204"/>
                  <a:ea typeface="맑은 고딕" panose="020B0503020000020004" pitchFamily="50" charset="-127"/>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0" name="TextBox 39">
              <a:extLst>
                <a:ext uri="{FF2B5EF4-FFF2-40B4-BE49-F238E27FC236}">
                  <a16:creationId xmlns:a16="http://schemas.microsoft.com/office/drawing/2014/main" id="{7A1CE843-F36B-9717-62E9-84402BCCFB0B}"/>
                </a:ext>
              </a:extLst>
            </p:cNvPr>
            <p:cNvSpPr txBox="1"/>
            <p:nvPr/>
          </p:nvSpPr>
          <p:spPr>
            <a:xfrm>
              <a:off x="3520104"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3" name="TextBox 42">
              <a:extLst>
                <a:ext uri="{FF2B5EF4-FFF2-40B4-BE49-F238E27FC236}">
                  <a16:creationId xmlns:a16="http://schemas.microsoft.com/office/drawing/2014/main" id="{4A4DDE9A-57AB-4DDE-C2BE-D34F688F3893}"/>
                </a:ext>
              </a:extLst>
            </p:cNvPr>
            <p:cNvSpPr txBox="1"/>
            <p:nvPr/>
          </p:nvSpPr>
          <p:spPr>
            <a:xfrm>
              <a:off x="4205488" y="187414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4" name="TextBox 43">
              <a:extLst>
                <a:ext uri="{FF2B5EF4-FFF2-40B4-BE49-F238E27FC236}">
                  <a16:creationId xmlns:a16="http://schemas.microsoft.com/office/drawing/2014/main" id="{B3C99D92-9C24-D7D7-B1D5-FB41E9E5312A}"/>
                </a:ext>
              </a:extLst>
            </p:cNvPr>
            <p:cNvSpPr txBox="1"/>
            <p:nvPr/>
          </p:nvSpPr>
          <p:spPr>
            <a:xfrm>
              <a:off x="4205488" y="210813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O4</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86D5F50E-C94F-86B5-EC25-F03EAEFF55E8}"/>
                </a:ext>
              </a:extLst>
            </p:cNvPr>
            <p:cNvSpPr txBox="1"/>
            <p:nvPr/>
          </p:nvSpPr>
          <p:spPr>
            <a:xfrm>
              <a:off x="4198943" y="2397997"/>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47" name="TextBox 46">
              <a:extLst>
                <a:ext uri="{FF2B5EF4-FFF2-40B4-BE49-F238E27FC236}">
                  <a16:creationId xmlns:a16="http://schemas.microsoft.com/office/drawing/2014/main" id="{151CB822-26BE-52E9-0406-E73BE03F25CF}"/>
                </a:ext>
              </a:extLst>
            </p:cNvPr>
            <p:cNvSpPr txBox="1"/>
            <p:nvPr/>
          </p:nvSpPr>
          <p:spPr>
            <a:xfrm>
              <a:off x="4199879" y="2972637"/>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49" name="TextBox 48">
              <a:extLst>
                <a:ext uri="{FF2B5EF4-FFF2-40B4-BE49-F238E27FC236}">
                  <a16:creationId xmlns:a16="http://schemas.microsoft.com/office/drawing/2014/main" id="{F87BCAD9-707F-F179-8D0C-A87D40121816}"/>
                </a:ext>
              </a:extLst>
            </p:cNvPr>
            <p:cNvSpPr txBox="1"/>
            <p:nvPr/>
          </p:nvSpPr>
          <p:spPr>
            <a:xfrm>
              <a:off x="2553492" y="323829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A5F24A4D-AB44-CD38-BAC8-85EDE407CBD7}"/>
                </a:ext>
              </a:extLst>
            </p:cNvPr>
            <p:cNvSpPr txBox="1"/>
            <p:nvPr/>
          </p:nvSpPr>
          <p:spPr>
            <a:xfrm>
              <a:off x="2557218" y="2978616"/>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O1</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1" name="TextBox 50">
              <a:extLst>
                <a:ext uri="{FF2B5EF4-FFF2-40B4-BE49-F238E27FC236}">
                  <a16:creationId xmlns:a16="http://schemas.microsoft.com/office/drawing/2014/main" id="{EB0979BD-DCEF-81F3-2AB7-62EF691B115A}"/>
                </a:ext>
              </a:extLst>
            </p:cNvPr>
            <p:cNvSpPr txBox="1"/>
            <p:nvPr/>
          </p:nvSpPr>
          <p:spPr>
            <a:xfrm>
              <a:off x="2564329" y="2697184"/>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3" name="TextBox 52">
              <a:extLst>
                <a:ext uri="{FF2B5EF4-FFF2-40B4-BE49-F238E27FC236}">
                  <a16:creationId xmlns:a16="http://schemas.microsoft.com/office/drawing/2014/main" id="{9C3040C0-1670-A5EB-4994-B06DEFAB78E5}"/>
                </a:ext>
              </a:extLst>
            </p:cNvPr>
            <p:cNvSpPr txBox="1"/>
            <p:nvPr/>
          </p:nvSpPr>
          <p:spPr>
            <a:xfrm>
              <a:off x="2557278" y="213029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55" name="TextBox 54">
              <a:extLst>
                <a:ext uri="{FF2B5EF4-FFF2-40B4-BE49-F238E27FC236}">
                  <a16:creationId xmlns:a16="http://schemas.microsoft.com/office/drawing/2014/main" id="{6A65B3DA-F4DB-07BB-3A82-011DAC86F4C9}"/>
                </a:ext>
              </a:extLst>
            </p:cNvPr>
            <p:cNvSpPr txBox="1"/>
            <p:nvPr/>
          </p:nvSpPr>
          <p:spPr>
            <a:xfrm>
              <a:off x="2649903" y="170876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1E4E3B0F-C291-467B-DE3E-3D59790EA4B0}"/>
                </a:ext>
              </a:extLst>
            </p:cNvPr>
            <p:cNvSpPr txBox="1"/>
            <p:nvPr/>
          </p:nvSpPr>
          <p:spPr>
            <a:xfrm>
              <a:off x="2928057" y="1708765"/>
              <a:ext cx="165110"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DD</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58" name="TextBox 57">
              <a:extLst>
                <a:ext uri="{FF2B5EF4-FFF2-40B4-BE49-F238E27FC236}">
                  <a16:creationId xmlns:a16="http://schemas.microsoft.com/office/drawing/2014/main" id="{CF3B8ACC-597D-7C0B-536E-227776AD1BE0}"/>
                </a:ext>
              </a:extLst>
            </p:cNvPr>
            <p:cNvSpPr txBox="1"/>
            <p:nvPr/>
          </p:nvSpPr>
          <p:spPr>
            <a:xfrm>
              <a:off x="3532522" y="170876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0" name="TextBox 59">
              <a:extLst>
                <a:ext uri="{FF2B5EF4-FFF2-40B4-BE49-F238E27FC236}">
                  <a16:creationId xmlns:a16="http://schemas.microsoft.com/office/drawing/2014/main" id="{7C4DA1E0-5F44-93BF-A2D5-C5CA6DDF0963}"/>
                </a:ext>
              </a:extLst>
            </p:cNvPr>
            <p:cNvSpPr txBox="1"/>
            <p:nvPr/>
          </p:nvSpPr>
          <p:spPr>
            <a:xfrm>
              <a:off x="4070063" y="1706365"/>
              <a:ext cx="19556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D</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DIO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1" name="TextBox 60">
              <a:extLst>
                <a:ext uri="{FF2B5EF4-FFF2-40B4-BE49-F238E27FC236}">
                  <a16:creationId xmlns:a16="http://schemas.microsoft.com/office/drawing/2014/main" id="{435B3799-0525-1B0D-D170-6278CBECA007}"/>
                </a:ext>
              </a:extLst>
            </p:cNvPr>
            <p:cNvSpPr txBox="1"/>
            <p:nvPr/>
          </p:nvSpPr>
          <p:spPr>
            <a:xfrm>
              <a:off x="2564329" y="2408530"/>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2" name="TextBox 61">
              <a:extLst>
                <a:ext uri="{FF2B5EF4-FFF2-40B4-BE49-F238E27FC236}">
                  <a16:creationId xmlns:a16="http://schemas.microsoft.com/office/drawing/2014/main" id="{166CE33E-8BBF-73A6-4F3D-A6D9CB9EE58C}"/>
                </a:ext>
              </a:extLst>
            </p:cNvPr>
            <p:cNvSpPr txBox="1"/>
            <p:nvPr/>
          </p:nvSpPr>
          <p:spPr>
            <a:xfrm>
              <a:off x="2553492" y="1890428"/>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O3</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3" name="TextBox 62">
              <a:extLst>
                <a:ext uri="{FF2B5EF4-FFF2-40B4-BE49-F238E27FC236}">
                  <a16:creationId xmlns:a16="http://schemas.microsoft.com/office/drawing/2014/main" id="{BBC134A7-1B7E-4815-47D4-6DCF1EFC355A}"/>
                </a:ext>
              </a:extLst>
            </p:cNvPr>
            <p:cNvSpPr txBox="1"/>
            <p:nvPr/>
          </p:nvSpPr>
          <p:spPr>
            <a:xfrm>
              <a:off x="3225807" y="1708765"/>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4" name="TextBox 63">
              <a:extLst>
                <a:ext uri="{FF2B5EF4-FFF2-40B4-BE49-F238E27FC236}">
                  <a16:creationId xmlns:a16="http://schemas.microsoft.com/office/drawing/2014/main" id="{E2733144-5813-D739-1F05-13D65443BCC0}"/>
                </a:ext>
              </a:extLst>
            </p:cNvPr>
            <p:cNvSpPr txBox="1"/>
            <p:nvPr/>
          </p:nvSpPr>
          <p:spPr>
            <a:xfrm>
              <a:off x="4198943" y="2683699"/>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5" name="TextBox 64">
              <a:extLst>
                <a:ext uri="{FF2B5EF4-FFF2-40B4-BE49-F238E27FC236}">
                  <a16:creationId xmlns:a16="http://schemas.microsoft.com/office/drawing/2014/main" id="{55C998E3-D11E-8797-3CE8-B16FE10EB7BF}"/>
                </a:ext>
              </a:extLst>
            </p:cNvPr>
            <p:cNvSpPr txBox="1"/>
            <p:nvPr/>
          </p:nvSpPr>
          <p:spPr>
            <a:xfrm>
              <a:off x="4202645" y="3201439"/>
              <a:ext cx="136256"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O2</a:t>
              </a:r>
              <a:endParaRPr kumimoji="0" lang="ko-KR" altLang="en-US"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endParaRPr>
            </a:p>
          </p:txBody>
        </p:sp>
        <p:sp>
          <p:nvSpPr>
            <p:cNvPr id="66" name="TextBox 65">
              <a:extLst>
                <a:ext uri="{FF2B5EF4-FFF2-40B4-BE49-F238E27FC236}">
                  <a16:creationId xmlns:a16="http://schemas.microsoft.com/office/drawing/2014/main" id="{B380A982-D105-C845-82B1-53C4E8C5BCB6}"/>
                </a:ext>
              </a:extLst>
            </p:cNvPr>
            <p:cNvSpPr txBox="1"/>
            <p:nvPr/>
          </p:nvSpPr>
          <p:spPr>
            <a:xfrm>
              <a:off x="3227001" y="3370828"/>
              <a:ext cx="139462"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effectLst/>
                  <a:uLnTx/>
                  <a:uFillTx/>
                  <a:latin typeface="맑은 고딕" panose="020F0502020204030204"/>
                  <a:ea typeface="맑은 고딕" panose="020B0503020000020004" pitchFamily="50" charset="-127"/>
                  <a:cs typeface="+mn-cs"/>
                </a:rPr>
                <a:t>V</a:t>
              </a:r>
              <a:r>
                <a:rPr kumimoji="0" lang="en-US" altLang="ko-KR"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rPr>
                <a:t>SS</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sp>
          <p:nvSpPr>
            <p:cNvPr id="67" name="TextBox 66">
              <a:extLst>
                <a:ext uri="{FF2B5EF4-FFF2-40B4-BE49-F238E27FC236}">
                  <a16:creationId xmlns:a16="http://schemas.microsoft.com/office/drawing/2014/main" id="{0522AB43-01EC-D23A-2A86-58AA5FCF5CA9}"/>
                </a:ext>
              </a:extLst>
            </p:cNvPr>
            <p:cNvSpPr txBox="1"/>
            <p:nvPr/>
          </p:nvSpPr>
          <p:spPr>
            <a:xfrm>
              <a:off x="4075029" y="3373870"/>
              <a:ext cx="145874" cy="123111"/>
            </a:xfrm>
            <a:prstGeom prst="rect">
              <a:avLst/>
            </a:prstGeom>
            <a:noFill/>
          </p:spPr>
          <p:txBody>
            <a:bodyPr wrap="none" lIns="0" tIns="0" rIns="0" bIns="0"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800" dirty="0">
                  <a:latin typeface="맑은 고딕" panose="020F0502020204030204"/>
                  <a:ea typeface="맑은 고딕" panose="020B0503020000020004" pitchFamily="50" charset="-127"/>
                </a:rPr>
                <a:t>D</a:t>
              </a:r>
              <a:r>
                <a:rPr lang="en-US" altLang="ko-KR" sz="800" baseline="-25000" dirty="0">
                  <a:latin typeface="맑은 고딕" panose="020F0502020204030204"/>
                  <a:ea typeface="맑은 고딕" panose="020B0503020000020004" pitchFamily="50" charset="-127"/>
                </a:rPr>
                <a:t>IO</a:t>
              </a:r>
              <a:endParaRPr kumimoji="0" lang="ko-KR" altLang="en-US" sz="800" b="0" i="0" u="none" strike="noStrike" kern="1200" cap="none" spc="0" normalizeH="0" baseline="-25000" noProof="0" dirty="0">
                <a:ln>
                  <a:noFill/>
                </a:ln>
                <a:effectLst/>
                <a:uLnTx/>
                <a:uFillTx/>
                <a:latin typeface="맑은 고딕" panose="020F0502020204030204"/>
                <a:ea typeface="맑은 고딕" panose="020B0503020000020004" pitchFamily="50" charset="-127"/>
                <a:cs typeface="+mn-cs"/>
              </a:endParaRPr>
            </a:p>
          </p:txBody>
        </p:sp>
        <p:grpSp>
          <p:nvGrpSpPr>
            <p:cNvPr id="46" name="그룹 45">
              <a:extLst>
                <a:ext uri="{FF2B5EF4-FFF2-40B4-BE49-F238E27FC236}">
                  <a16:creationId xmlns:a16="http://schemas.microsoft.com/office/drawing/2014/main" id="{79A50F2E-F789-E75E-B8F7-8F9153FFEB7F}"/>
                </a:ext>
              </a:extLst>
            </p:cNvPr>
            <p:cNvGrpSpPr/>
            <p:nvPr/>
          </p:nvGrpSpPr>
          <p:grpSpPr>
            <a:xfrm>
              <a:off x="2608988" y="3515561"/>
              <a:ext cx="1665977" cy="307603"/>
              <a:chOff x="2608988" y="3515561"/>
              <a:chExt cx="1665977" cy="307603"/>
            </a:xfrm>
          </p:grpSpPr>
          <p:sp>
            <p:nvSpPr>
              <p:cNvPr id="22" name="직사각형 21">
                <a:extLst>
                  <a:ext uri="{FF2B5EF4-FFF2-40B4-BE49-F238E27FC236}">
                    <a16:creationId xmlns:a16="http://schemas.microsoft.com/office/drawing/2014/main" id="{D88B1C9D-0216-E57F-E04D-507FC56BB12F}"/>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3" name="직사각형 22">
                <a:extLst>
                  <a:ext uri="{FF2B5EF4-FFF2-40B4-BE49-F238E27FC236}">
                    <a16:creationId xmlns:a16="http://schemas.microsoft.com/office/drawing/2014/main" id="{AEA1CE35-DEDC-04C7-A288-515126DC337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4" name="직사각형 23">
                <a:extLst>
                  <a:ext uri="{FF2B5EF4-FFF2-40B4-BE49-F238E27FC236}">
                    <a16:creationId xmlns:a16="http://schemas.microsoft.com/office/drawing/2014/main" id="{69E3FFBA-C895-62D8-67EC-E6C9CDAE032D}"/>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25" name="직사각형 24">
                <a:extLst>
                  <a:ext uri="{FF2B5EF4-FFF2-40B4-BE49-F238E27FC236}">
                    <a16:creationId xmlns:a16="http://schemas.microsoft.com/office/drawing/2014/main" id="{B14EADB5-D141-AED1-F92E-C2AEF9322068}"/>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5</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42" name="그룹 41">
                <a:extLst>
                  <a:ext uri="{FF2B5EF4-FFF2-40B4-BE49-F238E27FC236}">
                    <a16:creationId xmlns:a16="http://schemas.microsoft.com/office/drawing/2014/main" id="{E981FD84-853F-8FAF-9432-B8F172BBBE90}"/>
                  </a:ext>
                </a:extLst>
              </p:cNvPr>
              <p:cNvGrpSpPr/>
              <p:nvPr/>
            </p:nvGrpSpPr>
            <p:grpSpPr>
              <a:xfrm>
                <a:off x="2608988" y="3515561"/>
                <a:ext cx="223838" cy="306640"/>
                <a:chOff x="2608988" y="3515561"/>
                <a:chExt cx="223838" cy="306640"/>
              </a:xfrm>
            </p:grpSpPr>
            <p:sp>
              <p:nvSpPr>
                <p:cNvPr id="34" name="사각형: 잘린 한쪽 모서리 33">
                  <a:extLst>
                    <a:ext uri="{FF2B5EF4-FFF2-40B4-BE49-F238E27FC236}">
                      <a16:creationId xmlns:a16="http://schemas.microsoft.com/office/drawing/2014/main" id="{383555C4-7AA1-5867-E610-C80919AAB672}"/>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 name="TextBox 4">
                  <a:extLst>
                    <a:ext uri="{FF2B5EF4-FFF2-40B4-BE49-F238E27FC236}">
                      <a16:creationId xmlns:a16="http://schemas.microsoft.com/office/drawing/2014/main" id="{E61C4C77-7142-236E-EC3F-50544A74E7BD}"/>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5AF46A53-B25C-ED6A-B336-16749CADBCA7}"/>
                  </a:ext>
                </a:extLst>
              </p:cNvPr>
              <p:cNvGrpSpPr/>
              <p:nvPr/>
            </p:nvGrpSpPr>
            <p:grpSpPr>
              <a:xfrm>
                <a:off x="4051127" y="3515563"/>
                <a:ext cx="223838" cy="307601"/>
                <a:chOff x="4051127" y="3515563"/>
                <a:chExt cx="223838" cy="307601"/>
              </a:xfrm>
            </p:grpSpPr>
            <p:sp>
              <p:nvSpPr>
                <p:cNvPr id="35" name="사각형: 잘린 한쪽 모서리 34">
                  <a:extLst>
                    <a:ext uri="{FF2B5EF4-FFF2-40B4-BE49-F238E27FC236}">
                      <a16:creationId xmlns:a16="http://schemas.microsoft.com/office/drawing/2014/main" id="{07551753-B5F6-8150-6DD6-D22B826742FF}"/>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1" name="TextBox 10">
                  <a:extLst>
                    <a:ext uri="{FF2B5EF4-FFF2-40B4-BE49-F238E27FC236}">
                      <a16:creationId xmlns:a16="http://schemas.microsoft.com/office/drawing/2014/main" id="{067C15DD-EAA5-0D7B-A49F-CCAC036A1854}"/>
                    </a:ext>
                  </a:extLst>
                </p:cNvPr>
                <p:cNvSpPr txBox="1"/>
                <p:nvPr/>
              </p:nvSpPr>
              <p:spPr>
                <a:xfrm>
                  <a:off x="4051127"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6</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48" name="그룹 47">
              <a:extLst>
                <a:ext uri="{FF2B5EF4-FFF2-40B4-BE49-F238E27FC236}">
                  <a16:creationId xmlns:a16="http://schemas.microsoft.com/office/drawing/2014/main" id="{92DDCB73-ED46-B6BE-794A-021B7D02DAE2}"/>
                </a:ext>
              </a:extLst>
            </p:cNvPr>
            <p:cNvGrpSpPr/>
            <p:nvPr/>
          </p:nvGrpSpPr>
          <p:grpSpPr>
            <a:xfrm rot="16200000">
              <a:off x="3693955" y="2448285"/>
              <a:ext cx="1665977" cy="307603"/>
              <a:chOff x="2608988" y="3515561"/>
              <a:chExt cx="1665977" cy="307603"/>
            </a:xfrm>
          </p:grpSpPr>
          <p:sp>
            <p:nvSpPr>
              <p:cNvPr id="52" name="직사각형 51">
                <a:extLst>
                  <a:ext uri="{FF2B5EF4-FFF2-40B4-BE49-F238E27FC236}">
                    <a16:creationId xmlns:a16="http://schemas.microsoft.com/office/drawing/2014/main" id="{316F3CAE-987E-7D5D-25A5-3A137E5C0B78}"/>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4" name="직사각형 53">
                <a:extLst>
                  <a:ext uri="{FF2B5EF4-FFF2-40B4-BE49-F238E27FC236}">
                    <a16:creationId xmlns:a16="http://schemas.microsoft.com/office/drawing/2014/main" id="{573B954B-6551-E8E0-4A87-22EFDDFEE684}"/>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57" name="직사각형 56">
                <a:extLst>
                  <a:ext uri="{FF2B5EF4-FFF2-40B4-BE49-F238E27FC236}">
                    <a16:creationId xmlns:a16="http://schemas.microsoft.com/office/drawing/2014/main" id="{33B1F904-4E22-4C6F-5F0D-BD93A27C698E}"/>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69" name="직사각형 68">
                <a:extLst>
                  <a:ext uri="{FF2B5EF4-FFF2-40B4-BE49-F238E27FC236}">
                    <a16:creationId xmlns:a16="http://schemas.microsoft.com/office/drawing/2014/main" id="{278A6836-AFEE-1878-497C-7CD12A0C77D4}"/>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71" name="그룹 70">
                <a:extLst>
                  <a:ext uri="{FF2B5EF4-FFF2-40B4-BE49-F238E27FC236}">
                    <a16:creationId xmlns:a16="http://schemas.microsoft.com/office/drawing/2014/main" id="{B66ED791-9102-C9AF-2184-0BE2C61F6221}"/>
                  </a:ext>
                </a:extLst>
              </p:cNvPr>
              <p:cNvGrpSpPr/>
              <p:nvPr/>
            </p:nvGrpSpPr>
            <p:grpSpPr>
              <a:xfrm>
                <a:off x="2608988" y="3515561"/>
                <a:ext cx="223838" cy="306640"/>
                <a:chOff x="2608988" y="3515561"/>
                <a:chExt cx="223838" cy="306640"/>
              </a:xfrm>
            </p:grpSpPr>
            <p:sp>
              <p:nvSpPr>
                <p:cNvPr id="75" name="사각형: 잘린 한쪽 모서리 74">
                  <a:extLst>
                    <a:ext uri="{FF2B5EF4-FFF2-40B4-BE49-F238E27FC236}">
                      <a16:creationId xmlns:a16="http://schemas.microsoft.com/office/drawing/2014/main" id="{26AD36EA-E370-A603-3E22-0648DC61369C}"/>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6" name="TextBox 75">
                  <a:extLst>
                    <a:ext uri="{FF2B5EF4-FFF2-40B4-BE49-F238E27FC236}">
                      <a16:creationId xmlns:a16="http://schemas.microsoft.com/office/drawing/2014/main" id="{17BD8FA0-DC73-837F-6ACD-244D0E7E4DCE}"/>
                    </a:ext>
                  </a:extLst>
                </p:cNvPr>
                <p:cNvSpPr txBox="1"/>
                <p:nvPr/>
              </p:nvSpPr>
              <p:spPr>
                <a:xfrm>
                  <a:off x="2608988" y="3554436"/>
                  <a:ext cx="223838" cy="230832"/>
                </a:xfrm>
                <a:prstGeom prst="rect">
                  <a:avLst/>
                </a:prstGeom>
                <a:noFill/>
              </p:spPr>
              <p:txBody>
                <a:bodyPr wrap="square">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7</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72" name="그룹 71">
                <a:extLst>
                  <a:ext uri="{FF2B5EF4-FFF2-40B4-BE49-F238E27FC236}">
                    <a16:creationId xmlns:a16="http://schemas.microsoft.com/office/drawing/2014/main" id="{FE7625B6-A7E5-7B44-0D13-15D397CBA683}"/>
                  </a:ext>
                </a:extLst>
              </p:cNvPr>
              <p:cNvGrpSpPr/>
              <p:nvPr/>
            </p:nvGrpSpPr>
            <p:grpSpPr>
              <a:xfrm>
                <a:off x="4051127" y="3515563"/>
                <a:ext cx="223838" cy="307601"/>
                <a:chOff x="4051127" y="3515563"/>
                <a:chExt cx="223838" cy="307601"/>
              </a:xfrm>
            </p:grpSpPr>
            <p:sp>
              <p:nvSpPr>
                <p:cNvPr id="73" name="사각형: 잘린 한쪽 모서리 72">
                  <a:extLst>
                    <a:ext uri="{FF2B5EF4-FFF2-40B4-BE49-F238E27FC236}">
                      <a16:creationId xmlns:a16="http://schemas.microsoft.com/office/drawing/2014/main" id="{8C60D6FE-52D9-5358-6B5C-BEB243DD1092}"/>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4" name="TextBox 73">
                  <a:extLst>
                    <a:ext uri="{FF2B5EF4-FFF2-40B4-BE49-F238E27FC236}">
                      <a16:creationId xmlns:a16="http://schemas.microsoft.com/office/drawing/2014/main" id="{DA8C2BA8-8AE0-D11E-C413-55B77C5AC90E}"/>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77" name="그룹 76">
              <a:extLst>
                <a:ext uri="{FF2B5EF4-FFF2-40B4-BE49-F238E27FC236}">
                  <a16:creationId xmlns:a16="http://schemas.microsoft.com/office/drawing/2014/main" id="{14948385-3755-B2B9-42C1-29939784167D}"/>
                </a:ext>
              </a:extLst>
            </p:cNvPr>
            <p:cNvGrpSpPr/>
            <p:nvPr/>
          </p:nvGrpSpPr>
          <p:grpSpPr>
            <a:xfrm rot="5400000">
              <a:off x="1535989" y="2463903"/>
              <a:ext cx="1665977" cy="307603"/>
              <a:chOff x="2608988" y="3515561"/>
              <a:chExt cx="1665977" cy="307603"/>
            </a:xfrm>
          </p:grpSpPr>
          <p:sp>
            <p:nvSpPr>
              <p:cNvPr id="78" name="직사각형 77">
                <a:extLst>
                  <a:ext uri="{FF2B5EF4-FFF2-40B4-BE49-F238E27FC236}">
                    <a16:creationId xmlns:a16="http://schemas.microsoft.com/office/drawing/2014/main" id="{0BFA90CF-561A-BBDC-91FC-5B14CF85B62C}"/>
                  </a:ext>
                </a:extLst>
              </p:cNvPr>
              <p:cNvSpPr/>
              <p:nvPr/>
            </p:nvSpPr>
            <p:spPr>
              <a:xfrm>
                <a:off x="2917292"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20</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79" name="직사각형 78">
                <a:extLst>
                  <a:ext uri="{FF2B5EF4-FFF2-40B4-BE49-F238E27FC236}">
                    <a16:creationId xmlns:a16="http://schemas.microsoft.com/office/drawing/2014/main" id="{5AA833C6-BC81-F87B-7C23-B6417D533A6A}"/>
                  </a:ext>
                </a:extLst>
              </p:cNvPr>
              <p:cNvSpPr/>
              <p:nvPr/>
            </p:nvSpPr>
            <p:spPr>
              <a:xfrm>
                <a:off x="3207249"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21</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0" name="직사각형 79">
                <a:extLst>
                  <a:ext uri="{FF2B5EF4-FFF2-40B4-BE49-F238E27FC236}">
                    <a16:creationId xmlns:a16="http://schemas.microsoft.com/office/drawing/2014/main" id="{FA53EDFA-8F55-B82E-C6B6-C2631318F463}"/>
                  </a:ext>
                </a:extLst>
              </p:cNvPr>
              <p:cNvSpPr/>
              <p:nvPr/>
            </p:nvSpPr>
            <p:spPr>
              <a:xfrm>
                <a:off x="3497206"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22</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1" name="직사각형 80">
                <a:extLst>
                  <a:ext uri="{FF2B5EF4-FFF2-40B4-BE49-F238E27FC236}">
                    <a16:creationId xmlns:a16="http://schemas.microsoft.com/office/drawing/2014/main" id="{100985ED-1770-3E61-99BF-2BA3ACC1B8E6}"/>
                  </a:ext>
                </a:extLst>
              </p:cNvPr>
              <p:cNvSpPr/>
              <p:nvPr/>
            </p:nvSpPr>
            <p:spPr>
              <a:xfrm>
                <a:off x="3787163" y="3515563"/>
                <a:ext cx="187143" cy="3066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vert="horz" lIns="0" r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nvGrpSpPr>
              <p:cNvPr id="82" name="그룹 81">
                <a:extLst>
                  <a:ext uri="{FF2B5EF4-FFF2-40B4-BE49-F238E27FC236}">
                    <a16:creationId xmlns:a16="http://schemas.microsoft.com/office/drawing/2014/main" id="{BB9FBB60-AE4A-1BA1-0E80-69335F01D8A1}"/>
                  </a:ext>
                </a:extLst>
              </p:cNvPr>
              <p:cNvGrpSpPr/>
              <p:nvPr/>
            </p:nvGrpSpPr>
            <p:grpSpPr>
              <a:xfrm>
                <a:off x="2608988" y="3515561"/>
                <a:ext cx="223838" cy="306640"/>
                <a:chOff x="2608988" y="3515561"/>
                <a:chExt cx="223838" cy="306640"/>
              </a:xfrm>
            </p:grpSpPr>
            <p:sp>
              <p:nvSpPr>
                <p:cNvPr id="87" name="사각형: 잘린 한쪽 모서리 86">
                  <a:extLst>
                    <a:ext uri="{FF2B5EF4-FFF2-40B4-BE49-F238E27FC236}">
                      <a16:creationId xmlns:a16="http://schemas.microsoft.com/office/drawing/2014/main" id="{1C5993AF-DB1B-36A8-F20B-FCD8EF4EDA25}"/>
                    </a:ext>
                  </a:extLst>
                </p:cNvPr>
                <p:cNvSpPr/>
                <p:nvPr/>
              </p:nvSpPr>
              <p:spPr>
                <a:xfrm rot="16200000">
                  <a:off x="2568033" y="3574736"/>
                  <a:ext cx="306640"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8" name="TextBox 87">
                  <a:extLst>
                    <a:ext uri="{FF2B5EF4-FFF2-40B4-BE49-F238E27FC236}">
                      <a16:creationId xmlns:a16="http://schemas.microsoft.com/office/drawing/2014/main" id="{EBE31161-ACCA-48E3-4DF0-9F2F7A85A2DA}"/>
                    </a:ext>
                  </a:extLst>
                </p:cNvPr>
                <p:cNvSpPr txBox="1"/>
                <p:nvPr/>
              </p:nvSpPr>
              <p:spPr>
                <a:xfrm>
                  <a:off x="2608988" y="3554436"/>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19</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83" name="그룹 82">
                <a:extLst>
                  <a:ext uri="{FF2B5EF4-FFF2-40B4-BE49-F238E27FC236}">
                    <a16:creationId xmlns:a16="http://schemas.microsoft.com/office/drawing/2014/main" id="{3583525B-5B87-2106-F083-0EE6A01C2549}"/>
                  </a:ext>
                </a:extLst>
              </p:cNvPr>
              <p:cNvGrpSpPr/>
              <p:nvPr/>
            </p:nvGrpSpPr>
            <p:grpSpPr>
              <a:xfrm>
                <a:off x="4051127" y="3515563"/>
                <a:ext cx="223838" cy="307601"/>
                <a:chOff x="4051127" y="3515563"/>
                <a:chExt cx="223838" cy="307601"/>
              </a:xfrm>
            </p:grpSpPr>
            <p:sp>
              <p:nvSpPr>
                <p:cNvPr id="85" name="사각형: 잘린 한쪽 모서리 84">
                  <a:extLst>
                    <a:ext uri="{FF2B5EF4-FFF2-40B4-BE49-F238E27FC236}">
                      <a16:creationId xmlns:a16="http://schemas.microsoft.com/office/drawing/2014/main" id="{70E09A4B-C3D5-EB0B-680D-7A7D912DE831}"/>
                    </a:ext>
                  </a:extLst>
                </p:cNvPr>
                <p:cNvSpPr/>
                <p:nvPr/>
              </p:nvSpPr>
              <p:spPr>
                <a:xfrm rot="5400000" flipH="1">
                  <a:off x="4013809" y="3575219"/>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86" name="TextBox 85">
                  <a:extLst>
                    <a:ext uri="{FF2B5EF4-FFF2-40B4-BE49-F238E27FC236}">
                      <a16:creationId xmlns:a16="http://schemas.microsoft.com/office/drawing/2014/main" id="{DC8C237E-1254-A86C-048F-00948F3E6D67}"/>
                    </a:ext>
                  </a:extLst>
                </p:cNvPr>
                <p:cNvSpPr txBox="1"/>
                <p:nvPr/>
              </p:nvSpPr>
              <p:spPr>
                <a:xfrm>
                  <a:off x="4051127" y="3554437"/>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24</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grpSp>
          <p:nvGrpSpPr>
            <p:cNvPr id="102" name="그룹 101">
              <a:extLst>
                <a:ext uri="{FF2B5EF4-FFF2-40B4-BE49-F238E27FC236}">
                  <a16:creationId xmlns:a16="http://schemas.microsoft.com/office/drawing/2014/main" id="{5D7AA53F-AB68-FE45-2F9E-D641C60ED273}"/>
                </a:ext>
              </a:extLst>
            </p:cNvPr>
            <p:cNvGrpSpPr/>
            <p:nvPr/>
          </p:nvGrpSpPr>
          <p:grpSpPr>
            <a:xfrm>
              <a:off x="2608988" y="1392923"/>
              <a:ext cx="223838" cy="307601"/>
              <a:chOff x="2608988" y="1395304"/>
              <a:chExt cx="223838" cy="307601"/>
            </a:xfrm>
          </p:grpSpPr>
          <p:sp>
            <p:nvSpPr>
              <p:cNvPr id="29" name="사각형: 잘린 한쪽 모서리 28">
                <a:extLst>
                  <a:ext uri="{FF2B5EF4-FFF2-40B4-BE49-F238E27FC236}">
                    <a16:creationId xmlns:a16="http://schemas.microsoft.com/office/drawing/2014/main" id="{1B07B0E4-0969-A7F6-6C6E-54D9F30697E6}"/>
                  </a:ext>
                </a:extLst>
              </p:cNvPr>
              <p:cNvSpPr/>
              <p:nvPr/>
            </p:nvSpPr>
            <p:spPr>
              <a:xfrm rot="5400000" flipV="1">
                <a:off x="2563638" y="1454960"/>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0" name="TextBox 99">
                <a:extLst>
                  <a:ext uri="{FF2B5EF4-FFF2-40B4-BE49-F238E27FC236}">
                    <a16:creationId xmlns:a16="http://schemas.microsoft.com/office/drawing/2014/main" id="{A3E027D6-C877-61F9-DD80-A78B5B8F823F}"/>
                  </a:ext>
                </a:extLst>
              </p:cNvPr>
              <p:cNvSpPr txBox="1"/>
              <p:nvPr/>
            </p:nvSpPr>
            <p:spPr>
              <a:xfrm>
                <a:off x="2608988"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18</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grpSp>
          <p:nvGrpSpPr>
            <p:cNvPr id="103" name="그룹 102">
              <a:extLst>
                <a:ext uri="{FF2B5EF4-FFF2-40B4-BE49-F238E27FC236}">
                  <a16:creationId xmlns:a16="http://schemas.microsoft.com/office/drawing/2014/main" id="{56E7E5C0-AA3E-8037-65F0-CF398AA18D53}"/>
                </a:ext>
              </a:extLst>
            </p:cNvPr>
            <p:cNvGrpSpPr/>
            <p:nvPr/>
          </p:nvGrpSpPr>
          <p:grpSpPr>
            <a:xfrm>
              <a:off x="4051127" y="1389451"/>
              <a:ext cx="223838" cy="307601"/>
              <a:chOff x="4051127" y="1389451"/>
              <a:chExt cx="223838" cy="307601"/>
            </a:xfrm>
          </p:grpSpPr>
          <p:sp>
            <p:nvSpPr>
              <p:cNvPr id="33" name="사각형: 잘린 한쪽 모서리 32">
                <a:extLst>
                  <a:ext uri="{FF2B5EF4-FFF2-40B4-BE49-F238E27FC236}">
                    <a16:creationId xmlns:a16="http://schemas.microsoft.com/office/drawing/2014/main" id="{CBB09F6D-5B0E-9CEE-9F96-B715797A569A}"/>
                  </a:ext>
                </a:extLst>
              </p:cNvPr>
              <p:cNvSpPr/>
              <p:nvPr/>
            </p:nvSpPr>
            <p:spPr>
              <a:xfrm rot="16200000" flipH="1" flipV="1">
                <a:off x="4017115" y="1449107"/>
                <a:ext cx="307601" cy="188289"/>
              </a:xfrm>
              <a:prstGeom prst="snip1Rect">
                <a:avLst>
                  <a:gd name="adj" fmla="val 50000"/>
                </a:avLst>
              </a:prstGeom>
              <a:noFill/>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sp>
            <p:nvSpPr>
              <p:cNvPr id="101" name="TextBox 100">
                <a:extLst>
                  <a:ext uri="{FF2B5EF4-FFF2-40B4-BE49-F238E27FC236}">
                    <a16:creationId xmlns:a16="http://schemas.microsoft.com/office/drawing/2014/main" id="{1A6A85D9-5306-C467-1288-730FAC5CBFC7}"/>
                  </a:ext>
                </a:extLst>
              </p:cNvPr>
              <p:cNvSpPr txBox="1"/>
              <p:nvPr/>
            </p:nvSpPr>
            <p:spPr>
              <a:xfrm>
                <a:off x="4051127" y="1426749"/>
                <a:ext cx="223838" cy="230832"/>
              </a:xfrm>
              <a:prstGeom prst="rect">
                <a:avLst/>
              </a:prstGeom>
              <a:noFill/>
            </p:spPr>
            <p:txBody>
              <a:bodyPr wrap="square" lIns="0" rIns="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rPr>
                  <a:t>1</a:t>
                </a:r>
                <a:r>
                  <a:rPr lang="en-US" altLang="ko-KR" sz="900" dirty="0">
                    <a:latin typeface="맑은 고딕" panose="020F0502020204030204"/>
                    <a:ea typeface="맑은 고딕" panose="020B0503020000020004" pitchFamily="50" charset="-127"/>
                  </a:rPr>
                  <a:t>3</a:t>
                </a:r>
                <a:endParaRPr kumimoji="0" lang="ko-KR" altLang="en-US" sz="900" b="0" i="0" u="none" strike="noStrike" kern="1200" cap="none" spc="0" normalizeH="0" baseline="0" noProof="0" dirty="0">
                  <a:ln>
                    <a:noFill/>
                  </a:ln>
                  <a:solidFill>
                    <a:schemeClr val="tx1"/>
                  </a:solidFill>
                  <a:effectLst/>
                  <a:uLnTx/>
                  <a:uFillTx/>
                  <a:latin typeface="맑은 고딕" panose="020F0502020204030204"/>
                  <a:ea typeface="맑은 고딕" panose="020B0503020000020004" pitchFamily="50" charset="-127"/>
                  <a:cs typeface="+mn-cs"/>
                </a:endParaRPr>
              </a:p>
            </p:txBody>
          </p:sp>
        </p:grpSp>
        <p:sp>
          <p:nvSpPr>
            <p:cNvPr id="14" name="TextBox 13">
              <a:extLst>
                <a:ext uri="{FF2B5EF4-FFF2-40B4-BE49-F238E27FC236}">
                  <a16:creationId xmlns:a16="http://schemas.microsoft.com/office/drawing/2014/main" id="{4FCC177E-C3D9-D805-2949-5B03D1DDBB5C}"/>
                </a:ext>
              </a:extLst>
            </p:cNvPr>
            <p:cNvSpPr txBox="1"/>
            <p:nvPr/>
          </p:nvSpPr>
          <p:spPr>
            <a:xfrm>
              <a:off x="3783224" y="1721922"/>
              <a:ext cx="209994"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FBI</a:t>
              </a:r>
              <a:r>
                <a:rPr lang="en-US" altLang="ko-KR" sz="700" dirty="0">
                  <a:latin typeface="+mn-ea"/>
                </a:rPr>
                <a:t>/</a:t>
              </a:r>
            </a:p>
            <a:p>
              <a:pPr algn="ctr" latinLnBrk="1">
                <a:lnSpc>
                  <a:spcPts val="700"/>
                </a:lnSpc>
                <a:defRPr/>
              </a:pPr>
              <a:r>
                <a:rPr lang="en-US" altLang="ko-KR" sz="700" dirty="0">
                  <a:solidFill>
                    <a:srgbClr val="FF00FF"/>
                  </a:solidFill>
                  <a:latin typeface="+mn-ea"/>
                </a:rPr>
                <a:t>VSO</a:t>
              </a:r>
              <a:r>
                <a:rPr lang="en-US" altLang="ko-KR" sz="700" dirty="0">
                  <a:latin typeface="+mn-ea"/>
                </a:rPr>
                <a:t>/</a:t>
              </a:r>
            </a:p>
            <a:p>
              <a:pPr algn="ctr" latinLnBrk="1">
                <a:lnSpc>
                  <a:spcPts val="700"/>
                </a:lnSpc>
                <a:defRPr/>
              </a:pPr>
              <a:r>
                <a:rPr lang="en-US" altLang="ko-KR" sz="700" dirty="0">
                  <a:solidFill>
                    <a:srgbClr val="00CC00"/>
                  </a:solidFill>
                  <a:latin typeface="+mn-ea"/>
                </a:rPr>
                <a:t>VSI</a:t>
              </a:r>
            </a:p>
          </p:txBody>
        </p:sp>
        <p:sp>
          <p:nvSpPr>
            <p:cNvPr id="15" name="TextBox 14">
              <a:extLst>
                <a:ext uri="{FF2B5EF4-FFF2-40B4-BE49-F238E27FC236}">
                  <a16:creationId xmlns:a16="http://schemas.microsoft.com/office/drawing/2014/main" id="{024DBFC8-83F2-16D3-4618-CC7CBB155DCA}"/>
                </a:ext>
              </a:extLst>
            </p:cNvPr>
            <p:cNvSpPr txBox="1"/>
            <p:nvPr/>
          </p:nvSpPr>
          <p:spPr>
            <a:xfrm>
              <a:off x="3779745" y="3247975"/>
              <a:ext cx="201978" cy="269304"/>
            </a:xfrm>
            <a:prstGeom prst="rect">
              <a:avLst/>
            </a:prstGeom>
            <a:noFill/>
          </p:spPr>
          <p:txBody>
            <a:bodyPr wrap="none" lIns="0" tIns="0" rIns="0" bIns="0" rtlCol="0">
              <a:spAutoFit/>
            </a:bodyPr>
            <a:lstStyle/>
            <a:p>
              <a:pPr algn="ctr" latinLnBrk="1">
                <a:lnSpc>
                  <a:spcPts val="700"/>
                </a:lnSpc>
                <a:defRPr/>
              </a:pPr>
              <a:r>
                <a:rPr lang="en-US" altLang="ko-KR" sz="700" dirty="0">
                  <a:solidFill>
                    <a:srgbClr val="0099FF"/>
                  </a:solidFill>
                  <a:latin typeface="+mn-ea"/>
                </a:rPr>
                <a:t>FBO</a:t>
              </a:r>
              <a:r>
                <a:rPr lang="en-US" altLang="ko-KR" sz="700" dirty="0">
                  <a:latin typeface="+mn-ea"/>
                </a:rPr>
                <a:t>/</a:t>
              </a:r>
            </a:p>
            <a:p>
              <a:pPr algn="ctr" latinLnBrk="1">
                <a:lnSpc>
                  <a:spcPts val="700"/>
                </a:lnSpc>
                <a:defRPr/>
              </a:pPr>
              <a:r>
                <a:rPr lang="en-US" altLang="ko-KR" sz="700" dirty="0">
                  <a:solidFill>
                    <a:srgbClr val="FF00FF"/>
                  </a:solidFill>
                  <a:latin typeface="+mn-ea"/>
                </a:rPr>
                <a:t>VSI</a:t>
              </a:r>
              <a:r>
                <a:rPr lang="en-US" altLang="ko-KR" sz="700" dirty="0">
                  <a:latin typeface="+mn-ea"/>
                </a:rPr>
                <a:t>/</a:t>
              </a:r>
              <a:endParaRPr lang="en-US" altLang="ko-KR" sz="700" dirty="0">
                <a:solidFill>
                  <a:srgbClr val="00CC00"/>
                </a:solidFill>
                <a:latin typeface="+mn-ea"/>
              </a:endParaRPr>
            </a:p>
            <a:p>
              <a:pPr algn="ctr" latinLnBrk="1">
                <a:lnSpc>
                  <a:spcPts val="700"/>
                </a:lnSpc>
                <a:defRPr/>
              </a:pPr>
              <a:r>
                <a:rPr lang="en-US" altLang="ko-KR" sz="700" dirty="0">
                  <a:solidFill>
                    <a:srgbClr val="00CC00"/>
                  </a:solidFill>
                  <a:latin typeface="+mn-ea"/>
                </a:rPr>
                <a:t>FBO</a:t>
              </a:r>
            </a:p>
          </p:txBody>
        </p:sp>
      </p:grpSp>
    </p:spTree>
    <p:extLst>
      <p:ext uri="{BB962C8B-B14F-4D97-AF65-F5344CB8AC3E}">
        <p14:creationId xmlns:p14="http://schemas.microsoft.com/office/powerpoint/2010/main" val="22708524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CFAEEDD-4730-DFE8-E717-C1E7AA1F092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C7B47E05-986F-3DA1-318D-07E6AC8BE4BE}"/>
              </a:ext>
            </a:extLst>
          </p:cNvPr>
          <p:cNvGraphicFramePr>
            <a:graphicFrameLocks noGrp="1"/>
          </p:cNvGraphicFramePr>
          <p:nvPr>
            <p:extLst>
              <p:ext uri="{D42A27DB-BD31-4B8C-83A1-F6EECF244321}">
                <p14:modId xmlns:p14="http://schemas.microsoft.com/office/powerpoint/2010/main" val="1545888473"/>
              </p:ext>
            </p:extLst>
          </p:nvPr>
        </p:nvGraphicFramePr>
        <p:xfrm>
          <a:off x="404814" y="1276542"/>
          <a:ext cx="6048623" cy="2971811"/>
        </p:xfrm>
        <a:graphic>
          <a:graphicData uri="http://schemas.openxmlformats.org/drawingml/2006/table">
            <a:tbl>
              <a:tblPr>
                <a:tableStyleId>{5C22544A-7EE6-4342-B048-85BDC9FD1C3A}</a:tableStyleId>
              </a:tblPr>
              <a:tblGrid>
                <a:gridCol w="767909">
                  <a:extLst>
                    <a:ext uri="{9D8B030D-6E8A-4147-A177-3AD203B41FA5}">
                      <a16:colId xmlns:a16="http://schemas.microsoft.com/office/drawing/2014/main" val="1199541810"/>
                    </a:ext>
                  </a:extLst>
                </a:gridCol>
                <a:gridCol w="552817">
                  <a:extLst>
                    <a:ext uri="{9D8B030D-6E8A-4147-A177-3AD203B41FA5}">
                      <a16:colId xmlns:a16="http://schemas.microsoft.com/office/drawing/2014/main" val="2771136683"/>
                    </a:ext>
                  </a:extLst>
                </a:gridCol>
                <a:gridCol w="521227">
                  <a:extLst>
                    <a:ext uri="{9D8B030D-6E8A-4147-A177-3AD203B41FA5}">
                      <a16:colId xmlns:a16="http://schemas.microsoft.com/office/drawing/2014/main" val="112759525"/>
                    </a:ext>
                  </a:extLst>
                </a:gridCol>
                <a:gridCol w="923812">
                  <a:extLst>
                    <a:ext uri="{9D8B030D-6E8A-4147-A177-3AD203B41FA5}">
                      <a16:colId xmlns:a16="http://schemas.microsoft.com/office/drawing/2014/main" val="3900317923"/>
                    </a:ext>
                  </a:extLst>
                </a:gridCol>
                <a:gridCol w="1787697">
                  <a:extLst>
                    <a:ext uri="{9D8B030D-6E8A-4147-A177-3AD203B41FA5}">
                      <a16:colId xmlns:a16="http://schemas.microsoft.com/office/drawing/2014/main" val="3382103366"/>
                    </a:ext>
                  </a:extLst>
                </a:gridCol>
                <a:gridCol w="1495161">
                  <a:extLst>
                    <a:ext uri="{9D8B030D-6E8A-4147-A177-3AD203B41FA5}">
                      <a16:colId xmlns:a16="http://schemas.microsoft.com/office/drawing/2014/main" val="915546717"/>
                    </a:ext>
                  </a:extLst>
                </a:gridCol>
              </a:tblGrid>
              <a:tr h="329621">
                <a:tc>
                  <a:txBody>
                    <a:bodyPr/>
                    <a:lstStyle/>
                    <a:p>
                      <a:pPr algn="ctr" fontAlgn="ctr"/>
                      <a:r>
                        <a:rPr lang="en-US" sz="900" b="1" u="none" strike="noStrike" dirty="0">
                          <a:effectLst/>
                          <a:latin typeface="Arial" panose="020B0604020202020204" pitchFamily="34" charset="0"/>
                          <a:cs typeface="Arial" panose="020B0604020202020204" pitchFamily="34" charset="0"/>
                        </a:rPr>
                        <a:t>Pin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Pin No.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Type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p>
                  </a:txBody>
                  <a:tcPr marL="0" marR="0" marT="54000" marB="54000" anchor="ctr">
                    <a:lnL w="3175"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4142273324"/>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DIO</a:t>
                      </a: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15</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Digital</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Internal PD, 48K</a:t>
                      </a:r>
                      <a:r>
                        <a:rPr lang="el-GR" altLang="ko-KR" sz="900" b="0" i="0" u="none" strike="noStrike" dirty="0">
                          <a:solidFill>
                            <a:srgbClr val="000000"/>
                          </a:solidFill>
                          <a:effectLst/>
                          <a:latin typeface="Microsoft GothicNeo" panose="020B0500000101010101" pitchFamily="50" charset="-127"/>
                          <a:ea typeface="Microsoft GothicNeo" panose="020B0500000101010101" pitchFamily="50" charset="-127"/>
                          <a:cs typeface="Microsoft GothicNeo" panose="020B0500000101010101" pitchFamily="50" charset="-127"/>
                        </a:rPr>
                        <a:t>Ω</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2276868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16</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79918571"/>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altLang="ko-KR" sz="900" b="0" i="0" u="none" strike="noStrike" dirty="0">
                        <a:solidFill>
                          <a:srgbClr val="000000"/>
                        </a:solidFill>
                        <a:effectLst/>
                        <a:latin typeface="Arial" panose="020B0604020202020204" pitchFamily="34" charset="0"/>
                        <a:ea typeface="+mn-ea"/>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17</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fontAlgn="ct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353795"/>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DD</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18</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Power</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7066672"/>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19</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384047"/>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O3</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20</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3</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4257892"/>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21</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6803458"/>
                  </a:ext>
                </a:extLst>
              </a:tr>
              <a:tr h="264219">
                <a:tc>
                  <a:txBody>
                    <a:bodyPr/>
                    <a:lstStyle/>
                    <a:p>
                      <a:pPr algn="ctr" fontAlgn="ctr"/>
                      <a:r>
                        <a:rPr lang="en-US" altLang="ko-KR" sz="900" b="0" i="0" u="none" strike="noStrike" dirty="0">
                          <a:solidFill>
                            <a:srgbClr val="000000"/>
                          </a:solidFill>
                          <a:effectLst/>
                          <a:latin typeface="Arial" panose="020B0604020202020204" pitchFamily="34" charset="0"/>
                          <a:ea typeface="+mn-ea"/>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mn-ea"/>
                          <a:cs typeface="Arial" panose="020B0604020202020204" pitchFamily="34" charset="0"/>
                        </a:rPr>
                        <a:t>SS</a:t>
                      </a:r>
                      <a:endPar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endParaRPr>
                    </a:p>
                  </a:txBody>
                  <a:tcPr marL="0" marR="0" marT="54000" marB="5400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22</a:t>
                      </a: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u="none" strike="noStrike" dirty="0">
                          <a:effectLst/>
                          <a:latin typeface="Arial" panose="020B0604020202020204" pitchFamily="34" charset="0"/>
                          <a:cs typeface="Arial" panose="020B0604020202020204" pitchFamily="34" charset="0"/>
                        </a:rPr>
                        <a:t>GND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Ground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7433265"/>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23</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4291"/>
                  </a:ext>
                </a:extLst>
              </a:tr>
              <a:tr h="264219">
                <a:tc>
                  <a:txBody>
                    <a:bodyPr/>
                    <a:lstStyle/>
                    <a:p>
                      <a:pPr algn="ctr" fontAlgn="ctr"/>
                      <a:r>
                        <a:rPr lang="en-US"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O1</a:t>
                      </a:r>
                    </a:p>
                  </a:txBody>
                  <a:tcPr marL="6350" marR="6350" marT="635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맑은 고딕" panose="020B0503020000020004" pitchFamily="50" charset="-127"/>
                          <a:cs typeface="Arial" panose="020B0604020202020204" pitchFamily="34" charset="0"/>
                        </a:rPr>
                        <a:t>24</a:t>
                      </a:r>
                    </a:p>
                  </a:txBody>
                  <a:tcPr marL="6350" marR="6350" marT="635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O</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Sink 1</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unused, connect to 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0" marT="54000" marB="54000" anchor="ct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2793209"/>
                  </a:ext>
                </a:extLst>
              </a:tr>
            </a:tbl>
          </a:graphicData>
        </a:graphic>
      </p:graphicFrame>
      <p:sp>
        <p:nvSpPr>
          <p:cNvPr id="5" name="TextBox 4">
            <a:extLst>
              <a:ext uri="{FF2B5EF4-FFF2-40B4-BE49-F238E27FC236}">
                <a16:creationId xmlns:a16="http://schemas.microsoft.com/office/drawing/2014/main" id="{C7B7094A-6A33-B023-7C26-494F8CD0256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Pin description</a:t>
            </a:r>
          </a:p>
        </p:txBody>
      </p:sp>
      <p:sp>
        <p:nvSpPr>
          <p:cNvPr id="6" name="TextBox 5">
            <a:extLst>
              <a:ext uri="{FF2B5EF4-FFF2-40B4-BE49-F238E27FC236}">
                <a16:creationId xmlns:a16="http://schemas.microsoft.com/office/drawing/2014/main" id="{10BE8C07-EBF0-B93D-0AEC-2636AE0A4B9D}"/>
              </a:ext>
            </a:extLst>
          </p:cNvPr>
          <p:cNvSpPr txBox="1"/>
          <p:nvPr/>
        </p:nvSpPr>
        <p:spPr>
          <a:xfrm>
            <a:off x="404812" y="5668664"/>
            <a:ext cx="6048623"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graphicFrame>
        <p:nvGraphicFramePr>
          <p:cNvPr id="8" name="표 7">
            <a:extLst>
              <a:ext uri="{FF2B5EF4-FFF2-40B4-BE49-F238E27FC236}">
                <a16:creationId xmlns:a16="http://schemas.microsoft.com/office/drawing/2014/main" id="{35EC179E-1569-1DC9-5F68-28F488A74D01}"/>
              </a:ext>
            </a:extLst>
          </p:cNvPr>
          <p:cNvGraphicFramePr>
            <a:graphicFrameLocks noGrp="1"/>
          </p:cNvGraphicFramePr>
          <p:nvPr>
            <p:extLst>
              <p:ext uri="{D42A27DB-BD31-4B8C-83A1-F6EECF244321}">
                <p14:modId xmlns:p14="http://schemas.microsoft.com/office/powerpoint/2010/main" val="2093359981"/>
              </p:ext>
            </p:extLst>
          </p:nvPr>
        </p:nvGraphicFramePr>
        <p:xfrm>
          <a:off x="404812" y="6098728"/>
          <a:ext cx="6048623" cy="2454219"/>
        </p:xfrm>
        <a:graphic>
          <a:graphicData uri="http://schemas.openxmlformats.org/drawingml/2006/table">
            <a:tbl>
              <a:tblPr>
                <a:tableStyleId>{5C22544A-7EE6-4342-B048-85BDC9FD1C3A}</a:tableStyleId>
              </a:tblPr>
              <a:tblGrid>
                <a:gridCol w="748211">
                  <a:extLst>
                    <a:ext uri="{9D8B030D-6E8A-4147-A177-3AD203B41FA5}">
                      <a16:colId xmlns:a16="http://schemas.microsoft.com/office/drawing/2014/main" val="1199541810"/>
                    </a:ext>
                  </a:extLst>
                </a:gridCol>
                <a:gridCol w="558227">
                  <a:extLst>
                    <a:ext uri="{9D8B030D-6E8A-4147-A177-3AD203B41FA5}">
                      <a16:colId xmlns:a16="http://schemas.microsoft.com/office/drawing/2014/main" val="112759525"/>
                    </a:ext>
                  </a:extLst>
                </a:gridCol>
                <a:gridCol w="3236381">
                  <a:extLst>
                    <a:ext uri="{9D8B030D-6E8A-4147-A177-3AD203B41FA5}">
                      <a16:colId xmlns:a16="http://schemas.microsoft.com/office/drawing/2014/main" val="3900317923"/>
                    </a:ext>
                  </a:extLst>
                </a:gridCol>
                <a:gridCol w="1505804">
                  <a:extLst>
                    <a:ext uri="{9D8B030D-6E8A-4147-A177-3AD203B41FA5}">
                      <a16:colId xmlns:a16="http://schemas.microsoft.com/office/drawing/2014/main" val="3382103366"/>
                    </a:ext>
                  </a:extLst>
                </a:gridCol>
              </a:tblGrid>
              <a:tr h="346347">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03271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Data In/Out</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075156">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u="none" strike="noStrike" dirty="0">
                          <a:effectLst/>
                          <a:latin typeface="Arial" panose="020B0604020202020204" pitchFamily="34" charset="0"/>
                          <a:cs typeface="Arial" panose="020B0604020202020204" pitchFamily="34" charset="0"/>
                        </a:rPr>
                        <a:t>Daisied Data In/Out</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bl>
          </a:graphicData>
        </a:graphic>
      </p:graphicFrame>
      <p:grpSp>
        <p:nvGrpSpPr>
          <p:cNvPr id="4" name="그룹 3">
            <a:extLst>
              <a:ext uri="{FF2B5EF4-FFF2-40B4-BE49-F238E27FC236}">
                <a16:creationId xmlns:a16="http://schemas.microsoft.com/office/drawing/2014/main" id="{658195D5-DB43-DACF-88E9-0CE03095A781}"/>
              </a:ext>
            </a:extLst>
          </p:cNvPr>
          <p:cNvGrpSpPr/>
          <p:nvPr/>
        </p:nvGrpSpPr>
        <p:grpSpPr>
          <a:xfrm>
            <a:off x="2794443" y="6553702"/>
            <a:ext cx="1026319" cy="836432"/>
            <a:chOff x="2838451" y="6667968"/>
            <a:chExt cx="1026319" cy="836432"/>
          </a:xfrm>
        </p:grpSpPr>
        <p:pic>
          <p:nvPicPr>
            <p:cNvPr id="9" name="그림 8">
              <a:extLst>
                <a:ext uri="{FF2B5EF4-FFF2-40B4-BE49-F238E27FC236}">
                  <a16:creationId xmlns:a16="http://schemas.microsoft.com/office/drawing/2014/main" id="{574075B9-C935-5575-84A6-ECA041933979}"/>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11" name="타원 10">
              <a:extLst>
                <a:ext uri="{FF2B5EF4-FFF2-40B4-BE49-F238E27FC236}">
                  <a16:creationId xmlns:a16="http://schemas.microsoft.com/office/drawing/2014/main" id="{775678A3-A634-1CB6-D56F-1B579ABFE45D}"/>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A4767450-7398-CA58-57F0-D5C38B4476EB}"/>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16" name="연결선: 꺾임 15">
              <a:extLst>
                <a:ext uri="{FF2B5EF4-FFF2-40B4-BE49-F238E27FC236}">
                  <a16:creationId xmlns:a16="http://schemas.microsoft.com/office/drawing/2014/main" id="{2A00BA58-2BE6-D7EB-2FDA-690B4A8C821E}"/>
                </a:ext>
              </a:extLst>
            </p:cNvPr>
            <p:cNvCxnSpPr>
              <a:cxnSpLocks/>
              <a:endCxn id="11"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19" name="직선 연결선 18">
              <a:extLst>
                <a:ext uri="{FF2B5EF4-FFF2-40B4-BE49-F238E27FC236}">
                  <a16:creationId xmlns:a16="http://schemas.microsoft.com/office/drawing/2014/main" id="{DC76A3E1-5D5A-B71D-618C-D2AB203FB1DE}"/>
                </a:ext>
              </a:extLst>
            </p:cNvPr>
            <p:cNvCxnSpPr>
              <a:cxnSpLocks/>
              <a:endCxn id="12"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0" name="이등변 삼각형 19">
              <a:extLst>
                <a:ext uri="{FF2B5EF4-FFF2-40B4-BE49-F238E27FC236}">
                  <a16:creationId xmlns:a16="http://schemas.microsoft.com/office/drawing/2014/main" id="{A58776CF-1A41-8972-17F3-3234401B2BA0}"/>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 name="연결선: 꺾임 20">
              <a:extLst>
                <a:ext uri="{FF2B5EF4-FFF2-40B4-BE49-F238E27FC236}">
                  <a16:creationId xmlns:a16="http://schemas.microsoft.com/office/drawing/2014/main" id="{B1DE2CBC-4226-E451-A364-C4C32ACBF175}"/>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2" name="이등변 삼각형 21">
              <a:extLst>
                <a:ext uri="{FF2B5EF4-FFF2-40B4-BE49-F238E27FC236}">
                  <a16:creationId xmlns:a16="http://schemas.microsoft.com/office/drawing/2014/main" id="{CE2435CE-DA62-ED70-F25F-6A4DE682B304}"/>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3" name="직선 연결선 22">
              <a:extLst>
                <a:ext uri="{FF2B5EF4-FFF2-40B4-BE49-F238E27FC236}">
                  <a16:creationId xmlns:a16="http://schemas.microsoft.com/office/drawing/2014/main" id="{47C79E6B-780C-0EE9-1E8F-4C0B37F7F994}"/>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4" name="직선 연결선 23">
              <a:extLst>
                <a:ext uri="{FF2B5EF4-FFF2-40B4-BE49-F238E27FC236}">
                  <a16:creationId xmlns:a16="http://schemas.microsoft.com/office/drawing/2014/main" id="{D5575CE9-3FFA-E478-A4D3-FE508F5E2DD1}"/>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grpSp>
        <p:nvGrpSpPr>
          <p:cNvPr id="10" name="그룹 9">
            <a:extLst>
              <a:ext uri="{FF2B5EF4-FFF2-40B4-BE49-F238E27FC236}">
                <a16:creationId xmlns:a16="http://schemas.microsoft.com/office/drawing/2014/main" id="{49EFA08A-B124-87AD-9C0B-0DA1E16EEBDB}"/>
              </a:ext>
            </a:extLst>
          </p:cNvPr>
          <p:cNvGrpSpPr/>
          <p:nvPr/>
        </p:nvGrpSpPr>
        <p:grpSpPr>
          <a:xfrm>
            <a:off x="2846114" y="7609619"/>
            <a:ext cx="1026319" cy="836432"/>
            <a:chOff x="2838451" y="6667968"/>
            <a:chExt cx="1026319" cy="836432"/>
          </a:xfrm>
        </p:grpSpPr>
        <p:pic>
          <p:nvPicPr>
            <p:cNvPr id="14" name="그림 13">
              <a:extLst>
                <a:ext uri="{FF2B5EF4-FFF2-40B4-BE49-F238E27FC236}">
                  <a16:creationId xmlns:a16="http://schemas.microsoft.com/office/drawing/2014/main" id="{F96B0115-6C6D-EAC5-CDC0-279CC40E2CB0}"/>
                </a:ext>
              </a:extLst>
            </p:cNvPr>
            <p:cNvPicPr>
              <a:picLocks noChangeAspect="1"/>
            </p:cNvPicPr>
            <p:nvPr/>
          </p:nvPicPr>
          <p:blipFill>
            <a:blip r:embed="rId2"/>
            <a:stretch>
              <a:fillRect/>
            </a:stretch>
          </p:blipFill>
          <p:spPr>
            <a:xfrm>
              <a:off x="3495285" y="7019209"/>
              <a:ext cx="176479" cy="400184"/>
            </a:xfrm>
            <a:prstGeom prst="rect">
              <a:avLst/>
            </a:prstGeom>
            <a:ln>
              <a:noFill/>
            </a:ln>
          </p:spPr>
        </p:pic>
        <p:sp>
          <p:nvSpPr>
            <p:cNvPr id="17" name="타원 16">
              <a:extLst>
                <a:ext uri="{FF2B5EF4-FFF2-40B4-BE49-F238E27FC236}">
                  <a16:creationId xmlns:a16="http://schemas.microsoft.com/office/drawing/2014/main" id="{8BECC99A-03EA-9D33-7EFD-B0FF54CCE9AE}"/>
                </a:ext>
              </a:extLst>
            </p:cNvPr>
            <p:cNvSpPr/>
            <p:nvPr/>
          </p:nvSpPr>
          <p:spPr>
            <a:xfrm>
              <a:off x="3089150" y="6782384"/>
              <a:ext cx="105717" cy="108617"/>
            </a:xfrm>
            <a:prstGeom prst="ellips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5" name="직사각형 24">
              <a:extLst>
                <a:ext uri="{FF2B5EF4-FFF2-40B4-BE49-F238E27FC236}">
                  <a16:creationId xmlns:a16="http://schemas.microsoft.com/office/drawing/2014/main" id="{48FB055A-67C0-856D-F9B2-876364E3A4D5}"/>
                </a:ext>
              </a:extLst>
            </p:cNvPr>
            <p:cNvSpPr/>
            <p:nvPr/>
          </p:nvSpPr>
          <p:spPr>
            <a:xfrm>
              <a:off x="3704362" y="6934200"/>
              <a:ext cx="160408" cy="152400"/>
            </a:xfrm>
            <a:prstGeom prst="rect">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lumMod val="75000"/>
                    <a:lumOff val="25000"/>
                  </a:schemeClr>
                </a:solidFill>
              </a:endParaRPr>
            </a:p>
          </p:txBody>
        </p:sp>
        <p:cxnSp>
          <p:nvCxnSpPr>
            <p:cNvPr id="26" name="연결선: 꺾임 25">
              <a:extLst>
                <a:ext uri="{FF2B5EF4-FFF2-40B4-BE49-F238E27FC236}">
                  <a16:creationId xmlns:a16="http://schemas.microsoft.com/office/drawing/2014/main" id="{3F07452C-B43A-27D8-9AD4-CC743A65C281}"/>
                </a:ext>
              </a:extLst>
            </p:cNvPr>
            <p:cNvCxnSpPr>
              <a:cxnSpLocks/>
              <a:endCxn id="17" idx="0"/>
            </p:cNvCxnSpPr>
            <p:nvPr/>
          </p:nvCxnSpPr>
          <p:spPr>
            <a:xfrm>
              <a:off x="2838451" y="6667968"/>
              <a:ext cx="303558" cy="114416"/>
            </a:xfrm>
            <a:prstGeom prst="bentConnector2">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27" name="직선 연결선 26">
              <a:extLst>
                <a:ext uri="{FF2B5EF4-FFF2-40B4-BE49-F238E27FC236}">
                  <a16:creationId xmlns:a16="http://schemas.microsoft.com/office/drawing/2014/main" id="{7768FA02-73E2-F241-4C1F-A21A788202BD}"/>
                </a:ext>
              </a:extLst>
            </p:cNvPr>
            <p:cNvCxnSpPr>
              <a:cxnSpLocks/>
              <a:endCxn id="25" idx="1"/>
            </p:cNvCxnSpPr>
            <p:nvPr/>
          </p:nvCxnSpPr>
          <p:spPr>
            <a:xfrm>
              <a:off x="2838451" y="7010128"/>
              <a:ext cx="865911" cy="272"/>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28" name="이등변 삼각형 27">
              <a:extLst>
                <a:ext uri="{FF2B5EF4-FFF2-40B4-BE49-F238E27FC236}">
                  <a16:creationId xmlns:a16="http://schemas.microsoft.com/office/drawing/2014/main" id="{81784060-6F78-FC3C-8F6A-0185E384E276}"/>
                </a:ext>
              </a:extLst>
            </p:cNvPr>
            <p:cNvSpPr/>
            <p:nvPr/>
          </p:nvSpPr>
          <p:spPr>
            <a:xfrm rot="5400000">
              <a:off x="2952262" y="6878072"/>
              <a:ext cx="360042" cy="264112"/>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9" name="연결선: 꺾임 28">
              <a:extLst>
                <a:ext uri="{FF2B5EF4-FFF2-40B4-BE49-F238E27FC236}">
                  <a16:creationId xmlns:a16="http://schemas.microsoft.com/office/drawing/2014/main" id="{FF3B820D-3317-6DCC-6469-8FAC591E2BD1}"/>
                </a:ext>
              </a:extLst>
            </p:cNvPr>
            <p:cNvCxnSpPr>
              <a:cxnSpLocks/>
            </p:cNvCxnSpPr>
            <p:nvPr/>
          </p:nvCxnSpPr>
          <p:spPr>
            <a:xfrm rot="10800000" flipV="1">
              <a:off x="2838452" y="7010128"/>
              <a:ext cx="564830" cy="378406"/>
            </a:xfrm>
            <a:prstGeom prst="bentConnector3">
              <a:avLst>
                <a:gd name="adj1" fmla="val 267"/>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sp>
          <p:nvSpPr>
            <p:cNvPr id="30" name="이등변 삼각형 29">
              <a:extLst>
                <a:ext uri="{FF2B5EF4-FFF2-40B4-BE49-F238E27FC236}">
                  <a16:creationId xmlns:a16="http://schemas.microsoft.com/office/drawing/2014/main" id="{B77FB760-48F7-E982-8469-067E19C010A7}"/>
                </a:ext>
              </a:extLst>
            </p:cNvPr>
            <p:cNvSpPr/>
            <p:nvPr/>
          </p:nvSpPr>
          <p:spPr>
            <a:xfrm rot="16200000">
              <a:off x="3042401" y="7309405"/>
              <a:ext cx="224965" cy="165025"/>
            </a:xfrm>
            <a:prstGeom prst="triangle">
              <a:avLst/>
            </a:prstGeom>
            <a:solidFill>
              <a:schemeClr val="bg1"/>
            </a:solidFill>
            <a:ln w="9525">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31" name="직선 연결선 30">
              <a:extLst>
                <a:ext uri="{FF2B5EF4-FFF2-40B4-BE49-F238E27FC236}">
                  <a16:creationId xmlns:a16="http://schemas.microsoft.com/office/drawing/2014/main" id="{E5988E6C-9D83-8375-47FF-100ED7C5EFDB}"/>
                </a:ext>
              </a:extLst>
            </p:cNvPr>
            <p:cNvCxnSpPr>
              <a:cxnSpLocks/>
            </p:cNvCxnSpPr>
            <p:nvPr/>
          </p:nvCxnSpPr>
          <p:spPr>
            <a:xfrm>
              <a:off x="3704362" y="6932519"/>
              <a:ext cx="160408" cy="15240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직선 연결선 31">
              <a:extLst>
                <a:ext uri="{FF2B5EF4-FFF2-40B4-BE49-F238E27FC236}">
                  <a16:creationId xmlns:a16="http://schemas.microsoft.com/office/drawing/2014/main" id="{237BDB21-1719-368F-4B2F-65EA1107B96E}"/>
                </a:ext>
              </a:extLst>
            </p:cNvPr>
            <p:cNvCxnSpPr>
              <a:cxnSpLocks/>
            </p:cNvCxnSpPr>
            <p:nvPr/>
          </p:nvCxnSpPr>
          <p:spPr>
            <a:xfrm flipH="1">
              <a:off x="3707606" y="6936581"/>
              <a:ext cx="157163" cy="145257"/>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13" name="object 16">
            <a:extLst>
              <a:ext uri="{FF2B5EF4-FFF2-40B4-BE49-F238E27FC236}">
                <a16:creationId xmlns:a16="http://schemas.microsoft.com/office/drawing/2014/main" id="{1B9588A1-C9D4-BAE9-8BAB-3EE9754B6949}"/>
              </a:ext>
            </a:extLst>
          </p:cNvPr>
          <p:cNvSpPr txBox="1"/>
          <p:nvPr/>
        </p:nvSpPr>
        <p:spPr>
          <a:xfrm>
            <a:off x="404812" y="4355222"/>
            <a:ext cx="6086679"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Note :  1) The pin function can be configured through the IO_MODE register bits.  If the pin will be used as the FBO,</a:t>
            </a:r>
          </a:p>
          <a:p>
            <a:pPr marL="38100">
              <a:lnSpc>
                <a:spcPct val="100000"/>
              </a:lnSpc>
              <a:spcBef>
                <a:spcPts val="100"/>
              </a:spcBef>
            </a:pPr>
            <a:r>
              <a:rPr lang="en-US" sz="900" dirty="0">
                <a:latin typeface="Arial" panose="020B0604020202020204" pitchFamily="34" charset="0"/>
                <a:cs typeface="Arial" panose="020B0604020202020204" pitchFamily="34" charset="0"/>
              </a:rPr>
              <a:t>                then the pin acts as an Open-drain output. (external PU resistor should be attached)</a:t>
            </a:r>
          </a:p>
        </p:txBody>
      </p:sp>
      <p:sp>
        <p:nvSpPr>
          <p:cNvPr id="15" name="object 11">
            <a:extLst>
              <a:ext uri="{FF2B5EF4-FFF2-40B4-BE49-F238E27FC236}">
                <a16:creationId xmlns:a16="http://schemas.microsoft.com/office/drawing/2014/main" id="{77924AB2-D427-3E11-9D10-6C2E350D7DF3}"/>
              </a:ext>
            </a:extLst>
          </p:cNvPr>
          <p:cNvSpPr txBox="1"/>
          <p:nvPr/>
        </p:nvSpPr>
        <p:spPr>
          <a:xfrm>
            <a:off x="2732912" y="4839948"/>
            <a:ext cx="1392176"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1</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Pin Description </a:t>
            </a:r>
            <a:endParaRPr kumimoji="0" sz="9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664098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6F590-55FB-7BDF-C846-C8EB3EFD9069}"/>
            </a:ext>
          </a:extLst>
        </p:cNvPr>
        <p:cNvGrpSpPr/>
        <p:nvPr/>
      </p:nvGrpSpPr>
      <p:grpSpPr>
        <a:xfrm>
          <a:off x="0" y="0"/>
          <a:ext cx="0" cy="0"/>
          <a:chOff x="0" y="0"/>
          <a:chExt cx="0" cy="0"/>
        </a:xfrm>
      </p:grpSpPr>
      <p:graphicFrame>
        <p:nvGraphicFramePr>
          <p:cNvPr id="56" name="표 55">
            <a:extLst>
              <a:ext uri="{FF2B5EF4-FFF2-40B4-BE49-F238E27FC236}">
                <a16:creationId xmlns:a16="http://schemas.microsoft.com/office/drawing/2014/main" id="{CF61C84B-0375-7D56-1955-FD380771F38B}"/>
              </a:ext>
            </a:extLst>
          </p:cNvPr>
          <p:cNvGraphicFramePr>
            <a:graphicFrameLocks noGrp="1"/>
          </p:cNvGraphicFramePr>
          <p:nvPr>
            <p:extLst>
              <p:ext uri="{D42A27DB-BD31-4B8C-83A1-F6EECF244321}">
                <p14:modId xmlns:p14="http://schemas.microsoft.com/office/powerpoint/2010/main" val="3878605015"/>
              </p:ext>
            </p:extLst>
          </p:nvPr>
        </p:nvGraphicFramePr>
        <p:xfrm>
          <a:off x="411754" y="1341152"/>
          <a:ext cx="6041682" cy="6307108"/>
        </p:xfrm>
        <a:graphic>
          <a:graphicData uri="http://schemas.openxmlformats.org/drawingml/2006/table">
            <a:tbl>
              <a:tblPr>
                <a:tableStyleId>{5C22544A-7EE6-4342-B048-85BDC9FD1C3A}</a:tableStyleId>
              </a:tblPr>
              <a:tblGrid>
                <a:gridCol w="814959">
                  <a:extLst>
                    <a:ext uri="{9D8B030D-6E8A-4147-A177-3AD203B41FA5}">
                      <a16:colId xmlns:a16="http://schemas.microsoft.com/office/drawing/2014/main" val="1199541810"/>
                    </a:ext>
                  </a:extLst>
                </a:gridCol>
                <a:gridCol w="550467">
                  <a:extLst>
                    <a:ext uri="{9D8B030D-6E8A-4147-A177-3AD203B41FA5}">
                      <a16:colId xmlns:a16="http://schemas.microsoft.com/office/drawing/2014/main" val="112759525"/>
                    </a:ext>
                  </a:extLst>
                </a:gridCol>
                <a:gridCol w="3191387">
                  <a:extLst>
                    <a:ext uri="{9D8B030D-6E8A-4147-A177-3AD203B41FA5}">
                      <a16:colId xmlns:a16="http://schemas.microsoft.com/office/drawing/2014/main" val="3900317923"/>
                    </a:ext>
                  </a:extLst>
                </a:gridCol>
                <a:gridCol w="1484869">
                  <a:extLst>
                    <a:ext uri="{9D8B030D-6E8A-4147-A177-3AD203B41FA5}">
                      <a16:colId xmlns:a16="http://schemas.microsoft.com/office/drawing/2014/main" val="3382103366"/>
                    </a:ext>
                  </a:extLst>
                </a:gridCol>
              </a:tblGrid>
              <a:tr h="359474">
                <a:tc>
                  <a:txBody>
                    <a:bodyPr/>
                    <a:lstStyle/>
                    <a:p>
                      <a:pPr algn="ctr" fontAlgn="ctr"/>
                      <a:r>
                        <a:rPr lang="en-US" sz="900" b="1" u="none" strike="noStrike" dirty="0">
                          <a:effectLst/>
                          <a:latin typeface="Arial" panose="020B0604020202020204" pitchFamily="34" charset="0"/>
                          <a:cs typeface="Arial" panose="020B0604020202020204" pitchFamily="34" charset="0"/>
                        </a:rPr>
                        <a:t>Pad Name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I/O</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Circuit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Description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127274">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O1 ~ O4</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Load</a:t>
                      </a:r>
                      <a:endParaRPr 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32762005"/>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kern="12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VSS</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GND</a:t>
                      </a:r>
                      <a:endParaRPr lang="ko-KR"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5912342"/>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FBO</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Output (OD)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FB Output (Open-drain)</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7900053"/>
                  </a:ext>
                </a:extLst>
              </a:tr>
              <a:tr h="1205090">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66FF"/>
                          </a:solidFill>
                          <a:effectLst/>
                          <a:latin typeface="Arial" panose="020B0604020202020204" pitchFamily="34" charset="0"/>
                          <a:ea typeface="+mn-ea"/>
                          <a:cs typeface="Arial" panose="020B0604020202020204" pitchFamily="34" charset="0"/>
                        </a:rPr>
                        <a:t>FBI</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FF00FF"/>
                          </a:solidFill>
                          <a:effectLst/>
                          <a:latin typeface="Arial" panose="020B0604020202020204" pitchFamily="34" charset="0"/>
                          <a:ea typeface="+mn-ea"/>
                          <a:cs typeface="Arial" panose="020B0604020202020204" pitchFamily="34" charset="0"/>
                        </a:rPr>
                        <a:t>VSO</a:t>
                      </a:r>
                      <a:r>
                        <a:rPr lang="en-US" altLang="ko-KR" sz="900" b="0" i="0" u="none" strike="noStrike" baseline="0" dirty="0">
                          <a:solidFill>
                            <a:schemeClr val="tx1"/>
                          </a:solidFill>
                          <a:effectLst/>
                          <a:latin typeface="Arial" panose="020B0604020202020204" pitchFamily="34" charset="0"/>
                          <a:ea typeface="+mn-ea"/>
                          <a:cs typeface="Arial" panose="020B0604020202020204" pitchFamily="34" charset="0"/>
                        </a:rPr>
                        <a:t>/</a:t>
                      </a:r>
                      <a:r>
                        <a:rPr lang="en-US" altLang="ko-KR" sz="900" b="0" i="0" u="none" strike="noStrike" baseline="0" dirty="0">
                          <a:solidFill>
                            <a:srgbClr val="00CC00"/>
                          </a:solidFill>
                          <a:effectLst/>
                          <a:latin typeface="Arial" panose="020B0604020202020204" pitchFamily="34" charset="0"/>
                          <a:ea typeface="+mn-ea"/>
                          <a:cs typeface="Arial" panose="020B0604020202020204" pitchFamily="34" charset="0"/>
                        </a:rPr>
                        <a:t>VSI  </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 FB (daisied) Input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2. VSYNC (daisied) Output</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3. VSYNC Input</a:t>
                      </a:r>
                    </a:p>
                    <a:p>
                      <a:pPr marL="0" marR="0" lvl="0" indent="0" algn="l"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if not used,</a:t>
                      </a:r>
                    </a:p>
                    <a:p>
                      <a:pPr marL="0" marR="0" lvl="0" indent="0" algn="l"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connect to GND</a:t>
                      </a:r>
                      <a:endParaRPr kumimoji="0" lang="ko-KR"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36000"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9342348"/>
                  </a:ext>
                </a:extLst>
              </a:tr>
            </a:tbl>
          </a:graphicData>
        </a:graphic>
      </p:graphicFrame>
      <p:cxnSp>
        <p:nvCxnSpPr>
          <p:cNvPr id="84" name="직선 연결선 83">
            <a:extLst>
              <a:ext uri="{FF2B5EF4-FFF2-40B4-BE49-F238E27FC236}">
                <a16:creationId xmlns:a16="http://schemas.microsoft.com/office/drawing/2014/main" id="{36EF345C-8049-F1D7-B860-4C2175C8ECC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E11F6DD-1AF4-D115-8657-7872965735F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0972CC83-802F-A2BC-0D24-27F85E48937F}"/>
              </a:ext>
            </a:extLst>
          </p:cNvPr>
          <p:cNvSpPr txBox="1"/>
          <p:nvPr/>
        </p:nvSpPr>
        <p:spPr>
          <a:xfrm>
            <a:off x="404813" y="90269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Equivalent Circuits of individual pins</a:t>
            </a:r>
          </a:p>
        </p:txBody>
      </p:sp>
      <p:pic>
        <p:nvPicPr>
          <p:cNvPr id="7" name="그림 6">
            <a:extLst>
              <a:ext uri="{FF2B5EF4-FFF2-40B4-BE49-F238E27FC236}">
                <a16:creationId xmlns:a16="http://schemas.microsoft.com/office/drawing/2014/main" id="{4AE97057-DCB7-C569-D3EB-4D0846DFD8A1}"/>
              </a:ext>
            </a:extLst>
          </p:cNvPr>
          <p:cNvPicPr>
            <a:picLocks noChangeAspect="1"/>
          </p:cNvPicPr>
          <p:nvPr/>
        </p:nvPicPr>
        <p:blipFill>
          <a:blip r:embed="rId2"/>
          <a:stretch>
            <a:fillRect/>
          </a:stretch>
        </p:blipFill>
        <p:spPr>
          <a:xfrm>
            <a:off x="2721895" y="1846437"/>
            <a:ext cx="1109397" cy="765191"/>
          </a:xfrm>
          <a:prstGeom prst="rect">
            <a:avLst/>
          </a:prstGeom>
        </p:spPr>
      </p:pic>
      <p:grpSp>
        <p:nvGrpSpPr>
          <p:cNvPr id="2" name="그룹 1">
            <a:extLst>
              <a:ext uri="{FF2B5EF4-FFF2-40B4-BE49-F238E27FC236}">
                <a16:creationId xmlns:a16="http://schemas.microsoft.com/office/drawing/2014/main" id="{FDF14C69-041A-DAEC-CFB9-B1E0BD8FF95C}"/>
              </a:ext>
            </a:extLst>
          </p:cNvPr>
          <p:cNvGrpSpPr/>
          <p:nvPr/>
        </p:nvGrpSpPr>
        <p:grpSpPr>
          <a:xfrm>
            <a:off x="2807104" y="4142420"/>
            <a:ext cx="1025276" cy="974255"/>
            <a:chOff x="2687819" y="3003631"/>
            <a:chExt cx="1094210" cy="1114062"/>
          </a:xfrm>
        </p:grpSpPr>
        <p:pic>
          <p:nvPicPr>
            <p:cNvPr id="16" name="그림 15">
              <a:extLst>
                <a:ext uri="{FF2B5EF4-FFF2-40B4-BE49-F238E27FC236}">
                  <a16:creationId xmlns:a16="http://schemas.microsoft.com/office/drawing/2014/main" id="{814367FD-FD52-0506-80EC-5C696F01D8FC}"/>
                </a:ext>
              </a:extLst>
            </p:cNvPr>
            <p:cNvPicPr>
              <a:picLocks noChangeAspect="1"/>
            </p:cNvPicPr>
            <p:nvPr/>
          </p:nvPicPr>
          <p:blipFill>
            <a:blip r:embed="rId3"/>
            <a:stretch>
              <a:fillRect/>
            </a:stretch>
          </p:blipFill>
          <p:spPr>
            <a:xfrm>
              <a:off x="2687819" y="3036852"/>
              <a:ext cx="1094210" cy="1080841"/>
            </a:xfrm>
            <a:prstGeom prst="rect">
              <a:avLst/>
            </a:prstGeom>
          </p:spPr>
        </p:pic>
        <p:sp>
          <p:nvSpPr>
            <p:cNvPr id="19" name="TextBox 152">
              <a:extLst>
                <a:ext uri="{FF2B5EF4-FFF2-40B4-BE49-F238E27FC236}">
                  <a16:creationId xmlns:a16="http://schemas.microsoft.com/office/drawing/2014/main" id="{81BB5FB2-743E-175F-E2CA-2AD0325A8909}"/>
                </a:ext>
              </a:extLst>
            </p:cNvPr>
            <p:cNvSpPr txBox="1"/>
            <p:nvPr/>
          </p:nvSpPr>
          <p:spPr>
            <a:xfrm>
              <a:off x="3004471" y="3003631"/>
              <a:ext cx="297480" cy="140348"/>
            </a:xfrm>
            <a:prstGeom prst="rect">
              <a:avLst/>
            </a:prstGeom>
            <a:solidFill>
              <a:schemeClr val="bg1"/>
            </a:solidFill>
          </p:spPr>
          <p:txBody>
            <a:bodyPr wrap="square" lIns="0" tIns="0" rIns="0" bIns="0" rtlCol="0" anchor="ctr" anchorCtr="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altLang="ko-KR" sz="700" dirty="0">
                  <a:latin typeface="+mn-ea"/>
                </a:rPr>
                <a:t>V</a:t>
              </a:r>
              <a:r>
                <a:rPr lang="en-US" altLang="ko-KR" sz="700" baseline="-25000" dirty="0">
                  <a:latin typeface="+mn-ea"/>
                </a:rPr>
                <a:t>DD</a:t>
              </a:r>
              <a:endParaRPr lang="ko-KR" altLang="en-US" sz="700" baseline="-25000" dirty="0">
                <a:latin typeface="+mn-ea"/>
              </a:endParaRPr>
            </a:p>
          </p:txBody>
        </p:sp>
      </p:grpSp>
      <p:sp>
        <p:nvSpPr>
          <p:cNvPr id="11" name="object 84">
            <a:extLst>
              <a:ext uri="{FF2B5EF4-FFF2-40B4-BE49-F238E27FC236}">
                <a16:creationId xmlns:a16="http://schemas.microsoft.com/office/drawing/2014/main" id="{41F1943B-FA41-8E46-47DD-53AE9101465C}"/>
              </a:ext>
            </a:extLst>
          </p:cNvPr>
          <p:cNvSpPr txBox="1"/>
          <p:nvPr/>
        </p:nvSpPr>
        <p:spPr>
          <a:xfrm>
            <a:off x="2107127" y="7884771"/>
            <a:ext cx="2678297"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4  Equivalent Circuits of individual pins</a:t>
            </a:r>
          </a:p>
        </p:txBody>
      </p:sp>
      <p:pic>
        <p:nvPicPr>
          <p:cNvPr id="8" name="그림 7">
            <a:extLst>
              <a:ext uri="{FF2B5EF4-FFF2-40B4-BE49-F238E27FC236}">
                <a16:creationId xmlns:a16="http://schemas.microsoft.com/office/drawing/2014/main" id="{4249DD87-697C-584C-A2E6-E6A415E346E0}"/>
              </a:ext>
            </a:extLst>
          </p:cNvPr>
          <p:cNvPicPr>
            <a:picLocks noChangeAspect="1"/>
          </p:cNvPicPr>
          <p:nvPr/>
        </p:nvPicPr>
        <p:blipFill>
          <a:blip r:embed="rId2"/>
          <a:stretch>
            <a:fillRect/>
          </a:stretch>
        </p:blipFill>
        <p:spPr>
          <a:xfrm>
            <a:off x="2691104" y="2996114"/>
            <a:ext cx="1170192" cy="772701"/>
          </a:xfrm>
          <a:prstGeom prst="rect">
            <a:avLst/>
          </a:prstGeom>
        </p:spPr>
      </p:pic>
      <p:pic>
        <p:nvPicPr>
          <p:cNvPr id="57" name="그림 56">
            <a:extLst>
              <a:ext uri="{FF2B5EF4-FFF2-40B4-BE49-F238E27FC236}">
                <a16:creationId xmlns:a16="http://schemas.microsoft.com/office/drawing/2014/main" id="{1ACDB6F9-0CD4-0C5B-56A6-7770F9F7D3E5}"/>
              </a:ext>
            </a:extLst>
          </p:cNvPr>
          <p:cNvPicPr>
            <a:picLocks noChangeAspect="1"/>
          </p:cNvPicPr>
          <p:nvPr/>
        </p:nvPicPr>
        <p:blipFill>
          <a:blip r:embed="rId4"/>
          <a:stretch>
            <a:fillRect/>
          </a:stretch>
        </p:blipFill>
        <p:spPr>
          <a:xfrm>
            <a:off x="2721895" y="6567253"/>
            <a:ext cx="1168491" cy="984325"/>
          </a:xfrm>
          <a:prstGeom prst="rect">
            <a:avLst/>
          </a:prstGeom>
        </p:spPr>
      </p:pic>
      <p:pic>
        <p:nvPicPr>
          <p:cNvPr id="58" name="그림 57">
            <a:extLst>
              <a:ext uri="{FF2B5EF4-FFF2-40B4-BE49-F238E27FC236}">
                <a16:creationId xmlns:a16="http://schemas.microsoft.com/office/drawing/2014/main" id="{6A781471-EBF0-28AF-D44F-AEE246AF97EB}"/>
              </a:ext>
            </a:extLst>
          </p:cNvPr>
          <p:cNvPicPr>
            <a:picLocks noChangeAspect="1"/>
          </p:cNvPicPr>
          <p:nvPr/>
        </p:nvPicPr>
        <p:blipFill>
          <a:blip r:embed="rId5"/>
          <a:stretch>
            <a:fillRect/>
          </a:stretch>
        </p:blipFill>
        <p:spPr>
          <a:xfrm>
            <a:off x="2767654" y="5420134"/>
            <a:ext cx="1064223" cy="889206"/>
          </a:xfrm>
          <a:prstGeom prst="rect">
            <a:avLst/>
          </a:prstGeom>
        </p:spPr>
      </p:pic>
    </p:spTree>
    <p:extLst>
      <p:ext uri="{BB962C8B-B14F-4D97-AF65-F5344CB8AC3E}">
        <p14:creationId xmlns:p14="http://schemas.microsoft.com/office/powerpoint/2010/main" val="1723755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E214AA83-7B99-5FBF-03E1-15B4E303CF95}"/>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DC18EAC6-8FF4-4DC7-B3C5-B0BB5CC180C4}"/>
              </a:ext>
            </a:extLst>
          </p:cNvPr>
          <p:cNvSpPr txBox="1"/>
          <p:nvPr/>
        </p:nvSpPr>
        <p:spPr>
          <a:xfrm>
            <a:off x="40085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Maximum Absolute ratings </a:t>
            </a:r>
            <a:r>
              <a:rPr lang="en-US" altLang="ko-KR" sz="900" dirty="0">
                <a:latin typeface="Arial" panose="020B0604020202020204" pitchFamily="34" charset="0"/>
                <a:cs typeface="Arial" panose="020B0604020202020204" pitchFamily="34" charset="0"/>
              </a:rPr>
              <a:t>(Ta = 25℃ unless otherwise noted)</a:t>
            </a:r>
            <a:endParaRPr lang="ko-KR" altLang="en-US" sz="1200" dirty="0">
              <a:latin typeface="Arial" panose="020B0604020202020204" pitchFamily="34" charset="0"/>
              <a:cs typeface="Arial" panose="020B0604020202020204" pitchFamily="34" charset="0"/>
            </a:endParaRPr>
          </a:p>
        </p:txBody>
      </p:sp>
      <p:graphicFrame>
        <p:nvGraphicFramePr>
          <p:cNvPr id="7" name="표 6">
            <a:extLst>
              <a:ext uri="{FF2B5EF4-FFF2-40B4-BE49-F238E27FC236}">
                <a16:creationId xmlns:a16="http://schemas.microsoft.com/office/drawing/2014/main" id="{57099848-8D5D-8367-A689-701F7F20826F}"/>
              </a:ext>
            </a:extLst>
          </p:cNvPr>
          <p:cNvGraphicFramePr>
            <a:graphicFrameLocks noGrp="1"/>
          </p:cNvGraphicFramePr>
          <p:nvPr>
            <p:extLst>
              <p:ext uri="{D42A27DB-BD31-4B8C-83A1-F6EECF244321}">
                <p14:modId xmlns:p14="http://schemas.microsoft.com/office/powerpoint/2010/main" val="574538414"/>
              </p:ext>
            </p:extLst>
          </p:nvPr>
        </p:nvGraphicFramePr>
        <p:xfrm>
          <a:off x="400854" y="1151755"/>
          <a:ext cx="6048620" cy="3996861"/>
        </p:xfrm>
        <a:graphic>
          <a:graphicData uri="http://schemas.openxmlformats.org/drawingml/2006/table">
            <a:tbl>
              <a:tblPr>
                <a:tableStyleId>{5C22544A-7EE6-4342-B048-85BDC9FD1C3A}</a:tableStyleId>
              </a:tblPr>
              <a:tblGrid>
                <a:gridCol w="2430328">
                  <a:extLst>
                    <a:ext uri="{9D8B030D-6E8A-4147-A177-3AD203B41FA5}">
                      <a16:colId xmlns:a16="http://schemas.microsoft.com/office/drawing/2014/main" val="1199541810"/>
                    </a:ext>
                  </a:extLst>
                </a:gridCol>
                <a:gridCol w="935844">
                  <a:extLst>
                    <a:ext uri="{9D8B030D-6E8A-4147-A177-3AD203B41FA5}">
                      <a16:colId xmlns:a16="http://schemas.microsoft.com/office/drawing/2014/main" val="2771136683"/>
                    </a:ext>
                  </a:extLst>
                </a:gridCol>
                <a:gridCol w="2119972">
                  <a:extLst>
                    <a:ext uri="{9D8B030D-6E8A-4147-A177-3AD203B41FA5}">
                      <a16:colId xmlns:a16="http://schemas.microsoft.com/office/drawing/2014/main" val="112759525"/>
                    </a:ext>
                  </a:extLst>
                </a:gridCol>
                <a:gridCol w="562476">
                  <a:extLst>
                    <a:ext uri="{9D8B030D-6E8A-4147-A177-3AD203B41FA5}">
                      <a16:colId xmlns:a16="http://schemas.microsoft.com/office/drawing/2014/main" val="3900317923"/>
                    </a:ext>
                  </a:extLst>
                </a:gridCol>
              </a:tblGrid>
              <a:tr h="315612">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Supply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-0.3 ~ 6.5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283173">
                <a:tc>
                  <a:txBody>
                    <a:bodyPr/>
                    <a:lstStyle/>
                    <a:p>
                      <a:pPr algn="ctr" fontAlgn="ctr"/>
                      <a:r>
                        <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pin voltage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80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output current</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128</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3604288"/>
                  </a:ext>
                </a:extLst>
              </a:tr>
              <a:tr h="283173">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to GND</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DDIO</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 ~ V</a:t>
                      </a:r>
                      <a:r>
                        <a:rPr kumimoji="0" lang="en-US" altLang="ko-KR" sz="900" b="0" i="0" u="none" strike="noStrike" kern="1200" cap="none" spc="0" normalizeH="0" baseline="-2500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DD</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+0.3</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2768681"/>
                  </a:ext>
                </a:extLst>
              </a:tr>
              <a:tr h="283173">
                <a:tc>
                  <a:txBody>
                    <a:bodyPr/>
                    <a:lstStyle/>
                    <a:p>
                      <a:pPr marR="149860" algn="l">
                        <a:spcBef>
                          <a:spcPts val="115"/>
                        </a:spcBef>
                        <a:spcAft>
                          <a:spcPts val="0"/>
                        </a:spcAft>
                      </a:pPr>
                      <a:r>
                        <a:rPr lang="en-US" sz="900" dirty="0">
                          <a:effectLst/>
                          <a:latin typeface="Arial" panose="020B0604020202020204" pitchFamily="34" charset="0"/>
                          <a:ea typeface="Arial" panose="020B0604020202020204" pitchFamily="34" charset="0"/>
                          <a:cs typeface="Arial" panose="020B0604020202020204" pitchFamily="34" charset="0"/>
                        </a:rPr>
                        <a:t> Thermal</a:t>
                      </a:r>
                      <a:r>
                        <a:rPr lang="en-US" sz="900" spc="-25" dirty="0">
                          <a:effectLst/>
                          <a:latin typeface="Arial" panose="020B0604020202020204" pitchFamily="34" charset="0"/>
                          <a:ea typeface="Arial" panose="020B0604020202020204" pitchFamily="34" charset="0"/>
                          <a:cs typeface="Arial" panose="020B0604020202020204" pitchFamily="34" charset="0"/>
                        </a:rPr>
                        <a:t> </a:t>
                      </a:r>
                      <a:r>
                        <a:rPr lang="en-US" sz="900" dirty="0">
                          <a:effectLst/>
                          <a:latin typeface="Arial" panose="020B0604020202020204" pitchFamily="34" charset="0"/>
                          <a:ea typeface="Arial" panose="020B0604020202020204" pitchFamily="34" charset="0"/>
                          <a:cs typeface="Arial" panose="020B0604020202020204" pitchFamily="34" charset="0"/>
                        </a:rPr>
                        <a:t>Resistance</a:t>
                      </a:r>
                      <a:endParaRPr lang="ko-KR" sz="900" dirty="0">
                        <a:effectLst/>
                        <a:latin typeface="Arial" panose="020B0604020202020204" pitchFamily="34" charset="0"/>
                        <a:ea typeface="Arial" panose="020B0604020202020204" pitchFamily="34" charset="0"/>
                        <a:cs typeface="Arial" panose="020B0604020202020204" pitchFamily="34" charset="0"/>
                      </a:endParaRPr>
                    </a:p>
                  </a:txBody>
                  <a:tcPr marL="0" marR="0" marT="0" marB="0" anchor="ctr">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6949784"/>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Ambient </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0" marR="7200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JA</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172846"/>
                  </a:ext>
                </a:extLst>
              </a:tr>
              <a:tr h="283173">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Arial" panose="020B0604020202020204" pitchFamily="34" charset="0"/>
                        </a:rPr>
                        <a:t>Junction</a:t>
                      </a:r>
                      <a:r>
                        <a:rPr lang="en-US" altLang="ko-KR" sz="900" spc="-5" dirty="0">
                          <a:effectLst/>
                          <a:latin typeface="Arial" panose="020B0604020202020204" pitchFamily="34" charset="0"/>
                          <a:ea typeface="Arial" panose="020B0604020202020204" pitchFamily="34" charset="0"/>
                          <a:cs typeface="Arial" panose="020B0604020202020204" pitchFamily="34" charset="0"/>
                        </a:rPr>
                        <a:t> </a:t>
                      </a:r>
                      <a:r>
                        <a:rPr lang="en-US" altLang="ko-KR" sz="900" dirty="0">
                          <a:effectLst/>
                          <a:latin typeface="Arial" panose="020B0604020202020204" pitchFamily="34" charset="0"/>
                          <a:ea typeface="Arial" panose="020B0604020202020204" pitchFamily="34" charset="0"/>
                          <a:cs typeface="Arial" panose="020B0604020202020204" pitchFamily="34" charset="0"/>
                        </a:rPr>
                        <a:t>to</a:t>
                      </a:r>
                      <a:r>
                        <a:rPr lang="en-US" altLang="ko-KR" sz="900" spc="-15" dirty="0">
                          <a:effectLst/>
                          <a:latin typeface="Arial" panose="020B0604020202020204" pitchFamily="34" charset="0"/>
                          <a:ea typeface="Arial" panose="020B0604020202020204" pitchFamily="34" charset="0"/>
                          <a:cs typeface="Arial" panose="020B0604020202020204" pitchFamily="34" charset="0"/>
                        </a:rPr>
                        <a:t> Case</a:t>
                      </a:r>
                      <a:endParaRPr lang="ko-KR" altLang="ko-KR" sz="900" dirty="0">
                        <a:effectLst/>
                        <a:latin typeface="Arial" panose="020B0604020202020204" pitchFamily="34" charset="0"/>
                        <a:ea typeface="Arial" panose="020B0604020202020204" pitchFamily="34" charset="0"/>
                        <a:cs typeface="Arial" panose="020B0604020202020204" pitchFamily="34" charset="0"/>
                      </a:endParaRPr>
                    </a:p>
                  </a:txBody>
                  <a:tcPr marL="9525" marR="72000"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l-G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θ</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JC</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℃/W</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727682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Power Dissipation on package</a:t>
                      </a:r>
                      <a:endParaRPr lang="en-US"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P</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TOT</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 </a:t>
                      </a:r>
                      <a:r>
                        <a:rPr lang="en-US" altLang="ko-KR" sz="900" b="0" i="0" u="none" strike="noStrike" baseline="30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W</a:t>
                      </a: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7858887"/>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Junction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J</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-20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51205"/>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Storage temperature</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STG</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 ~ 150</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ko-KR" alt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4738261"/>
                  </a:ext>
                </a:extLst>
              </a:tr>
              <a:tr h="283173">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Relative Humidity (non-condensing)</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RH</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NC</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5 ~ 85</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3496677"/>
                  </a:ext>
                </a:extLst>
              </a:tr>
              <a:tr h="283173">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Moisture Sensitivity</a:t>
                      </a:r>
                    </a:p>
                  </a:txBody>
                  <a:tcPr marL="9525" marR="9525" marT="9525"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MSL</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Maximum Floor Life-time</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9525" marR="9525" marT="9525"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059752"/>
                  </a:ext>
                </a:extLst>
              </a:tr>
            </a:tbl>
          </a:graphicData>
        </a:graphic>
      </p:graphicFrame>
      <p:sp>
        <p:nvSpPr>
          <p:cNvPr id="4" name="object 16">
            <a:extLst>
              <a:ext uri="{FF2B5EF4-FFF2-40B4-BE49-F238E27FC236}">
                <a16:creationId xmlns:a16="http://schemas.microsoft.com/office/drawing/2014/main" id="{A4084F88-9010-4696-1BAA-495143ED72A1}"/>
              </a:ext>
            </a:extLst>
          </p:cNvPr>
          <p:cNvSpPr txBox="1"/>
          <p:nvPr/>
        </p:nvSpPr>
        <p:spPr>
          <a:xfrm>
            <a:off x="400853" y="5249697"/>
            <a:ext cx="6044661" cy="302647"/>
          </a:xfrm>
          <a:prstGeom prst="rect">
            <a:avLst/>
          </a:prstGeom>
        </p:spPr>
        <p:txBody>
          <a:bodyPr vert="horz" wrap="square" lIns="0" tIns="12700" rIns="0" bIns="0" rtlCol="0">
            <a:spAutoFit/>
          </a:bodyPr>
          <a:lstStyle/>
          <a:p>
            <a:pPr marL="38100">
              <a:lnSpc>
                <a:spcPct val="100000"/>
              </a:lnSpc>
              <a:spcBef>
                <a:spcPts val="100"/>
              </a:spcBef>
            </a:pPr>
            <a:r>
              <a:rPr lang="en-US" sz="900" dirty="0">
                <a:latin typeface="Arial" panose="020B0604020202020204" pitchFamily="34" charset="0"/>
                <a:cs typeface="Arial" panose="020B0604020202020204" pitchFamily="34" charset="0"/>
              </a:rPr>
              <a:t>Stresses beyond the Maximum Absolute ratings may cause permanent damage to the device </a:t>
            </a:r>
          </a:p>
          <a:p>
            <a:pPr marL="38100">
              <a:lnSpc>
                <a:spcPct val="100000"/>
              </a:lnSpc>
              <a:spcBef>
                <a:spcPts val="100"/>
              </a:spcBef>
            </a:pPr>
            <a:r>
              <a:rPr lang="en-US" sz="900" dirty="0">
                <a:latin typeface="Arial" panose="020B0604020202020204" pitchFamily="34" charset="0"/>
                <a:cs typeface="Arial" panose="020B0604020202020204" pitchFamily="34" charset="0"/>
              </a:rPr>
              <a:t>Note :  1) Surface mounted on FR-4 substrate PC Board 1” x 1” inch 2-oz copper plate</a:t>
            </a:r>
            <a:endParaRPr lang="en-US" sz="900" spc="-5" dirty="0">
              <a:latin typeface="Arial" panose="020B0604020202020204" pitchFamily="34" charset="0"/>
              <a:cs typeface="Arial" panose="020B0604020202020204" pitchFamily="34" charset="0"/>
            </a:endParaRPr>
          </a:p>
        </p:txBody>
      </p:sp>
      <p:graphicFrame>
        <p:nvGraphicFramePr>
          <p:cNvPr id="9" name="표 8">
            <a:extLst>
              <a:ext uri="{FF2B5EF4-FFF2-40B4-BE49-F238E27FC236}">
                <a16:creationId xmlns:a16="http://schemas.microsoft.com/office/drawing/2014/main" id="{810DCDA2-81EE-96C0-FE74-2D9242906A9E}"/>
              </a:ext>
            </a:extLst>
          </p:cNvPr>
          <p:cNvGraphicFramePr>
            <a:graphicFrameLocks noGrp="1"/>
          </p:cNvGraphicFramePr>
          <p:nvPr>
            <p:extLst>
              <p:ext uri="{D42A27DB-BD31-4B8C-83A1-F6EECF244321}">
                <p14:modId xmlns:p14="http://schemas.microsoft.com/office/powerpoint/2010/main" val="2516771627"/>
              </p:ext>
            </p:extLst>
          </p:nvPr>
        </p:nvGraphicFramePr>
        <p:xfrm>
          <a:off x="400853" y="6778467"/>
          <a:ext cx="6048621" cy="1158313"/>
        </p:xfrm>
        <a:graphic>
          <a:graphicData uri="http://schemas.openxmlformats.org/drawingml/2006/table">
            <a:tbl>
              <a:tblPr>
                <a:tableStyleId>{5C22544A-7EE6-4342-B048-85BDC9FD1C3A}</a:tableStyleId>
              </a:tblPr>
              <a:tblGrid>
                <a:gridCol w="2424503">
                  <a:extLst>
                    <a:ext uri="{9D8B030D-6E8A-4147-A177-3AD203B41FA5}">
                      <a16:colId xmlns:a16="http://schemas.microsoft.com/office/drawing/2014/main" val="1320303658"/>
                    </a:ext>
                  </a:extLst>
                </a:gridCol>
                <a:gridCol w="941668">
                  <a:extLst>
                    <a:ext uri="{9D8B030D-6E8A-4147-A177-3AD203B41FA5}">
                      <a16:colId xmlns:a16="http://schemas.microsoft.com/office/drawing/2014/main" val="1181630776"/>
                    </a:ext>
                  </a:extLst>
                </a:gridCol>
                <a:gridCol w="805877">
                  <a:extLst>
                    <a:ext uri="{9D8B030D-6E8A-4147-A177-3AD203B41FA5}">
                      <a16:colId xmlns:a16="http://schemas.microsoft.com/office/drawing/2014/main" val="3949318443"/>
                    </a:ext>
                  </a:extLst>
                </a:gridCol>
                <a:gridCol w="401076">
                  <a:extLst>
                    <a:ext uri="{9D8B030D-6E8A-4147-A177-3AD203B41FA5}">
                      <a16:colId xmlns:a16="http://schemas.microsoft.com/office/drawing/2014/main" val="3257084413"/>
                    </a:ext>
                  </a:extLst>
                </a:gridCol>
                <a:gridCol w="1475497">
                  <a:extLst>
                    <a:ext uri="{9D8B030D-6E8A-4147-A177-3AD203B41FA5}">
                      <a16:colId xmlns:a16="http://schemas.microsoft.com/office/drawing/2014/main" val="3840390301"/>
                    </a:ext>
                  </a:extLst>
                </a:gridCol>
              </a:tblGrid>
              <a:tr h="322605">
                <a:tc>
                  <a:txBody>
                    <a:bodyPr/>
                    <a:lstStyle/>
                    <a:p>
                      <a:pPr algn="ctr" fontAlgn="ctr"/>
                      <a:r>
                        <a:rPr lang="en-US" sz="900" b="1" u="none" strike="noStrike" dirty="0">
                          <a:effectLst/>
                          <a:latin typeface="Arial" panose="020B0604020202020204" pitchFamily="34" charset="0"/>
                          <a:cs typeface="Arial" panose="020B0604020202020204" pitchFamily="34" charset="0"/>
                        </a:rPr>
                        <a:t>Parameter</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sz="900" b="1" u="none" strike="noStrike" dirty="0">
                          <a:effectLst/>
                          <a:latin typeface="Arial" panose="020B0604020202020204" pitchFamily="34" charset="0"/>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ctr" fontAlgn="ctr"/>
                      <a:r>
                        <a:rPr lang="en-US" alt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Remark</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4207" marR="4207" marT="4207"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316782134"/>
                  </a:ext>
                </a:extLst>
              </a:tr>
              <a:tr h="417854">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Electrostatic Discharge HBM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HBM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2K</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C=100 pF, R=1.5 k</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1251016"/>
                  </a:ext>
                </a:extLst>
              </a:tr>
              <a:tr h="417854">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Electrostatic Discharge CDM</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 Contact</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ESD</a:t>
                      </a:r>
                      <a:r>
                        <a:rPr lang="en-US" sz="900" kern="0" baseline="-25000" dirty="0">
                          <a:effectLst/>
                          <a:latin typeface="Arial" panose="020B0604020202020204" pitchFamily="34" charset="0"/>
                          <a:ea typeface="맑은 고딕" panose="020B0503020000020004" pitchFamily="50" charset="-127"/>
                          <a:cs typeface="Arial" panose="020B0604020202020204" pitchFamily="34" charset="0"/>
                        </a:rPr>
                        <a:t>CDM</a:t>
                      </a:r>
                      <a:endParaRPr lang="ko-KR" sz="900" kern="100" baseline="-250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zh-CN" sz="900" kern="0" dirty="0">
                          <a:effectLst/>
                          <a:latin typeface="Arial" panose="020B0604020202020204" pitchFamily="34" charset="0"/>
                          <a:ea typeface="MyriadPro-Regular"/>
                          <a:cs typeface="Arial" panose="020B0604020202020204" pitchFamily="34" charset="0"/>
                        </a:rPr>
                        <a:t>±</a:t>
                      </a:r>
                      <a:r>
                        <a:rPr lang="en-US" sz="900" kern="0" dirty="0">
                          <a:effectLst/>
                          <a:latin typeface="Arial" panose="020B0604020202020204" pitchFamily="34" charset="0"/>
                          <a:ea typeface="맑은 고딕" panose="020B0503020000020004" pitchFamily="50" charset="-127"/>
                          <a:cs typeface="Arial" panose="020B0604020202020204" pitchFamily="34" charset="0"/>
                        </a:rPr>
                        <a:t>500</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100" dirty="0">
                          <a:effectLst/>
                          <a:latin typeface="Arial" panose="020B0604020202020204" pitchFamily="34" charset="0"/>
                          <a:ea typeface="맑은 고딕" panose="020B0503020000020004" pitchFamily="50" charset="-127"/>
                          <a:cs typeface="Arial" panose="020B0604020202020204" pitchFamily="34" charset="0"/>
                        </a:rPr>
                        <a:t>V</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0">
                        <a:lnSpc>
                          <a:spcPts val="1000"/>
                        </a:lnSpc>
                      </a:pPr>
                      <a:r>
                        <a:rPr lang="en-US" sz="900" kern="0" dirty="0">
                          <a:effectLst/>
                          <a:latin typeface="Arial" panose="020B0604020202020204" pitchFamily="34" charset="0"/>
                          <a:ea typeface="맑은 고딕" panose="020B0503020000020004" pitchFamily="50" charset="-127"/>
                          <a:cs typeface="Arial" panose="020B0604020202020204" pitchFamily="34" charset="0"/>
                        </a:rPr>
                        <a:t>R=1 </a:t>
                      </a:r>
                      <a:r>
                        <a:rPr lang="ko-KR" sz="900" kern="0" dirty="0">
                          <a:effectLst/>
                          <a:latin typeface="Arial" panose="020B0604020202020204" pitchFamily="34" charset="0"/>
                          <a:ea typeface="맑은 고딕" panose="020B0503020000020004" pitchFamily="50" charset="-127"/>
                          <a:cs typeface="Arial" panose="020B0604020202020204" pitchFamily="34" charset="0"/>
                        </a:rPr>
                        <a:t>Ω</a:t>
                      </a:r>
                      <a:endParaRPr lang="ko-KR" sz="900" kern="100" dirty="0">
                        <a:effectLst/>
                        <a:latin typeface="Arial" panose="020B0604020202020204" pitchFamily="34" charset="0"/>
                        <a:ea typeface="맑은 고딕" panose="020B0503020000020004" pitchFamily="50" charset="-127"/>
                        <a:cs typeface="Arial" panose="020B0604020202020204" pitchFamily="34" charset="0"/>
                      </a:endParaRPr>
                    </a:p>
                  </a:txBody>
                  <a:tcPr marL="68580" marR="68580" marT="0" marB="0" anchor="ctr">
                    <a:lnL w="31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5324812"/>
                  </a:ext>
                </a:extLst>
              </a:tr>
            </a:tbl>
          </a:graphicData>
        </a:graphic>
      </p:graphicFrame>
      <p:sp>
        <p:nvSpPr>
          <p:cNvPr id="12" name="TextBox 11">
            <a:extLst>
              <a:ext uri="{FF2B5EF4-FFF2-40B4-BE49-F238E27FC236}">
                <a16:creationId xmlns:a16="http://schemas.microsoft.com/office/drawing/2014/main" id="{155BC63C-B164-7381-4527-98D9C2A871D7}"/>
              </a:ext>
            </a:extLst>
          </p:cNvPr>
          <p:cNvSpPr txBox="1"/>
          <p:nvPr/>
        </p:nvSpPr>
        <p:spPr>
          <a:xfrm>
            <a:off x="400853" y="6383797"/>
            <a:ext cx="605258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Electrostatic Discharge</a:t>
            </a:r>
            <a:endParaRPr lang="ko-KR" altLang="en-US" sz="1200" dirty="0">
              <a:latin typeface="Arial" panose="020B0604020202020204" pitchFamily="34" charset="0"/>
              <a:cs typeface="Arial" panose="020B0604020202020204" pitchFamily="34" charset="0"/>
            </a:endParaRPr>
          </a:p>
        </p:txBody>
      </p:sp>
      <p:sp>
        <p:nvSpPr>
          <p:cNvPr id="13" name="object 11">
            <a:extLst>
              <a:ext uri="{FF2B5EF4-FFF2-40B4-BE49-F238E27FC236}">
                <a16:creationId xmlns:a16="http://schemas.microsoft.com/office/drawing/2014/main" id="{939AB7FD-703C-D19E-8B20-B3018F24E70D}"/>
              </a:ext>
            </a:extLst>
          </p:cNvPr>
          <p:cNvSpPr txBox="1"/>
          <p:nvPr/>
        </p:nvSpPr>
        <p:spPr>
          <a:xfrm>
            <a:off x="2554451" y="8111019"/>
            <a:ext cx="179613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3</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Electrostatic Discharge</a:t>
            </a:r>
          </a:p>
        </p:txBody>
      </p:sp>
      <p:sp>
        <p:nvSpPr>
          <p:cNvPr id="14" name="object 11">
            <a:extLst>
              <a:ext uri="{FF2B5EF4-FFF2-40B4-BE49-F238E27FC236}">
                <a16:creationId xmlns:a16="http://schemas.microsoft.com/office/drawing/2014/main" id="{157B3E0D-4B08-C305-CD6E-AE23C20D7A93}"/>
              </a:ext>
            </a:extLst>
          </p:cNvPr>
          <p:cNvSpPr txBox="1"/>
          <p:nvPr/>
        </p:nvSpPr>
        <p:spPr>
          <a:xfrm>
            <a:off x="2412906" y="5713883"/>
            <a:ext cx="2020553" cy="128240"/>
          </a:xfrm>
          <a:prstGeom prst="rect">
            <a:avLst/>
          </a:prstGeom>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lang="en-US" sz="900" b="1" dirty="0">
                <a:solidFill>
                  <a:prstClr val="black"/>
                </a:solidFill>
                <a:latin typeface="Arial" panose="020B0604020202020204" pitchFamily="34" charset="0"/>
                <a:cs typeface="Arial" panose="020B0604020202020204" pitchFamily="34" charset="0"/>
              </a:rPr>
              <a:t>2</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Maximum Absolute ratings </a:t>
            </a:r>
            <a:endParaRPr kumimoji="0" sz="900"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793712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856DBA-E87C-4BBC-DFA5-64204302E04F}"/>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41C9A0C-097D-EE08-29D9-040B16173601}"/>
              </a:ext>
            </a:extLst>
          </p:cNvPr>
          <p:cNvGraphicFramePr>
            <a:graphicFrameLocks noGrp="1"/>
          </p:cNvGraphicFramePr>
          <p:nvPr>
            <p:extLst>
              <p:ext uri="{D42A27DB-BD31-4B8C-83A1-F6EECF244321}">
                <p14:modId xmlns:p14="http://schemas.microsoft.com/office/powerpoint/2010/main" val="2090608976"/>
              </p:ext>
            </p:extLst>
          </p:nvPr>
        </p:nvGraphicFramePr>
        <p:xfrm>
          <a:off x="404814" y="1146144"/>
          <a:ext cx="6048621" cy="6432895"/>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199541810"/>
                    </a:ext>
                  </a:extLst>
                </a:gridCol>
                <a:gridCol w="684027">
                  <a:extLst>
                    <a:ext uri="{9D8B030D-6E8A-4147-A177-3AD203B41FA5}">
                      <a16:colId xmlns:a16="http://schemas.microsoft.com/office/drawing/2014/main" val="2771136683"/>
                    </a:ext>
                  </a:extLst>
                </a:gridCol>
                <a:gridCol w="1809616">
                  <a:extLst>
                    <a:ext uri="{9D8B030D-6E8A-4147-A177-3AD203B41FA5}">
                      <a16:colId xmlns:a16="http://schemas.microsoft.com/office/drawing/2014/main" val="112759525"/>
                    </a:ext>
                  </a:extLst>
                </a:gridCol>
                <a:gridCol w="529993">
                  <a:extLst>
                    <a:ext uri="{9D8B030D-6E8A-4147-A177-3AD203B41FA5}">
                      <a16:colId xmlns:a16="http://schemas.microsoft.com/office/drawing/2014/main" val="2315189607"/>
                    </a:ext>
                  </a:extLst>
                </a:gridCol>
                <a:gridCol w="529993">
                  <a:extLst>
                    <a:ext uri="{9D8B030D-6E8A-4147-A177-3AD203B41FA5}">
                      <a16:colId xmlns:a16="http://schemas.microsoft.com/office/drawing/2014/main" val="1695008994"/>
                    </a:ext>
                  </a:extLst>
                </a:gridCol>
                <a:gridCol w="529993">
                  <a:extLst>
                    <a:ext uri="{9D8B030D-6E8A-4147-A177-3AD203B41FA5}">
                      <a16:colId xmlns:a16="http://schemas.microsoft.com/office/drawing/2014/main" val="1448189180"/>
                    </a:ext>
                  </a:extLst>
                </a:gridCol>
                <a:gridCol w="562477">
                  <a:extLst>
                    <a:ext uri="{9D8B030D-6E8A-4147-A177-3AD203B41FA5}">
                      <a16:colId xmlns:a16="http://schemas.microsoft.com/office/drawing/2014/main" val="3900317923"/>
                    </a:ext>
                  </a:extLst>
                </a:gridCol>
              </a:tblGrid>
              <a:tr h="198471">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142273324"/>
                  </a:ext>
                </a:extLst>
              </a:tr>
              <a:tr h="198471">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827951154"/>
                  </a:ext>
                </a:extLst>
              </a:tr>
              <a:tr h="198471">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Supply voltage</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6008213"/>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Operating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5.5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7949854"/>
                  </a:ext>
                </a:extLst>
              </a:tr>
              <a:tr h="198471">
                <a:tc>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Supply current</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0774392"/>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Quiescent Current </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Standby state, No LED current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1.7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74298844"/>
                  </a:ext>
                </a:extLst>
              </a:tr>
              <a:tr h="198471">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1</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DD1</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rPr>
                        <a:t>TBD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01592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16mA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977083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24mA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21691964"/>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4</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32mA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3255047"/>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5</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48mA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421235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6</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64mA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9918571"/>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7</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92mA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4940259"/>
                  </a:ext>
                </a:extLst>
              </a:tr>
              <a:tr h="198471">
                <a:tc>
                  <a:txBody>
                    <a:bodyPr/>
                    <a:lstStyle/>
                    <a:p>
                      <a:pPr algn="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Operating Current 8</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DD8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pt-BR"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All output sink current = 128mA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rPr>
                        <a:t>TBD</a:t>
                      </a:r>
                      <a:endParaRPr kumimoji="0" lang="en-US" altLang="ko-KR" sz="900" b="0" i="0" u="none" strike="noStrike" kern="1200" cap="none" spc="0" normalizeH="0" baseline="0" noProof="0" dirty="0">
                        <a:ln>
                          <a:noFill/>
                        </a:ln>
                        <a:solidFill>
                          <a:schemeClr val="tx1"/>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41170575"/>
                  </a:ext>
                </a:extLst>
              </a:tr>
              <a:tr h="198471">
                <a:tc>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Oscillator</a:t>
                      </a: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it-IT"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929154"/>
                  </a:ext>
                </a:extLst>
              </a:tr>
              <a:tr h="19847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MCLK</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f</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OSC</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MHz</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860487"/>
                  </a:ext>
                </a:extLst>
              </a:tr>
              <a:tr h="198471">
                <a:tc gridSpan="7">
                  <a:txBody>
                    <a:bodyPr/>
                    <a:lstStyle/>
                    <a:p>
                      <a:pPr marL="0" marR="0" lvl="0" indent="0" algn="l" defTabSz="685800" rtl="0" eaLnBrk="1" fontAlgn="ctr" latinLnBrk="1" hangingPunct="1">
                        <a:lnSpc>
                          <a:spcPct val="100000"/>
                        </a:lnSpc>
                        <a:spcBef>
                          <a:spcPts val="0"/>
                        </a:spcBef>
                        <a:spcAft>
                          <a:spcPts val="0"/>
                        </a:spcAft>
                        <a:buClrTx/>
                        <a:buSzTx/>
                        <a:buFontTx/>
                        <a:buNone/>
                        <a:tabLst/>
                        <a:defRPr/>
                      </a:pP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In/Out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353795"/>
                  </a:ext>
                </a:extLst>
              </a:tr>
              <a:tr h="198471">
                <a:tc rowSpan="5">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IO</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D</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DIO</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9875898"/>
                  </a:ext>
                </a:extLst>
              </a:tr>
              <a:tr h="198471">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2.7</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9128075"/>
                  </a:ext>
                </a:extLst>
              </a:tr>
              <a:tr h="198471">
                <a:tc vMerge="1">
                  <a:txBody>
                    <a:bodyPr/>
                    <a:lstStyle/>
                    <a:p>
                      <a:pPr algn="r" fontAlgn="ct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OL </a:t>
                      </a:r>
                    </a:p>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low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8477197"/>
                  </a:ext>
                </a:extLst>
              </a:tr>
              <a:tr h="198471">
                <a:tc vMerge="1">
                  <a:txBody>
                    <a:bodyPr/>
                    <a:lstStyle/>
                    <a:p>
                      <a:pPr latinLnBrk="1"/>
                      <a:endParaRPr lang="ko-KR" altLang="en-US"/>
                    </a:p>
                  </a:txBody>
                  <a:tcP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Output logic high level</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 0.8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7445929"/>
                  </a:ext>
                </a:extLst>
              </a:tr>
              <a:tr h="198471">
                <a:tc vMerge="1">
                  <a:txBody>
                    <a:bodyPr/>
                    <a:lstStyle/>
                    <a:p>
                      <a:pPr algn="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R</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PD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Internal pull-down resistance</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48</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KΩ</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4727661"/>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high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63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985016"/>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Logic low time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2)</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endPar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as a receiver</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1950318"/>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050380"/>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@downstrm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2.6</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7501129"/>
                  </a:ext>
                </a:extLst>
              </a:tr>
              <a:tr h="198471">
                <a:tc>
                  <a:txBody>
                    <a:bodyPr/>
                    <a:lstStyle/>
                    <a:p>
                      <a:pPr algn="r" fontAlgn="ctr"/>
                      <a:r>
                        <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delay</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to 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9.5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6954028"/>
                  </a:ext>
                </a:extLst>
              </a:tr>
              <a:tr h="198471">
                <a:tc>
                  <a:txBody>
                    <a:bodyPr/>
                    <a:lstStyle/>
                    <a:p>
                      <a:pPr algn="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Propagation output skew</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3)</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1H</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DSKEW_US </a:t>
                      </a:r>
                      <a:r>
                        <a:rPr lang="en-US" altLang="ko-KR" sz="8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@upstream</a:t>
                      </a: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1.4</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2.3</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1244435"/>
                  </a:ext>
                </a:extLst>
              </a:tr>
              <a:tr h="875707">
                <a:tc>
                  <a:txBody>
                    <a:bodyPr/>
                    <a:lstStyle/>
                    <a:p>
                      <a:pPr algn="r" fontAlgn="ctr"/>
                      <a:endPar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4781886"/>
                  </a:ext>
                </a:extLst>
              </a:tr>
            </a:tbl>
          </a:graphicData>
        </a:graphic>
      </p:graphicFrame>
      <p:sp>
        <p:nvSpPr>
          <p:cNvPr id="5" name="TextBox 4">
            <a:extLst>
              <a:ext uri="{FF2B5EF4-FFF2-40B4-BE49-F238E27FC236}">
                <a16:creationId xmlns:a16="http://schemas.microsoft.com/office/drawing/2014/main" id="{CDBCC130-FE93-A842-A2C7-C233A8E608F3}"/>
              </a:ext>
            </a:extLst>
          </p:cNvPr>
          <p:cNvSpPr txBox="1"/>
          <p:nvPr/>
        </p:nvSpPr>
        <p:spPr>
          <a:xfrm>
            <a:off x="413545" y="774866"/>
            <a:ext cx="603090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sp>
        <p:nvSpPr>
          <p:cNvPr id="68" name="TextBox 67">
            <a:extLst>
              <a:ext uri="{FF2B5EF4-FFF2-40B4-BE49-F238E27FC236}">
                <a16:creationId xmlns:a16="http://schemas.microsoft.com/office/drawing/2014/main" id="{1CA38FF5-8C9F-ACA4-20AB-E41A4B181B45}"/>
              </a:ext>
            </a:extLst>
          </p:cNvPr>
          <p:cNvSpPr txBox="1"/>
          <p:nvPr/>
        </p:nvSpPr>
        <p:spPr>
          <a:xfrm>
            <a:off x="404812" y="7697085"/>
            <a:ext cx="6086677" cy="756617"/>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1) The operation below V</a:t>
            </a:r>
            <a:r>
              <a:rPr lang="en-US" altLang="ko-KR" baseline="-25000" dirty="0"/>
              <a:t>DD</a:t>
            </a:r>
            <a:r>
              <a:rPr lang="en-US" altLang="ko-KR" dirty="0"/>
              <a:t>, 5V will limit a maximum LED sinking current and affect a current variation.</a:t>
            </a:r>
          </a:p>
          <a:p>
            <a:r>
              <a:rPr lang="en-US" altLang="ko-KR" dirty="0"/>
              <a:t>            2) The conditions, </a:t>
            </a:r>
            <a:r>
              <a:rPr lang="en-US" altLang="ko-KR" dirty="0">
                <a:latin typeface="맑은 고딕" panose="020B0503020000020004" pitchFamily="50" charset="-127"/>
                <a:ea typeface="맑은 고딕" panose="020B0503020000020004" pitchFamily="50" charset="-127"/>
              </a:rPr>
              <a:t>①</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②</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2   </a:t>
            </a:r>
            <a:r>
              <a:rPr lang="en-US" altLang="ko-KR" dirty="0">
                <a:latin typeface="맑은 고딕" panose="020B0503020000020004" pitchFamily="50" charset="-127"/>
                <a:ea typeface="맑은 고딕" panose="020B0503020000020004" pitchFamily="50" charset="-127"/>
              </a:rPr>
              <a:t>③ </a:t>
            </a:r>
            <a:r>
              <a:rPr lang="en-US" altLang="ko-KR" dirty="0">
                <a:solidFill>
                  <a:srgbClr val="000000"/>
                </a:solidFill>
                <a:ea typeface="굴림" panose="020B0600000101010101" pitchFamily="50" charset="-127"/>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1H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0H</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 = (T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0L</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1L</a:t>
            </a:r>
            <a:r>
              <a:rPr lang="en-US" altLang="ko-KR" dirty="0">
                <a:solidFill>
                  <a:srgbClr val="000000"/>
                </a:solidFill>
                <a:ea typeface="굴림" panose="020B0600000101010101" pitchFamily="50" charset="-127"/>
              </a:rPr>
              <a:t>) ≤ 95, are recommended.</a:t>
            </a:r>
            <a:endParaRPr lang="en-US" altLang="ko-KR" baseline="-25000" dirty="0">
              <a:solidFill>
                <a:srgbClr val="000000"/>
              </a:solidFill>
              <a:ea typeface="굴림" panose="020B0600000101010101" pitchFamily="50" charset="-127"/>
            </a:endParaRPr>
          </a:p>
          <a:p>
            <a:r>
              <a:rPr lang="en-US" altLang="ko-KR" dirty="0">
                <a:solidFill>
                  <a:srgbClr val="000000"/>
                </a:solidFill>
                <a:ea typeface="굴림" panose="020B0600000101010101" pitchFamily="50" charset="-127"/>
              </a:rPr>
              <a:t>            3)  On downstreaming (or upstreaming), the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baseline="-25000" dirty="0">
                <a:ea typeface="굴림" panose="020B0600000101010101" pitchFamily="50" charset="-127"/>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  </a:t>
            </a:r>
            <a:r>
              <a:rPr lang="en-US" altLang="ko-KR" sz="900" dirty="0">
                <a:latin typeface="Arial" panose="020B0604020202020204" pitchFamily="34" charset="0"/>
                <a:cs typeface="Arial" panose="020B0604020202020204" pitchFamily="34" charset="0"/>
              </a:rPr>
              <a:t>of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D</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DIO</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is shorted as many as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DSKEW_DS </a:t>
            </a:r>
            <a:r>
              <a:rPr lang="en-US" altLang="ko-KR" dirty="0">
                <a:solidFill>
                  <a:srgbClr val="000000"/>
                </a:solidFill>
                <a:ea typeface="굴림" panose="020B0600000101010101" pitchFamily="50" charset="-127"/>
              </a:rPr>
              <a:t>(</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or</a:t>
            </a:r>
            <a:r>
              <a:rPr lang="en-US" altLang="ko-KR" baseline="0" dirty="0">
                <a:solidFill>
                  <a:srgbClr val="000000"/>
                </a:solidFill>
                <a:ea typeface="굴림" panose="020B0600000101010101" pitchFamily="50" charset="-127"/>
              </a:rPr>
              <a:t>           </a:t>
            </a:r>
          </a:p>
          <a:p>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DSKEW_US</a:t>
            </a:r>
            <a:r>
              <a:rPr lang="en-US" altLang="ko-KR" dirty="0">
                <a:solidFill>
                  <a:srgbClr val="000000"/>
                </a:solidFill>
                <a:ea typeface="굴림" panose="020B0600000101010101" pitchFamily="50" charset="-127"/>
              </a:rPr>
              <a:t>), but the total of 1 bit cycle will remain the same. </a:t>
            </a:r>
            <a:r>
              <a:rPr lang="en-US" altLang="ko-KR" i="1" dirty="0">
                <a:solidFill>
                  <a:srgbClr val="000000"/>
                </a:solidFill>
                <a:ea typeface="굴림" panose="020B0600000101010101" pitchFamily="50" charset="-127"/>
              </a:rPr>
              <a:t>So, the proper value for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1H</a:t>
            </a:r>
            <a:r>
              <a:rPr lang="en-US" altLang="ko-KR" i="1" dirty="0">
                <a:solidFill>
                  <a:srgbClr val="000000"/>
                </a:solidFill>
                <a:ea typeface="굴림" panose="020B0600000101010101" pitchFamily="50" charset="-127"/>
              </a:rPr>
              <a:t> </a:t>
            </a:r>
            <a:r>
              <a:rPr lang="en-US" altLang="ko-KR" sz="900" b="0" i="1" u="none" strike="noStrike" baseline="0" dirty="0">
                <a:solidFill>
                  <a:srgbClr val="000000"/>
                </a:solidFill>
                <a:latin typeface="Arial" panose="020B0604020202020204" pitchFamily="34" charset="0"/>
                <a:ea typeface="굴림" panose="020B0600000101010101" pitchFamily="50" charset="-127"/>
                <a:cs typeface="Arial" panose="020B0604020202020204" pitchFamily="34" charset="0"/>
              </a:rPr>
              <a:t>and T</a:t>
            </a:r>
            <a:r>
              <a:rPr lang="en-US" altLang="ko-KR" sz="900" b="0" i="1" u="none" strike="noStrike"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0L </a:t>
            </a:r>
            <a:r>
              <a:rPr lang="en-US" altLang="ko-KR" b="0" i="1" dirty="0">
                <a:solidFill>
                  <a:srgbClr val="000000"/>
                </a:solidFill>
              </a:rPr>
              <a:t>must be</a:t>
            </a:r>
          </a:p>
          <a:p>
            <a:r>
              <a:rPr lang="en-US" altLang="ko-KR" i="1" dirty="0">
                <a:solidFill>
                  <a:srgbClr val="000000"/>
                </a:solidFill>
              </a:rPr>
              <a:t>                  </a:t>
            </a:r>
            <a:r>
              <a:rPr lang="en-US" altLang="ko-KR" b="0" i="1" dirty="0">
                <a:solidFill>
                  <a:srgbClr val="000000"/>
                </a:solidFill>
              </a:rPr>
              <a:t>carefully determined based on the daisy size.</a:t>
            </a:r>
            <a:endParaRPr lang="en-US" altLang="ko-KR" sz="900" b="0" i="1" u="none" strike="noStrike" baseline="0" dirty="0">
              <a:solidFill>
                <a:srgbClr val="000000"/>
              </a:solidFill>
              <a:ea typeface="굴림" panose="020B0600000101010101" pitchFamily="50" charset="-127"/>
            </a:endParaRPr>
          </a:p>
        </p:txBody>
      </p:sp>
      <p:cxnSp>
        <p:nvCxnSpPr>
          <p:cNvPr id="6" name="직선 연결선 5">
            <a:extLst>
              <a:ext uri="{FF2B5EF4-FFF2-40B4-BE49-F238E27FC236}">
                <a16:creationId xmlns:a16="http://schemas.microsoft.com/office/drawing/2014/main" id="{E46F34CF-793E-C6A6-F89F-5AB77A74B8F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BF73DC6A-7D1A-A91C-01A2-51DCA1E58AAF}"/>
              </a:ext>
            </a:extLst>
          </p:cNvPr>
          <p:cNvGrpSpPr/>
          <p:nvPr/>
        </p:nvGrpSpPr>
        <p:grpSpPr>
          <a:xfrm>
            <a:off x="2691537" y="6881386"/>
            <a:ext cx="3315424" cy="584770"/>
            <a:chOff x="1920695" y="7478240"/>
            <a:chExt cx="3333652" cy="728140"/>
          </a:xfrm>
        </p:grpSpPr>
        <p:grpSp>
          <p:nvGrpSpPr>
            <p:cNvPr id="40" name="그룹 39">
              <a:extLst>
                <a:ext uri="{FF2B5EF4-FFF2-40B4-BE49-F238E27FC236}">
                  <a16:creationId xmlns:a16="http://schemas.microsoft.com/office/drawing/2014/main" id="{15299747-B297-4F87-59CD-50CEF62594E1}"/>
                </a:ext>
              </a:extLst>
            </p:cNvPr>
            <p:cNvGrpSpPr/>
            <p:nvPr/>
          </p:nvGrpSpPr>
          <p:grpSpPr>
            <a:xfrm>
              <a:off x="1920695" y="7478240"/>
              <a:ext cx="3331009" cy="192972"/>
              <a:chOff x="1348682" y="5433237"/>
              <a:chExt cx="2215377" cy="212651"/>
            </a:xfrm>
          </p:grpSpPr>
          <p:cxnSp>
            <p:nvCxnSpPr>
              <p:cNvPr id="58" name="직선 연결선 57">
                <a:extLst>
                  <a:ext uri="{FF2B5EF4-FFF2-40B4-BE49-F238E27FC236}">
                    <a16:creationId xmlns:a16="http://schemas.microsoft.com/office/drawing/2014/main" id="{6461855A-3451-4590-5695-0E8F20EBC561}"/>
                  </a:ext>
                </a:extLst>
              </p:cNvPr>
              <p:cNvCxnSpPr/>
              <p:nvPr/>
            </p:nvCxnSpPr>
            <p:spPr>
              <a:xfrm>
                <a:off x="1398181"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B42B04BD-40BC-3DFD-D84F-5FBBB14A95B3}"/>
                  </a:ext>
                </a:extLst>
              </p:cNvPr>
              <p:cNvCxnSpPr/>
              <p:nvPr/>
            </p:nvCxnSpPr>
            <p:spPr>
              <a:xfrm>
                <a:off x="2081793"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직선 연결선 59">
                <a:extLst>
                  <a:ext uri="{FF2B5EF4-FFF2-40B4-BE49-F238E27FC236}">
                    <a16:creationId xmlns:a16="http://schemas.microsoft.com/office/drawing/2014/main" id="{8F8E5F6F-C2E0-7F8D-1089-5C71538748C2}"/>
                  </a:ext>
                </a:extLst>
              </p:cNvPr>
              <p:cNvCxnSpPr/>
              <p:nvPr/>
            </p:nvCxnSpPr>
            <p:spPr>
              <a:xfrm>
                <a:off x="248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직선 연결선 60">
                <a:extLst>
                  <a:ext uri="{FF2B5EF4-FFF2-40B4-BE49-F238E27FC236}">
                    <a16:creationId xmlns:a16="http://schemas.microsoft.com/office/drawing/2014/main" id="{2CDA9763-03E0-F627-5CE4-DF653124EC43}"/>
                  </a:ext>
                </a:extLst>
              </p:cNvPr>
              <p:cNvCxnSpPr>
                <a:cxnSpLocks/>
              </p:cNvCxnSpPr>
              <p:nvPr/>
            </p:nvCxnSpPr>
            <p:spPr>
              <a:xfrm flipH="1">
                <a:off x="1398181" y="5433237"/>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0955A057-191B-B3B6-8067-EF21A2D1DF92}"/>
                  </a:ext>
                </a:extLst>
              </p:cNvPr>
              <p:cNvCxnSpPr>
                <a:cxnSpLocks/>
              </p:cNvCxnSpPr>
              <p:nvPr/>
            </p:nvCxnSpPr>
            <p:spPr>
              <a:xfrm flipH="1">
                <a:off x="2081793" y="5645888"/>
                <a:ext cx="4070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직선 연결선 62">
                <a:extLst>
                  <a:ext uri="{FF2B5EF4-FFF2-40B4-BE49-F238E27FC236}">
                    <a16:creationId xmlns:a16="http://schemas.microsoft.com/office/drawing/2014/main" id="{CBE87C2A-939F-3B7D-5D89-FAAB43FE3A54}"/>
                  </a:ext>
                </a:extLst>
              </p:cNvPr>
              <p:cNvCxnSpPr>
                <a:cxnSpLocks/>
              </p:cNvCxnSpPr>
              <p:nvPr/>
            </p:nvCxnSpPr>
            <p:spPr>
              <a:xfrm flipH="1">
                <a:off x="2484059" y="5433237"/>
                <a:ext cx="39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직선 연결선 63">
                <a:extLst>
                  <a:ext uri="{FF2B5EF4-FFF2-40B4-BE49-F238E27FC236}">
                    <a16:creationId xmlns:a16="http://schemas.microsoft.com/office/drawing/2014/main" id="{3E1088ED-0614-039D-E804-6ADFB942D991}"/>
                  </a:ext>
                </a:extLst>
              </p:cNvPr>
              <p:cNvCxnSpPr/>
              <p:nvPr/>
            </p:nvCxnSpPr>
            <p:spPr>
              <a:xfrm>
                <a:off x="2880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직선 연결선 64">
                <a:extLst>
                  <a:ext uri="{FF2B5EF4-FFF2-40B4-BE49-F238E27FC236}">
                    <a16:creationId xmlns:a16="http://schemas.microsoft.com/office/drawing/2014/main" id="{52AAD3C7-90FD-D0B1-3416-5457AE2E2AEE}"/>
                  </a:ext>
                </a:extLst>
              </p:cNvPr>
              <p:cNvCxnSpPr>
                <a:cxnSpLocks/>
              </p:cNvCxnSpPr>
              <p:nvPr/>
            </p:nvCxnSpPr>
            <p:spPr>
              <a:xfrm flipH="1">
                <a:off x="2880059" y="5645888"/>
                <a:ext cx="68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직선 연결선 65">
                <a:extLst>
                  <a:ext uri="{FF2B5EF4-FFF2-40B4-BE49-F238E27FC236}">
                    <a16:creationId xmlns:a16="http://schemas.microsoft.com/office/drawing/2014/main" id="{DD2CE96A-9CDA-8BFF-37F1-93DC77AF5567}"/>
                  </a:ext>
                </a:extLst>
              </p:cNvPr>
              <p:cNvCxnSpPr>
                <a:cxnSpLocks/>
              </p:cNvCxnSpPr>
              <p:nvPr/>
            </p:nvCxnSpPr>
            <p:spPr>
              <a:xfrm flipH="1">
                <a:off x="1348682" y="5645888"/>
                <a:ext cx="478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직선 연결선 66">
                <a:extLst>
                  <a:ext uri="{FF2B5EF4-FFF2-40B4-BE49-F238E27FC236}">
                    <a16:creationId xmlns:a16="http://schemas.microsoft.com/office/drawing/2014/main" id="{E5CB9FFF-19DD-03B4-CAE7-C2F54E47A6A2}"/>
                  </a:ext>
                </a:extLst>
              </p:cNvPr>
              <p:cNvCxnSpPr/>
              <p:nvPr/>
            </p:nvCxnSpPr>
            <p:spPr>
              <a:xfrm>
                <a:off x="3564059" y="5433237"/>
                <a:ext cx="0" cy="2126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1" name="직선 연결선 40">
              <a:extLst>
                <a:ext uri="{FF2B5EF4-FFF2-40B4-BE49-F238E27FC236}">
                  <a16:creationId xmlns:a16="http://schemas.microsoft.com/office/drawing/2014/main" id="{5257A64E-4119-74A6-35B3-6BF3E7E709D9}"/>
                </a:ext>
              </a:extLst>
            </p:cNvPr>
            <p:cNvCxnSpPr>
              <a:cxnSpLocks/>
            </p:cNvCxnSpPr>
            <p:nvPr/>
          </p:nvCxnSpPr>
          <p:spPr>
            <a:xfrm>
              <a:off x="1993167" y="7701492"/>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FD274CD4-A04C-5EC8-EB4B-F6610D0122AE}"/>
                </a:ext>
              </a:extLst>
            </p:cNvPr>
            <p:cNvCxnSpPr>
              <a:cxnSpLocks/>
            </p:cNvCxnSpPr>
            <p:nvPr/>
          </p:nvCxnSpPr>
          <p:spPr>
            <a:xfrm>
              <a:off x="3627693" y="7706761"/>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8DEA26B2-D184-8616-7FEC-18F3A704626F}"/>
                </a:ext>
              </a:extLst>
            </p:cNvPr>
            <p:cNvCxnSpPr>
              <a:cxnSpLocks/>
            </p:cNvCxnSpPr>
            <p:nvPr/>
          </p:nvCxnSpPr>
          <p:spPr>
            <a:xfrm>
              <a:off x="5251693" y="7701496"/>
              <a:ext cx="0" cy="43200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4" name="직선 연결선 43">
              <a:extLst>
                <a:ext uri="{FF2B5EF4-FFF2-40B4-BE49-F238E27FC236}">
                  <a16:creationId xmlns:a16="http://schemas.microsoft.com/office/drawing/2014/main" id="{7CD762D1-DE19-9574-7183-454B727DD440}"/>
                </a:ext>
              </a:extLst>
            </p:cNvPr>
            <p:cNvCxnSpPr>
              <a:cxnSpLocks/>
            </p:cNvCxnSpPr>
            <p:nvPr/>
          </p:nvCxnSpPr>
          <p:spPr>
            <a:xfrm>
              <a:off x="3010242" y="7881396"/>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직선 연결선 44">
              <a:extLst>
                <a:ext uri="{FF2B5EF4-FFF2-40B4-BE49-F238E27FC236}">
                  <a16:creationId xmlns:a16="http://schemas.microsoft.com/office/drawing/2014/main" id="{008276A4-1CA6-9C1C-DDEE-DE12D517B084}"/>
                </a:ext>
              </a:extLst>
            </p:cNvPr>
            <p:cNvCxnSpPr>
              <a:cxnSpLocks/>
            </p:cNvCxnSpPr>
            <p:nvPr/>
          </p:nvCxnSpPr>
          <p:spPr>
            <a:xfrm flipH="1">
              <a:off x="1993167" y="7866398"/>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6" name="직선 연결선 45">
              <a:extLst>
                <a:ext uri="{FF2B5EF4-FFF2-40B4-BE49-F238E27FC236}">
                  <a16:creationId xmlns:a16="http://schemas.microsoft.com/office/drawing/2014/main" id="{53755FAE-B53A-95EC-3054-C51F410600AB}"/>
                </a:ext>
              </a:extLst>
            </p:cNvPr>
            <p:cNvCxnSpPr>
              <a:cxnSpLocks/>
            </p:cNvCxnSpPr>
            <p:nvPr/>
          </p:nvCxnSpPr>
          <p:spPr>
            <a:xfrm>
              <a:off x="4237292" y="7879900"/>
              <a:ext cx="0" cy="257233"/>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234DAB4B-662E-0732-7334-148B31CC6C47}"/>
                </a:ext>
              </a:extLst>
            </p:cNvPr>
            <p:cNvCxnSpPr>
              <a:cxnSpLocks/>
            </p:cNvCxnSpPr>
            <p:nvPr/>
          </p:nvCxnSpPr>
          <p:spPr>
            <a:xfrm flipH="1">
              <a:off x="3634347" y="7871664"/>
              <a:ext cx="1620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1FA71382-C523-1327-4896-2372C86CC265}"/>
                </a:ext>
              </a:extLst>
            </p:cNvPr>
            <p:cNvSpPr txBox="1"/>
            <p:nvPr/>
          </p:nvSpPr>
          <p:spPr>
            <a:xfrm>
              <a:off x="2540301" y="7683917"/>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‘1’</a:t>
              </a:r>
              <a:endParaRPr lang="ko-KR" altLang="en-US" sz="900" dirty="0">
                <a:latin typeface="Arial" panose="020B0604020202020204" pitchFamily="34" charset="0"/>
                <a:cs typeface="Arial" panose="020B0604020202020204" pitchFamily="34" charset="0"/>
              </a:endParaRPr>
            </a:p>
          </p:txBody>
        </p:sp>
        <p:cxnSp>
          <p:nvCxnSpPr>
            <p:cNvPr id="50" name="직선 연결선 49">
              <a:extLst>
                <a:ext uri="{FF2B5EF4-FFF2-40B4-BE49-F238E27FC236}">
                  <a16:creationId xmlns:a16="http://schemas.microsoft.com/office/drawing/2014/main" id="{93B3BA29-219B-75A1-D3B4-A42224F8388E}"/>
                </a:ext>
              </a:extLst>
            </p:cNvPr>
            <p:cNvCxnSpPr>
              <a:cxnSpLocks/>
            </p:cNvCxnSpPr>
            <p:nvPr/>
          </p:nvCxnSpPr>
          <p:spPr>
            <a:xfrm flipH="1">
              <a:off x="1994505" y="8060566"/>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1" name="직선 연결선 50">
              <a:extLst>
                <a:ext uri="{FF2B5EF4-FFF2-40B4-BE49-F238E27FC236}">
                  <a16:creationId xmlns:a16="http://schemas.microsoft.com/office/drawing/2014/main" id="{C64D935C-7E73-0591-22CD-FD6AFBA95834}"/>
                </a:ext>
              </a:extLst>
            </p:cNvPr>
            <p:cNvCxnSpPr>
              <a:cxnSpLocks/>
            </p:cNvCxnSpPr>
            <p:nvPr/>
          </p:nvCxnSpPr>
          <p:spPr>
            <a:xfrm flipH="1">
              <a:off x="3014932" y="8060565"/>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614D738E-9BDE-EC53-96D8-8E59588A7436}"/>
                </a:ext>
              </a:extLst>
            </p:cNvPr>
            <p:cNvCxnSpPr>
              <a:cxnSpLocks/>
            </p:cNvCxnSpPr>
            <p:nvPr/>
          </p:nvCxnSpPr>
          <p:spPr>
            <a:xfrm flipH="1">
              <a:off x="4242608" y="8068162"/>
              <a:ext cx="1008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0A68376A-62D7-EFDA-F00F-1B02CDD5C1C3}"/>
                </a:ext>
              </a:extLst>
            </p:cNvPr>
            <p:cNvCxnSpPr>
              <a:cxnSpLocks/>
            </p:cNvCxnSpPr>
            <p:nvPr/>
          </p:nvCxnSpPr>
          <p:spPr>
            <a:xfrm flipH="1">
              <a:off x="3628643" y="8058234"/>
              <a:ext cx="612000" cy="0"/>
            </a:xfrm>
            <a:prstGeom prst="line">
              <a:avLst/>
            </a:prstGeom>
            <a:ln>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D8FA8C19-B523-E75F-B7A0-423C71206334}"/>
                </a:ext>
              </a:extLst>
            </p:cNvPr>
            <p:cNvSpPr txBox="1"/>
            <p:nvPr/>
          </p:nvSpPr>
          <p:spPr>
            <a:xfrm>
              <a:off x="2352065" y="7889160"/>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1H</a:t>
              </a:r>
              <a:endParaRPr lang="ko-KR" altLang="en-US" sz="900" baseline="-25000" dirty="0">
                <a:latin typeface="Arial" panose="020B0604020202020204" pitchFamily="34" charset="0"/>
                <a:cs typeface="Arial" panose="020B0604020202020204" pitchFamily="34" charset="0"/>
              </a:endParaRPr>
            </a:p>
          </p:txBody>
        </p:sp>
        <p:sp>
          <p:nvSpPr>
            <p:cNvPr id="55" name="TextBox 54">
              <a:extLst>
                <a:ext uri="{FF2B5EF4-FFF2-40B4-BE49-F238E27FC236}">
                  <a16:creationId xmlns:a16="http://schemas.microsoft.com/office/drawing/2014/main" id="{2C1D04F1-A159-3CEA-6966-2E2309702EB6}"/>
                </a:ext>
              </a:extLst>
            </p:cNvPr>
            <p:cNvSpPr txBox="1"/>
            <p:nvPr/>
          </p:nvSpPr>
          <p:spPr>
            <a:xfrm>
              <a:off x="3197218" y="7904556"/>
              <a:ext cx="242621"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0H</a:t>
              </a:r>
              <a:endParaRPr lang="ko-KR" altLang="en-US" sz="900" baseline="-25000" dirty="0">
                <a:latin typeface="Arial" panose="020B0604020202020204" pitchFamily="34" charset="0"/>
                <a:cs typeface="Arial" panose="020B0604020202020204" pitchFamily="34" charset="0"/>
              </a:endParaRPr>
            </a:p>
          </p:txBody>
        </p:sp>
        <p:sp>
          <p:nvSpPr>
            <p:cNvPr id="56" name="TextBox 55">
              <a:extLst>
                <a:ext uri="{FF2B5EF4-FFF2-40B4-BE49-F238E27FC236}">
                  <a16:creationId xmlns:a16="http://schemas.microsoft.com/office/drawing/2014/main" id="{C302D1FC-56F7-2C23-C381-ABFDC84D383A}"/>
                </a:ext>
              </a:extLst>
            </p:cNvPr>
            <p:cNvSpPr txBox="1"/>
            <p:nvPr/>
          </p:nvSpPr>
          <p:spPr>
            <a:xfrm>
              <a:off x="3816832" y="7894955"/>
              <a:ext cx="229797"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1L</a:t>
              </a:r>
              <a:endParaRPr lang="ko-KR" altLang="en-US" sz="900" baseline="-25000" dirty="0">
                <a:latin typeface="Arial" panose="020B0604020202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4C174387-0F99-DBE5-FC65-E4E8157B1736}"/>
                </a:ext>
              </a:extLst>
            </p:cNvPr>
            <p:cNvSpPr txBox="1"/>
            <p:nvPr/>
          </p:nvSpPr>
          <p:spPr>
            <a:xfrm>
              <a:off x="4669527" y="7895133"/>
              <a:ext cx="2297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0L</a:t>
              </a:r>
              <a:endParaRPr lang="ko-KR" altLang="en-US" sz="900" baseline="-25000" dirty="0">
                <a:latin typeface="Arial" panose="020B0604020202020204" pitchFamily="34" charset="0"/>
                <a:cs typeface="Arial" panose="020B0604020202020204" pitchFamily="34" charset="0"/>
              </a:endParaRPr>
            </a:p>
          </p:txBody>
        </p:sp>
        <p:sp>
          <p:nvSpPr>
            <p:cNvPr id="49" name="TextBox 48">
              <a:extLst>
                <a:ext uri="{FF2B5EF4-FFF2-40B4-BE49-F238E27FC236}">
                  <a16:creationId xmlns:a16="http://schemas.microsoft.com/office/drawing/2014/main" id="{CD03792F-3D61-CA84-6804-84267920C59E}"/>
                </a:ext>
              </a:extLst>
            </p:cNvPr>
            <p:cNvSpPr txBox="1"/>
            <p:nvPr/>
          </p:nvSpPr>
          <p:spPr>
            <a:xfrm>
              <a:off x="4208664" y="7713002"/>
              <a:ext cx="495896" cy="301824"/>
            </a:xfrm>
            <a:prstGeom prst="rect">
              <a:avLst/>
            </a:prstGeom>
            <a:solidFill>
              <a:schemeClr val="bg1"/>
            </a:solidFill>
          </p:spPr>
          <p:txBody>
            <a:bodyPr wrap="none" lIns="36000" tIns="36000" rIns="36000" bIns="36000" rtlCol="0" anchor="ctr" anchorCtr="0">
              <a:spAutoFit/>
            </a:bodyPr>
            <a:lstStyle/>
            <a:p>
              <a:r>
                <a:rPr lang="en-US" altLang="ko-KR" sz="900" dirty="0">
                  <a:latin typeface="Arial" panose="020B0604020202020204" pitchFamily="34" charset="0"/>
                  <a:cs typeface="Arial" panose="020B0604020202020204" pitchFamily="34" charset="0"/>
                </a:rPr>
                <a:t>Logic ‘0’</a:t>
              </a:r>
              <a:endParaRPr lang="ko-KR" altLang="en-US" sz="9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5495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EC4F87-9C9B-4C8F-A819-F5F816D1E76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194F41DE-B425-A9B6-A8E9-61365B8A5C6E}"/>
              </a:ext>
            </a:extLst>
          </p:cNvPr>
          <p:cNvSpPr txBox="1"/>
          <p:nvPr/>
        </p:nvSpPr>
        <p:spPr>
          <a:xfrm>
            <a:off x="404811"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23" name="표 22">
            <a:extLst>
              <a:ext uri="{FF2B5EF4-FFF2-40B4-BE49-F238E27FC236}">
                <a16:creationId xmlns:a16="http://schemas.microsoft.com/office/drawing/2014/main" id="{95AE7A5D-C563-E454-C9F4-1BA985CEA979}"/>
              </a:ext>
            </a:extLst>
          </p:cNvPr>
          <p:cNvGraphicFramePr>
            <a:graphicFrameLocks noGrp="1"/>
          </p:cNvGraphicFramePr>
          <p:nvPr>
            <p:extLst>
              <p:ext uri="{D42A27DB-BD31-4B8C-83A1-F6EECF244321}">
                <p14:modId xmlns:p14="http://schemas.microsoft.com/office/powerpoint/2010/main" val="870889135"/>
              </p:ext>
            </p:extLst>
          </p:nvPr>
        </p:nvGraphicFramePr>
        <p:xfrm>
          <a:off x="411753" y="1136650"/>
          <a:ext cx="6041678" cy="6595749"/>
        </p:xfrm>
        <a:graphic>
          <a:graphicData uri="http://schemas.openxmlformats.org/drawingml/2006/table">
            <a:tbl>
              <a:tblPr>
                <a:tableStyleId>{5C22544A-7EE6-4342-B048-85BDC9FD1C3A}</a:tableStyleId>
              </a:tblPr>
              <a:tblGrid>
                <a:gridCol w="1400912">
                  <a:extLst>
                    <a:ext uri="{9D8B030D-6E8A-4147-A177-3AD203B41FA5}">
                      <a16:colId xmlns:a16="http://schemas.microsoft.com/office/drawing/2014/main" val="1783343538"/>
                    </a:ext>
                  </a:extLst>
                </a:gridCol>
                <a:gridCol w="683242">
                  <a:extLst>
                    <a:ext uri="{9D8B030D-6E8A-4147-A177-3AD203B41FA5}">
                      <a16:colId xmlns:a16="http://schemas.microsoft.com/office/drawing/2014/main" val="3180006436"/>
                    </a:ext>
                  </a:extLst>
                </a:gridCol>
                <a:gridCol w="1807538">
                  <a:extLst>
                    <a:ext uri="{9D8B030D-6E8A-4147-A177-3AD203B41FA5}">
                      <a16:colId xmlns:a16="http://schemas.microsoft.com/office/drawing/2014/main" val="1629708029"/>
                    </a:ext>
                  </a:extLst>
                </a:gridCol>
                <a:gridCol w="529385">
                  <a:extLst>
                    <a:ext uri="{9D8B030D-6E8A-4147-A177-3AD203B41FA5}">
                      <a16:colId xmlns:a16="http://schemas.microsoft.com/office/drawing/2014/main" val="3514095092"/>
                    </a:ext>
                  </a:extLst>
                </a:gridCol>
                <a:gridCol w="529385">
                  <a:extLst>
                    <a:ext uri="{9D8B030D-6E8A-4147-A177-3AD203B41FA5}">
                      <a16:colId xmlns:a16="http://schemas.microsoft.com/office/drawing/2014/main" val="2256908222"/>
                    </a:ext>
                  </a:extLst>
                </a:gridCol>
                <a:gridCol w="529385">
                  <a:extLst>
                    <a:ext uri="{9D8B030D-6E8A-4147-A177-3AD203B41FA5}">
                      <a16:colId xmlns:a16="http://schemas.microsoft.com/office/drawing/2014/main" val="2915946677"/>
                    </a:ext>
                  </a:extLst>
                </a:gridCol>
                <a:gridCol w="561831">
                  <a:extLst>
                    <a:ext uri="{9D8B030D-6E8A-4147-A177-3AD203B41FA5}">
                      <a16:colId xmlns:a16="http://schemas.microsoft.com/office/drawing/2014/main" val="2559142005"/>
                    </a:ext>
                  </a:extLst>
                </a:gridCol>
              </a:tblGrid>
              <a:tr h="244676">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44676">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Output</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688291">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Driving voltage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46355" indent="0" algn="ctr">
                        <a:lnSpc>
                          <a:spcPct val="100000"/>
                        </a:lnSpc>
                        <a:spcBef>
                          <a:spcPts val="85"/>
                        </a:spcBef>
                      </a:pPr>
                      <a:r>
                        <a:rPr lang="it-IT" altLang="ko-KR" sz="900" b="0" spc="-5" dirty="0">
                          <a:solidFill>
                            <a:schemeClr val="tx1"/>
                          </a:solidFill>
                          <a:latin typeface="Arial"/>
                          <a:cs typeface="Arial"/>
                        </a:rPr>
                        <a:t>Headroom voltage V</a:t>
                      </a:r>
                      <a:r>
                        <a:rPr lang="it-IT" altLang="ko-KR" sz="900" b="0" spc="-7" baseline="-18518" dirty="0">
                          <a:solidFill>
                            <a:schemeClr val="tx1"/>
                          </a:solidFill>
                          <a:latin typeface="Arial"/>
                          <a:cs typeface="Arial"/>
                        </a:rPr>
                        <a:t>HD</a:t>
                      </a:r>
                      <a:r>
                        <a:rPr lang="it-IT" altLang="ko-KR" sz="900" b="0" baseline="-18518" dirty="0">
                          <a:solidFill>
                            <a:schemeClr val="tx1"/>
                          </a:solidFill>
                          <a:latin typeface="Arial"/>
                          <a:cs typeface="Arial"/>
                        </a:rPr>
                        <a:t> </a:t>
                      </a:r>
                      <a:r>
                        <a:rPr lang="it-IT" altLang="ko-KR" sz="900" b="0" dirty="0">
                          <a:solidFill>
                            <a:schemeClr val="tx1"/>
                          </a:solidFill>
                          <a:latin typeface="Arial"/>
                          <a:cs typeface="Arial"/>
                        </a:rPr>
                        <a:t>:</a:t>
                      </a:r>
                    </a:p>
                    <a:p>
                      <a:pPr marL="0" marR="46355" indent="0">
                        <a:lnSpc>
                          <a:spcPct val="100000"/>
                        </a:lnSpc>
                        <a:spcBef>
                          <a:spcPts val="85"/>
                        </a:spcBef>
                      </a:pPr>
                      <a:r>
                        <a:rPr lang="it-IT" altLang="ko-KR" sz="900" b="0" spc="-5" dirty="0">
                          <a:solidFill>
                            <a:schemeClr val="tx1"/>
                          </a:solidFill>
                          <a:latin typeface="Arial"/>
                          <a:cs typeface="Arial"/>
                        </a:rPr>
                        <a:t> 0.55V</a:t>
                      </a:r>
                      <a:r>
                        <a:rPr lang="it-IT" altLang="ko-KR" sz="700" b="0" spc="-5"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spc="187" baseline="-18518" dirty="0">
                          <a:solidFill>
                            <a:schemeClr val="tx1"/>
                          </a:solidFill>
                          <a:latin typeface="Arial"/>
                          <a:cs typeface="Arial"/>
                        </a:rPr>
                        <a:t> </a:t>
                      </a:r>
                      <a:r>
                        <a:rPr lang="it-IT" altLang="ko-KR" sz="900" b="0" dirty="0">
                          <a:solidFill>
                            <a:schemeClr val="tx1"/>
                          </a:solidFill>
                          <a:latin typeface="Arial"/>
                          <a:cs typeface="Arial"/>
                        </a:rPr>
                        <a:t>8mA,</a:t>
                      </a:r>
                      <a:r>
                        <a:rPr lang="it-IT" altLang="ko-KR" sz="900" b="0" spc="-30" dirty="0">
                          <a:solidFill>
                            <a:schemeClr val="tx1"/>
                          </a:solidFill>
                          <a:latin typeface="Arial"/>
                          <a:cs typeface="Arial"/>
                        </a:rPr>
                        <a:t>  </a:t>
                      </a:r>
                      <a:r>
                        <a:rPr lang="it-IT" altLang="ko-KR" sz="900" b="0" dirty="0">
                          <a:solidFill>
                            <a:schemeClr val="tx1"/>
                          </a:solidFill>
                          <a:latin typeface="Arial"/>
                          <a:cs typeface="Arial"/>
                        </a:rPr>
                        <a:t>0.60V</a:t>
                      </a:r>
                      <a:r>
                        <a:rPr lang="it-IT" altLang="ko-KR" sz="700" b="0" dirty="0">
                          <a:solidFill>
                            <a:schemeClr val="tx1"/>
                          </a:solidFill>
                          <a:latin typeface="Arial"/>
                          <a:cs typeface="Arial"/>
                        </a:rPr>
                        <a:t>@</a:t>
                      </a:r>
                      <a:r>
                        <a:rPr lang="it-IT" altLang="ko-KR" sz="700" b="0" spc="-15"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 </a:t>
                      </a:r>
                      <a:r>
                        <a:rPr lang="it-IT" altLang="ko-KR" sz="900" b="0" dirty="0">
                          <a:solidFill>
                            <a:schemeClr val="tx1"/>
                          </a:solidFill>
                          <a:latin typeface="Arial"/>
                          <a:cs typeface="Arial"/>
                        </a:rPr>
                        <a:t>16mA</a:t>
                      </a:r>
                    </a:p>
                    <a:p>
                      <a:pPr marL="0" indent="0">
                        <a:lnSpc>
                          <a:spcPct val="100000"/>
                        </a:lnSpc>
                      </a:pPr>
                      <a:r>
                        <a:rPr lang="it-IT" altLang="ko-KR" sz="900" b="0" spc="-5" dirty="0">
                          <a:solidFill>
                            <a:schemeClr val="tx1"/>
                          </a:solidFill>
                          <a:latin typeface="Arial"/>
                          <a:cs typeface="Arial"/>
                        </a:rPr>
                        <a:t> 0.65V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24mA,</a:t>
                      </a:r>
                      <a:r>
                        <a:rPr lang="it-IT" altLang="ko-KR" sz="900" b="0" spc="-40" dirty="0">
                          <a:solidFill>
                            <a:schemeClr val="tx1"/>
                          </a:solidFill>
                          <a:latin typeface="Arial"/>
                          <a:cs typeface="Arial"/>
                        </a:rPr>
                        <a:t>   0.70V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32mA</a:t>
                      </a:r>
                    </a:p>
                    <a:p>
                      <a:pPr marL="0" indent="0">
                        <a:lnSpc>
                          <a:spcPct val="100000"/>
                        </a:lnSpc>
                      </a:pPr>
                      <a:r>
                        <a:rPr lang="it-IT" altLang="ko-KR" sz="900" b="0" spc="-5" dirty="0">
                          <a:solidFill>
                            <a:schemeClr val="tx1"/>
                          </a:solidFill>
                          <a:latin typeface="Arial"/>
                          <a:cs typeface="Arial"/>
                        </a:rPr>
                        <a:t> 0.75V</a:t>
                      </a:r>
                      <a:r>
                        <a:rPr lang="it-IT" altLang="ko-KR" sz="700" b="0" spc="-5"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48mA,</a:t>
                      </a:r>
                      <a:r>
                        <a:rPr lang="it-IT" altLang="ko-KR" sz="900" b="0" spc="-40" dirty="0">
                          <a:solidFill>
                            <a:schemeClr val="tx1"/>
                          </a:solidFill>
                          <a:latin typeface="Arial"/>
                          <a:cs typeface="Arial"/>
                        </a:rPr>
                        <a:t>  </a:t>
                      </a:r>
                      <a:r>
                        <a:rPr lang="it-IT" altLang="ko-KR" sz="900" b="0" dirty="0">
                          <a:solidFill>
                            <a:schemeClr val="tx1"/>
                          </a:solidFill>
                          <a:latin typeface="Arial"/>
                          <a:cs typeface="Arial"/>
                        </a:rPr>
                        <a:t>0.80V</a:t>
                      </a:r>
                      <a:r>
                        <a:rPr lang="it-IT" altLang="ko-KR" sz="700" b="0" dirty="0">
                          <a:solidFill>
                            <a:schemeClr val="tx1"/>
                          </a:solidFill>
                          <a:latin typeface="Arial"/>
                          <a:cs typeface="Arial"/>
                        </a:rPr>
                        <a:t>@</a:t>
                      </a:r>
                      <a:r>
                        <a:rPr lang="it-IT" altLang="ko-KR" sz="700" b="0" spc="-2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64mA</a:t>
                      </a:r>
                    </a:p>
                    <a:p>
                      <a:pPr marL="0" indent="0">
                        <a:lnSpc>
                          <a:spcPct val="100000"/>
                        </a:lnSpc>
                      </a:pPr>
                      <a:r>
                        <a:rPr lang="it-IT" altLang="ko-KR" sz="900" b="0" spc="-5" dirty="0">
                          <a:solidFill>
                            <a:schemeClr val="tx1"/>
                          </a:solidFill>
                          <a:latin typeface="Arial"/>
                          <a:cs typeface="Arial"/>
                        </a:rPr>
                        <a:t> 0.85V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spc="-30" baseline="-18518" dirty="0">
                          <a:solidFill>
                            <a:schemeClr val="tx1"/>
                          </a:solidFill>
                          <a:latin typeface="Arial"/>
                          <a:cs typeface="Arial"/>
                        </a:rPr>
                        <a:t> </a:t>
                      </a:r>
                      <a:r>
                        <a:rPr lang="it-IT" altLang="ko-KR" sz="900" b="0" dirty="0">
                          <a:solidFill>
                            <a:schemeClr val="tx1"/>
                          </a:solidFill>
                          <a:latin typeface="Arial"/>
                          <a:cs typeface="Arial"/>
                        </a:rPr>
                        <a:t>92mA,</a:t>
                      </a:r>
                      <a:r>
                        <a:rPr lang="it-IT" altLang="ko-KR" sz="900" b="0" spc="-25" dirty="0">
                          <a:solidFill>
                            <a:schemeClr val="tx1"/>
                          </a:solidFill>
                          <a:latin typeface="Arial"/>
                          <a:cs typeface="Arial"/>
                        </a:rPr>
                        <a:t>  </a:t>
                      </a:r>
                      <a:r>
                        <a:rPr lang="it-IT" altLang="ko-KR" sz="900" b="0" spc="-5" dirty="0">
                          <a:solidFill>
                            <a:schemeClr val="tx1"/>
                          </a:solidFill>
                          <a:latin typeface="Arial"/>
                          <a:cs typeface="Arial"/>
                        </a:rPr>
                        <a:t>0.90V</a:t>
                      </a:r>
                      <a:r>
                        <a:rPr lang="it-IT" altLang="ko-KR" sz="700" b="0" spc="-5" dirty="0">
                          <a:solidFill>
                            <a:schemeClr val="tx1"/>
                          </a:solidFill>
                          <a:latin typeface="Arial"/>
                          <a:cs typeface="Arial"/>
                        </a:rPr>
                        <a:t>@</a:t>
                      </a:r>
                      <a:r>
                        <a:rPr lang="it-IT" altLang="ko-KR" sz="700" b="0" spc="-10" dirty="0">
                          <a:solidFill>
                            <a:schemeClr val="tx1"/>
                          </a:solidFill>
                          <a:latin typeface="Arial"/>
                          <a:cs typeface="Arial"/>
                        </a:rPr>
                        <a:t> </a:t>
                      </a:r>
                      <a:r>
                        <a:rPr lang="it-IT" altLang="ko-KR" sz="900" b="0" dirty="0">
                          <a:solidFill>
                            <a:schemeClr val="tx1"/>
                          </a:solidFill>
                          <a:latin typeface="Arial"/>
                          <a:cs typeface="Arial"/>
                        </a:rPr>
                        <a:t>I</a:t>
                      </a:r>
                      <a:r>
                        <a:rPr lang="it-IT" altLang="ko-KR" sz="900" b="0" baseline="-18518" dirty="0">
                          <a:solidFill>
                            <a:schemeClr val="tx1"/>
                          </a:solidFill>
                          <a:latin typeface="Arial"/>
                          <a:cs typeface="Arial"/>
                        </a:rPr>
                        <a:t>O</a:t>
                      </a:r>
                      <a:r>
                        <a:rPr lang="it-IT" altLang="ko-KR" sz="900" b="0" dirty="0">
                          <a:solidFill>
                            <a:schemeClr val="tx1"/>
                          </a:solidFill>
                          <a:latin typeface="Arial"/>
                          <a:cs typeface="Arial"/>
                        </a:rPr>
                        <a:t>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HD</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80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697702">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Short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41300" indent="0" algn="l">
                        <a:lnSpc>
                          <a:spcPct val="100000"/>
                        </a:lnSpc>
                        <a:spcBef>
                          <a:spcPts val="0"/>
                        </a:spcBef>
                      </a:pPr>
                      <a:r>
                        <a:rPr lang="en-US" sz="900" spc="-15" dirty="0">
                          <a:solidFill>
                            <a:schemeClr val="tx1"/>
                          </a:solidFill>
                          <a:latin typeface="Arial"/>
                          <a:cs typeface="Arial"/>
                        </a:rPr>
                        <a:t>  </a:t>
                      </a:r>
                      <a:r>
                        <a:rPr sz="900" spc="-15" dirty="0">
                          <a:solidFill>
                            <a:schemeClr val="tx1"/>
                          </a:solidFill>
                          <a:latin typeface="Arial"/>
                          <a:cs typeface="Arial"/>
                        </a:rPr>
                        <a:t>S</a:t>
                      </a:r>
                      <a:r>
                        <a:rPr sz="900" spc="-10" dirty="0">
                          <a:solidFill>
                            <a:schemeClr val="tx1"/>
                          </a:solidFill>
                          <a:latin typeface="Arial"/>
                          <a:cs typeface="Arial"/>
                        </a:rPr>
                        <a:t>ho</a:t>
                      </a:r>
                      <a:r>
                        <a:rPr sz="900" spc="-15" dirty="0">
                          <a:solidFill>
                            <a:schemeClr val="tx1"/>
                          </a:solidFill>
                          <a:latin typeface="Arial"/>
                          <a:cs typeface="Arial"/>
                        </a:rPr>
                        <a:t>r</a:t>
                      </a:r>
                      <a:r>
                        <a:rPr sz="900" dirty="0">
                          <a:solidFill>
                            <a:schemeClr val="tx1"/>
                          </a:solidFill>
                          <a:latin typeface="Arial"/>
                          <a:cs typeface="Arial"/>
                        </a:rPr>
                        <a:t>t</a:t>
                      </a:r>
                      <a:r>
                        <a:rPr sz="900" spc="-60" dirty="0">
                          <a:solidFill>
                            <a:schemeClr val="tx1"/>
                          </a:solidFill>
                          <a:latin typeface="Arial"/>
                          <a:cs typeface="Arial"/>
                        </a:rPr>
                        <a:t> </a:t>
                      </a:r>
                      <a:r>
                        <a:rPr sz="900" spc="-10" dirty="0">
                          <a:solidFill>
                            <a:schemeClr val="tx1"/>
                          </a:solidFill>
                          <a:latin typeface="Arial"/>
                          <a:cs typeface="Arial"/>
                        </a:rPr>
                        <a:t>detecti</a:t>
                      </a:r>
                      <a:r>
                        <a:rPr sz="900" spc="-25" dirty="0">
                          <a:solidFill>
                            <a:schemeClr val="tx1"/>
                          </a:solidFill>
                          <a:latin typeface="Arial"/>
                          <a:cs typeface="Arial"/>
                        </a:rPr>
                        <a:t>o</a:t>
                      </a:r>
                      <a:r>
                        <a:rPr sz="900" dirty="0">
                          <a:solidFill>
                            <a:schemeClr val="tx1"/>
                          </a:solidFill>
                          <a:latin typeface="Arial"/>
                          <a:cs typeface="Arial"/>
                        </a:rPr>
                        <a:t>n</a:t>
                      </a:r>
                      <a:r>
                        <a:rPr sz="900" spc="-70" dirty="0">
                          <a:solidFill>
                            <a:schemeClr val="tx1"/>
                          </a:solidFill>
                          <a:latin typeface="Arial"/>
                          <a:cs typeface="Arial"/>
                        </a:rPr>
                        <a:t> </a:t>
                      </a:r>
                      <a:r>
                        <a:rPr sz="900" spc="-10" dirty="0">
                          <a:solidFill>
                            <a:schemeClr val="tx1"/>
                          </a:solidFill>
                          <a:latin typeface="Arial"/>
                          <a:cs typeface="Arial"/>
                        </a:rPr>
                        <a:t>le</a:t>
                      </a:r>
                      <a:r>
                        <a:rPr sz="900" spc="-20" dirty="0">
                          <a:solidFill>
                            <a:schemeClr val="tx1"/>
                          </a:solidFill>
                          <a:latin typeface="Arial"/>
                          <a:cs typeface="Arial"/>
                        </a:rPr>
                        <a:t>v</a:t>
                      </a:r>
                      <a:r>
                        <a:rPr sz="900" spc="-10" dirty="0">
                          <a:solidFill>
                            <a:schemeClr val="tx1"/>
                          </a:solidFill>
                          <a:latin typeface="Arial"/>
                          <a:cs typeface="Arial"/>
                        </a:rPr>
                        <a:t>e</a:t>
                      </a:r>
                      <a:r>
                        <a:rPr sz="900" dirty="0">
                          <a:solidFill>
                            <a:schemeClr val="tx1"/>
                          </a:solidFill>
                          <a:latin typeface="Arial"/>
                          <a:cs typeface="Arial"/>
                        </a:rPr>
                        <a:t>l</a:t>
                      </a:r>
                      <a:r>
                        <a:rPr lang="en-US" sz="900" dirty="0">
                          <a:solidFill>
                            <a:schemeClr val="tx1"/>
                          </a:solidFill>
                          <a:latin typeface="Arial"/>
                          <a:cs typeface="Arial"/>
                        </a:rPr>
                        <a:t> </a:t>
                      </a:r>
                      <a:r>
                        <a:rPr sz="900" spc="-5" dirty="0">
                          <a:solidFill>
                            <a:schemeClr val="tx1"/>
                          </a:solidFill>
                          <a:latin typeface="Arial"/>
                          <a:cs typeface="Arial"/>
                        </a:rPr>
                        <a:t>V</a:t>
                      </a:r>
                      <a:r>
                        <a:rPr sz="900" spc="-7" baseline="-18518" dirty="0">
                          <a:solidFill>
                            <a:schemeClr val="tx1"/>
                          </a:solidFill>
                          <a:latin typeface="Arial"/>
                          <a:cs typeface="Arial"/>
                        </a:rPr>
                        <a:t>S</a:t>
                      </a:r>
                      <a:r>
                        <a:rPr sz="900" baseline="-18518" dirty="0">
                          <a:solidFill>
                            <a:schemeClr val="tx1"/>
                          </a:solidFill>
                          <a:latin typeface="Arial"/>
                          <a:cs typeface="Arial"/>
                        </a:rPr>
                        <a:t>D </a:t>
                      </a:r>
                      <a:r>
                        <a:rPr lang="en-US" sz="900" baseline="0" dirty="0">
                          <a:solidFill>
                            <a:schemeClr val="tx1"/>
                          </a:solidFill>
                          <a:latin typeface="Arial"/>
                          <a:cs typeface="Arial"/>
                        </a:rPr>
                        <a:t>:</a:t>
                      </a:r>
                      <a:r>
                        <a:rPr lang="en-US" altLang="ko-KR" sz="900" dirty="0">
                          <a:solidFill>
                            <a:schemeClr val="tx1"/>
                          </a:solidFill>
                          <a:latin typeface="Arial"/>
                          <a:cs typeface="Arial"/>
                        </a:rPr>
                        <a:t>3b’000 =  6V,  3b’001 =  8V</a:t>
                      </a:r>
                    </a:p>
                    <a:p>
                      <a:pPr marL="0" indent="0" algn="l">
                        <a:lnSpc>
                          <a:spcPct val="100000"/>
                        </a:lnSpc>
                        <a:spcBef>
                          <a:spcPts val="0"/>
                        </a:spcBef>
                      </a:pPr>
                      <a:r>
                        <a:rPr lang="en-US" altLang="ko-KR" sz="900" dirty="0">
                          <a:solidFill>
                            <a:schemeClr val="tx1"/>
                          </a:solidFill>
                          <a:latin typeface="Arial"/>
                          <a:cs typeface="Arial"/>
                        </a:rPr>
                        <a:t>3b’010 = 12V,</a:t>
                      </a:r>
                      <a:r>
                        <a:rPr lang="en-US" altLang="ko-KR" sz="900" spc="125" dirty="0">
                          <a:solidFill>
                            <a:schemeClr val="tx1"/>
                          </a:solidFill>
                          <a:latin typeface="Arial"/>
                          <a:cs typeface="Arial"/>
                        </a:rPr>
                        <a:t> </a:t>
                      </a:r>
                      <a:r>
                        <a:rPr lang="en-US" altLang="ko-KR" sz="900" dirty="0">
                          <a:solidFill>
                            <a:schemeClr val="tx1"/>
                          </a:solidFill>
                          <a:latin typeface="Arial"/>
                          <a:cs typeface="Arial"/>
                        </a:rPr>
                        <a:t>3b’011 = 16V</a:t>
                      </a:r>
                    </a:p>
                    <a:p>
                      <a:pPr marL="0" indent="0" algn="l">
                        <a:lnSpc>
                          <a:spcPct val="100000"/>
                        </a:lnSpc>
                        <a:spcBef>
                          <a:spcPts val="0"/>
                        </a:spcBef>
                      </a:pPr>
                      <a:r>
                        <a:rPr lang="en-US" altLang="ko-KR" sz="900" spc="-5" dirty="0">
                          <a:solidFill>
                            <a:schemeClr val="tx1"/>
                          </a:solidFill>
                          <a:latin typeface="Arial"/>
                          <a:cs typeface="Arial"/>
                        </a:rPr>
                        <a:t>3b’100 = 24V,</a:t>
                      </a:r>
                      <a:r>
                        <a:rPr lang="en-US" altLang="ko-KR" sz="900" spc="200" dirty="0">
                          <a:solidFill>
                            <a:schemeClr val="tx1"/>
                          </a:solidFill>
                          <a:latin typeface="Arial"/>
                          <a:cs typeface="Arial"/>
                        </a:rPr>
                        <a:t> </a:t>
                      </a:r>
                      <a:r>
                        <a:rPr lang="en-US" altLang="ko-KR" sz="900" spc="-5" dirty="0">
                          <a:solidFill>
                            <a:schemeClr val="tx1"/>
                          </a:solidFill>
                          <a:latin typeface="Arial"/>
                          <a:cs typeface="Arial"/>
                        </a:rPr>
                        <a:t>3b’101 = 32V</a:t>
                      </a:r>
                      <a:endParaRPr lang="en-US" altLang="ko-KR" sz="900" dirty="0">
                        <a:solidFill>
                          <a:schemeClr val="tx1"/>
                        </a:solidFill>
                        <a:latin typeface="Arial"/>
                        <a:cs typeface="Arial"/>
                      </a:endParaRPr>
                    </a:p>
                    <a:p>
                      <a:pPr marL="0" indent="0" algn="l">
                        <a:lnSpc>
                          <a:spcPct val="100000"/>
                        </a:lnSpc>
                        <a:spcBef>
                          <a:spcPts val="0"/>
                        </a:spcBef>
                      </a:pPr>
                      <a:r>
                        <a:rPr lang="en-US" altLang="ko-KR" sz="900" dirty="0">
                          <a:solidFill>
                            <a:schemeClr val="tx1"/>
                          </a:solidFill>
                          <a:latin typeface="Arial"/>
                          <a:cs typeface="Arial"/>
                        </a:rPr>
                        <a:t>3b’110 = 48V,</a:t>
                      </a:r>
                      <a:r>
                        <a:rPr lang="en-US" altLang="ko-KR" sz="900" spc="125" dirty="0">
                          <a:solidFill>
                            <a:schemeClr val="tx1"/>
                          </a:solidFill>
                          <a:latin typeface="Arial"/>
                          <a:cs typeface="Arial"/>
                        </a:rPr>
                        <a:t> </a:t>
                      </a:r>
                      <a:r>
                        <a:rPr lang="en-US" altLang="ko-KR" sz="900" dirty="0">
                          <a:solidFill>
                            <a:schemeClr val="tx1"/>
                          </a:solidFill>
                          <a:latin typeface="Arial"/>
                          <a:cs typeface="Arial"/>
                        </a:rPr>
                        <a:t>3b’111 = 70V</a:t>
                      </a:r>
                    </a:p>
                  </a:txBody>
                  <a:tcPr marL="18000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SD</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3359649"/>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Open detection voltage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4</a:t>
                      </a: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0.25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677624">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Sink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Device max current level :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a:t>
                      </a: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3’b000 =   8mA, 3’b001 = 16mA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3’b010 = 24mA, 3’b011 = 32mA</a:t>
                      </a:r>
                    </a:p>
                    <a:p>
                      <a:pPr marL="67945" algn="l">
                        <a:lnSpc>
                          <a:spcPct val="100000"/>
                        </a:lnSpc>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3’b100 = 48mA, 3’b101 = 64mA</a:t>
                      </a:r>
                    </a:p>
                    <a:p>
                      <a:pPr marL="67945" marR="0" lvl="0" indent="0" algn="l" defTabSz="685800" rtl="0" eaLnBrk="1" fontAlgn="auto" latinLnBrk="1" hangingPunct="1">
                        <a:lnSpc>
                          <a:spcPct val="100000"/>
                        </a:lnSpc>
                        <a:spcBef>
                          <a:spcPts val="0"/>
                        </a:spcBef>
                        <a:spcAft>
                          <a:spcPts val="0"/>
                        </a:spcAft>
                        <a:buClrTx/>
                        <a:buSzTx/>
                        <a:buFontTx/>
                        <a:buNone/>
                        <a:tabLst/>
                        <a:defRPr/>
                      </a:pPr>
                      <a:r>
                        <a:rPr lang="en-US" altLang="ko-KR" sz="900" dirty="0">
                          <a:effectLst/>
                          <a:latin typeface="Arial" panose="020B0604020202020204" pitchFamily="34" charset="0"/>
                          <a:ea typeface="Arial" panose="020B0604020202020204" pitchFamily="34" charset="0"/>
                          <a:cs typeface="Times New Roman" panose="02020603050405020304" pitchFamily="18" charset="0"/>
                        </a:rPr>
                        <a:t>3’b110 = 92mA, 3’b111 = 128mA</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128</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538930">
                <a:tc rowSpan="3">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Current accuracy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5)</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p>
                      <a:pPr algn="ctr" fontAlgn="ctr"/>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318770" indent="0" algn="ctr">
                        <a:lnSpc>
                          <a:spcPct val="100000"/>
                        </a:lnSpc>
                        <a:spcBef>
                          <a:spcPts val="120"/>
                        </a:spcBef>
                      </a:pPr>
                      <a:r>
                        <a:rPr sz="1050" spc="-7" baseline="3968" dirty="0">
                          <a:latin typeface="Arial"/>
                          <a:cs typeface="Arial"/>
                        </a:rPr>
                        <a:t>@ </a:t>
                      </a:r>
                      <a:r>
                        <a:rPr sz="900" dirty="0">
                          <a:latin typeface="Arial"/>
                          <a:cs typeface="Arial"/>
                        </a:rPr>
                        <a:t>I</a:t>
                      </a:r>
                      <a:r>
                        <a:rPr sz="900" baseline="-9259" dirty="0">
                          <a:latin typeface="Arial"/>
                          <a:cs typeface="Arial"/>
                        </a:rPr>
                        <a:t>O </a:t>
                      </a:r>
                      <a:r>
                        <a:rPr sz="900" dirty="0">
                          <a:latin typeface="Arial"/>
                          <a:cs typeface="Arial"/>
                        </a:rPr>
                        <a:t>=</a:t>
                      </a:r>
                      <a:r>
                        <a:rPr lang="en-US" sz="900" dirty="0">
                          <a:latin typeface="Arial"/>
                          <a:cs typeface="Arial"/>
                        </a:rPr>
                        <a:t>Imax(64</a:t>
                      </a:r>
                      <a:r>
                        <a:rPr lang="en-US" altLang="ko-KR" sz="900" dirty="0">
                          <a:latin typeface="Arial"/>
                          <a:cs typeface="Arial"/>
                        </a:rPr>
                        <a:t>mA)*0.03</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590"/>
                        </a:spcBef>
                      </a:pPr>
                      <a:r>
                        <a:rPr sz="900" spc="-5" dirty="0">
                          <a:solidFill>
                            <a:schemeClr val="tx1"/>
                          </a:solidFill>
                          <a:latin typeface="Arial"/>
                          <a:cs typeface="Arial"/>
                        </a:rPr>
                        <a:t>+</a:t>
                      </a:r>
                      <a:r>
                        <a:rPr lang="en-US" sz="900" spc="-5" dirty="0">
                          <a:solidFill>
                            <a:schemeClr val="tx1"/>
                          </a:solidFill>
                          <a:latin typeface="Arial"/>
                          <a:cs typeface="Arial"/>
                        </a:rPr>
                        <a:t>2.0</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7959294"/>
                  </a:ext>
                </a:extLst>
              </a:tr>
              <a:tr h="274063">
                <a:tc vMerge="1">
                  <a:txBody>
                    <a:bodyPr/>
                    <a:lstStyle/>
                    <a:p>
                      <a:pPr latinLnBrk="1"/>
                      <a:endParaRPr lang="ko-KR" altLang="en-US"/>
                    </a:p>
                  </a:txBody>
                  <a:tcPr/>
                </a:tc>
                <a:tc vMerge="1">
                  <a:txBody>
                    <a:bodyPr/>
                    <a:lstStyle/>
                    <a:p>
                      <a:pPr latinLnBrk="1"/>
                      <a:endParaRPr lang="ko-KR" altLang="en-US"/>
                    </a:p>
                  </a:txBody>
                  <a:tcPr/>
                </a:tc>
                <a:tc>
                  <a:txBody>
                    <a:bodyPr/>
                    <a:lstStyle/>
                    <a:p>
                      <a:pPr marL="0" marR="318770" indent="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=Imax(64mA)*0.</a:t>
                      </a:r>
                      <a:r>
                        <a:rPr lang="en-US" altLang="ko-KR" sz="900" spc="5" dirty="0">
                          <a:latin typeface="Arial"/>
                          <a:cs typeface="Arial"/>
                        </a:rPr>
                        <a:t>1</a:t>
                      </a:r>
                      <a:endParaRPr lang="en-US" altLang="ko-K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1.5</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8768497"/>
                  </a:ext>
                </a:extLst>
              </a:tr>
              <a:tr h="274063">
                <a:tc vMerge="1">
                  <a:txBody>
                    <a:bodyPr/>
                    <a:lstStyle/>
                    <a:p>
                      <a:pPr algn="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318770" indent="0" algn="ctr">
                        <a:lnSpc>
                          <a:spcPct val="100000"/>
                        </a:lnSpc>
                        <a:spcBef>
                          <a:spcPts val="120"/>
                        </a:spcBef>
                      </a:pPr>
                      <a:r>
                        <a:rPr lang="en-US" altLang="ko-KR" sz="1050" spc="-7" baseline="3968" dirty="0">
                          <a:latin typeface="Arial"/>
                          <a:cs typeface="Arial"/>
                        </a:rPr>
                        <a:t>@ </a:t>
                      </a:r>
                      <a:r>
                        <a:rPr lang="en-US" altLang="ko-KR" sz="900" dirty="0">
                          <a:latin typeface="Arial"/>
                          <a:cs typeface="Arial"/>
                        </a:rPr>
                        <a:t>I</a:t>
                      </a:r>
                      <a:r>
                        <a:rPr lang="en-US" altLang="ko-KR" sz="900" baseline="-9259" dirty="0">
                          <a:latin typeface="Arial"/>
                          <a:cs typeface="Arial"/>
                        </a:rPr>
                        <a:t>O </a:t>
                      </a:r>
                      <a:r>
                        <a:rPr lang="en-US" altLang="ko-KR" sz="900" dirty="0">
                          <a:latin typeface="Arial"/>
                          <a:cs typeface="Arial"/>
                        </a:rPr>
                        <a:t>= Imax(64mA)*1</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dirty="0">
                          <a:solidFill>
                            <a:schemeClr val="tx1"/>
                          </a:solidFill>
                          <a:latin typeface="Arial"/>
                          <a:cs typeface="Arial"/>
                        </a:rPr>
                        <a:t>-</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lnSpc>
                          <a:spcPct val="100000"/>
                        </a:lnSpc>
                        <a:spcBef>
                          <a:spcPts val="615"/>
                        </a:spcBef>
                      </a:pPr>
                      <a:r>
                        <a:rPr sz="900" spc="-5" dirty="0">
                          <a:solidFill>
                            <a:schemeClr val="tx1"/>
                          </a:solidFill>
                          <a:latin typeface="Arial"/>
                          <a:cs typeface="Arial"/>
                        </a:rPr>
                        <a:t>+</a:t>
                      </a:r>
                      <a:r>
                        <a:rPr lang="en-US" sz="900" spc="-5" dirty="0">
                          <a:solidFill>
                            <a:schemeClr val="tx1"/>
                          </a:solidFill>
                          <a:latin typeface="Arial"/>
                          <a:cs typeface="Arial"/>
                        </a:rPr>
                        <a:t>1</a:t>
                      </a:r>
                      <a:endParaRPr sz="900" dirty="0">
                        <a:solidFill>
                          <a:schemeClr val="tx1"/>
                        </a:solidFill>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6953018"/>
                  </a:ext>
                </a:extLst>
              </a:tr>
              <a:tr h="24467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LED off current</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a:t>
                      </a:r>
                      <a:r>
                        <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OFF</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1270" algn="ctr">
                        <a:lnSpc>
                          <a:spcPct val="100000"/>
                        </a:lnSpc>
                        <a:spcBef>
                          <a:spcPts val="490"/>
                        </a:spcBef>
                      </a:pPr>
                      <a:r>
                        <a:rPr sz="900" spc="-5" dirty="0">
                          <a:latin typeface="Arial"/>
                          <a:cs typeface="Arial"/>
                        </a:rPr>
                        <a:t>Vo</a:t>
                      </a:r>
                      <a:r>
                        <a:rPr sz="900" spc="-35" dirty="0">
                          <a:latin typeface="Arial"/>
                          <a:cs typeface="Arial"/>
                        </a:rPr>
                        <a:t> </a:t>
                      </a:r>
                      <a:r>
                        <a:rPr sz="900" dirty="0">
                          <a:latin typeface="Arial"/>
                          <a:cs typeface="Arial"/>
                        </a:rPr>
                        <a:t>=</a:t>
                      </a:r>
                      <a:r>
                        <a:rPr sz="900" spc="-25" dirty="0">
                          <a:latin typeface="Arial"/>
                          <a:cs typeface="Arial"/>
                        </a:rPr>
                        <a:t> </a:t>
                      </a:r>
                      <a:r>
                        <a:rPr lang="en-US" sz="900" spc="-5" dirty="0">
                          <a:latin typeface="Arial"/>
                          <a:cs typeface="Arial"/>
                        </a:rPr>
                        <a:t>8</a:t>
                      </a:r>
                      <a:r>
                        <a:rPr sz="900" spc="-5" dirty="0">
                          <a:latin typeface="Arial"/>
                          <a:cs typeface="Arial"/>
                        </a:rPr>
                        <a:t>0V</a:t>
                      </a:r>
                      <a:endParaRPr sz="900" dirty="0">
                        <a:latin typeface="Arial"/>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490"/>
                        </a:spcBef>
                      </a:pPr>
                      <a:r>
                        <a:rPr sz="900" dirty="0">
                          <a:solidFill>
                            <a:schemeClr val="tx1"/>
                          </a:solidFill>
                          <a:latin typeface="Arial"/>
                          <a:cs typeface="Arial"/>
                        </a:rPr>
                        <a:t>-</a:t>
                      </a: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R="635" algn="ctr">
                        <a:lnSpc>
                          <a:spcPct val="100000"/>
                        </a:lnSpc>
                        <a:spcBef>
                          <a:spcPts val="490"/>
                        </a:spcBef>
                      </a:pPr>
                      <a:r>
                        <a:rPr sz="900" spc="-5" dirty="0">
                          <a:solidFill>
                            <a:schemeClr val="tx1"/>
                          </a:solidFill>
                          <a:latin typeface="Arial"/>
                          <a:cs typeface="Arial"/>
                        </a:rPr>
                        <a:t>300</a:t>
                      </a:r>
                      <a:endParaRPr sz="900" dirty="0">
                        <a:solidFill>
                          <a:schemeClr val="tx1"/>
                        </a:solidFill>
                        <a:latin typeface="Arial"/>
                        <a:cs typeface="Arial"/>
                      </a:endParaRPr>
                    </a:p>
                  </a:txBody>
                  <a:tcPr marL="0" marR="0" marT="6223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nA</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65414234"/>
                  </a:ext>
                </a:extLst>
              </a:tr>
              <a:tr h="244676">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Feedback</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6727051"/>
                  </a:ext>
                </a:extLst>
              </a:tr>
              <a:tr h="68703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FB threshold voltage</a:t>
                      </a:r>
                    </a:p>
                    <a:p>
                      <a:pPr marL="0" marR="0" lvl="0" indent="0" algn="r" defTabSz="685800" rtl="0" eaLnBrk="1" fontAlgn="ctr" latinLnBrk="1" hangingPunct="1">
                        <a:lnSpc>
                          <a:spcPct val="100000"/>
                        </a:lnSpc>
                        <a:spcBef>
                          <a:spcPts val="0"/>
                        </a:spcBef>
                        <a:spcAft>
                          <a:spcPts val="0"/>
                        </a:spcAft>
                        <a:buClrTx/>
                        <a:buSzTx/>
                        <a:buFontTx/>
                        <a:buNone/>
                        <a:tabLst/>
                        <a:defRPr/>
                      </a:pP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Logically ORed for 4-ch)</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level V</a:t>
                      </a:r>
                      <a:r>
                        <a:rPr lang="en-US"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FBA</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3’b000 = 0.40V,  3’b001 = 0.60V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3’b010 = 0.80V,  3’b011 = 1.00V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3’b100 = 1.20V,  3’b101 = 1.40V</a:t>
                      </a:r>
                    </a:p>
                    <a:p>
                      <a:pPr algn="ctr" fontAlgn="ctr">
                        <a:lnSpc>
                          <a:spcPct val="100000"/>
                        </a:lnSpc>
                      </a:pP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3’b110 = 1.60V,  3’b111 = 1.80V</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FBA</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9383751"/>
                  </a:ext>
                </a:extLst>
              </a:tr>
              <a:tr h="244676">
                <a:tc>
                  <a:txBody>
                    <a:bodyPr/>
                    <a:lstStyle/>
                    <a:p>
                      <a:pPr algn="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FB hysteresis voltage</a:t>
                      </a:r>
                    </a:p>
                  </a:txBody>
                  <a:tcPr marL="0" marR="72000"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FBH</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6040"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40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10223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60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110</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65405" algn="ctr" defTabSz="685800" rtl="0" eaLnBrk="1" fontAlgn="ctr" latinLnBrk="1" hangingPunct="1">
                        <a:spcBef>
                          <a:spcPts val="370"/>
                        </a:spcBef>
                        <a:spcAft>
                          <a:spcPts val="0"/>
                        </a:spcAft>
                      </a:pPr>
                      <a:r>
                        <a:rPr 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rPr>
                        <a:t>mV</a:t>
                      </a:r>
                      <a:endParaRPr lang="ko-KR" altLang="en-US" sz="900" b="0" i="0" u="none" strike="noStrike" kern="120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5651753"/>
                  </a:ext>
                </a:extLst>
              </a:tr>
              <a:tr h="244676">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Thermal protection</a:t>
                      </a:r>
                    </a:p>
                  </a:txBody>
                  <a:tcPr marL="0" marR="9525" marT="9525" marB="0" anchor="b">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1483299"/>
                  </a:ext>
                </a:extLst>
              </a:tr>
              <a:tr h="300494">
                <a:tc>
                  <a:txBody>
                    <a:bodyPr/>
                    <a:lstStyle/>
                    <a:p>
                      <a:pPr marL="0" marR="64135" indent="0" algn="r">
                        <a:lnSpc>
                          <a:spcPct val="200000"/>
                        </a:lnSpc>
                        <a:spcBef>
                          <a:spcPts val="5"/>
                        </a:spcBef>
                      </a:pPr>
                      <a:r>
                        <a:rPr lang="en-US" sz="900" spc="-10" dirty="0">
                          <a:latin typeface="Arial"/>
                          <a:cs typeface="Arial"/>
                        </a:rPr>
                        <a:t>T</a:t>
                      </a:r>
                      <a:r>
                        <a:rPr lang="en-US" sz="900" dirty="0">
                          <a:latin typeface="Arial"/>
                          <a:cs typeface="Arial"/>
                        </a:rPr>
                        <a:t>her</a:t>
                      </a:r>
                      <a:r>
                        <a:rPr lang="en-US" sz="900" spc="5" dirty="0">
                          <a:latin typeface="Arial"/>
                          <a:cs typeface="Arial"/>
                        </a:rPr>
                        <a:t>m</a:t>
                      </a:r>
                      <a:r>
                        <a:rPr lang="en-US" sz="900" dirty="0">
                          <a:latin typeface="Arial"/>
                          <a:cs typeface="Arial"/>
                        </a:rPr>
                        <a:t>al cut off </a:t>
                      </a:r>
                      <a:r>
                        <a:rPr lang="en-US" sz="900" spc="-5" dirty="0">
                          <a:latin typeface="Arial"/>
                          <a:cs typeface="Arial"/>
                        </a:rPr>
                        <a:t>@T</a:t>
                      </a:r>
                      <a:r>
                        <a:rPr lang="en-US" sz="900" spc="-7" baseline="-9259" dirty="0">
                          <a:latin typeface="Arial"/>
                          <a:cs typeface="Arial"/>
                        </a:rPr>
                        <a:t>J</a:t>
                      </a:r>
                      <a:endParaRPr lang="en-US" sz="900" baseline="-9259" dirty="0">
                        <a:latin typeface="Arial"/>
                        <a:cs typeface="Arial"/>
                      </a:endParaRPr>
                    </a:p>
                  </a:txBody>
                  <a:tcPr marL="0" marR="0" marT="0"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227965" lvl="0" indent="0" algn="r" defTabSz="914400" eaLnBrk="1" fontAlgn="auto" latinLnBrk="0" hangingPunct="1">
                        <a:lnSpc>
                          <a:spcPct val="100000"/>
                        </a:lnSpc>
                        <a:spcBef>
                          <a:spcPts val="605"/>
                        </a:spcBef>
                        <a:spcAft>
                          <a:spcPts val="0"/>
                        </a:spcAft>
                        <a:buClrTx/>
                        <a:buSzTx/>
                        <a:buFontTx/>
                        <a:buNone/>
                        <a:tabLst/>
                        <a:defRPr/>
                      </a:pPr>
                      <a:r>
                        <a:rPr kumimoji="0" lang="en-US" altLang="ko-KR" sz="1350" b="0" i="0" u="none" strike="noStrike" kern="0" cap="none" spc="-7" normalizeH="0" baseline="6172" noProof="0" dirty="0">
                          <a:ln>
                            <a:noFill/>
                          </a:ln>
                          <a:solidFill>
                            <a:prstClr val="black"/>
                          </a:solidFill>
                          <a:effectLst/>
                          <a:uLnTx/>
                          <a:uFillTx/>
                          <a:latin typeface="Arial"/>
                          <a:ea typeface="+mn-ea"/>
                          <a:cs typeface="Arial"/>
                        </a:rPr>
                        <a:t>T</a:t>
                      </a:r>
                      <a:r>
                        <a:rPr kumimoji="0" lang="en-US" altLang="ko-KR" sz="600" b="0" i="0" u="none" strike="noStrike" kern="0" cap="none" spc="-5" normalizeH="0" baseline="0" noProof="0" dirty="0">
                          <a:ln>
                            <a:noFill/>
                          </a:ln>
                          <a:solidFill>
                            <a:prstClr val="black"/>
                          </a:solidFill>
                          <a:effectLst/>
                          <a:uLnTx/>
                          <a:uFillTx/>
                          <a:latin typeface="Arial"/>
                          <a:ea typeface="+mn-ea"/>
                          <a:cs typeface="Arial"/>
                        </a:rPr>
                        <a:t>CUT</a:t>
                      </a:r>
                      <a:endParaRPr kumimoji="0" lang="en-US" altLang="ko-KR" sz="600" b="0" i="0" u="none" strike="noStrike" kern="0" cap="none" spc="0" normalizeH="0" baseline="0" noProof="0" dirty="0">
                        <a:ln>
                          <a:noFill/>
                        </a:ln>
                        <a:solidFill>
                          <a:prstClr val="black"/>
                        </a:solidFill>
                        <a:effectLst/>
                        <a:uLnTx/>
                        <a:uFillTx/>
                        <a:latin typeface="Arial"/>
                        <a:ea typeface="+mn-ea"/>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900" dirty="0">
                          <a:solidFill>
                            <a:schemeClr val="tx1"/>
                          </a:solidFill>
                          <a:latin typeface="Arial" panose="020B0604020202020204" pitchFamily="34" charset="0"/>
                          <a:cs typeface="Arial" panose="020B0604020202020204" pitchFamily="34" charset="0"/>
                        </a:rPr>
                        <a:t>OFS_TEMP [3:0] = 0x8</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marR="0" lvl="0" indent="0" algn="ctr" defTabSz="9144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905" algn="ctr">
                        <a:lnSpc>
                          <a:spcPct val="100000"/>
                        </a:lnSpc>
                        <a:spcBef>
                          <a:spcPts val="815"/>
                        </a:spcBef>
                      </a:pPr>
                      <a:r>
                        <a:rPr lang="en-US" sz="900" dirty="0">
                          <a:solidFill>
                            <a:schemeClr val="tx1"/>
                          </a:solidFill>
                          <a:latin typeface="Arial" panose="020B0604020202020204" pitchFamily="34" charset="0"/>
                          <a:cs typeface="Arial" panose="020B0604020202020204" pitchFamily="34" charset="0"/>
                        </a:rPr>
                        <a:t>135</a:t>
                      </a:r>
                      <a:endParaRPr sz="900" dirty="0">
                        <a:solidFill>
                          <a:schemeClr val="tx1"/>
                        </a:solidFill>
                        <a:latin typeface="Arial" panose="020B0604020202020204" pitchFamily="34" charset="0"/>
                        <a:cs typeface="Arial" panose="020B0604020202020204" pitchFamily="34"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3020" algn="ctr">
                        <a:lnSpc>
                          <a:spcPct val="100000"/>
                        </a:lnSpc>
                      </a:pPr>
                      <a:r>
                        <a:rPr lang="en-US" altLang="ko-K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5"/>
                        </a:spcBef>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pPr>
                      <a:r>
                        <a:rPr sz="900" dirty="0">
                          <a:solidFill>
                            <a:schemeClr val="tx1"/>
                          </a:solidFill>
                          <a:latin typeface="Arial" panose="020B0604020202020204" pitchFamily="34" charset="0"/>
                          <a:cs typeface="Arial" panose="020B0604020202020204" pitchFamily="34" charset="0"/>
                        </a:rPr>
                        <a:t>℃</a:t>
                      </a: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179033"/>
                  </a:ext>
                </a:extLst>
              </a:tr>
              <a:tr h="473464">
                <a:tc>
                  <a:txBody>
                    <a:bodyPr/>
                    <a:lstStyle/>
                    <a:p>
                      <a:pPr marL="0" marR="66040" indent="0" algn="r">
                        <a:lnSpc>
                          <a:spcPct val="100000"/>
                        </a:lnSpc>
                      </a:pPr>
                      <a:r>
                        <a:rPr sz="900" spc="-5" dirty="0">
                          <a:latin typeface="Arial"/>
                          <a:cs typeface="Arial"/>
                        </a:rPr>
                        <a:t>Thermal</a:t>
                      </a:r>
                      <a:r>
                        <a:rPr sz="900" spc="-40" dirty="0">
                          <a:latin typeface="Arial"/>
                          <a:cs typeface="Arial"/>
                        </a:rPr>
                        <a:t> </a:t>
                      </a:r>
                      <a:r>
                        <a:rPr lang="en-US" sz="900" dirty="0">
                          <a:latin typeface="Arial"/>
                          <a:cs typeface="Arial"/>
                        </a:rPr>
                        <a:t>cut off </a:t>
                      </a:r>
                      <a:r>
                        <a:rPr sz="900" dirty="0">
                          <a:latin typeface="Arial"/>
                          <a:cs typeface="Arial"/>
                        </a:rPr>
                        <a:t>h</a:t>
                      </a:r>
                      <a:r>
                        <a:rPr sz="900" spc="-10" dirty="0">
                          <a:latin typeface="Arial"/>
                          <a:cs typeface="Arial"/>
                        </a:rPr>
                        <a:t>y</a:t>
                      </a:r>
                      <a:r>
                        <a:rPr sz="900" spc="5" dirty="0">
                          <a:latin typeface="Arial"/>
                          <a:cs typeface="Arial"/>
                        </a:rPr>
                        <a:t>s</a:t>
                      </a:r>
                      <a:r>
                        <a:rPr sz="900" dirty="0">
                          <a:latin typeface="Arial"/>
                          <a:cs typeface="Arial"/>
                        </a:rPr>
                        <a:t>tere</a:t>
                      </a:r>
                      <a:r>
                        <a:rPr sz="900" spc="5" dirty="0">
                          <a:latin typeface="Arial"/>
                          <a:cs typeface="Arial"/>
                        </a:rPr>
                        <a:t>s</a:t>
                      </a:r>
                      <a:r>
                        <a:rPr sz="900" dirty="0">
                          <a:latin typeface="Arial"/>
                          <a:cs typeface="Arial"/>
                        </a:rPr>
                        <a:t>is</a:t>
                      </a:r>
                      <a:r>
                        <a:rPr sz="900" spc="-30" dirty="0">
                          <a:latin typeface="Arial"/>
                          <a:cs typeface="Arial"/>
                        </a:rPr>
                        <a:t> </a:t>
                      </a:r>
                      <a:r>
                        <a:rPr kumimoji="0" lang="en-US" altLang="ko-KR" sz="900" b="0" i="0" u="none" strike="noStrike" kern="1200" cap="none" spc="-5" normalizeH="0" baseline="0" noProof="0" dirty="0">
                          <a:ln>
                            <a:noFill/>
                          </a:ln>
                          <a:solidFill>
                            <a:prstClr val="black"/>
                          </a:solidFill>
                          <a:effectLst/>
                          <a:uLnTx/>
                          <a:uFillTx/>
                          <a:latin typeface="Arial"/>
                          <a:ea typeface="+mn-ea"/>
                          <a:cs typeface="Arial"/>
                        </a:rPr>
                        <a:t>@T</a:t>
                      </a:r>
                      <a:r>
                        <a:rPr kumimoji="0" lang="en-US" altLang="ko-KR" sz="900" b="0" i="0" u="none" strike="noStrike" kern="1200" cap="none" spc="-7" normalizeH="0" baseline="-9259" noProof="0" dirty="0">
                          <a:ln>
                            <a:noFill/>
                          </a:ln>
                          <a:solidFill>
                            <a:prstClr val="black"/>
                          </a:solidFill>
                          <a:effectLst/>
                          <a:uLnTx/>
                          <a:uFillTx/>
                          <a:latin typeface="Arial"/>
                          <a:ea typeface="+mn-ea"/>
                          <a:cs typeface="Arial"/>
                        </a:rPr>
                        <a:t>J</a:t>
                      </a:r>
                      <a:endParaRPr sz="900" dirty="0">
                        <a:latin typeface="Arial"/>
                        <a:cs typeface="Arial"/>
                      </a:endParaRPr>
                    </a:p>
                  </a:txBody>
                  <a:tcPr marL="0" marR="0" marT="63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20"/>
                        </a:spcBef>
                      </a:pPr>
                      <a:endParaRPr sz="1350" dirty="0">
                        <a:latin typeface="Times New Roman"/>
                        <a:cs typeface="Times New Roman"/>
                      </a:endParaRPr>
                    </a:p>
                    <a:p>
                      <a:pPr marR="227965" algn="r">
                        <a:lnSpc>
                          <a:spcPct val="100000"/>
                        </a:lnSpc>
                      </a:pPr>
                      <a:r>
                        <a:rPr sz="1350" spc="-7" baseline="6172" dirty="0">
                          <a:latin typeface="Arial"/>
                          <a:cs typeface="Arial"/>
                        </a:rPr>
                        <a:t>T</a:t>
                      </a:r>
                      <a:r>
                        <a:rPr sz="600" spc="-5" dirty="0">
                          <a:latin typeface="Arial"/>
                          <a:cs typeface="Arial"/>
                        </a:rPr>
                        <a:t>HYS</a:t>
                      </a:r>
                      <a:endParaRPr sz="600" dirty="0">
                        <a:latin typeface="Arial"/>
                        <a:cs typeface="Arial"/>
                      </a:endParaRPr>
                    </a:p>
                  </a:txBody>
                  <a:tcPr marL="0" marR="0" marT="254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L="170180">
                        <a:lnSpc>
                          <a:spcPct val="100000"/>
                        </a:lnSpc>
                      </a:pPr>
                      <a:r>
                        <a:rPr lang="en-US" sz="900" spc="-5" dirty="0">
                          <a:solidFill>
                            <a:schemeClr val="tx1"/>
                          </a:solidFill>
                          <a:latin typeface="Arial" panose="020B0604020202020204" pitchFamily="34" charset="0"/>
                          <a:cs typeface="Arial" panose="020B0604020202020204" pitchFamily="34" charset="0"/>
                        </a:rPr>
                        <a:t>1</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28575" algn="ctr">
                        <a:lnSpc>
                          <a:spcPct val="100000"/>
                        </a:lnSpc>
                      </a:pPr>
                      <a:r>
                        <a:rPr lang="en-US" sz="900" spc="-5" dirty="0">
                          <a:solidFill>
                            <a:schemeClr val="tx1"/>
                          </a:solidFill>
                          <a:latin typeface="Arial" panose="020B0604020202020204" pitchFamily="34" charset="0"/>
                          <a:cs typeface="Arial" panose="020B0604020202020204" pitchFamily="34" charset="0"/>
                        </a:rPr>
                        <a:t>2</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spcBef>
                          <a:spcPts val="45"/>
                        </a:spcBef>
                      </a:pPr>
                      <a:endParaRPr sz="900" dirty="0">
                        <a:solidFill>
                          <a:schemeClr val="tx1"/>
                        </a:solidFill>
                        <a:latin typeface="Arial" panose="020B0604020202020204" pitchFamily="34" charset="0"/>
                        <a:cs typeface="Arial" panose="020B0604020202020204" pitchFamily="34" charset="0"/>
                      </a:endParaRPr>
                    </a:p>
                    <a:p>
                      <a:pPr marR="54610" algn="ctr">
                        <a:lnSpc>
                          <a:spcPct val="100000"/>
                        </a:lnSpc>
                      </a:pPr>
                      <a:r>
                        <a:rPr lang="en-US" sz="900" spc="-5" dirty="0">
                          <a:solidFill>
                            <a:schemeClr val="tx1"/>
                          </a:solidFill>
                          <a:latin typeface="Arial" panose="020B0604020202020204" pitchFamily="34" charset="0"/>
                          <a:cs typeface="Arial" panose="020B0604020202020204" pitchFamily="34" charset="0"/>
                        </a:rPr>
                        <a:t>3</a:t>
                      </a:r>
                      <a:r>
                        <a:rPr sz="900" spc="-5" dirty="0">
                          <a:solidFill>
                            <a:schemeClr val="tx1"/>
                          </a:solidFill>
                          <a:latin typeface="Arial" panose="020B0604020202020204" pitchFamily="34" charset="0"/>
                          <a:cs typeface="Arial" panose="020B0604020202020204" pitchFamily="34" charset="0"/>
                        </a:rPr>
                        <a:t>0</a:t>
                      </a:r>
                      <a:endParaRPr sz="900" dirty="0">
                        <a:solidFill>
                          <a:schemeClr val="tx1"/>
                        </a:solidFill>
                        <a:latin typeface="Arial" panose="020B0604020202020204" pitchFamily="34" charset="0"/>
                        <a:cs typeface="Arial" panose="020B0604020202020204" pitchFamily="34" charset="0"/>
                      </a:endParaRPr>
                    </a:p>
                  </a:txBody>
                  <a:tcPr marL="0" marR="0" marT="5715"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endParaRPr sz="900" dirty="0">
                        <a:solidFill>
                          <a:schemeClr val="tx1"/>
                        </a:solidFill>
                        <a:latin typeface="Arial" panose="020B0604020202020204" pitchFamily="34" charset="0"/>
                        <a:cs typeface="Arial" panose="020B0604020202020204" pitchFamily="34" charset="0"/>
                      </a:endParaRPr>
                    </a:p>
                    <a:p>
                      <a:pPr marR="219075" algn="r">
                        <a:lnSpc>
                          <a:spcPct val="100000"/>
                        </a:lnSpc>
                        <a:spcBef>
                          <a:spcPts val="5"/>
                        </a:spcBef>
                      </a:pPr>
                      <a:r>
                        <a:rPr sz="900" dirty="0">
                          <a:solidFill>
                            <a:schemeClr val="tx1"/>
                          </a:solidFill>
                          <a:latin typeface="Arial" panose="020B0604020202020204" pitchFamily="34" charset="0"/>
                          <a:cs typeface="Arial" panose="020B0604020202020204" pitchFamily="34" charset="0"/>
                        </a:rPr>
                        <a: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532953"/>
                  </a:ext>
                </a:extLst>
              </a:tr>
            </a:tbl>
          </a:graphicData>
        </a:graphic>
      </p:graphicFrame>
      <p:sp>
        <p:nvSpPr>
          <p:cNvPr id="27" name="TextBox 26">
            <a:extLst>
              <a:ext uri="{FF2B5EF4-FFF2-40B4-BE49-F238E27FC236}">
                <a16:creationId xmlns:a16="http://schemas.microsoft.com/office/drawing/2014/main" id="{452D1314-BC31-7B60-4CC5-E2C29C04329B}"/>
              </a:ext>
            </a:extLst>
          </p:cNvPr>
          <p:cNvSpPr txBox="1"/>
          <p:nvPr/>
        </p:nvSpPr>
        <p:spPr>
          <a:xfrm>
            <a:off x="404812" y="7807133"/>
            <a:ext cx="6048620" cy="428322"/>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pPr>
              <a:spcBef>
                <a:spcPts val="0"/>
              </a:spcBef>
            </a:pPr>
            <a:r>
              <a:rPr lang="en-US" altLang="ko-KR" dirty="0"/>
              <a:t>Note :  4) If LED open or short event is happened, the corresponding channel will be turned-off under the function</a:t>
            </a:r>
          </a:p>
          <a:p>
            <a:pPr>
              <a:spcBef>
                <a:spcPts val="0"/>
              </a:spcBef>
            </a:pPr>
            <a:r>
              <a:rPr lang="en-US" altLang="ko-KR" dirty="0"/>
              <a:t>                enabled.  If the thermal is happened, all channels output will be turned-off under the function enabled.</a:t>
            </a:r>
          </a:p>
          <a:p>
            <a:pPr>
              <a:spcBef>
                <a:spcPts val="0"/>
              </a:spcBef>
            </a:pPr>
            <a:r>
              <a:rPr lang="en-US" altLang="ko-KR" dirty="0"/>
              <a:t>            5) Under satisfying the power dissipation specification.</a:t>
            </a:r>
          </a:p>
        </p:txBody>
      </p:sp>
    </p:spTree>
    <p:extLst>
      <p:ext uri="{BB962C8B-B14F-4D97-AF65-F5344CB8AC3E}">
        <p14:creationId xmlns:p14="http://schemas.microsoft.com/office/powerpoint/2010/main" val="364840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C3916792-B67B-C24F-7514-0BB2E0D95B83}"/>
              </a:ext>
            </a:extLst>
          </p:cNvPr>
          <p:cNvSpPr txBox="1"/>
          <p:nvPr/>
        </p:nvSpPr>
        <p:spPr>
          <a:xfrm>
            <a:off x="404812" y="774866"/>
            <a:ext cx="603964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Electrical Characteristic </a:t>
            </a: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dirty="0">
                <a:latin typeface="Arial" panose="020B0604020202020204" pitchFamily="34" charset="0"/>
                <a:cs typeface="Arial" panose="020B0604020202020204" pitchFamily="34" charset="0"/>
              </a:rPr>
              <a:t>=5.0V, Ta=25.0</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unless</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otherwise</a:t>
            </a:r>
            <a:r>
              <a:rPr lang="ko-KR" altLang="en-US" sz="900" dirty="0">
                <a:latin typeface="Arial" panose="020B0604020202020204" pitchFamily="34" charset="0"/>
                <a:cs typeface="Arial" panose="020B0604020202020204" pitchFamily="34" charset="0"/>
              </a:rPr>
              <a:t> </a:t>
            </a:r>
            <a:r>
              <a:rPr lang="en-US" altLang="ko-KR" sz="900" dirty="0">
                <a:latin typeface="Arial" panose="020B0604020202020204" pitchFamily="34" charset="0"/>
                <a:cs typeface="Arial" panose="020B0604020202020204" pitchFamily="34" charset="0"/>
              </a:rPr>
              <a:t>noted)</a:t>
            </a:r>
            <a:endParaRPr lang="ko-KR" altLang="en-US" sz="1200" dirty="0">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85F45CBA-C544-3782-6F74-8205667D9603}"/>
              </a:ext>
            </a:extLst>
          </p:cNvPr>
          <p:cNvGraphicFramePr>
            <a:graphicFrameLocks noGrp="1"/>
          </p:cNvGraphicFramePr>
          <p:nvPr>
            <p:extLst>
              <p:ext uri="{D42A27DB-BD31-4B8C-83A1-F6EECF244321}">
                <p14:modId xmlns:p14="http://schemas.microsoft.com/office/powerpoint/2010/main" val="692699735"/>
              </p:ext>
            </p:extLst>
          </p:nvPr>
        </p:nvGraphicFramePr>
        <p:xfrm>
          <a:off x="404811" y="1146851"/>
          <a:ext cx="6048622" cy="3163712"/>
        </p:xfrm>
        <a:graphic>
          <a:graphicData uri="http://schemas.openxmlformats.org/drawingml/2006/table">
            <a:tbl>
              <a:tblPr>
                <a:tableStyleId>{5C22544A-7EE6-4342-B048-85BDC9FD1C3A}</a:tableStyleId>
              </a:tblPr>
              <a:tblGrid>
                <a:gridCol w="1402522">
                  <a:extLst>
                    <a:ext uri="{9D8B030D-6E8A-4147-A177-3AD203B41FA5}">
                      <a16:colId xmlns:a16="http://schemas.microsoft.com/office/drawing/2014/main" val="1783343538"/>
                    </a:ext>
                  </a:extLst>
                </a:gridCol>
                <a:gridCol w="684027">
                  <a:extLst>
                    <a:ext uri="{9D8B030D-6E8A-4147-A177-3AD203B41FA5}">
                      <a16:colId xmlns:a16="http://schemas.microsoft.com/office/drawing/2014/main" val="3180006436"/>
                    </a:ext>
                  </a:extLst>
                </a:gridCol>
                <a:gridCol w="1809617">
                  <a:extLst>
                    <a:ext uri="{9D8B030D-6E8A-4147-A177-3AD203B41FA5}">
                      <a16:colId xmlns:a16="http://schemas.microsoft.com/office/drawing/2014/main" val="1629708029"/>
                    </a:ext>
                  </a:extLst>
                </a:gridCol>
                <a:gridCol w="529993">
                  <a:extLst>
                    <a:ext uri="{9D8B030D-6E8A-4147-A177-3AD203B41FA5}">
                      <a16:colId xmlns:a16="http://schemas.microsoft.com/office/drawing/2014/main" val="3514095092"/>
                    </a:ext>
                  </a:extLst>
                </a:gridCol>
                <a:gridCol w="529993">
                  <a:extLst>
                    <a:ext uri="{9D8B030D-6E8A-4147-A177-3AD203B41FA5}">
                      <a16:colId xmlns:a16="http://schemas.microsoft.com/office/drawing/2014/main" val="2256908222"/>
                    </a:ext>
                  </a:extLst>
                </a:gridCol>
                <a:gridCol w="529993">
                  <a:extLst>
                    <a:ext uri="{9D8B030D-6E8A-4147-A177-3AD203B41FA5}">
                      <a16:colId xmlns:a16="http://schemas.microsoft.com/office/drawing/2014/main" val="2915946677"/>
                    </a:ext>
                  </a:extLst>
                </a:gridCol>
                <a:gridCol w="562477">
                  <a:extLst>
                    <a:ext uri="{9D8B030D-6E8A-4147-A177-3AD203B41FA5}">
                      <a16:colId xmlns:a16="http://schemas.microsoft.com/office/drawing/2014/main" val="2559142005"/>
                    </a:ext>
                  </a:extLst>
                </a:gridCol>
              </a:tblGrid>
              <a:tr h="269132">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Characteristics</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mpd="sng">
                      <a:noFill/>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Symbol</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Condition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gridSpan="3">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Value</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latinLnBrk="1"/>
                      <a:endParaRPr lang="ko-KR"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rowSpan="2">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Unit</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200011002"/>
                  </a:ext>
                </a:extLst>
              </a:tr>
              <a:tr h="269132">
                <a:tc vMerge="1">
                  <a:txBody>
                    <a:bodyPr/>
                    <a:lstStyle/>
                    <a:p>
                      <a:pPr latinLnBrk="1"/>
                      <a:endParaRPr lang="ko-KR" altLang="en-US"/>
                    </a:p>
                  </a:txBody>
                  <a:tcPr>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vMerge="1">
                  <a:txBody>
                    <a:bodyPr/>
                    <a:lstStyle/>
                    <a:p>
                      <a:pPr latinLnBrk="1"/>
                      <a:endParaRPr lang="ko-KR"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min</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typ</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fontAlgn="ctr"/>
                      <a:r>
                        <a:rPr lang="en-US"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max</a:t>
                      </a:r>
                      <a:endParaRPr lang="ko-KR" sz="900" b="1"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9525"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latinLnBrk="1"/>
                      <a:endParaRPr lang="ko-KR" altLang="en-US" dirty="0"/>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56694182"/>
                  </a:ext>
                </a:extLst>
              </a:tr>
              <a:tr h="269132">
                <a:tc gridSpan="7">
                  <a:txBody>
                    <a:bodyPr/>
                    <a:lstStyle/>
                    <a:p>
                      <a:pPr algn="l"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 </a:t>
                      </a: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Ramp up and </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LED </a:t>
                      </a:r>
                      <a:r>
                        <a:rPr lang="en-US" altLang="ko-KR"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rPr>
                        <a:t>Start</a:t>
                      </a:r>
                      <a:endParaRPr lang="en-US" sz="900" b="0" i="0" u="none" strike="noStrike" baseline="0"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7057835"/>
                  </a:ext>
                </a:extLst>
              </a:tr>
              <a:tr h="241376">
                <a:tc>
                  <a:txBody>
                    <a:bodyPr/>
                    <a:lstStyle/>
                    <a:p>
                      <a:pPr algn="r" fontAlgn="ct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DD </a:t>
                      </a:r>
                      <a:r>
                        <a:rPr lang="en-US" altLang="ko-KR" sz="900" baseline="0" dirty="0">
                          <a:latin typeface="Arial" panose="020B0604020202020204" pitchFamily="34" charset="0"/>
                          <a:cs typeface="Arial" panose="020B0604020202020204" pitchFamily="34" charset="0"/>
                        </a:rPr>
                        <a:t>Ramp up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VDD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from 0 to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1.2</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2614104"/>
                  </a:ext>
                </a:extLst>
              </a:tr>
              <a:tr h="241376">
                <a:tc>
                  <a:txBody>
                    <a:bodyPr/>
                    <a:lstStyle/>
                    <a:p>
                      <a:pPr marL="0" marR="0" lvl="0" indent="0" algn="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V</a:t>
                      </a:r>
                      <a:r>
                        <a:rPr lang="en-US" altLang="ko-KR" sz="900" baseline="-25000" dirty="0">
                          <a:latin typeface="Arial" panose="020B0604020202020204" pitchFamily="34" charset="0"/>
                          <a:cs typeface="Arial" panose="020B0604020202020204" pitchFamily="34" charset="0"/>
                        </a:rPr>
                        <a:t>LED </a:t>
                      </a:r>
                      <a:r>
                        <a:rPr lang="en-US" altLang="ko-KR" sz="900" baseline="0" dirty="0">
                          <a:latin typeface="Arial" panose="020B0604020202020204" pitchFamily="34" charset="0"/>
                          <a:cs typeface="Arial" panose="020B0604020202020204" pitchFamily="34" charset="0"/>
                        </a:rPr>
                        <a:t>Start time</a:t>
                      </a:r>
                      <a:endParaRPr lang="en-US"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SU_DIM</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6)</a:t>
                      </a: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6363831"/>
                  </a:ext>
                </a:extLst>
              </a:tr>
              <a:tr h="241376">
                <a:tc gridSpan="2">
                  <a:txBody>
                    <a:bodyPr/>
                    <a:lstStyle/>
                    <a:p>
                      <a:pPr algn="l" fontAlgn="ct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Initialization after V</a:t>
                      </a:r>
                      <a:r>
                        <a:rPr lang="en-US" altLang="ko-KR" sz="900" b="0" i="0" u="none" strike="noStrike" baseline="-25000" dirty="0">
                          <a:solidFill>
                            <a:schemeClr val="tx1"/>
                          </a:solidFill>
                          <a:effectLst/>
                          <a:latin typeface="Arial" panose="020B0604020202020204" pitchFamily="34" charset="0"/>
                          <a:ea typeface="굴림" panose="020B0600000101010101" pitchFamily="50" charset="-127"/>
                          <a:cs typeface="Arial" panose="020B0604020202020204" pitchFamily="34" charset="0"/>
                        </a:rPr>
                        <a:t>DD</a:t>
                      </a: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 5V stable</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927470"/>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Initial time</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from stable 5V</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10</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8014195"/>
                  </a:ext>
                </a:extLst>
              </a:tr>
              <a:tr h="228786">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Allowed 1</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st</a:t>
                      </a: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command</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FCMD</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after </a:t>
                      </a: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INIT</a:t>
                      </a: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 is completed</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ms</a:t>
                      </a:r>
                    </a:p>
                  </a:txBody>
                  <a:tcPr marL="0" marR="9525" marT="9525" marB="0" anchor="ct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2860677"/>
                  </a:ext>
                </a:extLst>
              </a:tr>
              <a:tr h="457355">
                <a:tc gridSpan="7">
                  <a:txBody>
                    <a:bodyPr/>
                    <a:lstStyle/>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Timeout : Internal timer starts after completing to receive a read-back command and stops after first response bit</a:t>
                      </a:r>
                    </a:p>
                    <a:p>
                      <a:pPr algn="l"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                 from a last daisied device. </a:t>
                      </a: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This depends on the frequency of MCLK.</a:t>
                      </a: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lnSpc>
                          <a:spcPct val="100000"/>
                        </a:lnSpc>
                      </a:pP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66FF"/>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9154374"/>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Internal Timeout </a:t>
                      </a:r>
                      <a:r>
                        <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7)</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TIMEOUT</a:t>
                      </a: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32,767</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rPr>
                        <a:t>MCLK</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522093"/>
                  </a:ext>
                </a:extLst>
              </a:tr>
              <a:tr h="239087">
                <a:tc gridSpan="7">
                  <a:txBody>
                    <a:bodyPr/>
                    <a:lstStyle/>
                    <a:p>
                      <a:pPr algn="l" fontAlgn="ctr"/>
                      <a:r>
                        <a:rPr lang="en-US" altLang="ko-KR" sz="900" dirty="0">
                          <a:latin typeface="Arial" panose="020B0604020202020204" pitchFamily="34" charset="0"/>
                          <a:cs typeface="Arial" panose="020B0604020202020204" pitchFamily="34" charset="0"/>
                        </a:rPr>
                        <a:t>  VSYNC daisy out @ EXT_VS_E = 1</a:t>
                      </a:r>
                      <a:endParaRPr lang="en-US" sz="900" b="0" i="0" u="none" strike="noStrike" baseline="30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72000" marT="9525" marB="0" anchor="ctr">
                    <a:lnL w="12700" cmpd="sng">
                      <a:noFill/>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67945" algn="ctr">
                        <a:lnSpc>
                          <a:spcPct val="100000"/>
                        </a:lnSpc>
                      </a:pPr>
                      <a:endParaRPr lang="en-US" altLang="ko-KR" sz="900" dirty="0">
                        <a:effectLst/>
                        <a:latin typeface="Arial" panose="020B0604020202020204" pitchFamily="34" charset="0"/>
                        <a:ea typeface="Arial" panose="020B0604020202020204" pitchFamily="34" charset="0"/>
                        <a:cs typeface="Times New Roman" panose="02020603050405020304" pitchFamily="18" charset="0"/>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endParaRPr lang="en-US" altLang="ko-KR"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en-US" sz="900" b="0" i="0" u="none" strike="noStrike" dirty="0">
                        <a:solidFill>
                          <a:schemeClr val="tx1"/>
                        </a:solidFill>
                        <a:effectLst/>
                        <a:latin typeface="Arial" panose="020B0604020202020204" pitchFamily="34" charset="0"/>
                        <a:ea typeface="굴림" panose="020B0600000101010101" pitchFamily="50" charset="-127"/>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4697295"/>
                  </a:ext>
                </a:extLst>
              </a:tr>
              <a:tr h="239087">
                <a:tc>
                  <a:txBody>
                    <a:bodyPr/>
                    <a:lstStyle/>
                    <a:p>
                      <a:pPr algn="r" fontAlgn="ctr"/>
                      <a:r>
                        <a:rPr lang="en-US"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VSYNCO delay</a:t>
                      </a:r>
                    </a:p>
                  </a:txBody>
                  <a:tcPr marL="0" marR="72000" marT="9525" marB="0" anchor="ctr">
                    <a:lnL w="12700" cmpd="sng">
                      <a:noFill/>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dirty="0">
                          <a:latin typeface="Arial" panose="020B0604020202020204" pitchFamily="34" charset="0"/>
                          <a:cs typeface="Arial" panose="020B0604020202020204" pitchFamily="34" charset="0"/>
                        </a:rPr>
                        <a:t>T</a:t>
                      </a:r>
                      <a:r>
                        <a:rPr lang="en-US" altLang="ko-KR" sz="900" baseline="-25000" dirty="0">
                          <a:latin typeface="Arial" panose="020B0604020202020204" pitchFamily="34" charset="0"/>
                          <a:cs typeface="Arial" panose="020B0604020202020204" pitchFamily="34" charset="0"/>
                        </a:rPr>
                        <a:t>VSOD</a:t>
                      </a:r>
                      <a:endParaRPr lang="ko-KR" altLang="en-US" sz="900" baseline="-25000" dirty="0">
                        <a:latin typeface="Arial" panose="020B0604020202020204" pitchFamily="34" charset="0"/>
                        <a:cs typeface="Arial" panose="020B0604020202020204" pitchFamily="34" charset="0"/>
                      </a:endParaRP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67945" algn="ctr">
                        <a:lnSpc>
                          <a:spcPct val="100000"/>
                        </a:lnSpc>
                      </a:pPr>
                      <a:r>
                        <a:rPr lang="en-US" altLang="ko-KR" sz="900" b="0" dirty="0">
                          <a:solidFill>
                            <a:schemeClr val="tx1"/>
                          </a:solidFill>
                          <a:latin typeface="Arial" panose="020B0604020202020204" pitchFamily="34" charset="0"/>
                          <a:ea typeface="+mn-ea"/>
                          <a:cs typeface="Arial" panose="020B0604020202020204" pitchFamily="34" charset="0"/>
                        </a:rPr>
                        <a:t>from VSYNCI to VSYNCO</a:t>
                      </a: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5.0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00000"/>
                          </a:solidFill>
                          <a:effectLst/>
                          <a:uLnTx/>
                          <a:uFillTx/>
                          <a:latin typeface="Arial" panose="020B0604020202020204" pitchFamily="34" charset="0"/>
                          <a:ea typeface="굴림" panose="020B0600000101010101" pitchFamily="50" charset="-127"/>
                          <a:cs typeface="Arial" panose="020B0604020202020204" pitchFamily="34" charset="0"/>
                        </a:rPr>
                        <a:t>9.0</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ctr" latinLnBrk="1" hangingPunct="1">
                        <a:lnSpc>
                          <a:spcPct val="100000"/>
                        </a:lnSpc>
                        <a:spcBef>
                          <a:spcPts val="0"/>
                        </a:spcBef>
                        <a:spcAft>
                          <a:spcPts val="0"/>
                        </a:spcAft>
                        <a:buClrTx/>
                        <a:buSzTx/>
                        <a:buFontTx/>
                        <a:buNone/>
                        <a:tabLst/>
                        <a:defRPr/>
                      </a:pPr>
                      <a:r>
                        <a:rPr lang="en-US" altLang="ko-KR" sz="900" b="0" i="0" u="none" strike="noStrike" dirty="0">
                          <a:solidFill>
                            <a:srgbClr val="000000"/>
                          </a:solidFill>
                          <a:effectLst/>
                          <a:latin typeface="Arial" panose="020B0604020202020204" pitchFamily="34" charset="0"/>
                          <a:ea typeface="굴림" panose="020B0600000101010101" pitchFamily="50" charset="-127"/>
                          <a:cs typeface="Arial" panose="020B0604020202020204" pitchFamily="34" charset="0"/>
                        </a:rPr>
                        <a:t>ns</a:t>
                      </a:r>
                    </a:p>
                  </a:txBody>
                  <a:tcPr marL="0" marR="9525" marT="9525" marB="0" anchor="ctr">
                    <a:lnL w="12700" cap="flat" cmpd="sng" algn="ctr">
                      <a:solidFill>
                        <a:schemeClr val="bg1">
                          <a:lumMod val="7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1353266"/>
                  </a:ext>
                </a:extLst>
              </a:tr>
            </a:tbl>
          </a:graphicData>
        </a:graphic>
      </p:graphicFrame>
      <p:sp>
        <p:nvSpPr>
          <p:cNvPr id="11" name="TextBox 10">
            <a:extLst>
              <a:ext uri="{FF2B5EF4-FFF2-40B4-BE49-F238E27FC236}">
                <a16:creationId xmlns:a16="http://schemas.microsoft.com/office/drawing/2014/main" id="{8E81A0E5-C9FD-B1F0-011E-9F623516D97A}"/>
              </a:ext>
            </a:extLst>
          </p:cNvPr>
          <p:cNvSpPr txBox="1"/>
          <p:nvPr/>
        </p:nvSpPr>
        <p:spPr>
          <a:xfrm>
            <a:off x="404811" y="4374941"/>
            <a:ext cx="6048622" cy="453970"/>
          </a:xfrm>
          <a:prstGeom prst="rect">
            <a:avLst/>
          </a:prstGeom>
        </p:spPr>
        <p:txBody>
          <a:bodyPr vert="horz" wrap="square" lIns="0" tIns="12700" rIns="0" bIns="0" rtlCol="0">
            <a:spAutoFit/>
          </a:bodyPr>
          <a:lstStyle>
            <a:defPPr>
              <a:defRPr lang="en-US"/>
            </a:defPPr>
            <a:lvl1pPr marL="38100">
              <a:lnSpc>
                <a:spcPct val="100000"/>
              </a:lnSpc>
              <a:spcBef>
                <a:spcPts val="100"/>
              </a:spcBef>
              <a:defRPr sz="900">
                <a:latin typeface="Arial" panose="020B0604020202020204" pitchFamily="34" charset="0"/>
                <a:cs typeface="Arial" panose="020B0604020202020204" pitchFamily="34" charset="0"/>
              </a:defRPr>
            </a:lvl1pPr>
          </a:lstStyle>
          <a:p>
            <a:r>
              <a:rPr lang="en-US" altLang="ko-KR" dirty="0"/>
              <a:t>Note :  6</a:t>
            </a:r>
            <a:r>
              <a:rPr lang="en-US" altLang="ko-KR" dirty="0">
                <a:solidFill>
                  <a:srgbClr val="000000"/>
                </a:solidFill>
                <a:ea typeface="굴림" panose="020B0600000101010101" pitchFamily="50" charset="-127"/>
              </a:rPr>
              <a:t>) The time depends on the system configuration, the daisied XD number and Baud-rate.</a:t>
            </a:r>
            <a:endParaRPr lang="en-US" altLang="ko-KR" dirty="0"/>
          </a:p>
          <a:p>
            <a:r>
              <a:rPr lang="en-US" altLang="ko-KR" dirty="0"/>
              <a:t>            7) If the timeout will be expired, the internal communication logic will go to an initial state, so new command</a:t>
            </a:r>
          </a:p>
          <a:p>
            <a:r>
              <a:rPr lang="en-US" altLang="ko-KR" dirty="0"/>
              <a:t>                transaction will be possible. The timeout function is configurable.</a:t>
            </a:r>
          </a:p>
        </p:txBody>
      </p:sp>
      <p:sp>
        <p:nvSpPr>
          <p:cNvPr id="58" name="object 2">
            <a:extLst>
              <a:ext uri="{FF2B5EF4-FFF2-40B4-BE49-F238E27FC236}">
                <a16:creationId xmlns:a16="http://schemas.microsoft.com/office/drawing/2014/main" id="{EFC8002C-164B-D20F-12B2-2D4FEA5ACB5E}"/>
              </a:ext>
            </a:extLst>
          </p:cNvPr>
          <p:cNvSpPr txBox="1"/>
          <p:nvPr/>
        </p:nvSpPr>
        <p:spPr>
          <a:xfrm>
            <a:off x="404811" y="6319179"/>
            <a:ext cx="6039642" cy="215444"/>
          </a:xfrm>
          <a:prstGeom prst="rect">
            <a:avLst/>
          </a:prstGeom>
        </p:spPr>
        <p:txBody>
          <a:bodyPr vert="horz" wrap="square" lIns="0" tIns="0" rIns="0" bIns="0" rtlCol="0" anchor="ctr">
            <a:spAutoFit/>
          </a:bodyPr>
          <a:lstStyle/>
          <a:p>
            <a:pPr>
              <a:lnSpc>
                <a:spcPct val="100000"/>
              </a:lnSpc>
              <a:spcBef>
                <a:spcPts val="0"/>
              </a:spcBef>
            </a:pPr>
            <a:r>
              <a:rPr sz="1400" b="1" spc="-10" dirty="0">
                <a:latin typeface="Arial" panose="020B0604020202020204" pitchFamily="34" charset="0"/>
                <a:cs typeface="Arial" panose="020B0604020202020204" pitchFamily="34" charset="0"/>
              </a:rPr>
              <a:t>Power</a:t>
            </a:r>
            <a:r>
              <a:rPr sz="1400" b="1" spc="-25" dirty="0">
                <a:latin typeface="Arial" panose="020B0604020202020204" pitchFamily="34" charset="0"/>
                <a:cs typeface="Arial" panose="020B0604020202020204" pitchFamily="34" charset="0"/>
              </a:rPr>
              <a:t> </a:t>
            </a:r>
            <a:r>
              <a:rPr sz="1400" b="1" spc="-5" dirty="0">
                <a:latin typeface="Arial" panose="020B0604020202020204" pitchFamily="34" charset="0"/>
                <a:cs typeface="Arial" panose="020B0604020202020204" pitchFamily="34" charset="0"/>
              </a:rPr>
              <a:t>Sequence</a:t>
            </a:r>
            <a:endParaRPr sz="1400" dirty="0">
              <a:latin typeface="Arial" panose="020B0604020202020204" pitchFamily="34" charset="0"/>
              <a:cs typeface="Arial" panose="020B0604020202020204" pitchFamily="34" charset="0"/>
            </a:endParaRPr>
          </a:p>
        </p:txBody>
      </p:sp>
      <p:sp>
        <p:nvSpPr>
          <p:cNvPr id="2" name="object 9">
            <a:extLst>
              <a:ext uri="{FF2B5EF4-FFF2-40B4-BE49-F238E27FC236}">
                <a16:creationId xmlns:a16="http://schemas.microsoft.com/office/drawing/2014/main" id="{17686023-33A1-566F-9593-E0B3E1A831BB}"/>
              </a:ext>
            </a:extLst>
          </p:cNvPr>
          <p:cNvSpPr txBox="1"/>
          <p:nvPr/>
        </p:nvSpPr>
        <p:spPr>
          <a:xfrm>
            <a:off x="420038" y="5404092"/>
            <a:ext cx="4571161" cy="329662"/>
          </a:xfrm>
          <a:prstGeom prst="rect">
            <a:avLst/>
          </a:prstGeom>
        </p:spPr>
        <p:txBody>
          <a:bodyPr vert="horz" wrap="square" lIns="0" tIns="49741" rIns="0" bIns="0" rtlCol="0">
            <a:spAutoFit/>
          </a:bodyPr>
          <a:lstStyle/>
          <a:p>
            <a:pPr marL="12435" defTabSz="895327" fontAlgn="auto">
              <a:spcBef>
                <a:spcPts val="392"/>
              </a:spcBef>
              <a:spcAft>
                <a:spcPts val="0"/>
              </a:spcAft>
            </a:pPr>
            <a:r>
              <a:rPr kumimoji="0" sz="783" b="1" spc="-5" dirty="0">
                <a:solidFill>
                  <a:prstClr val="black"/>
                </a:solidFill>
                <a:latin typeface="Arial" panose="020B0604020202020204" pitchFamily="34" charset="0"/>
                <a:ea typeface="+mn-ea"/>
                <a:cs typeface="Arial" panose="020B0604020202020204" pitchFamily="34" charset="0"/>
              </a:rPr>
              <a:t>Important</a:t>
            </a:r>
            <a:r>
              <a:rPr kumimoji="0" sz="783" b="1" spc="-15" dirty="0">
                <a:solidFill>
                  <a:prstClr val="black"/>
                </a:solidFill>
                <a:latin typeface="Arial" panose="020B0604020202020204" pitchFamily="34" charset="0"/>
                <a:ea typeface="+mn-ea"/>
                <a:cs typeface="Arial" panose="020B0604020202020204" pitchFamily="34" charset="0"/>
              </a:rPr>
              <a:t> </a:t>
            </a:r>
            <a:r>
              <a:rPr kumimoji="0" sz="783" b="1" spc="-5" dirty="0">
                <a:solidFill>
                  <a:prstClr val="black"/>
                </a:solidFill>
                <a:latin typeface="Arial" panose="020B0604020202020204" pitchFamily="34" charset="0"/>
                <a:ea typeface="+mn-ea"/>
                <a:cs typeface="Arial" panose="020B0604020202020204" pitchFamily="34" charset="0"/>
              </a:rPr>
              <a:t>statement</a:t>
            </a:r>
            <a:endParaRPr kumimoji="0" sz="783" dirty="0">
              <a:solidFill>
                <a:prstClr val="black"/>
              </a:solidFill>
              <a:latin typeface="Arial" panose="020B0604020202020204" pitchFamily="34" charset="0"/>
              <a:ea typeface="+mn-ea"/>
              <a:cs typeface="Arial" panose="020B0604020202020204" pitchFamily="34" charset="0"/>
            </a:endParaRPr>
          </a:p>
          <a:p>
            <a:pPr marL="12435" defTabSz="895327" fontAlgn="auto">
              <a:spcBef>
                <a:spcPts val="298"/>
              </a:spcBef>
              <a:spcAft>
                <a:spcPts val="0"/>
              </a:spcAft>
            </a:pPr>
            <a:r>
              <a:rPr kumimoji="0" lang="en-US" sz="783" spc="-5" dirty="0">
                <a:solidFill>
                  <a:prstClr val="black"/>
                </a:solidFill>
                <a:latin typeface="Arial" panose="020B0604020202020204" pitchFamily="34" charset="0"/>
                <a:ea typeface="+mn-ea"/>
                <a:cs typeface="Arial" panose="020B0604020202020204" pitchFamily="34" charset="0"/>
              </a:rPr>
              <a:t>Global Technologies </a:t>
            </a:r>
            <a:r>
              <a:rPr kumimoji="0" sz="783" spc="-15" dirty="0">
                <a:solidFill>
                  <a:prstClr val="black"/>
                </a:solidFill>
                <a:latin typeface="Arial" panose="020B0604020202020204" pitchFamily="34" charset="0"/>
                <a:ea typeface="+mn-ea"/>
                <a:cs typeface="Arial" panose="020B0604020202020204" pitchFamily="34" charset="0"/>
              </a:rPr>
              <a:t> </a:t>
            </a:r>
            <a:r>
              <a:rPr kumimoji="0" sz="783" dirty="0">
                <a:solidFill>
                  <a:prstClr val="black"/>
                </a:solidFill>
                <a:latin typeface="Arial" panose="020B0604020202020204" pitchFamily="34" charset="0"/>
                <a:ea typeface="+mn-ea"/>
                <a:cs typeface="Arial" panose="020B0604020202020204" pitchFamily="34" charset="0"/>
              </a:rPr>
              <a:t>reserves</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right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to</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change</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the</a:t>
            </a:r>
            <a:r>
              <a:rPr kumimoji="0" sz="783" spc="1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above-mentioned</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information</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without</a:t>
            </a:r>
            <a:r>
              <a:rPr kumimoji="0" sz="783" spc="10"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prior</a:t>
            </a:r>
            <a:r>
              <a:rPr kumimoji="0" sz="783" spc="5" dirty="0">
                <a:solidFill>
                  <a:prstClr val="black"/>
                </a:solidFill>
                <a:latin typeface="Arial" panose="020B0604020202020204" pitchFamily="34" charset="0"/>
                <a:ea typeface="+mn-ea"/>
                <a:cs typeface="Arial" panose="020B0604020202020204" pitchFamily="34" charset="0"/>
              </a:rPr>
              <a:t> </a:t>
            </a:r>
            <a:r>
              <a:rPr kumimoji="0" sz="783" spc="-5" dirty="0">
                <a:solidFill>
                  <a:prstClr val="black"/>
                </a:solidFill>
                <a:latin typeface="Arial" panose="020B0604020202020204" pitchFamily="34" charset="0"/>
                <a:ea typeface="+mn-ea"/>
                <a:cs typeface="Arial" panose="020B0604020202020204" pitchFamily="34" charset="0"/>
              </a:rPr>
              <a:t>notice.</a:t>
            </a:r>
            <a:endParaRPr kumimoji="0" sz="783" dirty="0">
              <a:solidFill>
                <a:prstClr val="black"/>
              </a:solidFill>
              <a:latin typeface="Arial" panose="020B0604020202020204" pitchFamily="34" charset="0"/>
              <a:ea typeface="+mn-ea"/>
              <a:cs typeface="Arial" panose="020B0604020202020204" pitchFamily="34" charset="0"/>
            </a:endParaRPr>
          </a:p>
        </p:txBody>
      </p:sp>
      <p:grpSp>
        <p:nvGrpSpPr>
          <p:cNvPr id="12" name="그룹 11">
            <a:extLst>
              <a:ext uri="{FF2B5EF4-FFF2-40B4-BE49-F238E27FC236}">
                <a16:creationId xmlns:a16="http://schemas.microsoft.com/office/drawing/2014/main" id="{017DC189-0ED6-198E-1EF4-76528ECFE7B1}"/>
              </a:ext>
            </a:extLst>
          </p:cNvPr>
          <p:cNvGrpSpPr/>
          <p:nvPr/>
        </p:nvGrpSpPr>
        <p:grpSpPr>
          <a:xfrm>
            <a:off x="404812" y="6754050"/>
            <a:ext cx="5993913" cy="1423788"/>
            <a:chOff x="203750" y="5928093"/>
            <a:chExt cx="5993913" cy="1423788"/>
          </a:xfrm>
        </p:grpSpPr>
        <p:sp>
          <p:nvSpPr>
            <p:cNvPr id="14" name="TextBox 13">
              <a:extLst>
                <a:ext uri="{FF2B5EF4-FFF2-40B4-BE49-F238E27FC236}">
                  <a16:creationId xmlns:a16="http://schemas.microsoft.com/office/drawing/2014/main" id="{02897404-666A-E8F7-44CA-CF9F47B527A1}"/>
                </a:ext>
              </a:extLst>
            </p:cNvPr>
            <p:cNvSpPr txBox="1"/>
            <p:nvPr/>
          </p:nvSpPr>
          <p:spPr>
            <a:xfrm>
              <a:off x="1885330" y="5928093"/>
              <a:ext cx="505514" cy="138499"/>
            </a:xfrm>
            <a:prstGeom prst="rect">
              <a:avLst/>
            </a:prstGeom>
            <a:solidFill>
              <a:schemeClr val="bg1"/>
            </a:solidFill>
          </p:spPr>
          <p:txBody>
            <a:bodyPr wrap="none" lIns="36000" tIns="0" rIns="36000" bIns="0" rtlCol="0" anchor="ctr" anchorCtr="0">
              <a:spAutoFit/>
            </a:bodyPr>
            <a:lstStyle/>
            <a:p>
              <a:r>
                <a:rPr lang="en-US" altLang="ko-KR" sz="900" dirty="0"/>
                <a:t>5V stable</a:t>
              </a:r>
              <a:endParaRPr lang="ko-KR" altLang="en-US" sz="900" dirty="0"/>
            </a:p>
          </p:txBody>
        </p:sp>
        <p:cxnSp>
          <p:nvCxnSpPr>
            <p:cNvPr id="17" name="직선 연결선 16">
              <a:extLst>
                <a:ext uri="{FF2B5EF4-FFF2-40B4-BE49-F238E27FC236}">
                  <a16:creationId xmlns:a16="http://schemas.microsoft.com/office/drawing/2014/main" id="{571CC60A-7453-1D74-CE95-4E52E78A234A}"/>
                </a:ext>
              </a:extLst>
            </p:cNvPr>
            <p:cNvCxnSpPr>
              <a:cxnSpLocks/>
            </p:cNvCxnSpPr>
            <p:nvPr/>
          </p:nvCxnSpPr>
          <p:spPr>
            <a:xfrm flipH="1">
              <a:off x="1606602" y="6065491"/>
              <a:ext cx="281318" cy="136938"/>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직선 연결선 17">
              <a:extLst>
                <a:ext uri="{FF2B5EF4-FFF2-40B4-BE49-F238E27FC236}">
                  <a16:creationId xmlns:a16="http://schemas.microsoft.com/office/drawing/2014/main" id="{8A2FB2C2-323A-252F-1D18-E68F59A4415B}"/>
                </a:ext>
              </a:extLst>
            </p:cNvPr>
            <p:cNvCxnSpPr>
              <a:cxnSpLocks/>
            </p:cNvCxnSpPr>
            <p:nvPr/>
          </p:nvCxnSpPr>
          <p:spPr>
            <a:xfrm flipH="1">
              <a:off x="1887980" y="6062544"/>
              <a:ext cx="424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직선 연결선 21">
              <a:extLst>
                <a:ext uri="{FF2B5EF4-FFF2-40B4-BE49-F238E27FC236}">
                  <a16:creationId xmlns:a16="http://schemas.microsoft.com/office/drawing/2014/main" id="{579F1DA8-8E1D-4ED9-DA43-622A88491E6C}"/>
                </a:ext>
              </a:extLst>
            </p:cNvPr>
            <p:cNvCxnSpPr>
              <a:cxnSpLocks/>
            </p:cNvCxnSpPr>
            <p:nvPr/>
          </p:nvCxnSpPr>
          <p:spPr>
            <a:xfrm flipH="1">
              <a:off x="1231190" y="6201382"/>
              <a:ext cx="375412"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CA1751B-C676-1440-DEAD-9FEC6EA2FFB7}"/>
                </a:ext>
              </a:extLst>
            </p:cNvPr>
            <p:cNvSpPr txBox="1"/>
            <p:nvPr/>
          </p:nvSpPr>
          <p:spPr>
            <a:xfrm>
              <a:off x="945940" y="6006061"/>
              <a:ext cx="346570" cy="230832"/>
            </a:xfrm>
            <a:prstGeom prst="rect">
              <a:avLst/>
            </a:prstGeom>
            <a:noFill/>
          </p:spPr>
          <p:txBody>
            <a:bodyPr wrap="none" rtlCol="0">
              <a:spAutoFit/>
            </a:bodyPr>
            <a:lstStyle/>
            <a:p>
              <a:r>
                <a:rPr lang="en-US" altLang="ko-KR" sz="900" dirty="0"/>
                <a:t>V</a:t>
              </a:r>
              <a:r>
                <a:rPr lang="en-US" altLang="ko-KR" sz="900" baseline="-25000" dirty="0"/>
                <a:t>DD</a:t>
              </a:r>
              <a:endParaRPr lang="ko-KR" altLang="en-US" sz="900" baseline="-25000" dirty="0"/>
            </a:p>
          </p:txBody>
        </p:sp>
        <p:cxnSp>
          <p:nvCxnSpPr>
            <p:cNvPr id="25" name="직선 연결선 24">
              <a:extLst>
                <a:ext uri="{FF2B5EF4-FFF2-40B4-BE49-F238E27FC236}">
                  <a16:creationId xmlns:a16="http://schemas.microsoft.com/office/drawing/2014/main" id="{5DA83720-7307-5591-228D-FB5C7DA7CBED}"/>
                </a:ext>
              </a:extLst>
            </p:cNvPr>
            <p:cNvCxnSpPr>
              <a:cxnSpLocks/>
            </p:cNvCxnSpPr>
            <p:nvPr/>
          </p:nvCxnSpPr>
          <p:spPr>
            <a:xfrm>
              <a:off x="1606602" y="6111319"/>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E2BFA36C-F3F1-ECDC-CAFE-7C9673329A9F}"/>
                </a:ext>
              </a:extLst>
            </p:cNvPr>
            <p:cNvCxnSpPr>
              <a:cxnSpLocks/>
            </p:cNvCxnSpPr>
            <p:nvPr/>
          </p:nvCxnSpPr>
          <p:spPr>
            <a:xfrm flipH="1">
              <a:off x="1227566" y="6522366"/>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2EAE4153-5CAC-DC08-DBE6-1A93B882C1E1}"/>
                </a:ext>
              </a:extLst>
            </p:cNvPr>
            <p:cNvSpPr/>
            <p:nvPr/>
          </p:nvSpPr>
          <p:spPr>
            <a:xfrm>
              <a:off x="3885934" y="6307327"/>
              <a:ext cx="2270722"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900" dirty="0">
                  <a:solidFill>
                    <a:schemeClr val="tx1"/>
                  </a:solidFill>
                  <a:latin typeface="Arial" panose="020B0604020202020204" pitchFamily="34" charset="0"/>
                  <a:cs typeface="Arial" panose="020B0604020202020204" pitchFamily="34" charset="0"/>
                </a:rPr>
                <a:t>accessible</a:t>
              </a:r>
              <a:endParaRPr lang="ko-KR" altLang="en-US" sz="900" dirty="0">
                <a:solidFill>
                  <a:schemeClr val="tx1"/>
                </a:solidFill>
                <a:latin typeface="Arial" panose="020B0604020202020204" pitchFamily="34" charset="0"/>
                <a:cs typeface="Arial" panose="020B0604020202020204" pitchFamily="34" charset="0"/>
              </a:endParaRPr>
            </a:p>
          </p:txBody>
        </p:sp>
        <p:sp>
          <p:nvSpPr>
            <p:cNvPr id="29" name="TextBox 28">
              <a:extLst>
                <a:ext uri="{FF2B5EF4-FFF2-40B4-BE49-F238E27FC236}">
                  <a16:creationId xmlns:a16="http://schemas.microsoft.com/office/drawing/2014/main" id="{78A69567-8F8C-E76B-F429-F3E7FB595582}"/>
                </a:ext>
              </a:extLst>
            </p:cNvPr>
            <p:cNvSpPr txBox="1"/>
            <p:nvPr/>
          </p:nvSpPr>
          <p:spPr>
            <a:xfrm>
              <a:off x="1639935" y="6278601"/>
              <a:ext cx="234038"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VDD</a:t>
              </a:r>
              <a:endParaRPr lang="ko-KR" altLang="en-US" sz="900" dirty="0"/>
            </a:p>
          </p:txBody>
        </p:sp>
        <p:sp>
          <p:nvSpPr>
            <p:cNvPr id="30" name="TextBox 29">
              <a:extLst>
                <a:ext uri="{FF2B5EF4-FFF2-40B4-BE49-F238E27FC236}">
                  <a16:creationId xmlns:a16="http://schemas.microsoft.com/office/drawing/2014/main" id="{D0393DD9-2F4E-96A3-BD80-FEA11D8C9A61}"/>
                </a:ext>
              </a:extLst>
            </p:cNvPr>
            <p:cNvSpPr txBox="1"/>
            <p:nvPr/>
          </p:nvSpPr>
          <p:spPr>
            <a:xfrm>
              <a:off x="925194" y="6955010"/>
              <a:ext cx="367408" cy="230832"/>
            </a:xfrm>
            <a:prstGeom prst="rect">
              <a:avLst/>
            </a:prstGeom>
            <a:noFill/>
          </p:spPr>
          <p:txBody>
            <a:bodyPr wrap="none" rtlCol="0">
              <a:spAutoFit/>
            </a:bodyPr>
            <a:lstStyle/>
            <a:p>
              <a:r>
                <a:rPr lang="en-US" altLang="ko-KR" sz="900" dirty="0"/>
                <a:t>V</a:t>
              </a:r>
              <a:r>
                <a:rPr lang="en-US" altLang="ko-KR" sz="900" baseline="-25000" dirty="0"/>
                <a:t>LED</a:t>
              </a:r>
              <a:endParaRPr lang="ko-KR" altLang="en-US" sz="900" baseline="-25000" dirty="0"/>
            </a:p>
          </p:txBody>
        </p:sp>
        <p:cxnSp>
          <p:nvCxnSpPr>
            <p:cNvPr id="31" name="직선 연결선 30">
              <a:extLst>
                <a:ext uri="{FF2B5EF4-FFF2-40B4-BE49-F238E27FC236}">
                  <a16:creationId xmlns:a16="http://schemas.microsoft.com/office/drawing/2014/main" id="{220D2312-886A-4471-407E-176942B964D1}"/>
                </a:ext>
              </a:extLst>
            </p:cNvPr>
            <p:cNvCxnSpPr>
              <a:cxnSpLocks/>
            </p:cNvCxnSpPr>
            <p:nvPr/>
          </p:nvCxnSpPr>
          <p:spPr>
            <a:xfrm>
              <a:off x="1606602" y="6267569"/>
              <a:ext cx="2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32" name="직선 연결선 31">
              <a:extLst>
                <a:ext uri="{FF2B5EF4-FFF2-40B4-BE49-F238E27FC236}">
                  <a16:creationId xmlns:a16="http://schemas.microsoft.com/office/drawing/2014/main" id="{6181F0E6-6E01-9EEC-59F9-8020D481B74E}"/>
                </a:ext>
              </a:extLst>
            </p:cNvPr>
            <p:cNvCxnSpPr>
              <a:cxnSpLocks/>
            </p:cNvCxnSpPr>
            <p:nvPr/>
          </p:nvCxnSpPr>
          <p:spPr>
            <a:xfrm>
              <a:off x="1894602" y="6110518"/>
              <a:ext cx="0" cy="216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5" name="직선 연결선 34">
              <a:extLst>
                <a:ext uri="{FF2B5EF4-FFF2-40B4-BE49-F238E27FC236}">
                  <a16:creationId xmlns:a16="http://schemas.microsoft.com/office/drawing/2014/main" id="{11FC79D0-8B93-8C0D-C226-7E9765D078EA}"/>
                </a:ext>
              </a:extLst>
            </p:cNvPr>
            <p:cNvCxnSpPr>
              <a:cxnSpLocks/>
            </p:cNvCxnSpPr>
            <p:nvPr/>
          </p:nvCxnSpPr>
          <p:spPr>
            <a:xfrm>
              <a:off x="1894602" y="6267569"/>
              <a:ext cx="1386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3C6F123-3717-49B5-612B-AD442D80A1B4}"/>
                </a:ext>
              </a:extLst>
            </p:cNvPr>
            <p:cNvSpPr txBox="1"/>
            <p:nvPr/>
          </p:nvSpPr>
          <p:spPr>
            <a:xfrm>
              <a:off x="2490816" y="6289928"/>
              <a:ext cx="214802"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INIT</a:t>
              </a:r>
              <a:endParaRPr lang="ko-KR" altLang="en-US" sz="900" dirty="0"/>
            </a:p>
          </p:txBody>
        </p:sp>
        <p:sp>
          <p:nvSpPr>
            <p:cNvPr id="42" name="TextBox 41">
              <a:extLst>
                <a:ext uri="{FF2B5EF4-FFF2-40B4-BE49-F238E27FC236}">
                  <a16:creationId xmlns:a16="http://schemas.microsoft.com/office/drawing/2014/main" id="{AC00BBB9-5F9E-7D24-3355-091892545144}"/>
                </a:ext>
              </a:extLst>
            </p:cNvPr>
            <p:cNvSpPr txBox="1"/>
            <p:nvPr/>
          </p:nvSpPr>
          <p:spPr>
            <a:xfrm>
              <a:off x="203750" y="6348203"/>
              <a:ext cx="1088760" cy="230832"/>
            </a:xfrm>
            <a:prstGeom prst="rect">
              <a:avLst/>
            </a:prstGeom>
            <a:noFill/>
          </p:spPr>
          <p:txBody>
            <a:bodyPr wrap="none" rtlCol="0">
              <a:spAutoFit/>
            </a:bodyPr>
            <a:lstStyle/>
            <a:p>
              <a:r>
                <a:rPr lang="en-US" altLang="ko-KR" sz="900" dirty="0"/>
                <a:t>1</a:t>
              </a:r>
              <a:r>
                <a:rPr lang="en-US" altLang="ko-KR" sz="900" baseline="30000" dirty="0"/>
                <a:t>st</a:t>
              </a:r>
              <a:r>
                <a:rPr lang="en-US" altLang="ko-KR" sz="900" dirty="0"/>
                <a:t> Command to XD</a:t>
              </a:r>
              <a:endParaRPr lang="ko-KR" altLang="en-US" sz="900" baseline="-25000" dirty="0"/>
            </a:p>
          </p:txBody>
        </p:sp>
        <p:cxnSp>
          <p:nvCxnSpPr>
            <p:cNvPr id="45" name="직선 연결선 44">
              <a:extLst>
                <a:ext uri="{FF2B5EF4-FFF2-40B4-BE49-F238E27FC236}">
                  <a16:creationId xmlns:a16="http://schemas.microsoft.com/office/drawing/2014/main" id="{C1F640F3-75A6-F96E-35AD-D3106A77327C}"/>
                </a:ext>
              </a:extLst>
            </p:cNvPr>
            <p:cNvCxnSpPr>
              <a:cxnSpLocks/>
            </p:cNvCxnSpPr>
            <p:nvPr/>
          </p:nvCxnSpPr>
          <p:spPr>
            <a:xfrm>
              <a:off x="3880304" y="6922617"/>
              <a:ext cx="1188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2" name="직선 연결선 51">
              <a:extLst>
                <a:ext uri="{FF2B5EF4-FFF2-40B4-BE49-F238E27FC236}">
                  <a16:creationId xmlns:a16="http://schemas.microsoft.com/office/drawing/2014/main" id="{9809A9F6-7850-F729-99F9-D8910D7D781E}"/>
                </a:ext>
              </a:extLst>
            </p:cNvPr>
            <p:cNvCxnSpPr>
              <a:cxnSpLocks/>
            </p:cNvCxnSpPr>
            <p:nvPr/>
          </p:nvCxnSpPr>
          <p:spPr>
            <a:xfrm flipH="1">
              <a:off x="5112508" y="6944977"/>
              <a:ext cx="157001" cy="189601"/>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직선 연결선 52">
              <a:extLst>
                <a:ext uri="{FF2B5EF4-FFF2-40B4-BE49-F238E27FC236}">
                  <a16:creationId xmlns:a16="http://schemas.microsoft.com/office/drawing/2014/main" id="{8BFF7BF1-D6B5-DE69-B2C5-5648C0BEDBB6}"/>
                </a:ext>
              </a:extLst>
            </p:cNvPr>
            <p:cNvCxnSpPr>
              <a:cxnSpLocks/>
            </p:cNvCxnSpPr>
            <p:nvPr/>
          </p:nvCxnSpPr>
          <p:spPr>
            <a:xfrm flipH="1">
              <a:off x="5268358" y="6944977"/>
              <a:ext cx="900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직선 연결선 54">
              <a:extLst>
                <a:ext uri="{FF2B5EF4-FFF2-40B4-BE49-F238E27FC236}">
                  <a16:creationId xmlns:a16="http://schemas.microsoft.com/office/drawing/2014/main" id="{E0FEE038-002F-39B6-044A-BA014F580A33}"/>
                </a:ext>
              </a:extLst>
            </p:cNvPr>
            <p:cNvCxnSpPr>
              <a:cxnSpLocks/>
            </p:cNvCxnSpPr>
            <p:nvPr/>
          </p:nvCxnSpPr>
          <p:spPr>
            <a:xfrm flipH="1">
              <a:off x="1224508" y="7140909"/>
              <a:ext cx="388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직선 연결선 55">
              <a:extLst>
                <a:ext uri="{FF2B5EF4-FFF2-40B4-BE49-F238E27FC236}">
                  <a16:creationId xmlns:a16="http://schemas.microsoft.com/office/drawing/2014/main" id="{6F4B8019-CCD1-6261-8B66-379AE6178A66}"/>
                </a:ext>
              </a:extLst>
            </p:cNvPr>
            <p:cNvCxnSpPr>
              <a:cxnSpLocks/>
            </p:cNvCxnSpPr>
            <p:nvPr/>
          </p:nvCxnSpPr>
          <p:spPr>
            <a:xfrm>
              <a:off x="5064356" y="6850210"/>
              <a:ext cx="0" cy="25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E093530F-488B-BD7C-731C-0D74F81E5CDD}"/>
                </a:ext>
              </a:extLst>
            </p:cNvPr>
            <p:cNvSpPr txBox="1"/>
            <p:nvPr/>
          </p:nvSpPr>
          <p:spPr>
            <a:xfrm>
              <a:off x="4296150" y="6866324"/>
              <a:ext cx="362279"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SU</a:t>
              </a:r>
              <a:r>
                <a:rPr lang="en-US" altLang="ko-KR" sz="900" baseline="-25000" dirty="0">
                  <a:solidFill>
                    <a:srgbClr val="000000"/>
                  </a:solidFill>
                  <a:latin typeface="Arial" panose="020B0604020202020204" pitchFamily="34" charset="0"/>
                  <a:ea typeface="굴림" panose="020B0600000101010101" pitchFamily="50" charset="-127"/>
                  <a:cs typeface="Arial" panose="020B0604020202020204" pitchFamily="34" charset="0"/>
                </a:rPr>
                <a:t>_</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DIM</a:t>
              </a:r>
              <a:endParaRPr lang="ko-KR" altLang="en-US" sz="900" dirty="0"/>
            </a:p>
          </p:txBody>
        </p:sp>
        <p:sp>
          <p:nvSpPr>
            <p:cNvPr id="60" name="TextBox 59">
              <a:extLst>
                <a:ext uri="{FF2B5EF4-FFF2-40B4-BE49-F238E27FC236}">
                  <a16:creationId xmlns:a16="http://schemas.microsoft.com/office/drawing/2014/main" id="{89F3131F-A506-B9AC-682C-361EDB5275A7}"/>
                </a:ext>
              </a:extLst>
            </p:cNvPr>
            <p:cNvSpPr txBox="1"/>
            <p:nvPr/>
          </p:nvSpPr>
          <p:spPr>
            <a:xfrm>
              <a:off x="203750" y="6627633"/>
              <a:ext cx="1120820" cy="230832"/>
            </a:xfrm>
            <a:prstGeom prst="rect">
              <a:avLst/>
            </a:prstGeom>
            <a:noFill/>
          </p:spPr>
          <p:txBody>
            <a:bodyPr wrap="none" rtlCol="0">
              <a:spAutoFit/>
            </a:bodyPr>
            <a:lstStyle/>
            <a:p>
              <a:r>
                <a:rPr lang="en-US" altLang="ko-KR" sz="900" dirty="0"/>
                <a:t>Set-up for dimming</a:t>
              </a:r>
              <a:endParaRPr lang="ko-KR" altLang="en-US" sz="900" baseline="-25000" dirty="0"/>
            </a:p>
          </p:txBody>
        </p:sp>
        <p:cxnSp>
          <p:nvCxnSpPr>
            <p:cNvPr id="73" name="직선 연결선 72">
              <a:extLst>
                <a:ext uri="{FF2B5EF4-FFF2-40B4-BE49-F238E27FC236}">
                  <a16:creationId xmlns:a16="http://schemas.microsoft.com/office/drawing/2014/main" id="{853271C2-44DA-7FEB-D068-9C89CE555B07}"/>
                </a:ext>
              </a:extLst>
            </p:cNvPr>
            <p:cNvCxnSpPr>
              <a:cxnSpLocks/>
            </p:cNvCxnSpPr>
            <p:nvPr/>
          </p:nvCxnSpPr>
          <p:spPr>
            <a:xfrm flipH="1">
              <a:off x="1239105" y="6828472"/>
              <a:ext cx="4905764"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74" name="직사각형 73">
              <a:extLst>
                <a:ext uri="{FF2B5EF4-FFF2-40B4-BE49-F238E27FC236}">
                  <a16:creationId xmlns:a16="http://schemas.microsoft.com/office/drawing/2014/main" id="{8DDD917A-D863-C7F3-9A42-D4E100E4F051}"/>
                </a:ext>
              </a:extLst>
            </p:cNvPr>
            <p:cNvSpPr/>
            <p:nvPr/>
          </p:nvSpPr>
          <p:spPr>
            <a:xfrm>
              <a:off x="3886754" y="6611367"/>
              <a:ext cx="1173846" cy="216000"/>
            </a:xfrm>
            <a:prstGeom prst="rect">
              <a:avLst/>
            </a:prstGeom>
            <a:solidFill>
              <a:schemeClr val="accent4">
                <a:lumMod val="20000"/>
                <a:lumOff val="80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latin typeface="Arial" panose="020B0604020202020204" pitchFamily="34" charset="0"/>
                  <a:cs typeface="Arial" panose="020B0604020202020204" pitchFamily="34" charset="0"/>
                </a:rPr>
                <a:t>XD setup for dimming</a:t>
              </a:r>
              <a:endParaRPr lang="ko-KR" altLang="en-US" sz="900" dirty="0">
                <a:solidFill>
                  <a:schemeClr val="tx1"/>
                </a:solidFill>
                <a:latin typeface="Arial" panose="020B0604020202020204" pitchFamily="34" charset="0"/>
                <a:cs typeface="Arial" panose="020B0604020202020204" pitchFamily="34" charset="0"/>
              </a:endParaRPr>
            </a:p>
          </p:txBody>
        </p:sp>
        <p:sp>
          <p:nvSpPr>
            <p:cNvPr id="77" name="직사각형 76">
              <a:extLst>
                <a:ext uri="{FF2B5EF4-FFF2-40B4-BE49-F238E27FC236}">
                  <a16:creationId xmlns:a16="http://schemas.microsoft.com/office/drawing/2014/main" id="{9D234B0B-2196-84A7-4CB1-FA92BF00B00B}"/>
                </a:ext>
              </a:extLst>
            </p:cNvPr>
            <p:cNvSpPr/>
            <p:nvPr/>
          </p:nvSpPr>
          <p:spPr>
            <a:xfrm>
              <a:off x="6140013" y="6017838"/>
              <a:ext cx="57650" cy="1334043"/>
            </a:xfrm>
            <a:prstGeom prst="rect">
              <a:avLst/>
            </a:prstGeom>
            <a:solidFill>
              <a:schemeClr val="bg1"/>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900" dirty="0">
                <a:solidFill>
                  <a:schemeClr val="tx1"/>
                </a:solidFill>
                <a:latin typeface="Arial" panose="020B0604020202020204" pitchFamily="34" charset="0"/>
                <a:cs typeface="Arial" panose="020B0604020202020204" pitchFamily="34" charset="0"/>
              </a:endParaRPr>
            </a:p>
          </p:txBody>
        </p:sp>
        <p:cxnSp>
          <p:nvCxnSpPr>
            <p:cNvPr id="78" name="직선 연결선 77">
              <a:extLst>
                <a:ext uri="{FF2B5EF4-FFF2-40B4-BE49-F238E27FC236}">
                  <a16:creationId xmlns:a16="http://schemas.microsoft.com/office/drawing/2014/main" id="{F4058BC3-3DEB-D334-471D-0A45813774D7}"/>
                </a:ext>
              </a:extLst>
            </p:cNvPr>
            <p:cNvCxnSpPr>
              <a:cxnSpLocks/>
            </p:cNvCxnSpPr>
            <p:nvPr/>
          </p:nvCxnSpPr>
          <p:spPr>
            <a:xfrm>
              <a:off x="3275331" y="6194203"/>
              <a:ext cx="0" cy="180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직선 연결선 78">
              <a:extLst>
                <a:ext uri="{FF2B5EF4-FFF2-40B4-BE49-F238E27FC236}">
                  <a16:creationId xmlns:a16="http://schemas.microsoft.com/office/drawing/2014/main" id="{93C1148F-246C-6228-0430-A5C084F59DA6}"/>
                </a:ext>
              </a:extLst>
            </p:cNvPr>
            <p:cNvCxnSpPr>
              <a:cxnSpLocks/>
            </p:cNvCxnSpPr>
            <p:nvPr/>
          </p:nvCxnSpPr>
          <p:spPr>
            <a:xfrm>
              <a:off x="3275331" y="6267569"/>
              <a:ext cx="612000" cy="0"/>
            </a:xfrm>
            <a:prstGeom prst="line">
              <a:avLst/>
            </a:prstGeom>
            <a:ln w="317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80" name="직선 연결선 79">
              <a:extLst>
                <a:ext uri="{FF2B5EF4-FFF2-40B4-BE49-F238E27FC236}">
                  <a16:creationId xmlns:a16="http://schemas.microsoft.com/office/drawing/2014/main" id="{EB46DCFB-F740-6B3F-5699-29AE28C47C32}"/>
                </a:ext>
              </a:extLst>
            </p:cNvPr>
            <p:cNvCxnSpPr>
              <a:cxnSpLocks/>
            </p:cNvCxnSpPr>
            <p:nvPr/>
          </p:nvCxnSpPr>
          <p:spPr>
            <a:xfrm>
              <a:off x="3884441" y="6201382"/>
              <a:ext cx="0" cy="792000"/>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9D920C7E-4C07-232B-E49B-F9E8A6394460}"/>
                </a:ext>
              </a:extLst>
            </p:cNvPr>
            <p:cNvSpPr txBox="1"/>
            <p:nvPr/>
          </p:nvSpPr>
          <p:spPr>
            <a:xfrm>
              <a:off x="3490632" y="6289723"/>
              <a:ext cx="293350" cy="138499"/>
            </a:xfrm>
            <a:prstGeom prst="rect">
              <a:avLst/>
            </a:prstGeom>
            <a:solidFill>
              <a:schemeClr val="bg1"/>
            </a:solidFill>
          </p:spPr>
          <p:txBody>
            <a:bodyPr wrap="none" lIns="0" tIns="0" rIns="0" bIns="0" rtlCol="0" anchor="ctr" anchorCtr="0">
              <a:spAutoFit/>
            </a:bodyPr>
            <a:lstStyle/>
            <a:p>
              <a:r>
                <a:rPr lang="en-US" altLang="ko-KR" sz="900" b="0" i="0" u="none" strike="noStrike" baseline="0" dirty="0">
                  <a:solidFill>
                    <a:srgbClr val="000000"/>
                  </a:solidFill>
                  <a:effectLst/>
                  <a:latin typeface="Arial" panose="020B0604020202020204" pitchFamily="34" charset="0"/>
                  <a:ea typeface="굴림" panose="020B0600000101010101" pitchFamily="50" charset="-127"/>
                  <a:cs typeface="Arial" panose="020B0604020202020204" pitchFamily="34" charset="0"/>
                </a:rPr>
                <a:t>T</a:t>
              </a:r>
              <a:r>
                <a:rPr lang="en-US" altLang="ko-KR" sz="900" b="0" i="0" u="none" strike="noStrike" baseline="-25000" dirty="0">
                  <a:solidFill>
                    <a:srgbClr val="000000"/>
                  </a:solidFill>
                  <a:effectLst/>
                  <a:latin typeface="Arial" panose="020B0604020202020204" pitchFamily="34" charset="0"/>
                  <a:ea typeface="굴림" panose="020B0600000101010101" pitchFamily="50" charset="-127"/>
                  <a:cs typeface="Arial" panose="020B0604020202020204" pitchFamily="34" charset="0"/>
                </a:rPr>
                <a:t>FCMD</a:t>
              </a:r>
              <a:endParaRPr lang="ko-KR" altLang="en-US" sz="900" dirty="0"/>
            </a:p>
          </p:txBody>
        </p:sp>
      </p:grpSp>
      <p:sp>
        <p:nvSpPr>
          <p:cNvPr id="8" name="object 11">
            <a:extLst>
              <a:ext uri="{FF2B5EF4-FFF2-40B4-BE49-F238E27FC236}">
                <a16:creationId xmlns:a16="http://schemas.microsoft.com/office/drawing/2014/main" id="{56CAAB90-F352-4657-6A5E-757BC29BE4ED}"/>
              </a:ext>
            </a:extLst>
          </p:cNvPr>
          <p:cNvSpPr txBox="1"/>
          <p:nvPr/>
        </p:nvSpPr>
        <p:spPr>
          <a:xfrm>
            <a:off x="2494505" y="4975539"/>
            <a:ext cx="1860253" cy="128240"/>
          </a:xfrm>
          <a:prstGeom prst="rect">
            <a:avLst/>
          </a:prstGeom>
          <a:noFill/>
        </p:spPr>
        <p:txBody>
          <a:bodyPr vert="horz" wrap="none" lIns="0" tIns="0" rIns="0" bIns="0" rtlCol="0" anchor="ctr" anchorCtr="0">
            <a:spAutoFit/>
          </a:bodyPr>
          <a:lstStyle/>
          <a:p>
            <a:pPr marL="62176" defTabSz="895327" fontAlgn="auto">
              <a:lnSpc>
                <a:spcPts val="1042"/>
              </a:lnSpc>
              <a:spcBef>
                <a:spcPts val="98"/>
              </a:spcBef>
              <a:spcAft>
                <a:spcPts val="0"/>
              </a:spcAft>
              <a:tabLst>
                <a:tab pos="659060" algn="l"/>
              </a:tabLst>
            </a:pPr>
            <a:r>
              <a:rPr kumimoji="0" sz="900" b="1" spc="-64"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4</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Electrical Characteristic </a:t>
            </a:r>
          </a:p>
        </p:txBody>
      </p:sp>
      <p:sp>
        <p:nvSpPr>
          <p:cNvPr id="4" name="object 84">
            <a:extLst>
              <a:ext uri="{FF2B5EF4-FFF2-40B4-BE49-F238E27FC236}">
                <a16:creationId xmlns:a16="http://schemas.microsoft.com/office/drawing/2014/main" id="{2686E188-5EB6-C82A-8FDD-64078BB94176}"/>
              </a:ext>
            </a:extLst>
          </p:cNvPr>
          <p:cNvSpPr txBox="1"/>
          <p:nvPr/>
        </p:nvSpPr>
        <p:spPr>
          <a:xfrm>
            <a:off x="2067508" y="8351505"/>
            <a:ext cx="273279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5. Power up sequence </a:t>
            </a:r>
            <a:r>
              <a:rPr lang="en-US" sz="900" b="1" spc="15" dirty="0">
                <a:solidFill>
                  <a:prstClr val="black"/>
                </a:solidFill>
                <a:latin typeface="Arial" panose="020B0604020202020204" pitchFamily="34" charset="0"/>
                <a:cs typeface="Arial" panose="020B0604020202020204" pitchFamily="34" charset="0"/>
              </a:rPr>
              <a:t>and Ramp-up time</a:t>
            </a:r>
            <a:endParaRPr kumimoji="0" lang="en-US" sz="900" b="1" spc="15" dirty="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861681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pic>
        <p:nvPicPr>
          <p:cNvPr id="8" name="그림 7">
            <a:extLst>
              <a:ext uri="{FF2B5EF4-FFF2-40B4-BE49-F238E27FC236}">
                <a16:creationId xmlns:a16="http://schemas.microsoft.com/office/drawing/2014/main" id="{BCF5272D-FF66-E8C9-9243-D4162770C3AF}"/>
              </a:ext>
            </a:extLst>
          </p:cNvPr>
          <p:cNvPicPr>
            <a:picLocks noChangeAspect="1"/>
          </p:cNvPicPr>
          <p:nvPr/>
        </p:nvPicPr>
        <p:blipFill>
          <a:blip r:embed="rId2"/>
          <a:stretch>
            <a:fillRect/>
          </a:stretch>
        </p:blipFill>
        <p:spPr>
          <a:xfrm>
            <a:off x="748229" y="2106792"/>
            <a:ext cx="5573810" cy="2150308"/>
          </a:xfrm>
          <a:prstGeom prst="rect">
            <a:avLst/>
          </a:prstGeom>
        </p:spPr>
      </p:pic>
      <p:sp>
        <p:nvSpPr>
          <p:cNvPr id="2" name="TextBox 1">
            <a:extLst>
              <a:ext uri="{FF2B5EF4-FFF2-40B4-BE49-F238E27FC236}">
                <a16:creationId xmlns:a16="http://schemas.microsoft.com/office/drawing/2014/main" id="{175E654F-AF3A-88EC-8A43-C6279D3F9C67}"/>
              </a:ext>
            </a:extLst>
          </p:cNvPr>
          <p:cNvSpPr txBox="1"/>
          <p:nvPr/>
        </p:nvSpPr>
        <p:spPr>
          <a:xfrm>
            <a:off x="407554" y="1556966"/>
            <a:ext cx="6039903"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can be controlled with several commands through a XC controller or directly by a Micom. The access protocol and frame format are as follows and if several XD is connected in daisy, the commands should be repeated successively as many as the XD number in daisy chain.</a:t>
            </a:r>
          </a:p>
        </p:txBody>
      </p:sp>
      <p:sp>
        <p:nvSpPr>
          <p:cNvPr id="16" name="TextBox 15">
            <a:extLst>
              <a:ext uri="{FF2B5EF4-FFF2-40B4-BE49-F238E27FC236}">
                <a16:creationId xmlns:a16="http://schemas.microsoft.com/office/drawing/2014/main" id="{9668DAC1-64C9-BE97-5D44-E43D959AC8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Serial Communication Protocol</a:t>
            </a:r>
          </a:p>
        </p:txBody>
      </p:sp>
      <p:sp>
        <p:nvSpPr>
          <p:cNvPr id="19" name="TextBox 18">
            <a:extLst>
              <a:ext uri="{FF2B5EF4-FFF2-40B4-BE49-F238E27FC236}">
                <a16:creationId xmlns:a16="http://schemas.microsoft.com/office/drawing/2014/main" id="{75F425CB-5628-5D1A-3BC5-598F6E17844F}"/>
              </a:ext>
            </a:extLst>
          </p:cNvPr>
          <p:cNvSpPr txBox="1"/>
          <p:nvPr/>
        </p:nvSpPr>
        <p:spPr>
          <a:xfrm>
            <a:off x="2346239" y="4405999"/>
            <a:ext cx="2154436"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5. Serial communication protocol</a:t>
            </a:r>
          </a:p>
        </p:txBody>
      </p:sp>
      <p:pic>
        <p:nvPicPr>
          <p:cNvPr id="10" name="그림 9">
            <a:extLst>
              <a:ext uri="{FF2B5EF4-FFF2-40B4-BE49-F238E27FC236}">
                <a16:creationId xmlns:a16="http://schemas.microsoft.com/office/drawing/2014/main" id="{1531DADE-5B98-61DE-C57F-E0C5EA2E1C9D}"/>
              </a:ext>
            </a:extLst>
          </p:cNvPr>
          <p:cNvPicPr>
            <a:picLocks noChangeAspect="1"/>
          </p:cNvPicPr>
          <p:nvPr/>
        </p:nvPicPr>
        <p:blipFill>
          <a:blip r:embed="rId3"/>
          <a:stretch>
            <a:fillRect/>
          </a:stretch>
        </p:blipFill>
        <p:spPr>
          <a:xfrm>
            <a:off x="1814518" y="5235228"/>
            <a:ext cx="3276000" cy="701019"/>
          </a:xfrm>
          <a:prstGeom prst="rect">
            <a:avLst/>
          </a:prstGeom>
        </p:spPr>
      </p:pic>
      <p:pic>
        <p:nvPicPr>
          <p:cNvPr id="15" name="그림 14">
            <a:extLst>
              <a:ext uri="{FF2B5EF4-FFF2-40B4-BE49-F238E27FC236}">
                <a16:creationId xmlns:a16="http://schemas.microsoft.com/office/drawing/2014/main" id="{EAB9E69B-3291-A99E-B8C0-ABE0F350B9A8}"/>
              </a:ext>
            </a:extLst>
          </p:cNvPr>
          <p:cNvPicPr>
            <a:picLocks noChangeAspect="1"/>
          </p:cNvPicPr>
          <p:nvPr/>
        </p:nvPicPr>
        <p:blipFill>
          <a:blip r:embed="rId4"/>
          <a:stretch>
            <a:fillRect/>
          </a:stretch>
        </p:blipFill>
        <p:spPr>
          <a:xfrm>
            <a:off x="399458" y="6133815"/>
            <a:ext cx="6192000" cy="2582404"/>
          </a:xfrm>
          <a:prstGeom prst="rect">
            <a:avLst/>
          </a:prstGeom>
        </p:spPr>
      </p:pic>
      <p:sp>
        <p:nvSpPr>
          <p:cNvPr id="21" name="TextBox 20">
            <a:extLst>
              <a:ext uri="{FF2B5EF4-FFF2-40B4-BE49-F238E27FC236}">
                <a16:creationId xmlns:a16="http://schemas.microsoft.com/office/drawing/2014/main" id="{530356FE-8B2A-A562-FDBF-B94DAB3478DE}"/>
              </a:ext>
            </a:extLst>
          </p:cNvPr>
          <p:cNvSpPr txBox="1"/>
          <p:nvPr/>
        </p:nvSpPr>
        <p:spPr>
          <a:xfrm>
            <a:off x="407554" y="4891637"/>
            <a:ext cx="6039903" cy="153888"/>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serial communication protocol and the packet formats are shown in below for more details.</a:t>
            </a:r>
          </a:p>
        </p:txBody>
      </p:sp>
    </p:spTree>
    <p:extLst>
      <p:ext uri="{BB962C8B-B14F-4D97-AF65-F5344CB8AC3E}">
        <p14:creationId xmlns:p14="http://schemas.microsoft.com/office/powerpoint/2010/main" val="2113197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E8B89-07B0-F9D4-15A4-38FC0680233D}"/>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8B6BCB07-B0DA-1358-9DB8-952008DAB779}"/>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965EE50-A6F4-0ABF-E542-29912B90B59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2642EB6B-AEBF-54E5-EFDB-1A45438AD826}"/>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graphicFrame>
        <p:nvGraphicFramePr>
          <p:cNvPr id="12" name="표 11">
            <a:extLst>
              <a:ext uri="{FF2B5EF4-FFF2-40B4-BE49-F238E27FC236}">
                <a16:creationId xmlns:a16="http://schemas.microsoft.com/office/drawing/2014/main" id="{ED67BAD1-8330-EEEE-59DB-8172CAD9C23B}"/>
              </a:ext>
            </a:extLst>
          </p:cNvPr>
          <p:cNvGraphicFramePr>
            <a:graphicFrameLocks noGrp="1"/>
          </p:cNvGraphicFramePr>
          <p:nvPr>
            <p:extLst>
              <p:ext uri="{D42A27DB-BD31-4B8C-83A1-F6EECF244321}">
                <p14:modId xmlns:p14="http://schemas.microsoft.com/office/powerpoint/2010/main" val="3106827946"/>
              </p:ext>
            </p:extLst>
          </p:nvPr>
        </p:nvGraphicFramePr>
        <p:xfrm>
          <a:off x="396993" y="2230413"/>
          <a:ext cx="5914907" cy="2344063"/>
        </p:xfrm>
        <a:graphic>
          <a:graphicData uri="http://schemas.openxmlformats.org/drawingml/2006/table">
            <a:tbl>
              <a:tblPr firstRow="1" bandRow="1">
                <a:tableStyleId>{5C22544A-7EE6-4342-B048-85BDC9FD1C3A}</a:tableStyleId>
              </a:tblPr>
              <a:tblGrid>
                <a:gridCol w="627797">
                  <a:extLst>
                    <a:ext uri="{9D8B030D-6E8A-4147-A177-3AD203B41FA5}">
                      <a16:colId xmlns:a16="http://schemas.microsoft.com/office/drawing/2014/main" val="2861869108"/>
                    </a:ext>
                  </a:extLst>
                </a:gridCol>
                <a:gridCol w="571177">
                  <a:extLst>
                    <a:ext uri="{9D8B030D-6E8A-4147-A177-3AD203B41FA5}">
                      <a16:colId xmlns:a16="http://schemas.microsoft.com/office/drawing/2014/main" val="1481624012"/>
                    </a:ext>
                  </a:extLst>
                </a:gridCol>
                <a:gridCol w="428617">
                  <a:extLst>
                    <a:ext uri="{9D8B030D-6E8A-4147-A177-3AD203B41FA5}">
                      <a16:colId xmlns:a16="http://schemas.microsoft.com/office/drawing/2014/main" val="3471461862"/>
                    </a:ext>
                  </a:extLst>
                </a:gridCol>
                <a:gridCol w="199850">
                  <a:extLst>
                    <a:ext uri="{9D8B030D-6E8A-4147-A177-3AD203B41FA5}">
                      <a16:colId xmlns:a16="http://schemas.microsoft.com/office/drawing/2014/main" val="203027085"/>
                    </a:ext>
                  </a:extLst>
                </a:gridCol>
                <a:gridCol w="199850">
                  <a:extLst>
                    <a:ext uri="{9D8B030D-6E8A-4147-A177-3AD203B41FA5}">
                      <a16:colId xmlns:a16="http://schemas.microsoft.com/office/drawing/2014/main" val="222123653"/>
                    </a:ext>
                  </a:extLst>
                </a:gridCol>
                <a:gridCol w="199845">
                  <a:extLst>
                    <a:ext uri="{9D8B030D-6E8A-4147-A177-3AD203B41FA5}">
                      <a16:colId xmlns:a16="http://schemas.microsoft.com/office/drawing/2014/main" val="3458704818"/>
                    </a:ext>
                  </a:extLst>
                </a:gridCol>
                <a:gridCol w="199850">
                  <a:extLst>
                    <a:ext uri="{9D8B030D-6E8A-4147-A177-3AD203B41FA5}">
                      <a16:colId xmlns:a16="http://schemas.microsoft.com/office/drawing/2014/main" val="914505469"/>
                    </a:ext>
                  </a:extLst>
                </a:gridCol>
                <a:gridCol w="199850">
                  <a:extLst>
                    <a:ext uri="{9D8B030D-6E8A-4147-A177-3AD203B41FA5}">
                      <a16:colId xmlns:a16="http://schemas.microsoft.com/office/drawing/2014/main" val="351773172"/>
                    </a:ext>
                  </a:extLst>
                </a:gridCol>
                <a:gridCol w="199850">
                  <a:extLst>
                    <a:ext uri="{9D8B030D-6E8A-4147-A177-3AD203B41FA5}">
                      <a16:colId xmlns:a16="http://schemas.microsoft.com/office/drawing/2014/main" val="4231085326"/>
                    </a:ext>
                  </a:extLst>
                </a:gridCol>
                <a:gridCol w="199850">
                  <a:extLst>
                    <a:ext uri="{9D8B030D-6E8A-4147-A177-3AD203B41FA5}">
                      <a16:colId xmlns:a16="http://schemas.microsoft.com/office/drawing/2014/main" val="4204203412"/>
                    </a:ext>
                  </a:extLst>
                </a:gridCol>
                <a:gridCol w="199850">
                  <a:extLst>
                    <a:ext uri="{9D8B030D-6E8A-4147-A177-3AD203B41FA5}">
                      <a16:colId xmlns:a16="http://schemas.microsoft.com/office/drawing/2014/main" val="683054979"/>
                    </a:ext>
                  </a:extLst>
                </a:gridCol>
                <a:gridCol w="199850">
                  <a:extLst>
                    <a:ext uri="{9D8B030D-6E8A-4147-A177-3AD203B41FA5}">
                      <a16:colId xmlns:a16="http://schemas.microsoft.com/office/drawing/2014/main" val="1775171962"/>
                    </a:ext>
                  </a:extLst>
                </a:gridCol>
                <a:gridCol w="199850">
                  <a:extLst>
                    <a:ext uri="{9D8B030D-6E8A-4147-A177-3AD203B41FA5}">
                      <a16:colId xmlns:a16="http://schemas.microsoft.com/office/drawing/2014/main" val="658555535"/>
                    </a:ext>
                  </a:extLst>
                </a:gridCol>
                <a:gridCol w="199850">
                  <a:extLst>
                    <a:ext uri="{9D8B030D-6E8A-4147-A177-3AD203B41FA5}">
                      <a16:colId xmlns:a16="http://schemas.microsoft.com/office/drawing/2014/main" val="1269055983"/>
                    </a:ext>
                  </a:extLst>
                </a:gridCol>
                <a:gridCol w="199850">
                  <a:extLst>
                    <a:ext uri="{9D8B030D-6E8A-4147-A177-3AD203B41FA5}">
                      <a16:colId xmlns:a16="http://schemas.microsoft.com/office/drawing/2014/main" val="1932052668"/>
                    </a:ext>
                  </a:extLst>
                </a:gridCol>
                <a:gridCol w="199850">
                  <a:extLst>
                    <a:ext uri="{9D8B030D-6E8A-4147-A177-3AD203B41FA5}">
                      <a16:colId xmlns:a16="http://schemas.microsoft.com/office/drawing/2014/main" val="1672148784"/>
                    </a:ext>
                  </a:extLst>
                </a:gridCol>
                <a:gridCol w="199845">
                  <a:extLst>
                    <a:ext uri="{9D8B030D-6E8A-4147-A177-3AD203B41FA5}">
                      <a16:colId xmlns:a16="http://schemas.microsoft.com/office/drawing/2014/main" val="2952904231"/>
                    </a:ext>
                  </a:extLst>
                </a:gridCol>
                <a:gridCol w="199850">
                  <a:extLst>
                    <a:ext uri="{9D8B030D-6E8A-4147-A177-3AD203B41FA5}">
                      <a16:colId xmlns:a16="http://schemas.microsoft.com/office/drawing/2014/main" val="2106188717"/>
                    </a:ext>
                  </a:extLst>
                </a:gridCol>
                <a:gridCol w="199850">
                  <a:extLst>
                    <a:ext uri="{9D8B030D-6E8A-4147-A177-3AD203B41FA5}">
                      <a16:colId xmlns:a16="http://schemas.microsoft.com/office/drawing/2014/main" val="3804327615"/>
                    </a:ext>
                  </a:extLst>
                </a:gridCol>
                <a:gridCol w="585959">
                  <a:extLst>
                    <a:ext uri="{9D8B030D-6E8A-4147-A177-3AD203B41FA5}">
                      <a16:colId xmlns:a16="http://schemas.microsoft.com/office/drawing/2014/main" val="1213780966"/>
                    </a:ext>
                  </a:extLst>
                </a:gridCol>
                <a:gridCol w="503767">
                  <a:extLst>
                    <a:ext uri="{9D8B030D-6E8A-4147-A177-3AD203B41FA5}">
                      <a16:colId xmlns:a16="http://schemas.microsoft.com/office/drawing/2014/main" val="4000803811"/>
                    </a:ext>
                  </a:extLst>
                </a:gridCol>
              </a:tblGrid>
              <a:tr h="219954">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PWM_RES</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SCAN_NO</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frame #</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gridSpan="16">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LD Data [15:0]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hMerge="1">
                  <a:txBody>
                    <a:bodyPr/>
                    <a:lstStyle/>
                    <a:p>
                      <a:pPr algn="ctr" latinLnBrk="1"/>
                      <a:endParaRPr lang="ko-KR" altLang="en-US" sz="900" b="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step #</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/sub-frame</a:t>
                      </a: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rowSpan="2">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pwm freq</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hz@120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163393">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D15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EFF5FB"/>
                    </a:solidFill>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1835977831"/>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p>
                    <a:p>
                      <a:pPr algn="ctr" latinLnBrk="1"/>
                      <a:r>
                        <a:rPr lang="en-US" altLang="ko-KR" sz="800" dirty="0">
                          <a:solidFill>
                            <a:schemeClr val="tx1"/>
                          </a:solidFill>
                          <a:latin typeface="Arial" panose="020B0604020202020204" pitchFamily="34" charset="0"/>
                          <a:cs typeface="Arial" panose="020B0604020202020204" pitchFamily="34" charset="0"/>
                        </a:rPr>
                        <a:t>(12-bit)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225489603"/>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32746677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78471616"/>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7</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255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18028390"/>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122540743"/>
                  </a:ext>
                </a:extLst>
              </a:tr>
              <a:tr h="163393">
                <a:tc rowSpan="6">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p>
                    <a:p>
                      <a:pPr algn="ctr" latinLnBrk="1"/>
                      <a:r>
                        <a:rPr lang="en-US" altLang="ko-KR" sz="800" dirty="0">
                          <a:solidFill>
                            <a:schemeClr val="tx1"/>
                          </a:solidFill>
                          <a:latin typeface="Arial" panose="020B0604020202020204" pitchFamily="34" charset="0"/>
                          <a:cs typeface="Arial" panose="020B0604020202020204" pitchFamily="34" charset="0"/>
                        </a:rPr>
                        <a:t>(14-bit)</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13</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16,383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074396062"/>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12</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8,191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4,095</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480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921559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8</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2,047</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960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400653304"/>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4</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9</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1,023</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1,920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740292645"/>
                  </a:ext>
                </a:extLst>
              </a:tr>
              <a:tr h="163393">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a:t>
                      </a:r>
                      <a:endParaRPr lang="ko-KR" altLang="en-US" sz="8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x</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8</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7</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6</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5</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4</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3</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2</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1</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ctr" latinLnBrk="1"/>
                      <a:r>
                        <a:rPr lang="en-US" altLang="ko-KR" sz="700" dirty="0">
                          <a:solidFill>
                            <a:schemeClr val="tx1"/>
                          </a:solidFill>
                          <a:latin typeface="Arial" panose="020B0604020202020204" pitchFamily="34" charset="0"/>
                          <a:ea typeface="+mn-ea"/>
                          <a:cs typeface="Arial" panose="020B0604020202020204" pitchFamily="34" charset="0"/>
                        </a:rPr>
                        <a:t>0</a:t>
                      </a:r>
                      <a:endParaRPr lang="ko-KR" altLang="en-US" sz="7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9525" cap="flat" cmpd="sng" algn="ctr">
                      <a:solidFill>
                        <a:schemeClr val="tx1"/>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rgbClr val="FFFFEB"/>
                    </a:solid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511</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9525" cap="flat" cmpd="sng" algn="ctr">
                      <a:solidFill>
                        <a:schemeClr val="tx1"/>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r" latinLnBrk="1"/>
                      <a:r>
                        <a:rPr lang="en-US" altLang="ko-KR" sz="800" dirty="0">
                          <a:solidFill>
                            <a:schemeClr val="tx1"/>
                          </a:solidFill>
                          <a:latin typeface="Arial" panose="020B0604020202020204" pitchFamily="34" charset="0"/>
                          <a:cs typeface="Arial" panose="020B0604020202020204" pitchFamily="34" charset="0"/>
                        </a:rPr>
                        <a:t>3,840</a:t>
                      </a:r>
                      <a:endParaRPr lang="ko-KR" altLang="en-US" sz="800" dirty="0">
                        <a:solidFill>
                          <a:schemeClr val="tx1"/>
                        </a:solidFill>
                        <a:latin typeface="Arial" panose="020B0604020202020204" pitchFamily="34" charset="0"/>
                        <a:cs typeface="Arial" panose="020B0604020202020204" pitchFamily="34" charset="0"/>
                      </a:endParaRPr>
                    </a:p>
                  </a:txBody>
                  <a:tcPr marL="0" marR="3600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500532711"/>
                  </a:ext>
                </a:extLst>
              </a:tr>
            </a:tbl>
          </a:graphicData>
        </a:graphic>
      </p:graphicFrame>
      <p:sp>
        <p:nvSpPr>
          <p:cNvPr id="2" name="TextBox 1">
            <a:extLst>
              <a:ext uri="{FF2B5EF4-FFF2-40B4-BE49-F238E27FC236}">
                <a16:creationId xmlns:a16="http://schemas.microsoft.com/office/drawing/2014/main" id="{251C5D44-F39A-A9B5-1CD5-D8FBDAB116F7}"/>
              </a:ext>
            </a:extLst>
          </p:cNvPr>
          <p:cNvSpPr txBox="1"/>
          <p:nvPr/>
        </p:nvSpPr>
        <p:spPr>
          <a:xfrm>
            <a:off x="407554" y="1556966"/>
            <a:ext cx="6039903"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PWM behavior</a:t>
            </a:r>
            <a:r>
              <a:rPr lang="ko-KR" altLang="en-US" sz="1000" dirty="0">
                <a:latin typeface="Arial" panose="020B0604020202020204" pitchFamily="34" charset="0"/>
                <a:cs typeface="Arial" panose="020B0604020202020204" pitchFamily="34" charset="0"/>
              </a:rPr>
              <a:t> </a:t>
            </a:r>
            <a:r>
              <a:rPr lang="en-US" altLang="ko-KR" sz="1000" dirty="0">
                <a:latin typeface="Arial" panose="020B0604020202020204" pitchFamily="34" charset="0"/>
                <a:cs typeface="Arial" panose="020B0604020202020204" pitchFamily="34" charset="0"/>
              </a:rPr>
              <a:t>depends on the PWM configuration set to the PWM_RES and SCAN_NO [2:0] </a:t>
            </a:r>
            <a:r>
              <a:rPr lang="en-US" altLang="ko-KR" sz="1000" b="0" i="0" dirty="0">
                <a:solidFill>
                  <a:srgbClr val="000000"/>
                </a:solidFill>
                <a:effectLst/>
                <a:latin typeface="Arial" panose="020B0604020202020204" pitchFamily="34" charset="0"/>
                <a:cs typeface="Arial" panose="020B0604020202020204" pitchFamily="34" charset="0"/>
              </a:rPr>
              <a:t>as shown in the Table 6.</a:t>
            </a:r>
            <a:endParaRPr lang="en-US" altLang="ko-KR" sz="1000" dirty="0">
              <a:latin typeface="Arial" panose="020B0604020202020204" pitchFamily="34" charset="0"/>
              <a:cs typeface="Arial" panose="020B0604020202020204" pitchFamily="34" charset="0"/>
            </a:endParaRPr>
          </a:p>
        </p:txBody>
      </p:sp>
      <p:sp>
        <p:nvSpPr>
          <p:cNvPr id="16" name="TextBox 15">
            <a:extLst>
              <a:ext uri="{FF2B5EF4-FFF2-40B4-BE49-F238E27FC236}">
                <a16:creationId xmlns:a16="http://schemas.microsoft.com/office/drawing/2014/main" id="{03ABD7FD-0D4C-DA0C-D956-EEBA68B2E47B}"/>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PWM Configuration</a:t>
            </a:r>
          </a:p>
        </p:txBody>
      </p:sp>
      <p:grpSp>
        <p:nvGrpSpPr>
          <p:cNvPr id="20" name="그룹 19">
            <a:extLst>
              <a:ext uri="{FF2B5EF4-FFF2-40B4-BE49-F238E27FC236}">
                <a16:creationId xmlns:a16="http://schemas.microsoft.com/office/drawing/2014/main" id="{D0BE9A2F-E79D-BFBA-1F43-55F7A22E802C}"/>
              </a:ext>
            </a:extLst>
          </p:cNvPr>
          <p:cNvGrpSpPr/>
          <p:nvPr/>
        </p:nvGrpSpPr>
        <p:grpSpPr>
          <a:xfrm>
            <a:off x="4989784" y="1999581"/>
            <a:ext cx="1332255" cy="230832"/>
            <a:chOff x="4989784" y="5674847"/>
            <a:chExt cx="1332255" cy="230832"/>
          </a:xfrm>
        </p:grpSpPr>
        <p:sp>
          <p:nvSpPr>
            <p:cNvPr id="4" name="TextBox 3">
              <a:extLst>
                <a:ext uri="{FF2B5EF4-FFF2-40B4-BE49-F238E27FC236}">
                  <a16:creationId xmlns:a16="http://schemas.microsoft.com/office/drawing/2014/main" id="{9EF28534-B5EE-3485-DDED-4689AFA44F03}"/>
                </a:ext>
              </a:extLst>
            </p:cNvPr>
            <p:cNvSpPr txBox="1"/>
            <p:nvPr/>
          </p:nvSpPr>
          <p:spPr>
            <a:xfrm>
              <a:off x="5044308" y="5674847"/>
              <a:ext cx="660758" cy="230832"/>
            </a:xfrm>
            <a:prstGeom prst="rect">
              <a:avLst/>
            </a:prstGeom>
            <a:noFill/>
          </p:spPr>
          <p:txBody>
            <a:bodyPr wrap="none" rtlCol="0">
              <a:spAutoFit/>
            </a:bodyPr>
            <a:lstStyle/>
            <a:p>
              <a:r>
                <a:rPr lang="en-US" altLang="ko-KR" sz="900" dirty="0"/>
                <a:t>don’t care</a:t>
              </a:r>
              <a:endParaRPr lang="ko-KR" altLang="en-US" sz="900" dirty="0"/>
            </a:p>
          </p:txBody>
        </p:sp>
        <p:sp>
          <p:nvSpPr>
            <p:cNvPr id="5" name="직사각형 4">
              <a:extLst>
                <a:ext uri="{FF2B5EF4-FFF2-40B4-BE49-F238E27FC236}">
                  <a16:creationId xmlns:a16="http://schemas.microsoft.com/office/drawing/2014/main" id="{BA07E655-3B53-A2DF-37A2-94872508847F}"/>
                </a:ext>
              </a:extLst>
            </p:cNvPr>
            <p:cNvSpPr/>
            <p:nvPr/>
          </p:nvSpPr>
          <p:spPr>
            <a:xfrm>
              <a:off x="4989784" y="5736263"/>
              <a:ext cx="108000" cy="108000"/>
            </a:xfrm>
            <a:prstGeom prst="rect">
              <a:avLst/>
            </a:prstGeom>
            <a:solidFill>
              <a:schemeClr val="bg1"/>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900" dirty="0">
                  <a:solidFill>
                    <a:schemeClr val="tx1"/>
                  </a:solidFill>
                </a:rPr>
                <a:t>x</a:t>
              </a:r>
              <a:endParaRPr lang="ko-KR" altLang="en-US" sz="900" dirty="0">
                <a:solidFill>
                  <a:schemeClr val="tx1"/>
                </a:solidFill>
              </a:endParaRPr>
            </a:p>
          </p:txBody>
        </p:sp>
        <p:sp>
          <p:nvSpPr>
            <p:cNvPr id="6" name="직사각형 5">
              <a:extLst>
                <a:ext uri="{FF2B5EF4-FFF2-40B4-BE49-F238E27FC236}">
                  <a16:creationId xmlns:a16="http://schemas.microsoft.com/office/drawing/2014/main" id="{4B462C29-388A-A7A8-DA84-EA9DF4E9D070}"/>
                </a:ext>
              </a:extLst>
            </p:cNvPr>
            <p:cNvSpPr/>
            <p:nvPr/>
          </p:nvSpPr>
          <p:spPr>
            <a:xfrm>
              <a:off x="5713997" y="5736263"/>
              <a:ext cx="108000" cy="108000"/>
            </a:xfrm>
            <a:prstGeom prst="rect">
              <a:avLst/>
            </a:prstGeom>
            <a:solidFill>
              <a:srgbClr val="FFFFEB"/>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ko-KR" altLang="en-US" sz="900" dirty="0">
                <a:solidFill>
                  <a:schemeClr val="tx1"/>
                </a:solidFill>
              </a:endParaRPr>
            </a:p>
          </p:txBody>
        </p:sp>
        <p:sp>
          <p:nvSpPr>
            <p:cNvPr id="7" name="TextBox 6">
              <a:extLst>
                <a:ext uri="{FF2B5EF4-FFF2-40B4-BE49-F238E27FC236}">
                  <a16:creationId xmlns:a16="http://schemas.microsoft.com/office/drawing/2014/main" id="{8817B49B-F45A-9865-7BE7-A0E56665752B}"/>
                </a:ext>
              </a:extLst>
            </p:cNvPr>
            <p:cNvSpPr txBox="1"/>
            <p:nvPr/>
          </p:nvSpPr>
          <p:spPr>
            <a:xfrm>
              <a:off x="5762270" y="5674847"/>
              <a:ext cx="559769" cy="230832"/>
            </a:xfrm>
            <a:prstGeom prst="rect">
              <a:avLst/>
            </a:prstGeom>
            <a:noFill/>
          </p:spPr>
          <p:txBody>
            <a:bodyPr wrap="none" rtlCol="0">
              <a:spAutoFit/>
            </a:bodyPr>
            <a:lstStyle/>
            <a:p>
              <a:r>
                <a:rPr lang="en-US" altLang="ko-KR" sz="900" dirty="0"/>
                <a:t>valid bit</a:t>
              </a:r>
              <a:endParaRPr lang="ko-KR" altLang="en-US" sz="900" dirty="0"/>
            </a:p>
          </p:txBody>
        </p:sp>
      </p:grpSp>
      <p:sp>
        <p:nvSpPr>
          <p:cNvPr id="8" name="TextBox 7">
            <a:extLst>
              <a:ext uri="{FF2B5EF4-FFF2-40B4-BE49-F238E27FC236}">
                <a16:creationId xmlns:a16="http://schemas.microsoft.com/office/drawing/2014/main" id="{27A5E378-4E94-08B5-C072-89C34475847A}"/>
              </a:ext>
            </a:extLst>
          </p:cNvPr>
          <p:cNvSpPr txBox="1"/>
          <p:nvPr/>
        </p:nvSpPr>
        <p:spPr>
          <a:xfrm>
            <a:off x="2657221" y="4760975"/>
            <a:ext cx="1532471"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6. PWM Configuration</a:t>
            </a:r>
          </a:p>
        </p:txBody>
      </p:sp>
    </p:spTree>
    <p:extLst>
      <p:ext uri="{BB962C8B-B14F-4D97-AF65-F5344CB8AC3E}">
        <p14:creationId xmlns:p14="http://schemas.microsoft.com/office/powerpoint/2010/main" val="676369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CB7AE3D-BA30-C6F2-087A-E709735D09EB}"/>
              </a:ext>
            </a:extLst>
          </p:cNvPr>
          <p:cNvSpPr txBox="1"/>
          <p:nvPr/>
        </p:nvSpPr>
        <p:spPr>
          <a:xfrm>
            <a:off x="399458" y="775809"/>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 name="TextBox 1">
            <a:extLst>
              <a:ext uri="{FF2B5EF4-FFF2-40B4-BE49-F238E27FC236}">
                <a16:creationId xmlns:a16="http://schemas.microsoft.com/office/drawing/2014/main" id="{DD624044-0ED2-243C-6A89-C77130EB706F}"/>
              </a:ext>
            </a:extLst>
          </p:cNvPr>
          <p:cNvSpPr txBox="1"/>
          <p:nvPr/>
        </p:nvSpPr>
        <p:spPr>
          <a:xfrm>
            <a:off x="1578400" y="3505215"/>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6  Head Shift Lighting @ PWM_RES=0, SCAN_NO[2:0]=0</a:t>
            </a:r>
          </a:p>
        </p:txBody>
      </p:sp>
      <p:pic>
        <p:nvPicPr>
          <p:cNvPr id="5" name="그림 4">
            <a:extLst>
              <a:ext uri="{FF2B5EF4-FFF2-40B4-BE49-F238E27FC236}">
                <a16:creationId xmlns:a16="http://schemas.microsoft.com/office/drawing/2014/main" id="{D17AF23E-3ACF-410B-BC43-8918C694D563}"/>
              </a:ext>
            </a:extLst>
          </p:cNvPr>
          <p:cNvPicPr>
            <a:picLocks noChangeAspect="1"/>
          </p:cNvPicPr>
          <p:nvPr/>
        </p:nvPicPr>
        <p:blipFill>
          <a:blip r:embed="rId2"/>
          <a:stretch>
            <a:fillRect/>
          </a:stretch>
        </p:blipFill>
        <p:spPr>
          <a:xfrm>
            <a:off x="399457" y="2228438"/>
            <a:ext cx="6048000" cy="1130422"/>
          </a:xfrm>
          <a:prstGeom prst="rect">
            <a:avLst/>
          </a:prstGeom>
        </p:spPr>
      </p:pic>
      <p:pic>
        <p:nvPicPr>
          <p:cNvPr id="6" name="그림 5">
            <a:extLst>
              <a:ext uri="{FF2B5EF4-FFF2-40B4-BE49-F238E27FC236}">
                <a16:creationId xmlns:a16="http://schemas.microsoft.com/office/drawing/2014/main" id="{0B45051D-4C09-423F-FC2E-C1AED8B4AFB8}"/>
              </a:ext>
            </a:extLst>
          </p:cNvPr>
          <p:cNvPicPr>
            <a:picLocks noChangeAspect="1"/>
          </p:cNvPicPr>
          <p:nvPr/>
        </p:nvPicPr>
        <p:blipFill>
          <a:blip r:embed="rId3"/>
          <a:stretch>
            <a:fillRect/>
          </a:stretch>
        </p:blipFill>
        <p:spPr>
          <a:xfrm>
            <a:off x="399457" y="3826326"/>
            <a:ext cx="6048000" cy="1219766"/>
          </a:xfrm>
          <a:prstGeom prst="rect">
            <a:avLst/>
          </a:prstGeom>
        </p:spPr>
      </p:pic>
      <p:pic>
        <p:nvPicPr>
          <p:cNvPr id="9" name="그림 8">
            <a:extLst>
              <a:ext uri="{FF2B5EF4-FFF2-40B4-BE49-F238E27FC236}">
                <a16:creationId xmlns:a16="http://schemas.microsoft.com/office/drawing/2014/main" id="{767AF5CB-3E00-BE03-71F9-C738BCD5E273}"/>
              </a:ext>
            </a:extLst>
          </p:cNvPr>
          <p:cNvPicPr>
            <a:picLocks noChangeAspect="1"/>
          </p:cNvPicPr>
          <p:nvPr/>
        </p:nvPicPr>
        <p:blipFill>
          <a:blip r:embed="rId4"/>
          <a:stretch>
            <a:fillRect/>
          </a:stretch>
        </p:blipFill>
        <p:spPr>
          <a:xfrm>
            <a:off x="430044" y="5501311"/>
            <a:ext cx="6048000" cy="1117009"/>
          </a:xfrm>
          <a:prstGeom prst="rect">
            <a:avLst/>
          </a:prstGeom>
        </p:spPr>
      </p:pic>
      <p:pic>
        <p:nvPicPr>
          <p:cNvPr id="10" name="그림 9">
            <a:extLst>
              <a:ext uri="{FF2B5EF4-FFF2-40B4-BE49-F238E27FC236}">
                <a16:creationId xmlns:a16="http://schemas.microsoft.com/office/drawing/2014/main" id="{AAFECD3B-5EFA-AA0A-E0C9-D225A675FD20}"/>
              </a:ext>
            </a:extLst>
          </p:cNvPr>
          <p:cNvPicPr>
            <a:picLocks noChangeAspect="1"/>
          </p:cNvPicPr>
          <p:nvPr/>
        </p:nvPicPr>
        <p:blipFill>
          <a:blip r:embed="rId5"/>
          <a:stretch>
            <a:fillRect/>
          </a:stretch>
        </p:blipFill>
        <p:spPr>
          <a:xfrm>
            <a:off x="443491" y="7093950"/>
            <a:ext cx="6048000" cy="1206632"/>
          </a:xfrm>
          <a:prstGeom prst="rect">
            <a:avLst/>
          </a:prstGeom>
        </p:spPr>
      </p:pic>
      <p:sp>
        <p:nvSpPr>
          <p:cNvPr id="12" name="TextBox 11">
            <a:extLst>
              <a:ext uri="{FF2B5EF4-FFF2-40B4-BE49-F238E27FC236}">
                <a16:creationId xmlns:a16="http://schemas.microsoft.com/office/drawing/2014/main" id="{96E5B17C-2287-B7A2-1EA3-B23A696B6BEF}"/>
              </a:ext>
            </a:extLst>
          </p:cNvPr>
          <p:cNvSpPr txBox="1"/>
          <p:nvPr/>
        </p:nvSpPr>
        <p:spPr>
          <a:xfrm>
            <a:off x="1578399" y="5178469"/>
            <a:ext cx="3690113"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7  Head Shift Lighting @ PWM_RES=0, SCAN_NO[2:0]=3</a:t>
            </a:r>
          </a:p>
        </p:txBody>
      </p:sp>
      <p:sp>
        <p:nvSpPr>
          <p:cNvPr id="13" name="TextBox 12">
            <a:extLst>
              <a:ext uri="{FF2B5EF4-FFF2-40B4-BE49-F238E27FC236}">
                <a16:creationId xmlns:a16="http://schemas.microsoft.com/office/drawing/2014/main" id="{5C178813-85E5-9CBF-D5CF-004E8640FBE0}"/>
              </a:ext>
            </a:extLst>
          </p:cNvPr>
          <p:cNvSpPr txBox="1"/>
          <p:nvPr/>
        </p:nvSpPr>
        <p:spPr>
          <a:xfrm>
            <a:off x="1649139" y="6717635"/>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8  Tail Shift Lighting @ PWM_RES=0, SCAN_NO[2:0]=0</a:t>
            </a:r>
          </a:p>
        </p:txBody>
      </p:sp>
      <p:sp>
        <p:nvSpPr>
          <p:cNvPr id="14" name="TextBox 13">
            <a:extLst>
              <a:ext uri="{FF2B5EF4-FFF2-40B4-BE49-F238E27FC236}">
                <a16:creationId xmlns:a16="http://schemas.microsoft.com/office/drawing/2014/main" id="{67BC0D3A-3D30-547F-095B-8DB2A35EF8AF}"/>
              </a:ext>
            </a:extLst>
          </p:cNvPr>
          <p:cNvSpPr txBox="1"/>
          <p:nvPr/>
        </p:nvSpPr>
        <p:spPr>
          <a:xfrm>
            <a:off x="1628174" y="8390273"/>
            <a:ext cx="360675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9  Tail Shift Lighting @ PWM_RES=0, SCAN_NO[2:0]=3</a:t>
            </a:r>
          </a:p>
        </p:txBody>
      </p:sp>
      <p:sp>
        <p:nvSpPr>
          <p:cNvPr id="15" name="자유형: 도형 14">
            <a:extLst>
              <a:ext uri="{FF2B5EF4-FFF2-40B4-BE49-F238E27FC236}">
                <a16:creationId xmlns:a16="http://schemas.microsoft.com/office/drawing/2014/main" id="{12879F31-A42B-31D7-1E18-1649AAB58132}"/>
              </a:ext>
            </a:extLst>
          </p:cNvPr>
          <p:cNvSpPr/>
          <p:nvPr/>
        </p:nvSpPr>
        <p:spPr>
          <a:xfrm>
            <a:off x="1611963" y="2290090"/>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9" name="자유형: 도형 18">
            <a:extLst>
              <a:ext uri="{FF2B5EF4-FFF2-40B4-BE49-F238E27FC236}">
                <a16:creationId xmlns:a16="http://schemas.microsoft.com/office/drawing/2014/main" id="{FBC3A62E-2AD6-54EC-76AE-3AD397A5E932}"/>
              </a:ext>
            </a:extLst>
          </p:cNvPr>
          <p:cNvSpPr/>
          <p:nvPr/>
        </p:nvSpPr>
        <p:spPr>
          <a:xfrm>
            <a:off x="1611963" y="3871324"/>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id="{BBED99A1-27F9-47CF-2930-C31966904772}"/>
              </a:ext>
            </a:extLst>
          </p:cNvPr>
          <p:cNvSpPr/>
          <p:nvPr/>
        </p:nvSpPr>
        <p:spPr>
          <a:xfrm>
            <a:off x="1659803" y="555422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자유형: 도형 22">
            <a:extLst>
              <a:ext uri="{FF2B5EF4-FFF2-40B4-BE49-F238E27FC236}">
                <a16:creationId xmlns:a16="http://schemas.microsoft.com/office/drawing/2014/main" id="{5B3E9724-E100-9F4D-7602-35CB51DCE572}"/>
              </a:ext>
            </a:extLst>
          </p:cNvPr>
          <p:cNvSpPr/>
          <p:nvPr/>
        </p:nvSpPr>
        <p:spPr>
          <a:xfrm>
            <a:off x="1659803" y="7134787"/>
            <a:ext cx="136404" cy="262467"/>
          </a:xfrm>
          <a:custGeom>
            <a:avLst/>
            <a:gdLst>
              <a:gd name="connsiteX0" fmla="*/ 937 w 136404"/>
              <a:gd name="connsiteY0" fmla="*/ 262467 h 262467"/>
              <a:gd name="connsiteX1" fmla="*/ 72904 w 136404"/>
              <a:gd name="connsiteY1" fmla="*/ 165100 h 262467"/>
              <a:gd name="connsiteX2" fmla="*/ 937 w 136404"/>
              <a:gd name="connsiteY2" fmla="*/ 59267 h 262467"/>
              <a:gd name="connsiteX3" fmla="*/ 136404 w 136404"/>
              <a:gd name="connsiteY3" fmla="*/ 0 h 262467"/>
            </a:gdLst>
            <a:ahLst/>
            <a:cxnLst>
              <a:cxn ang="0">
                <a:pos x="connsiteX0" y="connsiteY0"/>
              </a:cxn>
              <a:cxn ang="0">
                <a:pos x="connsiteX1" y="connsiteY1"/>
              </a:cxn>
              <a:cxn ang="0">
                <a:pos x="connsiteX2" y="connsiteY2"/>
              </a:cxn>
              <a:cxn ang="0">
                <a:pos x="connsiteX3" y="connsiteY3"/>
              </a:cxn>
            </a:cxnLst>
            <a:rect l="l" t="t" r="r" b="b"/>
            <a:pathLst>
              <a:path w="136404" h="262467">
                <a:moveTo>
                  <a:pt x="937" y="262467"/>
                </a:moveTo>
                <a:cubicBezTo>
                  <a:pt x="36920" y="230717"/>
                  <a:pt x="72904" y="198967"/>
                  <a:pt x="72904" y="165100"/>
                </a:cubicBezTo>
                <a:cubicBezTo>
                  <a:pt x="72904" y="131233"/>
                  <a:pt x="-9646" y="86784"/>
                  <a:pt x="937" y="59267"/>
                </a:cubicBezTo>
                <a:cubicBezTo>
                  <a:pt x="11520" y="31750"/>
                  <a:pt x="73962" y="15875"/>
                  <a:pt x="136404" y="0"/>
                </a:cubicBezTo>
              </a:path>
            </a:pathLst>
          </a:custGeom>
          <a:noFill/>
          <a:ln w="3175">
            <a:solidFill>
              <a:schemeClr val="bg1">
                <a:lumMod val="50000"/>
              </a:schemeClr>
            </a:solidFill>
            <a:tailEnd type="triangl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 name="TextBox 3">
            <a:extLst>
              <a:ext uri="{FF2B5EF4-FFF2-40B4-BE49-F238E27FC236}">
                <a16:creationId xmlns:a16="http://schemas.microsoft.com/office/drawing/2014/main" id="{770FDC9A-D218-EAC4-FE67-CE72D4F9E3F8}"/>
              </a:ext>
            </a:extLst>
          </p:cNvPr>
          <p:cNvSpPr txBox="1"/>
          <p:nvPr/>
        </p:nvSpPr>
        <p:spPr>
          <a:xfrm>
            <a:off x="407554" y="1556966"/>
            <a:ext cx="6047999" cy="461665"/>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Local dimming sequences according to the PWM configuration are shown as follows below, and  has two dimming out directions, Head Shift Lighting and Tail Shift Lighting. The set of </a:t>
            </a:r>
            <a:r>
              <a:rPr lang="en-US" altLang="ko-KR" sz="1000" b="0" i="0" dirty="0">
                <a:solidFill>
                  <a:srgbClr val="000000"/>
                </a:solidFill>
                <a:effectLst/>
                <a:latin typeface="Arial" panose="020B0604020202020204" pitchFamily="34" charset="0"/>
                <a:cs typeface="Arial" panose="020B0604020202020204" pitchFamily="34" charset="0"/>
              </a:rPr>
              <a:t>PWM frequency (pwmclk) according to the Frame frequency can be shown in the Table 7.</a:t>
            </a:r>
            <a:r>
              <a:rPr lang="en-US" altLang="ko-KR" sz="1000" dirty="0">
                <a:latin typeface="Arial" panose="020B0604020202020204" pitchFamily="34" charset="0"/>
                <a:cs typeface="Arial" panose="020B0604020202020204" pitchFamily="34" charset="0"/>
              </a:rPr>
              <a:t> </a:t>
            </a:r>
          </a:p>
        </p:txBody>
      </p:sp>
      <p:sp>
        <p:nvSpPr>
          <p:cNvPr id="7" name="TextBox 6">
            <a:extLst>
              <a:ext uri="{FF2B5EF4-FFF2-40B4-BE49-F238E27FC236}">
                <a16:creationId xmlns:a16="http://schemas.microsoft.com/office/drawing/2014/main" id="{40734070-C148-833E-CEFC-E548FD9687D5}"/>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Local dimming</a:t>
            </a:r>
          </a:p>
        </p:txBody>
      </p:sp>
    </p:spTree>
    <p:extLst>
      <p:ext uri="{BB962C8B-B14F-4D97-AF65-F5344CB8AC3E}">
        <p14:creationId xmlns:p14="http://schemas.microsoft.com/office/powerpoint/2010/main" val="151190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265265B-91A4-E842-DC67-A56C0996419A}"/>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EB5725B-D9B2-254B-0679-92FEC480E6A8}"/>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23" name="TextBox 22">
            <a:extLst>
              <a:ext uri="{FF2B5EF4-FFF2-40B4-BE49-F238E27FC236}">
                <a16:creationId xmlns:a16="http://schemas.microsoft.com/office/drawing/2014/main" id="{096E7D0C-FE5C-695F-4EA9-45B59C7AB027}"/>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Optional external VSYNC and FB</a:t>
            </a:r>
          </a:p>
        </p:txBody>
      </p:sp>
      <p:grpSp>
        <p:nvGrpSpPr>
          <p:cNvPr id="6" name="그룹 5">
            <a:extLst>
              <a:ext uri="{FF2B5EF4-FFF2-40B4-BE49-F238E27FC236}">
                <a16:creationId xmlns:a16="http://schemas.microsoft.com/office/drawing/2014/main" id="{EDFD8266-1EF0-95F2-BEBF-2E020C9AD5BB}"/>
              </a:ext>
            </a:extLst>
          </p:cNvPr>
          <p:cNvGrpSpPr/>
          <p:nvPr/>
        </p:nvGrpSpPr>
        <p:grpSpPr>
          <a:xfrm>
            <a:off x="1710249" y="3656012"/>
            <a:ext cx="1260000" cy="1116000"/>
            <a:chOff x="1016681" y="4339884"/>
            <a:chExt cx="1427516" cy="1242000"/>
          </a:xfrm>
        </p:grpSpPr>
        <p:sp>
          <p:nvSpPr>
            <p:cNvPr id="8" name="직사각형 7">
              <a:extLst>
                <a:ext uri="{FF2B5EF4-FFF2-40B4-BE49-F238E27FC236}">
                  <a16:creationId xmlns:a16="http://schemas.microsoft.com/office/drawing/2014/main" id="{D040264E-55F8-A986-52DF-32443F6C074B}"/>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9" name="그림 8">
              <a:extLst>
                <a:ext uri="{FF2B5EF4-FFF2-40B4-BE49-F238E27FC236}">
                  <a16:creationId xmlns:a16="http://schemas.microsoft.com/office/drawing/2014/main" id="{BFD80A06-2D60-AE6C-41C9-AAFF161EC2CD}"/>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4" name="직선 연결선 13">
              <a:extLst>
                <a:ext uri="{FF2B5EF4-FFF2-40B4-BE49-F238E27FC236}">
                  <a16:creationId xmlns:a16="http://schemas.microsoft.com/office/drawing/2014/main" id="{723E76E0-1C03-C0B3-9A3D-BC7D15B484A9}"/>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A6BD18D2-8FD5-31AF-D56D-779BC2BDEEDA}"/>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29" name="직선 연결선 28">
              <a:extLst>
                <a:ext uri="{FF2B5EF4-FFF2-40B4-BE49-F238E27FC236}">
                  <a16:creationId xmlns:a16="http://schemas.microsoft.com/office/drawing/2014/main" id="{16164317-50D2-7ADC-17D7-FF64FE399F4C}"/>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직사각형 30">
              <a:extLst>
                <a:ext uri="{FF2B5EF4-FFF2-40B4-BE49-F238E27FC236}">
                  <a16:creationId xmlns:a16="http://schemas.microsoft.com/office/drawing/2014/main" id="{0A1759E7-CBBA-2BC3-7C2A-79C2A65D240D}"/>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32" name="직선 연결선 31">
              <a:extLst>
                <a:ext uri="{FF2B5EF4-FFF2-40B4-BE49-F238E27FC236}">
                  <a16:creationId xmlns:a16="http://schemas.microsoft.com/office/drawing/2014/main" id="{C56C83EE-9FFD-8C2E-2B1D-9C9E69D6C741}"/>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4781A83A-41E3-3F97-88A1-36BC8B112600}"/>
                </a:ext>
              </a:extLst>
            </p:cNvPr>
            <p:cNvCxnSpPr>
              <a:cxnSpLocks/>
            </p:cNvCxnSpPr>
            <p:nvPr/>
          </p:nvCxnSpPr>
          <p:spPr>
            <a:xfrm>
              <a:off x="2108841" y="4795042"/>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직사각형 33">
              <a:extLst>
                <a:ext uri="{FF2B5EF4-FFF2-40B4-BE49-F238E27FC236}">
                  <a16:creationId xmlns:a16="http://schemas.microsoft.com/office/drawing/2014/main" id="{D0876853-CB5D-BC8A-6492-DFA4DADA8C90}"/>
                </a:ext>
              </a:extLst>
            </p:cNvPr>
            <p:cNvSpPr/>
            <p:nvPr/>
          </p:nvSpPr>
          <p:spPr>
            <a:xfrm>
              <a:off x="1597370" y="4755959"/>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45" name="TextBox 44">
            <a:extLst>
              <a:ext uri="{FF2B5EF4-FFF2-40B4-BE49-F238E27FC236}">
                <a16:creationId xmlns:a16="http://schemas.microsoft.com/office/drawing/2014/main" id="{E06BA17D-1B43-98A1-94FD-C38D613B280B}"/>
              </a:ext>
            </a:extLst>
          </p:cNvPr>
          <p:cNvSpPr txBox="1"/>
          <p:nvPr/>
        </p:nvSpPr>
        <p:spPr>
          <a:xfrm>
            <a:off x="2133097" y="3656262"/>
            <a:ext cx="458780" cy="230832"/>
          </a:xfrm>
          <a:prstGeom prst="rect">
            <a:avLst/>
          </a:prstGeom>
          <a:noFill/>
        </p:spPr>
        <p:txBody>
          <a:bodyPr wrap="none" rtlCol="0">
            <a:spAutoFit/>
          </a:bodyPr>
          <a:lstStyle/>
          <a:p>
            <a:r>
              <a:rPr lang="en-US" altLang="ko-KR" sz="900" dirty="0"/>
              <a:t>XD #n</a:t>
            </a:r>
            <a:endParaRPr lang="ko-KR" altLang="en-US" sz="900" dirty="0"/>
          </a:p>
        </p:txBody>
      </p:sp>
      <p:cxnSp>
        <p:nvCxnSpPr>
          <p:cNvPr id="46" name="직선 연결선 45">
            <a:extLst>
              <a:ext uri="{FF2B5EF4-FFF2-40B4-BE49-F238E27FC236}">
                <a16:creationId xmlns:a16="http://schemas.microsoft.com/office/drawing/2014/main" id="{352E3D65-E24B-0FCD-9349-616D6D0ABFE5}"/>
              </a:ext>
            </a:extLst>
          </p:cNvPr>
          <p:cNvCxnSpPr/>
          <p:nvPr/>
        </p:nvCxnSpPr>
        <p:spPr>
          <a:xfrm>
            <a:off x="5052215" y="4220835"/>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0A254A4C-7BD3-6B59-2F9A-1F5E03843DF1}"/>
              </a:ext>
            </a:extLst>
          </p:cNvPr>
          <p:cNvCxnSpPr/>
          <p:nvPr/>
        </p:nvCxnSpPr>
        <p:spPr>
          <a:xfrm>
            <a:off x="1456919" y="4211251"/>
            <a:ext cx="254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54" name="직선 연결선 53">
            <a:extLst>
              <a:ext uri="{FF2B5EF4-FFF2-40B4-BE49-F238E27FC236}">
                <a16:creationId xmlns:a16="http://schemas.microsoft.com/office/drawing/2014/main" id="{3B27148F-4126-B7FA-E882-9BD124D86D25}"/>
              </a:ext>
            </a:extLst>
          </p:cNvPr>
          <p:cNvCxnSpPr/>
          <p:nvPr/>
        </p:nvCxnSpPr>
        <p:spPr>
          <a:xfrm>
            <a:off x="2969446" y="4211251"/>
            <a:ext cx="828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D0D25D7D-37FC-B614-39C1-471D9D38B73C}"/>
              </a:ext>
            </a:extLst>
          </p:cNvPr>
          <p:cNvSpPr txBox="1"/>
          <p:nvPr/>
        </p:nvSpPr>
        <p:spPr>
          <a:xfrm>
            <a:off x="1002362" y="4094192"/>
            <a:ext cx="476412" cy="230832"/>
          </a:xfrm>
          <a:prstGeom prst="rect">
            <a:avLst/>
          </a:prstGeom>
          <a:noFill/>
        </p:spPr>
        <p:txBody>
          <a:bodyPr wrap="none" rtlCol="0">
            <a:spAutoFit/>
          </a:bodyPr>
          <a:lstStyle/>
          <a:p>
            <a:r>
              <a:rPr lang="en-US" altLang="ko-KR" sz="900" dirty="0"/>
              <a:t>#n VSI</a:t>
            </a:r>
            <a:endParaRPr lang="ko-KR" altLang="en-US" sz="900" dirty="0"/>
          </a:p>
        </p:txBody>
      </p:sp>
      <p:sp>
        <p:nvSpPr>
          <p:cNvPr id="57" name="TextBox 56">
            <a:extLst>
              <a:ext uri="{FF2B5EF4-FFF2-40B4-BE49-F238E27FC236}">
                <a16:creationId xmlns:a16="http://schemas.microsoft.com/office/drawing/2014/main" id="{ED3BE8FB-659F-43ED-6157-F7C3EC9E81D8}"/>
              </a:ext>
            </a:extLst>
          </p:cNvPr>
          <p:cNvSpPr txBox="1"/>
          <p:nvPr/>
        </p:nvSpPr>
        <p:spPr>
          <a:xfrm>
            <a:off x="5246169" y="4094192"/>
            <a:ext cx="710451" cy="230832"/>
          </a:xfrm>
          <a:prstGeom prst="rect">
            <a:avLst/>
          </a:prstGeom>
          <a:noFill/>
        </p:spPr>
        <p:txBody>
          <a:bodyPr wrap="none" rtlCol="0">
            <a:spAutoFit/>
          </a:bodyPr>
          <a:lstStyle/>
          <a:p>
            <a:r>
              <a:rPr lang="en-US" altLang="ko-KR" sz="900" dirty="0"/>
              <a:t>#(n+1) VSO</a:t>
            </a:r>
            <a:endParaRPr lang="ko-KR" altLang="en-US" sz="900" dirty="0"/>
          </a:p>
        </p:txBody>
      </p:sp>
      <p:cxnSp>
        <p:nvCxnSpPr>
          <p:cNvPr id="58" name="직선 연결선 57">
            <a:extLst>
              <a:ext uri="{FF2B5EF4-FFF2-40B4-BE49-F238E27FC236}">
                <a16:creationId xmlns:a16="http://schemas.microsoft.com/office/drawing/2014/main" id="{FDAA2198-0910-5905-F47A-9206A15A5545}"/>
              </a:ext>
            </a:extLst>
          </p:cNvPr>
          <p:cNvCxnSpPr/>
          <p:nvPr/>
        </p:nvCxnSpPr>
        <p:spPr>
          <a:xfrm>
            <a:off x="5064731" y="6092621"/>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59" name="직선 연결선 58">
            <a:extLst>
              <a:ext uri="{FF2B5EF4-FFF2-40B4-BE49-F238E27FC236}">
                <a16:creationId xmlns:a16="http://schemas.microsoft.com/office/drawing/2014/main" id="{72C3ECD9-F2CD-D643-8354-F935AE6DA5FB}"/>
              </a:ext>
            </a:extLst>
          </p:cNvPr>
          <p:cNvCxnSpPr/>
          <p:nvPr/>
        </p:nvCxnSpPr>
        <p:spPr>
          <a:xfrm>
            <a:off x="1454581" y="6079459"/>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cxnSp>
        <p:nvCxnSpPr>
          <p:cNvPr id="62" name="직선 연결선 61">
            <a:extLst>
              <a:ext uri="{FF2B5EF4-FFF2-40B4-BE49-F238E27FC236}">
                <a16:creationId xmlns:a16="http://schemas.microsoft.com/office/drawing/2014/main" id="{2878A637-331E-B5FA-B7E7-11F5BF64F3B6}"/>
              </a:ext>
            </a:extLst>
          </p:cNvPr>
          <p:cNvCxnSpPr/>
          <p:nvPr/>
        </p:nvCxnSpPr>
        <p:spPr>
          <a:xfrm>
            <a:off x="2969446" y="6079459"/>
            <a:ext cx="86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grpSp>
        <p:nvGrpSpPr>
          <p:cNvPr id="66" name="그룹 65">
            <a:extLst>
              <a:ext uri="{FF2B5EF4-FFF2-40B4-BE49-F238E27FC236}">
                <a16:creationId xmlns:a16="http://schemas.microsoft.com/office/drawing/2014/main" id="{4B71B3AF-CAD4-43FD-4156-DFE2CE73F198}"/>
              </a:ext>
            </a:extLst>
          </p:cNvPr>
          <p:cNvGrpSpPr/>
          <p:nvPr/>
        </p:nvGrpSpPr>
        <p:grpSpPr>
          <a:xfrm>
            <a:off x="1707309" y="5520720"/>
            <a:ext cx="1260000" cy="1116000"/>
            <a:chOff x="1710249" y="5520720"/>
            <a:chExt cx="1425650" cy="1242000"/>
          </a:xfrm>
        </p:grpSpPr>
        <p:sp>
          <p:nvSpPr>
            <p:cNvPr id="67" name="직사각형 66">
              <a:extLst>
                <a:ext uri="{FF2B5EF4-FFF2-40B4-BE49-F238E27FC236}">
                  <a16:creationId xmlns:a16="http://schemas.microsoft.com/office/drawing/2014/main" id="{81192868-FC77-D4A3-E091-05F2CC20DE64}"/>
                </a:ext>
              </a:extLst>
            </p:cNvPr>
            <p:cNvSpPr/>
            <p:nvPr/>
          </p:nvSpPr>
          <p:spPr>
            <a:xfrm>
              <a:off x="1805772" y="5520720"/>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8" name="그림 67">
              <a:extLst>
                <a:ext uri="{FF2B5EF4-FFF2-40B4-BE49-F238E27FC236}">
                  <a16:creationId xmlns:a16="http://schemas.microsoft.com/office/drawing/2014/main" id="{CFD3AEFC-6BE1-0185-7D58-4C0F2868EF68}"/>
                </a:ext>
              </a:extLst>
            </p:cNvPr>
            <p:cNvPicPr>
              <a:picLocks noChangeAspect="1"/>
            </p:cNvPicPr>
            <p:nvPr/>
          </p:nvPicPr>
          <p:blipFill>
            <a:blip r:embed="rId3"/>
            <a:stretch>
              <a:fillRect/>
            </a:stretch>
          </p:blipFill>
          <p:spPr>
            <a:xfrm flipH="1">
              <a:off x="2182938" y="6279640"/>
              <a:ext cx="216000" cy="115821"/>
            </a:xfrm>
            <a:prstGeom prst="rect">
              <a:avLst/>
            </a:prstGeom>
          </p:spPr>
        </p:pic>
        <p:sp>
          <p:nvSpPr>
            <p:cNvPr id="69" name="직사각형 68">
              <a:extLst>
                <a:ext uri="{FF2B5EF4-FFF2-40B4-BE49-F238E27FC236}">
                  <a16:creationId xmlns:a16="http://schemas.microsoft.com/office/drawing/2014/main" id="{AB31A7D2-0052-0502-AA41-4A5B8E876879}"/>
                </a:ext>
              </a:extLst>
            </p:cNvPr>
            <p:cNvSpPr/>
            <p:nvPr/>
          </p:nvSpPr>
          <p:spPr>
            <a:xfrm>
              <a:off x="2280598" y="6086021"/>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70" name="그룹 69">
              <a:extLst>
                <a:ext uri="{FF2B5EF4-FFF2-40B4-BE49-F238E27FC236}">
                  <a16:creationId xmlns:a16="http://schemas.microsoft.com/office/drawing/2014/main" id="{009BCCF6-B866-8CFF-DECA-CB1D9E4DDF94}"/>
                </a:ext>
              </a:extLst>
            </p:cNvPr>
            <p:cNvGrpSpPr/>
            <p:nvPr/>
          </p:nvGrpSpPr>
          <p:grpSpPr>
            <a:xfrm>
              <a:off x="2727037" y="5877564"/>
              <a:ext cx="108000" cy="252000"/>
              <a:chOff x="4029465" y="4076226"/>
              <a:chExt cx="108000" cy="252000"/>
            </a:xfrm>
          </p:grpSpPr>
          <p:pic>
            <p:nvPicPr>
              <p:cNvPr id="145" name="그림 144">
                <a:extLst>
                  <a:ext uri="{FF2B5EF4-FFF2-40B4-BE49-F238E27FC236}">
                    <a16:creationId xmlns:a16="http://schemas.microsoft.com/office/drawing/2014/main" id="{5FE9E72D-9EE5-2B49-A2D6-D9D19CDDA76D}"/>
                  </a:ext>
                </a:extLst>
              </p:cNvPr>
              <p:cNvPicPr>
                <a:picLocks noChangeAspect="1"/>
              </p:cNvPicPr>
              <p:nvPr/>
            </p:nvPicPr>
            <p:blipFill>
              <a:blip r:embed="rId4"/>
              <a:stretch>
                <a:fillRect/>
              </a:stretch>
            </p:blipFill>
            <p:spPr>
              <a:xfrm>
                <a:off x="4048886" y="4076226"/>
                <a:ext cx="65825" cy="252000"/>
              </a:xfrm>
              <a:prstGeom prst="rect">
                <a:avLst/>
              </a:prstGeom>
            </p:spPr>
          </p:pic>
          <p:cxnSp>
            <p:nvCxnSpPr>
              <p:cNvPr id="150" name="직선 연결선 149">
                <a:extLst>
                  <a:ext uri="{FF2B5EF4-FFF2-40B4-BE49-F238E27FC236}">
                    <a16:creationId xmlns:a16="http://schemas.microsoft.com/office/drawing/2014/main" id="{D415D1BE-27C0-807C-7EE7-8BBB12AE752D}"/>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그룹 73">
              <a:extLst>
                <a:ext uri="{FF2B5EF4-FFF2-40B4-BE49-F238E27FC236}">
                  <a16:creationId xmlns:a16="http://schemas.microsoft.com/office/drawing/2014/main" id="{16B903C4-4805-A621-7D00-04305F596EFB}"/>
                </a:ext>
              </a:extLst>
            </p:cNvPr>
            <p:cNvGrpSpPr/>
            <p:nvPr/>
          </p:nvGrpSpPr>
          <p:grpSpPr>
            <a:xfrm>
              <a:off x="1978383" y="6217989"/>
              <a:ext cx="234000" cy="399680"/>
              <a:chOff x="2505005" y="3797258"/>
              <a:chExt cx="234000" cy="399680"/>
            </a:xfrm>
          </p:grpSpPr>
          <p:pic>
            <p:nvPicPr>
              <p:cNvPr id="109" name="그림 108">
                <a:extLst>
                  <a:ext uri="{FF2B5EF4-FFF2-40B4-BE49-F238E27FC236}">
                    <a16:creationId xmlns:a16="http://schemas.microsoft.com/office/drawing/2014/main" id="{9B7CEFE5-2FCA-BC70-BDAF-D99114914E4B}"/>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19" name="그림 118">
                <a:extLst>
                  <a:ext uri="{FF2B5EF4-FFF2-40B4-BE49-F238E27FC236}">
                    <a16:creationId xmlns:a16="http://schemas.microsoft.com/office/drawing/2014/main" id="{4DD2C5E3-2FCD-FD85-9819-5E11B37FC842}"/>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44" name="직선 연결선 143">
                <a:extLst>
                  <a:ext uri="{FF2B5EF4-FFF2-40B4-BE49-F238E27FC236}">
                    <a16:creationId xmlns:a16="http://schemas.microsoft.com/office/drawing/2014/main" id="{722C1807-F9BC-DA43-D323-4CCD5104A585}"/>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8" name="직선 연결선 77">
              <a:extLst>
                <a:ext uri="{FF2B5EF4-FFF2-40B4-BE49-F238E27FC236}">
                  <a16:creationId xmlns:a16="http://schemas.microsoft.com/office/drawing/2014/main" id="{50C771E7-032A-741F-D700-750D98F597F5}"/>
                </a:ext>
              </a:extLst>
            </p:cNvPr>
            <p:cNvCxnSpPr>
              <a:cxnSpLocks/>
            </p:cNvCxnSpPr>
            <p:nvPr/>
          </p:nvCxnSpPr>
          <p:spPr>
            <a:xfrm flipV="1">
              <a:off x="2050077" y="6137201"/>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직선 연결선 81">
              <a:extLst>
                <a:ext uri="{FF2B5EF4-FFF2-40B4-BE49-F238E27FC236}">
                  <a16:creationId xmlns:a16="http://schemas.microsoft.com/office/drawing/2014/main" id="{9B1BA738-CFDE-7E43-CCD6-A3671F924C44}"/>
                </a:ext>
              </a:extLst>
            </p:cNvPr>
            <p:cNvCxnSpPr>
              <a:cxnSpLocks/>
            </p:cNvCxnSpPr>
            <p:nvPr/>
          </p:nvCxnSpPr>
          <p:spPr>
            <a:xfrm>
              <a:off x="1772175" y="6139250"/>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직사각형 82">
              <a:extLst>
                <a:ext uri="{FF2B5EF4-FFF2-40B4-BE49-F238E27FC236}">
                  <a16:creationId xmlns:a16="http://schemas.microsoft.com/office/drawing/2014/main" id="{058B009F-97C1-A069-AC6C-F137A1B0AC14}"/>
                </a:ext>
              </a:extLst>
            </p:cNvPr>
            <p:cNvSpPr/>
            <p:nvPr/>
          </p:nvSpPr>
          <p:spPr>
            <a:xfrm>
              <a:off x="1710249" y="608491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86" name="직선 연결선 85">
              <a:extLst>
                <a:ext uri="{FF2B5EF4-FFF2-40B4-BE49-F238E27FC236}">
                  <a16:creationId xmlns:a16="http://schemas.microsoft.com/office/drawing/2014/main" id="{6B264573-5D8F-A95B-38BD-DFED69368006}"/>
                </a:ext>
              </a:extLst>
            </p:cNvPr>
            <p:cNvCxnSpPr>
              <a:cxnSpLocks/>
            </p:cNvCxnSpPr>
            <p:nvPr/>
          </p:nvCxnSpPr>
          <p:spPr>
            <a:xfrm>
              <a:off x="2144800" y="6338455"/>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87" name="직사각형 86">
              <a:extLst>
                <a:ext uri="{FF2B5EF4-FFF2-40B4-BE49-F238E27FC236}">
                  <a16:creationId xmlns:a16="http://schemas.microsoft.com/office/drawing/2014/main" id="{5D986EBD-B652-8A57-8DE1-F7859DC5858B}"/>
                </a:ext>
              </a:extLst>
            </p:cNvPr>
            <p:cNvSpPr/>
            <p:nvPr/>
          </p:nvSpPr>
          <p:spPr>
            <a:xfrm>
              <a:off x="2144800" y="6386765"/>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88" name="직선 연결선 87">
              <a:extLst>
                <a:ext uri="{FF2B5EF4-FFF2-40B4-BE49-F238E27FC236}">
                  <a16:creationId xmlns:a16="http://schemas.microsoft.com/office/drawing/2014/main" id="{F3EE599E-C275-1006-71C7-05D08FBCDA5D}"/>
                </a:ext>
              </a:extLst>
            </p:cNvPr>
            <p:cNvCxnSpPr>
              <a:cxnSpLocks/>
            </p:cNvCxnSpPr>
            <p:nvPr/>
          </p:nvCxnSpPr>
          <p:spPr>
            <a:xfrm>
              <a:off x="2353255" y="6311583"/>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직선 연결선 88">
              <a:extLst>
                <a:ext uri="{FF2B5EF4-FFF2-40B4-BE49-F238E27FC236}">
                  <a16:creationId xmlns:a16="http://schemas.microsoft.com/office/drawing/2014/main" id="{2F0687C0-3165-02BA-C1A5-55AF74ED56BC}"/>
                </a:ext>
              </a:extLst>
            </p:cNvPr>
            <p:cNvCxnSpPr>
              <a:cxnSpLocks/>
            </p:cNvCxnSpPr>
            <p:nvPr/>
          </p:nvCxnSpPr>
          <p:spPr>
            <a:xfrm flipV="1">
              <a:off x="2457294" y="6182848"/>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타원 91">
              <a:extLst>
                <a:ext uri="{FF2B5EF4-FFF2-40B4-BE49-F238E27FC236}">
                  <a16:creationId xmlns:a16="http://schemas.microsoft.com/office/drawing/2014/main" id="{62087CB5-0DF0-18DC-7B4E-67A5959EBB53}"/>
                </a:ext>
              </a:extLst>
            </p:cNvPr>
            <p:cNvSpPr/>
            <p:nvPr/>
          </p:nvSpPr>
          <p:spPr>
            <a:xfrm>
              <a:off x="2351712" y="6297183"/>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94" name="직선 연결선 93">
              <a:extLst>
                <a:ext uri="{FF2B5EF4-FFF2-40B4-BE49-F238E27FC236}">
                  <a16:creationId xmlns:a16="http://schemas.microsoft.com/office/drawing/2014/main" id="{3E8F3968-68DD-B237-7933-3D4A6221E247}"/>
                </a:ext>
              </a:extLst>
            </p:cNvPr>
            <p:cNvCxnSpPr>
              <a:cxnSpLocks/>
            </p:cNvCxnSpPr>
            <p:nvPr/>
          </p:nvCxnSpPr>
          <p:spPr>
            <a:xfrm flipH="1" flipV="1">
              <a:off x="2783339" y="608583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직선 연결선 95">
              <a:extLst>
                <a:ext uri="{FF2B5EF4-FFF2-40B4-BE49-F238E27FC236}">
                  <a16:creationId xmlns:a16="http://schemas.microsoft.com/office/drawing/2014/main" id="{60D5AC2F-4136-77DF-6DD3-287DD49B3E60}"/>
                </a:ext>
              </a:extLst>
            </p:cNvPr>
            <p:cNvCxnSpPr>
              <a:cxnSpLocks/>
            </p:cNvCxnSpPr>
            <p:nvPr/>
          </p:nvCxnSpPr>
          <p:spPr>
            <a:xfrm>
              <a:off x="2781852" y="6145205"/>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직사각형 98">
              <a:extLst>
                <a:ext uri="{FF2B5EF4-FFF2-40B4-BE49-F238E27FC236}">
                  <a16:creationId xmlns:a16="http://schemas.microsoft.com/office/drawing/2014/main" id="{7FE2AF64-8288-504C-13C8-B8A09C0F776B}"/>
                </a:ext>
              </a:extLst>
            </p:cNvPr>
            <p:cNvSpPr/>
            <p:nvPr/>
          </p:nvSpPr>
          <p:spPr>
            <a:xfrm>
              <a:off x="2955899" y="6090379"/>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00" name="TextBox 99">
              <a:extLst>
                <a:ext uri="{FF2B5EF4-FFF2-40B4-BE49-F238E27FC236}">
                  <a16:creationId xmlns:a16="http://schemas.microsoft.com/office/drawing/2014/main" id="{E722B1A1-9911-10D3-53E6-DC18F508E4D7}"/>
                </a:ext>
              </a:extLst>
            </p:cNvPr>
            <p:cNvSpPr txBox="1"/>
            <p:nvPr/>
          </p:nvSpPr>
          <p:spPr>
            <a:xfrm>
              <a:off x="2150379" y="5521637"/>
              <a:ext cx="458780" cy="230832"/>
            </a:xfrm>
            <a:prstGeom prst="rect">
              <a:avLst/>
            </a:prstGeom>
            <a:noFill/>
          </p:spPr>
          <p:txBody>
            <a:bodyPr wrap="none" rtlCol="0">
              <a:spAutoFit/>
            </a:bodyPr>
            <a:lstStyle/>
            <a:p>
              <a:r>
                <a:rPr lang="en-US" altLang="ko-KR" sz="900" dirty="0"/>
                <a:t>XD #n</a:t>
              </a:r>
              <a:endParaRPr lang="ko-KR" altLang="en-US" sz="900" dirty="0"/>
            </a:p>
          </p:txBody>
        </p:sp>
        <p:sp>
          <p:nvSpPr>
            <p:cNvPr id="101" name="직사각형 100">
              <a:extLst>
                <a:ext uri="{FF2B5EF4-FFF2-40B4-BE49-F238E27FC236}">
                  <a16:creationId xmlns:a16="http://schemas.microsoft.com/office/drawing/2014/main" id="{FCB08E0C-B88B-91CE-62E1-C0063209FDDB}"/>
                </a:ext>
              </a:extLst>
            </p:cNvPr>
            <p:cNvSpPr/>
            <p:nvPr/>
          </p:nvSpPr>
          <p:spPr>
            <a:xfrm>
              <a:off x="2354178" y="6331072"/>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02" name="직선 연결선 101">
              <a:extLst>
                <a:ext uri="{FF2B5EF4-FFF2-40B4-BE49-F238E27FC236}">
                  <a16:creationId xmlns:a16="http://schemas.microsoft.com/office/drawing/2014/main" id="{A90DFC95-43D6-E186-265A-5C5A080944C8}"/>
                </a:ext>
              </a:extLst>
            </p:cNvPr>
            <p:cNvCxnSpPr>
              <a:cxnSpLocks/>
            </p:cNvCxnSpPr>
            <p:nvPr/>
          </p:nvCxnSpPr>
          <p:spPr>
            <a:xfrm>
              <a:off x="2354571" y="634361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11F1078C-34AD-C195-DA39-064B419AF305}"/>
                </a:ext>
              </a:extLst>
            </p:cNvPr>
            <p:cNvCxnSpPr>
              <a:cxnSpLocks/>
            </p:cNvCxnSpPr>
            <p:nvPr/>
          </p:nvCxnSpPr>
          <p:spPr>
            <a:xfrm>
              <a:off x="2350443" y="6374821"/>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DA8A545B-8345-007A-4741-F43FB5D68D38}"/>
                </a:ext>
              </a:extLst>
            </p:cNvPr>
            <p:cNvCxnSpPr>
              <a:cxnSpLocks/>
            </p:cNvCxnSpPr>
            <p:nvPr/>
          </p:nvCxnSpPr>
          <p:spPr>
            <a:xfrm flipV="1">
              <a:off x="2777552" y="637816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07" name="직사각형 106">
              <a:extLst>
                <a:ext uri="{FF2B5EF4-FFF2-40B4-BE49-F238E27FC236}">
                  <a16:creationId xmlns:a16="http://schemas.microsoft.com/office/drawing/2014/main" id="{89F0D382-E190-5E6C-096B-50B5B0796C00}"/>
                </a:ext>
              </a:extLst>
            </p:cNvPr>
            <p:cNvSpPr/>
            <p:nvPr/>
          </p:nvSpPr>
          <p:spPr>
            <a:xfrm>
              <a:off x="2581395" y="6484596"/>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grpSp>
        <p:nvGrpSpPr>
          <p:cNvPr id="151" name="그룹 150">
            <a:extLst>
              <a:ext uri="{FF2B5EF4-FFF2-40B4-BE49-F238E27FC236}">
                <a16:creationId xmlns:a16="http://schemas.microsoft.com/office/drawing/2014/main" id="{AD232856-1299-53C2-B6E0-0C5F4913A8A1}"/>
              </a:ext>
            </a:extLst>
          </p:cNvPr>
          <p:cNvGrpSpPr/>
          <p:nvPr/>
        </p:nvGrpSpPr>
        <p:grpSpPr>
          <a:xfrm>
            <a:off x="3803983" y="5536434"/>
            <a:ext cx="1260000" cy="1116000"/>
            <a:chOff x="3851023" y="5521734"/>
            <a:chExt cx="1425650" cy="1243428"/>
          </a:xfrm>
        </p:grpSpPr>
        <p:sp>
          <p:nvSpPr>
            <p:cNvPr id="152" name="직사각형 151">
              <a:extLst>
                <a:ext uri="{FF2B5EF4-FFF2-40B4-BE49-F238E27FC236}">
                  <a16:creationId xmlns:a16="http://schemas.microsoft.com/office/drawing/2014/main" id="{D1C250A8-4C17-487F-07AD-33FDD94B13E8}"/>
                </a:ext>
              </a:extLst>
            </p:cNvPr>
            <p:cNvSpPr/>
            <p:nvPr/>
          </p:nvSpPr>
          <p:spPr>
            <a:xfrm>
              <a:off x="3946546" y="5523162"/>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53" name="그림 152">
              <a:extLst>
                <a:ext uri="{FF2B5EF4-FFF2-40B4-BE49-F238E27FC236}">
                  <a16:creationId xmlns:a16="http://schemas.microsoft.com/office/drawing/2014/main" id="{B6F792F9-9EB8-7603-5F32-CF4D578E6B8D}"/>
                </a:ext>
              </a:extLst>
            </p:cNvPr>
            <p:cNvPicPr>
              <a:picLocks noChangeAspect="1"/>
            </p:cNvPicPr>
            <p:nvPr/>
          </p:nvPicPr>
          <p:blipFill>
            <a:blip r:embed="rId3"/>
            <a:stretch>
              <a:fillRect/>
            </a:stretch>
          </p:blipFill>
          <p:spPr>
            <a:xfrm flipH="1">
              <a:off x="4323712" y="6282082"/>
              <a:ext cx="216000" cy="115821"/>
            </a:xfrm>
            <a:prstGeom prst="rect">
              <a:avLst/>
            </a:prstGeom>
          </p:spPr>
        </p:pic>
        <p:sp>
          <p:nvSpPr>
            <p:cNvPr id="154" name="직사각형 153">
              <a:extLst>
                <a:ext uri="{FF2B5EF4-FFF2-40B4-BE49-F238E27FC236}">
                  <a16:creationId xmlns:a16="http://schemas.microsoft.com/office/drawing/2014/main" id="{422AFCA3-5BFB-DCEC-9297-699BD12E7BC8}"/>
                </a:ext>
              </a:extLst>
            </p:cNvPr>
            <p:cNvSpPr/>
            <p:nvPr/>
          </p:nvSpPr>
          <p:spPr>
            <a:xfrm>
              <a:off x="4421372" y="6088463"/>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155" name="그룹 154">
              <a:extLst>
                <a:ext uri="{FF2B5EF4-FFF2-40B4-BE49-F238E27FC236}">
                  <a16:creationId xmlns:a16="http://schemas.microsoft.com/office/drawing/2014/main" id="{95AC9720-1AA8-7594-C1F6-F4A1F4DAB930}"/>
                </a:ext>
              </a:extLst>
            </p:cNvPr>
            <p:cNvGrpSpPr/>
            <p:nvPr/>
          </p:nvGrpSpPr>
          <p:grpSpPr>
            <a:xfrm>
              <a:off x="4867811" y="5880006"/>
              <a:ext cx="108000" cy="252000"/>
              <a:chOff x="4029465" y="4076226"/>
              <a:chExt cx="108000" cy="252000"/>
            </a:xfrm>
          </p:grpSpPr>
          <p:pic>
            <p:nvPicPr>
              <p:cNvPr id="177" name="그림 176">
                <a:extLst>
                  <a:ext uri="{FF2B5EF4-FFF2-40B4-BE49-F238E27FC236}">
                    <a16:creationId xmlns:a16="http://schemas.microsoft.com/office/drawing/2014/main" id="{C58890F8-1A7E-EFEB-90A3-FF5685069844}"/>
                  </a:ext>
                </a:extLst>
              </p:cNvPr>
              <p:cNvPicPr>
                <a:picLocks noChangeAspect="1"/>
              </p:cNvPicPr>
              <p:nvPr/>
            </p:nvPicPr>
            <p:blipFill>
              <a:blip r:embed="rId4"/>
              <a:stretch>
                <a:fillRect/>
              </a:stretch>
            </p:blipFill>
            <p:spPr>
              <a:xfrm>
                <a:off x="4045946" y="4076226"/>
                <a:ext cx="65825" cy="252000"/>
              </a:xfrm>
              <a:prstGeom prst="rect">
                <a:avLst/>
              </a:prstGeom>
            </p:spPr>
          </p:pic>
          <p:cxnSp>
            <p:nvCxnSpPr>
              <p:cNvPr id="178" name="직선 연결선 177">
                <a:extLst>
                  <a:ext uri="{FF2B5EF4-FFF2-40B4-BE49-F238E27FC236}">
                    <a16:creationId xmlns:a16="http://schemas.microsoft.com/office/drawing/2014/main" id="{7D652DE7-17D6-6B6C-64C9-61991912F432}"/>
                  </a:ext>
                </a:extLst>
              </p:cNvPr>
              <p:cNvCxnSpPr/>
              <p:nvPr/>
            </p:nvCxnSpPr>
            <p:spPr>
              <a:xfrm flipV="1">
                <a:off x="4029465" y="4095974"/>
                <a:ext cx="108000" cy="0"/>
              </a:xfrm>
              <a:prstGeom prst="line">
                <a:avLst/>
              </a:prstGeom>
              <a:ln w="571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6" name="그룹 155">
              <a:extLst>
                <a:ext uri="{FF2B5EF4-FFF2-40B4-BE49-F238E27FC236}">
                  <a16:creationId xmlns:a16="http://schemas.microsoft.com/office/drawing/2014/main" id="{9D8E3020-4A31-626E-D3F7-B603D77B66AA}"/>
                </a:ext>
              </a:extLst>
            </p:cNvPr>
            <p:cNvGrpSpPr/>
            <p:nvPr/>
          </p:nvGrpSpPr>
          <p:grpSpPr>
            <a:xfrm>
              <a:off x="4119157" y="6220431"/>
              <a:ext cx="234000" cy="399680"/>
              <a:chOff x="2505005" y="3797258"/>
              <a:chExt cx="234000" cy="399680"/>
            </a:xfrm>
          </p:grpSpPr>
          <p:pic>
            <p:nvPicPr>
              <p:cNvPr id="174" name="그림 173">
                <a:extLst>
                  <a:ext uri="{FF2B5EF4-FFF2-40B4-BE49-F238E27FC236}">
                    <a16:creationId xmlns:a16="http://schemas.microsoft.com/office/drawing/2014/main" id="{7044CEE7-EE90-0169-21C5-7A9AC59E931A}"/>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175" name="그림 174">
                <a:extLst>
                  <a:ext uri="{FF2B5EF4-FFF2-40B4-BE49-F238E27FC236}">
                    <a16:creationId xmlns:a16="http://schemas.microsoft.com/office/drawing/2014/main" id="{6D8E3190-8A2F-8E5A-5DBC-F827B678647A}"/>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176" name="직선 연결선 175">
                <a:extLst>
                  <a:ext uri="{FF2B5EF4-FFF2-40B4-BE49-F238E27FC236}">
                    <a16:creationId xmlns:a16="http://schemas.microsoft.com/office/drawing/2014/main" id="{4DBD8882-DB3D-3B7C-EE78-3AF209BACAD6}"/>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7" name="직선 연결선 156">
              <a:extLst>
                <a:ext uri="{FF2B5EF4-FFF2-40B4-BE49-F238E27FC236}">
                  <a16:creationId xmlns:a16="http://schemas.microsoft.com/office/drawing/2014/main" id="{2DE4ECD1-AC70-EA12-6A35-483EAD808BB6}"/>
                </a:ext>
              </a:extLst>
            </p:cNvPr>
            <p:cNvCxnSpPr>
              <a:cxnSpLocks/>
            </p:cNvCxnSpPr>
            <p:nvPr/>
          </p:nvCxnSpPr>
          <p:spPr>
            <a:xfrm flipV="1">
              <a:off x="4190851" y="6139643"/>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직선 연결선 157">
              <a:extLst>
                <a:ext uri="{FF2B5EF4-FFF2-40B4-BE49-F238E27FC236}">
                  <a16:creationId xmlns:a16="http://schemas.microsoft.com/office/drawing/2014/main" id="{3C7CA9D0-1B98-E205-D949-400D0037D143}"/>
                </a:ext>
              </a:extLst>
            </p:cNvPr>
            <p:cNvCxnSpPr>
              <a:cxnSpLocks/>
            </p:cNvCxnSpPr>
            <p:nvPr/>
          </p:nvCxnSpPr>
          <p:spPr>
            <a:xfrm>
              <a:off x="3912949" y="6141692"/>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59" name="직사각형 158">
              <a:extLst>
                <a:ext uri="{FF2B5EF4-FFF2-40B4-BE49-F238E27FC236}">
                  <a16:creationId xmlns:a16="http://schemas.microsoft.com/office/drawing/2014/main" id="{A5F4F6E3-E936-B065-3F24-8BF27E3ACB46}"/>
                </a:ext>
              </a:extLst>
            </p:cNvPr>
            <p:cNvSpPr/>
            <p:nvPr/>
          </p:nvSpPr>
          <p:spPr>
            <a:xfrm>
              <a:off x="3851023" y="6087352"/>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60" name="직선 연결선 159">
              <a:extLst>
                <a:ext uri="{FF2B5EF4-FFF2-40B4-BE49-F238E27FC236}">
                  <a16:creationId xmlns:a16="http://schemas.microsoft.com/office/drawing/2014/main" id="{C333CD33-3E5C-6D29-FAB9-398A27474272}"/>
                </a:ext>
              </a:extLst>
            </p:cNvPr>
            <p:cNvCxnSpPr>
              <a:cxnSpLocks/>
            </p:cNvCxnSpPr>
            <p:nvPr/>
          </p:nvCxnSpPr>
          <p:spPr>
            <a:xfrm>
              <a:off x="4285574" y="6340897"/>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1" name="직사각형 160">
              <a:extLst>
                <a:ext uri="{FF2B5EF4-FFF2-40B4-BE49-F238E27FC236}">
                  <a16:creationId xmlns:a16="http://schemas.microsoft.com/office/drawing/2014/main" id="{7BEA8FBA-A9B2-6043-5E70-44923A193EE8}"/>
                </a:ext>
              </a:extLst>
            </p:cNvPr>
            <p:cNvSpPr/>
            <p:nvPr/>
          </p:nvSpPr>
          <p:spPr>
            <a:xfrm>
              <a:off x="4285574" y="6389207"/>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62" name="직선 연결선 161">
              <a:extLst>
                <a:ext uri="{FF2B5EF4-FFF2-40B4-BE49-F238E27FC236}">
                  <a16:creationId xmlns:a16="http://schemas.microsoft.com/office/drawing/2014/main" id="{C3056980-878B-5F73-38C2-2E0411A553A4}"/>
                </a:ext>
              </a:extLst>
            </p:cNvPr>
            <p:cNvCxnSpPr>
              <a:cxnSpLocks/>
            </p:cNvCxnSpPr>
            <p:nvPr/>
          </p:nvCxnSpPr>
          <p:spPr>
            <a:xfrm>
              <a:off x="4494029" y="6314025"/>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직선 연결선 162">
              <a:extLst>
                <a:ext uri="{FF2B5EF4-FFF2-40B4-BE49-F238E27FC236}">
                  <a16:creationId xmlns:a16="http://schemas.microsoft.com/office/drawing/2014/main" id="{78D9511B-83BF-80DC-61FF-C0179E90D41C}"/>
                </a:ext>
              </a:extLst>
            </p:cNvPr>
            <p:cNvCxnSpPr>
              <a:cxnSpLocks/>
            </p:cNvCxnSpPr>
            <p:nvPr/>
          </p:nvCxnSpPr>
          <p:spPr>
            <a:xfrm flipV="1">
              <a:off x="4598068" y="6185290"/>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4" name="타원 163">
              <a:extLst>
                <a:ext uri="{FF2B5EF4-FFF2-40B4-BE49-F238E27FC236}">
                  <a16:creationId xmlns:a16="http://schemas.microsoft.com/office/drawing/2014/main" id="{27E298D7-4AA9-5C82-EFE7-8C2920814FA2}"/>
                </a:ext>
              </a:extLst>
            </p:cNvPr>
            <p:cNvSpPr/>
            <p:nvPr/>
          </p:nvSpPr>
          <p:spPr>
            <a:xfrm>
              <a:off x="4492486" y="6299625"/>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65" name="직선 연결선 164">
              <a:extLst>
                <a:ext uri="{FF2B5EF4-FFF2-40B4-BE49-F238E27FC236}">
                  <a16:creationId xmlns:a16="http://schemas.microsoft.com/office/drawing/2014/main" id="{38B61E6B-7858-C3A9-A4B1-19003E433131}"/>
                </a:ext>
              </a:extLst>
            </p:cNvPr>
            <p:cNvCxnSpPr>
              <a:cxnSpLocks/>
            </p:cNvCxnSpPr>
            <p:nvPr/>
          </p:nvCxnSpPr>
          <p:spPr>
            <a:xfrm flipH="1" flipV="1">
              <a:off x="4924113" y="6092409"/>
              <a:ext cx="0" cy="25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직선 연결선 165">
              <a:extLst>
                <a:ext uri="{FF2B5EF4-FFF2-40B4-BE49-F238E27FC236}">
                  <a16:creationId xmlns:a16="http://schemas.microsoft.com/office/drawing/2014/main" id="{603CE1C3-F5DD-91A5-A4E0-DBFB22B9D922}"/>
                </a:ext>
              </a:extLst>
            </p:cNvPr>
            <p:cNvCxnSpPr>
              <a:cxnSpLocks/>
            </p:cNvCxnSpPr>
            <p:nvPr/>
          </p:nvCxnSpPr>
          <p:spPr>
            <a:xfrm>
              <a:off x="4922626" y="6147647"/>
              <a:ext cx="32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67" name="직사각형 166">
              <a:extLst>
                <a:ext uri="{FF2B5EF4-FFF2-40B4-BE49-F238E27FC236}">
                  <a16:creationId xmlns:a16="http://schemas.microsoft.com/office/drawing/2014/main" id="{AB196A24-E5FB-FD43-62FA-C70640E5E849}"/>
                </a:ext>
              </a:extLst>
            </p:cNvPr>
            <p:cNvSpPr/>
            <p:nvPr/>
          </p:nvSpPr>
          <p:spPr>
            <a:xfrm>
              <a:off x="5096673" y="60928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168" name="TextBox 167">
              <a:extLst>
                <a:ext uri="{FF2B5EF4-FFF2-40B4-BE49-F238E27FC236}">
                  <a16:creationId xmlns:a16="http://schemas.microsoft.com/office/drawing/2014/main" id="{01F40D9F-1753-47E8-3705-6437B3E3A662}"/>
                </a:ext>
              </a:extLst>
            </p:cNvPr>
            <p:cNvSpPr txBox="1"/>
            <p:nvPr/>
          </p:nvSpPr>
          <p:spPr>
            <a:xfrm>
              <a:off x="4260402" y="5521734"/>
              <a:ext cx="670376" cy="230832"/>
            </a:xfrm>
            <a:prstGeom prst="rect">
              <a:avLst/>
            </a:prstGeom>
            <a:noFill/>
          </p:spPr>
          <p:txBody>
            <a:bodyPr wrap="none" rtlCol="0">
              <a:spAutoFit/>
            </a:bodyPr>
            <a:lstStyle/>
            <a:p>
              <a:r>
                <a:rPr lang="en-US" altLang="ko-KR" sz="900" dirty="0"/>
                <a:t>XD #(n+1)</a:t>
              </a:r>
              <a:endParaRPr lang="ko-KR" altLang="en-US" sz="900" dirty="0"/>
            </a:p>
          </p:txBody>
        </p:sp>
        <p:sp>
          <p:nvSpPr>
            <p:cNvPr id="169" name="직사각형 168">
              <a:extLst>
                <a:ext uri="{FF2B5EF4-FFF2-40B4-BE49-F238E27FC236}">
                  <a16:creationId xmlns:a16="http://schemas.microsoft.com/office/drawing/2014/main" id="{ECBF987C-19C7-794B-D9AB-14E4889D96F0}"/>
                </a:ext>
              </a:extLst>
            </p:cNvPr>
            <p:cNvSpPr/>
            <p:nvPr/>
          </p:nvSpPr>
          <p:spPr>
            <a:xfrm>
              <a:off x="4496237" y="6332100"/>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170" name="직선 연결선 169">
              <a:extLst>
                <a:ext uri="{FF2B5EF4-FFF2-40B4-BE49-F238E27FC236}">
                  <a16:creationId xmlns:a16="http://schemas.microsoft.com/office/drawing/2014/main" id="{06FA6E38-6ACF-2183-CEC4-12E85E28AD35}"/>
                </a:ext>
              </a:extLst>
            </p:cNvPr>
            <p:cNvCxnSpPr>
              <a:cxnSpLocks/>
            </p:cNvCxnSpPr>
            <p:nvPr/>
          </p:nvCxnSpPr>
          <p:spPr>
            <a:xfrm>
              <a:off x="4496630" y="634463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직선 연결선 170">
              <a:extLst>
                <a:ext uri="{FF2B5EF4-FFF2-40B4-BE49-F238E27FC236}">
                  <a16:creationId xmlns:a16="http://schemas.microsoft.com/office/drawing/2014/main" id="{7B4E40A1-172A-EB66-806C-0B8312A42C82}"/>
                </a:ext>
              </a:extLst>
            </p:cNvPr>
            <p:cNvCxnSpPr>
              <a:cxnSpLocks/>
            </p:cNvCxnSpPr>
            <p:nvPr/>
          </p:nvCxnSpPr>
          <p:spPr>
            <a:xfrm>
              <a:off x="4492502" y="6375849"/>
              <a:ext cx="43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직선 연결선 171">
              <a:extLst>
                <a:ext uri="{FF2B5EF4-FFF2-40B4-BE49-F238E27FC236}">
                  <a16:creationId xmlns:a16="http://schemas.microsoft.com/office/drawing/2014/main" id="{0CBDEDD3-5EDB-7ACE-70D6-B3B39C87E4A8}"/>
                </a:ext>
              </a:extLst>
            </p:cNvPr>
            <p:cNvCxnSpPr>
              <a:cxnSpLocks/>
            </p:cNvCxnSpPr>
            <p:nvPr/>
          </p:nvCxnSpPr>
          <p:spPr>
            <a:xfrm flipV="1">
              <a:off x="4919611" y="637918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73" name="직사각형 172">
              <a:extLst>
                <a:ext uri="{FF2B5EF4-FFF2-40B4-BE49-F238E27FC236}">
                  <a16:creationId xmlns:a16="http://schemas.microsoft.com/office/drawing/2014/main" id="{6356A817-125D-A432-D527-D92479D9E72F}"/>
                </a:ext>
              </a:extLst>
            </p:cNvPr>
            <p:cNvSpPr/>
            <p:nvPr/>
          </p:nvSpPr>
          <p:spPr>
            <a:xfrm>
              <a:off x="4723454" y="6485624"/>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79" name="TextBox 178">
            <a:extLst>
              <a:ext uri="{FF2B5EF4-FFF2-40B4-BE49-F238E27FC236}">
                <a16:creationId xmlns:a16="http://schemas.microsoft.com/office/drawing/2014/main" id="{8C4E0326-42DA-FC12-C97B-32134DECA3E6}"/>
              </a:ext>
            </a:extLst>
          </p:cNvPr>
          <p:cNvSpPr txBox="1"/>
          <p:nvPr/>
        </p:nvSpPr>
        <p:spPr>
          <a:xfrm>
            <a:off x="986068" y="5965243"/>
            <a:ext cx="521297" cy="230832"/>
          </a:xfrm>
          <a:prstGeom prst="rect">
            <a:avLst/>
          </a:prstGeom>
          <a:noFill/>
        </p:spPr>
        <p:txBody>
          <a:bodyPr wrap="none" rtlCol="0">
            <a:spAutoFit/>
          </a:bodyPr>
          <a:lstStyle/>
          <a:p>
            <a:r>
              <a:rPr lang="en-US" altLang="ko-KR" sz="900" dirty="0"/>
              <a:t>#n FBO</a:t>
            </a:r>
            <a:endParaRPr lang="ko-KR" altLang="en-US" sz="900" dirty="0"/>
          </a:p>
        </p:txBody>
      </p:sp>
      <p:sp>
        <p:nvSpPr>
          <p:cNvPr id="180" name="TextBox 179">
            <a:extLst>
              <a:ext uri="{FF2B5EF4-FFF2-40B4-BE49-F238E27FC236}">
                <a16:creationId xmlns:a16="http://schemas.microsoft.com/office/drawing/2014/main" id="{1F4B93BB-D3EF-377C-AD66-C852FDA9F648}"/>
              </a:ext>
            </a:extLst>
          </p:cNvPr>
          <p:cNvSpPr txBox="1"/>
          <p:nvPr/>
        </p:nvSpPr>
        <p:spPr>
          <a:xfrm>
            <a:off x="5264675" y="5964383"/>
            <a:ext cx="659155" cy="230832"/>
          </a:xfrm>
          <a:prstGeom prst="rect">
            <a:avLst/>
          </a:prstGeom>
          <a:noFill/>
        </p:spPr>
        <p:txBody>
          <a:bodyPr wrap="none" rtlCol="0">
            <a:spAutoFit/>
          </a:bodyPr>
          <a:lstStyle/>
          <a:p>
            <a:r>
              <a:rPr lang="en-US" altLang="ko-KR" sz="900" dirty="0"/>
              <a:t>#(n+1) FBI</a:t>
            </a:r>
            <a:endParaRPr lang="ko-KR" altLang="en-US" sz="900" dirty="0"/>
          </a:p>
        </p:txBody>
      </p:sp>
      <p:sp>
        <p:nvSpPr>
          <p:cNvPr id="181" name="TextBox 180">
            <a:extLst>
              <a:ext uri="{FF2B5EF4-FFF2-40B4-BE49-F238E27FC236}">
                <a16:creationId xmlns:a16="http://schemas.microsoft.com/office/drawing/2014/main" id="{47732C2D-C902-6F95-5876-726FDD341F7E}"/>
              </a:ext>
            </a:extLst>
          </p:cNvPr>
          <p:cNvSpPr txBox="1"/>
          <p:nvPr/>
        </p:nvSpPr>
        <p:spPr>
          <a:xfrm>
            <a:off x="407554" y="1556966"/>
            <a:ext cx="6047999" cy="307777"/>
          </a:xfrm>
          <a:prstGeom prst="rect">
            <a:avLst/>
          </a:prstGeom>
          <a:noFill/>
        </p:spPr>
        <p:txBody>
          <a:bodyPr wrap="square" lIns="0" tIns="0" rIns="36000" bIns="0" rtlCol="0">
            <a:spAutoFit/>
          </a:bodyPr>
          <a:lstStyle/>
          <a:p>
            <a:pPr algn="just"/>
            <a:r>
              <a:rPr lang="en-US" altLang="ko-KR" sz="1000" dirty="0">
                <a:latin typeface="Arial" panose="020B0604020202020204" pitchFamily="34" charset="0"/>
                <a:cs typeface="Arial" panose="020B0604020202020204" pitchFamily="34" charset="0"/>
              </a:rPr>
              <a:t>The XD has 3 external signal IO modes which can be configured through the IO_MODE bits in the LD CONTROL register. This function of each mode and the connection scheme is shown as follows.</a:t>
            </a:r>
          </a:p>
        </p:txBody>
      </p:sp>
      <p:sp>
        <p:nvSpPr>
          <p:cNvPr id="182" name="TextBox 181">
            <a:extLst>
              <a:ext uri="{FF2B5EF4-FFF2-40B4-BE49-F238E27FC236}">
                <a16:creationId xmlns:a16="http://schemas.microsoft.com/office/drawing/2014/main" id="{CACF1FDD-AAD9-B84A-6E60-E815BACD7FAA}"/>
              </a:ext>
            </a:extLst>
          </p:cNvPr>
          <p:cNvSpPr txBox="1"/>
          <p:nvPr/>
        </p:nvSpPr>
        <p:spPr>
          <a:xfrm>
            <a:off x="2904664" y="4010564"/>
            <a:ext cx="524503" cy="230832"/>
          </a:xfrm>
          <a:prstGeom prst="rect">
            <a:avLst/>
          </a:prstGeom>
          <a:noFill/>
        </p:spPr>
        <p:txBody>
          <a:bodyPr wrap="none" rtlCol="0">
            <a:spAutoFit/>
          </a:bodyPr>
          <a:lstStyle/>
          <a:p>
            <a:r>
              <a:rPr lang="en-US" altLang="ko-KR" sz="900" dirty="0"/>
              <a:t>#n VSO</a:t>
            </a:r>
            <a:endParaRPr lang="ko-KR" altLang="en-US" sz="900" dirty="0"/>
          </a:p>
        </p:txBody>
      </p:sp>
      <p:graphicFrame>
        <p:nvGraphicFramePr>
          <p:cNvPr id="183" name="표 182">
            <a:extLst>
              <a:ext uri="{FF2B5EF4-FFF2-40B4-BE49-F238E27FC236}">
                <a16:creationId xmlns:a16="http://schemas.microsoft.com/office/drawing/2014/main" id="{3550978C-D2B8-63DA-E28B-D60606B7A09D}"/>
              </a:ext>
            </a:extLst>
          </p:cNvPr>
          <p:cNvGraphicFramePr>
            <a:graphicFrameLocks noGrp="1"/>
          </p:cNvGraphicFramePr>
          <p:nvPr>
            <p:extLst>
              <p:ext uri="{D42A27DB-BD31-4B8C-83A1-F6EECF244321}">
                <p14:modId xmlns:p14="http://schemas.microsoft.com/office/powerpoint/2010/main" val="373869692"/>
              </p:ext>
            </p:extLst>
          </p:nvPr>
        </p:nvGraphicFramePr>
        <p:xfrm>
          <a:off x="407553" y="1955313"/>
          <a:ext cx="6048000" cy="1377120"/>
        </p:xfrm>
        <a:graphic>
          <a:graphicData uri="http://schemas.openxmlformats.org/drawingml/2006/table">
            <a:tbl>
              <a:tblPr firstRow="1" bandRow="1">
                <a:tableStyleId>{5C22544A-7EE6-4342-B048-85BDC9FD1C3A}</a:tableStyleId>
              </a:tblPr>
              <a:tblGrid>
                <a:gridCol w="578453">
                  <a:extLst>
                    <a:ext uri="{9D8B030D-6E8A-4147-A177-3AD203B41FA5}">
                      <a16:colId xmlns:a16="http://schemas.microsoft.com/office/drawing/2014/main" val="2861869108"/>
                    </a:ext>
                  </a:extLst>
                </a:gridCol>
                <a:gridCol w="1071671">
                  <a:extLst>
                    <a:ext uri="{9D8B030D-6E8A-4147-A177-3AD203B41FA5}">
                      <a16:colId xmlns:a16="http://schemas.microsoft.com/office/drawing/2014/main" val="3471461862"/>
                    </a:ext>
                  </a:extLst>
                </a:gridCol>
                <a:gridCol w="487597">
                  <a:extLst>
                    <a:ext uri="{9D8B030D-6E8A-4147-A177-3AD203B41FA5}">
                      <a16:colId xmlns:a16="http://schemas.microsoft.com/office/drawing/2014/main" val="4138367841"/>
                    </a:ext>
                  </a:extLst>
                </a:gridCol>
                <a:gridCol w="487597">
                  <a:extLst>
                    <a:ext uri="{9D8B030D-6E8A-4147-A177-3AD203B41FA5}">
                      <a16:colId xmlns:a16="http://schemas.microsoft.com/office/drawing/2014/main" val="3589866634"/>
                    </a:ext>
                  </a:extLst>
                </a:gridCol>
                <a:gridCol w="487597">
                  <a:extLst>
                    <a:ext uri="{9D8B030D-6E8A-4147-A177-3AD203B41FA5}">
                      <a16:colId xmlns:a16="http://schemas.microsoft.com/office/drawing/2014/main" val="203027085"/>
                    </a:ext>
                  </a:extLst>
                </a:gridCol>
                <a:gridCol w="487597">
                  <a:extLst>
                    <a:ext uri="{9D8B030D-6E8A-4147-A177-3AD203B41FA5}">
                      <a16:colId xmlns:a16="http://schemas.microsoft.com/office/drawing/2014/main" val="1213780966"/>
                    </a:ext>
                  </a:extLst>
                </a:gridCol>
                <a:gridCol w="2447488">
                  <a:extLst>
                    <a:ext uri="{9D8B030D-6E8A-4147-A177-3AD203B41FA5}">
                      <a16:colId xmlns:a16="http://schemas.microsoft.com/office/drawing/2014/main" val="4000803811"/>
                    </a:ext>
                  </a:extLst>
                </a:gridCol>
              </a:tblGrid>
              <a:tr h="193193">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IO_MODE</a:t>
                      </a:r>
                    </a:p>
                    <a:p>
                      <a:pPr algn="ctr" latinLnBrk="1"/>
                      <a:r>
                        <a:rPr lang="en-US" altLang="ko-KR" sz="800" b="0" dirty="0">
                          <a:solidFill>
                            <a:schemeClr val="tx1"/>
                          </a:solidFill>
                          <a:latin typeface="Arial" panose="020B0604020202020204" pitchFamily="34" charset="0"/>
                          <a:ea typeface="+mn-ea"/>
                          <a:cs typeface="Arial" panose="020B0604020202020204" pitchFamily="34" charset="0"/>
                        </a:rPr>
                        <a:t>[1:0]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140453051"/>
                  </a:ext>
                </a:extLst>
              </a:tr>
              <a:tr h="287019">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pins, 5 and 14, can be connected to GND.</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The FB and VSYNC signal can be replaced by</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 the communication method.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The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1931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non-daisy mode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The VSYNC and FB signal can be replaced by the communication method.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grpSp>
        <p:nvGrpSpPr>
          <p:cNvPr id="184" name="그룹 183">
            <a:extLst>
              <a:ext uri="{FF2B5EF4-FFF2-40B4-BE49-F238E27FC236}">
                <a16:creationId xmlns:a16="http://schemas.microsoft.com/office/drawing/2014/main" id="{A2E61549-793D-9673-E867-7131A1DB5984}"/>
              </a:ext>
            </a:extLst>
          </p:cNvPr>
          <p:cNvGrpSpPr/>
          <p:nvPr/>
        </p:nvGrpSpPr>
        <p:grpSpPr>
          <a:xfrm>
            <a:off x="3803795" y="3669248"/>
            <a:ext cx="1260000" cy="1116000"/>
            <a:chOff x="3803795" y="3654548"/>
            <a:chExt cx="1260000" cy="1116000"/>
          </a:xfrm>
        </p:grpSpPr>
        <p:grpSp>
          <p:nvGrpSpPr>
            <p:cNvPr id="185" name="그룹 184">
              <a:extLst>
                <a:ext uri="{FF2B5EF4-FFF2-40B4-BE49-F238E27FC236}">
                  <a16:creationId xmlns:a16="http://schemas.microsoft.com/office/drawing/2014/main" id="{CE510461-C907-0640-6B92-8433CCC2DE1A}"/>
                </a:ext>
              </a:extLst>
            </p:cNvPr>
            <p:cNvGrpSpPr/>
            <p:nvPr/>
          </p:nvGrpSpPr>
          <p:grpSpPr>
            <a:xfrm>
              <a:off x="3803795" y="3654548"/>
              <a:ext cx="1260000" cy="1116000"/>
              <a:chOff x="1016681" y="4339884"/>
              <a:chExt cx="1427516" cy="1242000"/>
            </a:xfrm>
          </p:grpSpPr>
          <p:sp>
            <p:nvSpPr>
              <p:cNvPr id="188" name="직사각형 187">
                <a:extLst>
                  <a:ext uri="{FF2B5EF4-FFF2-40B4-BE49-F238E27FC236}">
                    <a16:creationId xmlns:a16="http://schemas.microsoft.com/office/drawing/2014/main" id="{89CFEAED-05AF-A2E6-8AEC-1AA90AE36DF3}"/>
                  </a:ext>
                </a:extLst>
              </p:cNvPr>
              <p:cNvSpPr/>
              <p:nvPr/>
            </p:nvSpPr>
            <p:spPr>
              <a:xfrm>
                <a:off x="1107691" y="4339884"/>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189" name="그림 188">
                <a:extLst>
                  <a:ext uri="{FF2B5EF4-FFF2-40B4-BE49-F238E27FC236}">
                    <a16:creationId xmlns:a16="http://schemas.microsoft.com/office/drawing/2014/main" id="{46BDD11F-6151-E86A-CAB7-371568B65D33}"/>
                  </a:ext>
                </a:extLst>
              </p:cNvPr>
              <p:cNvPicPr>
                <a:picLocks noChangeAspect="1"/>
              </p:cNvPicPr>
              <p:nvPr/>
            </p:nvPicPr>
            <p:blipFill>
              <a:blip r:embed="rId2"/>
              <a:stretch>
                <a:fillRect/>
              </a:stretch>
            </p:blipFill>
            <p:spPr>
              <a:xfrm>
                <a:off x="1998904" y="4880014"/>
                <a:ext cx="216000" cy="149104"/>
              </a:xfrm>
              <a:prstGeom prst="rect">
                <a:avLst/>
              </a:prstGeom>
            </p:spPr>
          </p:pic>
          <p:cxnSp>
            <p:nvCxnSpPr>
              <p:cNvPr id="190" name="직선 연결선 189">
                <a:extLst>
                  <a:ext uri="{FF2B5EF4-FFF2-40B4-BE49-F238E27FC236}">
                    <a16:creationId xmlns:a16="http://schemas.microsoft.com/office/drawing/2014/main" id="{F26D3130-FC7A-DB6E-CC22-E7A441E9B5C2}"/>
                  </a:ext>
                </a:extLst>
              </p:cNvPr>
              <p:cNvCxnSpPr>
                <a:cxnSpLocks/>
              </p:cNvCxnSpPr>
              <p:nvPr/>
            </p:nvCxnSpPr>
            <p:spPr>
              <a:xfrm>
                <a:off x="1080473" y="4957841"/>
                <a:ext cx="9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91" name="직사각형 190">
                <a:extLst>
                  <a:ext uri="{FF2B5EF4-FFF2-40B4-BE49-F238E27FC236}">
                    <a16:creationId xmlns:a16="http://schemas.microsoft.com/office/drawing/2014/main" id="{B6C12713-4C85-51AC-4A95-3F8D31E5DD34}"/>
                  </a:ext>
                </a:extLst>
              </p:cNvPr>
              <p:cNvSpPr/>
              <p:nvPr/>
            </p:nvSpPr>
            <p:spPr>
              <a:xfrm>
                <a:off x="1016681" y="4899235"/>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192" name="직선 연결선 191">
                <a:extLst>
                  <a:ext uri="{FF2B5EF4-FFF2-40B4-BE49-F238E27FC236}">
                    <a16:creationId xmlns:a16="http://schemas.microsoft.com/office/drawing/2014/main" id="{D8E64F33-3B39-C21F-FF77-29C8AB30B2C6}"/>
                  </a:ext>
                </a:extLst>
              </p:cNvPr>
              <p:cNvCxnSpPr>
                <a:cxnSpLocks/>
              </p:cNvCxnSpPr>
              <p:nvPr/>
            </p:nvCxnSpPr>
            <p:spPr>
              <a:xfrm>
                <a:off x="2164233" y="4954566"/>
                <a:ext cx="160912" cy="972"/>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193" name="직사각형 192">
                <a:extLst>
                  <a:ext uri="{FF2B5EF4-FFF2-40B4-BE49-F238E27FC236}">
                    <a16:creationId xmlns:a16="http://schemas.microsoft.com/office/drawing/2014/main" id="{F261AADE-5422-40C7-7C1F-B8CB627E73F8}"/>
                  </a:ext>
                </a:extLst>
              </p:cNvPr>
              <p:cNvSpPr/>
              <p:nvPr/>
            </p:nvSpPr>
            <p:spPr>
              <a:xfrm>
                <a:off x="2264197" y="4903286"/>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cxnSp>
            <p:nvCxnSpPr>
              <p:cNvPr id="194" name="직선 연결선 193">
                <a:extLst>
                  <a:ext uri="{FF2B5EF4-FFF2-40B4-BE49-F238E27FC236}">
                    <a16:creationId xmlns:a16="http://schemas.microsoft.com/office/drawing/2014/main" id="{7F170033-772E-4671-50D3-2FAB78C4581F}"/>
                  </a:ext>
                </a:extLst>
              </p:cNvPr>
              <p:cNvCxnSpPr>
                <a:cxnSpLocks/>
              </p:cNvCxnSpPr>
              <p:nvPr/>
            </p:nvCxnSpPr>
            <p:spPr>
              <a:xfrm>
                <a:off x="1964153" y="4800442"/>
                <a:ext cx="144688"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직선 연결선 194">
                <a:extLst>
                  <a:ext uri="{FF2B5EF4-FFF2-40B4-BE49-F238E27FC236}">
                    <a16:creationId xmlns:a16="http://schemas.microsoft.com/office/drawing/2014/main" id="{CD3F71CA-686C-DF66-7F6E-7427277B4A05}"/>
                  </a:ext>
                </a:extLst>
              </p:cNvPr>
              <p:cNvCxnSpPr>
                <a:cxnSpLocks/>
              </p:cNvCxnSpPr>
              <p:nvPr/>
            </p:nvCxnSpPr>
            <p:spPr>
              <a:xfrm>
                <a:off x="2108841" y="4797283"/>
                <a:ext cx="0" cy="123005"/>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6" name="TextBox 185">
              <a:extLst>
                <a:ext uri="{FF2B5EF4-FFF2-40B4-BE49-F238E27FC236}">
                  <a16:creationId xmlns:a16="http://schemas.microsoft.com/office/drawing/2014/main" id="{7E3A7826-7D07-4619-9B29-107C5FEBB2C1}"/>
                </a:ext>
              </a:extLst>
            </p:cNvPr>
            <p:cNvSpPr txBox="1"/>
            <p:nvPr/>
          </p:nvSpPr>
          <p:spPr>
            <a:xfrm>
              <a:off x="4087587" y="3664558"/>
              <a:ext cx="644728" cy="230832"/>
            </a:xfrm>
            <a:prstGeom prst="rect">
              <a:avLst/>
            </a:prstGeom>
            <a:noFill/>
          </p:spPr>
          <p:txBody>
            <a:bodyPr wrap="none" rtlCol="0">
              <a:spAutoFit/>
            </a:bodyPr>
            <a:lstStyle/>
            <a:p>
              <a:r>
                <a:rPr lang="en-US" altLang="ko-KR" sz="900" dirty="0"/>
                <a:t>XD #(n+1)</a:t>
              </a:r>
              <a:endParaRPr lang="ko-KR" altLang="en-US" sz="900" dirty="0"/>
            </a:p>
          </p:txBody>
        </p:sp>
        <p:sp>
          <p:nvSpPr>
            <p:cNvPr id="187" name="직사각형 186">
              <a:extLst>
                <a:ext uri="{FF2B5EF4-FFF2-40B4-BE49-F238E27FC236}">
                  <a16:creationId xmlns:a16="http://schemas.microsoft.com/office/drawing/2014/main" id="{E118505C-BA2C-0407-882C-0B4A5674CCA6}"/>
                </a:ext>
              </a:extLst>
            </p:cNvPr>
            <p:cNvSpPr/>
            <p:nvPr/>
          </p:nvSpPr>
          <p:spPr>
            <a:xfrm>
              <a:off x="4278404" y="402031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grpSp>
      <p:sp>
        <p:nvSpPr>
          <p:cNvPr id="196" name="TextBox 195">
            <a:extLst>
              <a:ext uri="{FF2B5EF4-FFF2-40B4-BE49-F238E27FC236}">
                <a16:creationId xmlns:a16="http://schemas.microsoft.com/office/drawing/2014/main" id="{1A4998A1-DE8F-D7F5-FD4B-D548F186BFA0}"/>
              </a:ext>
            </a:extLst>
          </p:cNvPr>
          <p:cNvSpPr txBox="1"/>
          <p:nvPr/>
        </p:nvSpPr>
        <p:spPr>
          <a:xfrm>
            <a:off x="2958347" y="5886001"/>
            <a:ext cx="473206" cy="230832"/>
          </a:xfrm>
          <a:prstGeom prst="rect">
            <a:avLst/>
          </a:prstGeom>
          <a:noFill/>
        </p:spPr>
        <p:txBody>
          <a:bodyPr wrap="none" rtlCol="0">
            <a:spAutoFit/>
          </a:bodyPr>
          <a:lstStyle/>
          <a:p>
            <a:r>
              <a:rPr lang="en-US" altLang="ko-KR" sz="900" dirty="0"/>
              <a:t>#n FBI</a:t>
            </a:r>
            <a:endParaRPr lang="ko-KR" altLang="en-US" sz="900" dirty="0"/>
          </a:p>
        </p:txBody>
      </p:sp>
      <p:cxnSp>
        <p:nvCxnSpPr>
          <p:cNvPr id="198" name="직선 연결선 197">
            <a:extLst>
              <a:ext uri="{FF2B5EF4-FFF2-40B4-BE49-F238E27FC236}">
                <a16:creationId xmlns:a16="http://schemas.microsoft.com/office/drawing/2014/main" id="{70B4289F-DDB2-A089-9FAC-32FC95AB863A}"/>
              </a:ext>
            </a:extLst>
          </p:cNvPr>
          <p:cNvCxnSpPr/>
          <p:nvPr/>
        </p:nvCxnSpPr>
        <p:spPr>
          <a:xfrm>
            <a:off x="2733086" y="7924725"/>
            <a:ext cx="254000" cy="0"/>
          </a:xfrm>
          <a:prstGeom prst="line">
            <a:avLst/>
          </a:prstGeom>
          <a:ln w="12700">
            <a:headEnd type="triangle" w="sm" len="sm"/>
            <a:tailEnd type="none" w="sm" len="sm"/>
          </a:ln>
        </p:spPr>
        <p:style>
          <a:lnRef idx="1">
            <a:schemeClr val="accent1"/>
          </a:lnRef>
          <a:fillRef idx="0">
            <a:schemeClr val="accent1"/>
          </a:fillRef>
          <a:effectRef idx="0">
            <a:schemeClr val="accent1"/>
          </a:effectRef>
          <a:fontRef idx="minor">
            <a:schemeClr val="tx1"/>
          </a:fontRef>
        </p:style>
      </p:cxnSp>
      <p:sp>
        <p:nvSpPr>
          <p:cNvPr id="199" name="TextBox 198">
            <a:extLst>
              <a:ext uri="{FF2B5EF4-FFF2-40B4-BE49-F238E27FC236}">
                <a16:creationId xmlns:a16="http://schemas.microsoft.com/office/drawing/2014/main" id="{C959A39B-CEB8-DB70-B083-5D4AB614C664}"/>
              </a:ext>
            </a:extLst>
          </p:cNvPr>
          <p:cNvSpPr txBox="1"/>
          <p:nvPr/>
        </p:nvSpPr>
        <p:spPr>
          <a:xfrm>
            <a:off x="2384416" y="7804491"/>
            <a:ext cx="377026" cy="230832"/>
          </a:xfrm>
          <a:prstGeom prst="rect">
            <a:avLst/>
          </a:prstGeom>
          <a:noFill/>
        </p:spPr>
        <p:txBody>
          <a:bodyPr wrap="none" rtlCol="0">
            <a:spAutoFit/>
          </a:bodyPr>
          <a:lstStyle/>
          <a:p>
            <a:r>
              <a:rPr lang="en-US" altLang="ko-KR" sz="900" dirty="0"/>
              <a:t>FBO</a:t>
            </a:r>
            <a:endParaRPr lang="ko-KR" altLang="en-US" sz="900" dirty="0"/>
          </a:p>
        </p:txBody>
      </p:sp>
      <p:cxnSp>
        <p:nvCxnSpPr>
          <p:cNvPr id="200" name="직선 연결선 199">
            <a:extLst>
              <a:ext uri="{FF2B5EF4-FFF2-40B4-BE49-F238E27FC236}">
                <a16:creationId xmlns:a16="http://schemas.microsoft.com/office/drawing/2014/main" id="{90BC0AB8-3443-CFB7-AF54-AE3F4ECB9528}"/>
              </a:ext>
            </a:extLst>
          </p:cNvPr>
          <p:cNvCxnSpPr>
            <a:cxnSpLocks/>
          </p:cNvCxnSpPr>
          <p:nvPr/>
        </p:nvCxnSpPr>
        <p:spPr>
          <a:xfrm flipH="1">
            <a:off x="4256130" y="7921905"/>
            <a:ext cx="252000" cy="0"/>
          </a:xfrm>
          <a:prstGeom prst="line">
            <a:avLst/>
          </a:prstGeom>
          <a:ln w="12700">
            <a:headEnd type="none" w="sm" len="sm"/>
            <a:tailEnd type="triangle" w="sm" len="sm"/>
          </a:ln>
        </p:spPr>
        <p:style>
          <a:lnRef idx="1">
            <a:schemeClr val="accent1"/>
          </a:lnRef>
          <a:fillRef idx="0">
            <a:schemeClr val="accent1"/>
          </a:fillRef>
          <a:effectRef idx="0">
            <a:schemeClr val="accent1"/>
          </a:effectRef>
          <a:fontRef idx="minor">
            <a:schemeClr val="tx1"/>
          </a:fontRef>
        </p:style>
      </p:cxnSp>
      <p:sp>
        <p:nvSpPr>
          <p:cNvPr id="201" name="TextBox 200">
            <a:extLst>
              <a:ext uri="{FF2B5EF4-FFF2-40B4-BE49-F238E27FC236}">
                <a16:creationId xmlns:a16="http://schemas.microsoft.com/office/drawing/2014/main" id="{ED7E2940-8443-2BB3-6FCD-E436812AA684}"/>
              </a:ext>
            </a:extLst>
          </p:cNvPr>
          <p:cNvSpPr txBox="1"/>
          <p:nvPr/>
        </p:nvSpPr>
        <p:spPr>
          <a:xfrm>
            <a:off x="4463829" y="7807431"/>
            <a:ext cx="332142" cy="230832"/>
          </a:xfrm>
          <a:prstGeom prst="rect">
            <a:avLst/>
          </a:prstGeom>
          <a:noFill/>
        </p:spPr>
        <p:txBody>
          <a:bodyPr wrap="none" rtlCol="0">
            <a:spAutoFit/>
          </a:bodyPr>
          <a:lstStyle/>
          <a:p>
            <a:r>
              <a:rPr lang="en-US" altLang="ko-KR" sz="900" dirty="0"/>
              <a:t>VSI</a:t>
            </a:r>
            <a:endParaRPr lang="ko-KR" altLang="en-US" sz="900" dirty="0"/>
          </a:p>
        </p:txBody>
      </p:sp>
      <p:grpSp>
        <p:nvGrpSpPr>
          <p:cNvPr id="202" name="그룹 201">
            <a:extLst>
              <a:ext uri="{FF2B5EF4-FFF2-40B4-BE49-F238E27FC236}">
                <a16:creationId xmlns:a16="http://schemas.microsoft.com/office/drawing/2014/main" id="{B8009FF7-3A5E-7FB0-EE69-644A69DB700F}"/>
              </a:ext>
            </a:extLst>
          </p:cNvPr>
          <p:cNvGrpSpPr/>
          <p:nvPr/>
        </p:nvGrpSpPr>
        <p:grpSpPr>
          <a:xfrm>
            <a:off x="2988890" y="7363609"/>
            <a:ext cx="1260000" cy="1116000"/>
            <a:chOff x="2988890" y="7363609"/>
            <a:chExt cx="1425650" cy="1242622"/>
          </a:xfrm>
        </p:grpSpPr>
        <p:sp>
          <p:nvSpPr>
            <p:cNvPr id="203" name="직사각형 202">
              <a:extLst>
                <a:ext uri="{FF2B5EF4-FFF2-40B4-BE49-F238E27FC236}">
                  <a16:creationId xmlns:a16="http://schemas.microsoft.com/office/drawing/2014/main" id="{AB9F051A-0528-6617-948E-AD9E1252921C}"/>
                </a:ext>
              </a:extLst>
            </p:cNvPr>
            <p:cNvSpPr/>
            <p:nvPr/>
          </p:nvSpPr>
          <p:spPr>
            <a:xfrm>
              <a:off x="3084413" y="7364231"/>
              <a:ext cx="1242579" cy="1242000"/>
            </a:xfrm>
            <a:prstGeom prst="rect">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04" name="그림 203">
              <a:extLst>
                <a:ext uri="{FF2B5EF4-FFF2-40B4-BE49-F238E27FC236}">
                  <a16:creationId xmlns:a16="http://schemas.microsoft.com/office/drawing/2014/main" id="{916E46FC-B73E-DD2F-98F1-C5B6DD2F181E}"/>
                </a:ext>
              </a:extLst>
            </p:cNvPr>
            <p:cNvPicPr>
              <a:picLocks noChangeAspect="1"/>
            </p:cNvPicPr>
            <p:nvPr/>
          </p:nvPicPr>
          <p:blipFill>
            <a:blip r:embed="rId3"/>
            <a:stretch>
              <a:fillRect/>
            </a:stretch>
          </p:blipFill>
          <p:spPr>
            <a:xfrm flipH="1">
              <a:off x="3461579" y="8123151"/>
              <a:ext cx="216000" cy="115821"/>
            </a:xfrm>
            <a:prstGeom prst="rect">
              <a:avLst/>
            </a:prstGeom>
          </p:spPr>
        </p:pic>
        <p:sp>
          <p:nvSpPr>
            <p:cNvPr id="205" name="직사각형 204">
              <a:extLst>
                <a:ext uri="{FF2B5EF4-FFF2-40B4-BE49-F238E27FC236}">
                  <a16:creationId xmlns:a16="http://schemas.microsoft.com/office/drawing/2014/main" id="{41AAB088-2C3D-C711-AA58-815CECCB0F71}"/>
                </a:ext>
              </a:extLst>
            </p:cNvPr>
            <p:cNvSpPr/>
            <p:nvPr/>
          </p:nvSpPr>
          <p:spPr>
            <a:xfrm>
              <a:off x="3559239" y="7929532"/>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internal FB</a:t>
              </a:r>
              <a:endParaRPr lang="ko-KR" altLang="en-US" sz="600" dirty="0">
                <a:solidFill>
                  <a:schemeClr val="tx1"/>
                </a:solidFill>
              </a:endParaRPr>
            </a:p>
          </p:txBody>
        </p:sp>
        <p:grpSp>
          <p:nvGrpSpPr>
            <p:cNvPr id="206" name="그룹 205">
              <a:extLst>
                <a:ext uri="{FF2B5EF4-FFF2-40B4-BE49-F238E27FC236}">
                  <a16:creationId xmlns:a16="http://schemas.microsoft.com/office/drawing/2014/main" id="{7F11C908-C5B1-4FCB-47AC-88A58C8303EE}"/>
                </a:ext>
              </a:extLst>
            </p:cNvPr>
            <p:cNvGrpSpPr/>
            <p:nvPr/>
          </p:nvGrpSpPr>
          <p:grpSpPr>
            <a:xfrm>
              <a:off x="3257024" y="8061500"/>
              <a:ext cx="234000" cy="399680"/>
              <a:chOff x="2505005" y="3797258"/>
              <a:chExt cx="234000" cy="399680"/>
            </a:xfrm>
          </p:grpSpPr>
          <p:pic>
            <p:nvPicPr>
              <p:cNvPr id="223" name="그림 222">
                <a:extLst>
                  <a:ext uri="{FF2B5EF4-FFF2-40B4-BE49-F238E27FC236}">
                    <a16:creationId xmlns:a16="http://schemas.microsoft.com/office/drawing/2014/main" id="{E260A18E-0E78-DD46-38BA-4195824C156C}"/>
                  </a:ext>
                </a:extLst>
              </p:cNvPr>
              <p:cNvPicPr>
                <a:picLocks noChangeAspect="1"/>
              </p:cNvPicPr>
              <p:nvPr/>
            </p:nvPicPr>
            <p:blipFill>
              <a:blip r:embed="rId5"/>
              <a:stretch>
                <a:fillRect/>
              </a:stretch>
            </p:blipFill>
            <p:spPr>
              <a:xfrm>
                <a:off x="2505005" y="4119156"/>
                <a:ext cx="144000" cy="77782"/>
              </a:xfrm>
              <a:prstGeom prst="rect">
                <a:avLst/>
              </a:prstGeom>
            </p:spPr>
          </p:pic>
          <p:pic>
            <p:nvPicPr>
              <p:cNvPr id="224" name="그림 223">
                <a:extLst>
                  <a:ext uri="{FF2B5EF4-FFF2-40B4-BE49-F238E27FC236}">
                    <a16:creationId xmlns:a16="http://schemas.microsoft.com/office/drawing/2014/main" id="{B8218075-BB98-3D41-E38F-159DAD83EAA7}"/>
                  </a:ext>
                </a:extLst>
              </p:cNvPr>
              <p:cNvPicPr>
                <a:picLocks noChangeAspect="1"/>
              </p:cNvPicPr>
              <p:nvPr/>
            </p:nvPicPr>
            <p:blipFill>
              <a:blip r:embed="rId6"/>
              <a:stretch>
                <a:fillRect/>
              </a:stretch>
            </p:blipFill>
            <p:spPr>
              <a:xfrm flipH="1">
                <a:off x="2559005" y="3797258"/>
                <a:ext cx="180000" cy="239124"/>
              </a:xfrm>
              <a:prstGeom prst="rect">
                <a:avLst/>
              </a:prstGeom>
            </p:spPr>
          </p:pic>
          <p:cxnSp>
            <p:nvCxnSpPr>
              <p:cNvPr id="225" name="직선 연결선 224">
                <a:extLst>
                  <a:ext uri="{FF2B5EF4-FFF2-40B4-BE49-F238E27FC236}">
                    <a16:creationId xmlns:a16="http://schemas.microsoft.com/office/drawing/2014/main" id="{B0CD1BCB-99A4-FC5A-9276-F1A66469431E}"/>
                  </a:ext>
                </a:extLst>
              </p:cNvPr>
              <p:cNvCxnSpPr>
                <a:cxnSpLocks/>
              </p:cNvCxnSpPr>
              <p:nvPr/>
            </p:nvCxnSpPr>
            <p:spPr>
              <a:xfrm flipV="1">
                <a:off x="2575872" y="4029580"/>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7" name="직선 연결선 206">
              <a:extLst>
                <a:ext uri="{FF2B5EF4-FFF2-40B4-BE49-F238E27FC236}">
                  <a16:creationId xmlns:a16="http://schemas.microsoft.com/office/drawing/2014/main" id="{370E412E-B2C2-A4E5-F896-4085DB05DE86}"/>
                </a:ext>
              </a:extLst>
            </p:cNvPr>
            <p:cNvCxnSpPr>
              <a:cxnSpLocks/>
            </p:cNvCxnSpPr>
            <p:nvPr/>
          </p:nvCxnSpPr>
          <p:spPr>
            <a:xfrm flipV="1">
              <a:off x="3328718" y="7980712"/>
              <a:ext cx="0" cy="90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직선 연결선 207">
              <a:extLst>
                <a:ext uri="{FF2B5EF4-FFF2-40B4-BE49-F238E27FC236}">
                  <a16:creationId xmlns:a16="http://schemas.microsoft.com/office/drawing/2014/main" id="{BAB762F4-BD68-8B71-BDFA-41067666D94E}"/>
                </a:ext>
              </a:extLst>
            </p:cNvPr>
            <p:cNvCxnSpPr>
              <a:cxnSpLocks/>
            </p:cNvCxnSpPr>
            <p:nvPr/>
          </p:nvCxnSpPr>
          <p:spPr>
            <a:xfrm>
              <a:off x="3050816" y="7982761"/>
              <a:ext cx="277075"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09" name="직사각형 208">
              <a:extLst>
                <a:ext uri="{FF2B5EF4-FFF2-40B4-BE49-F238E27FC236}">
                  <a16:creationId xmlns:a16="http://schemas.microsoft.com/office/drawing/2014/main" id="{040D653B-4E9F-64E2-7BA1-5587778C55BD}"/>
                </a:ext>
              </a:extLst>
            </p:cNvPr>
            <p:cNvSpPr/>
            <p:nvPr/>
          </p:nvSpPr>
          <p:spPr>
            <a:xfrm>
              <a:off x="2988890" y="7928421"/>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5</a:t>
              </a:r>
              <a:endParaRPr lang="ko-KR" altLang="en-US" sz="700" dirty="0">
                <a:solidFill>
                  <a:schemeClr val="tx1"/>
                </a:solidFill>
              </a:endParaRPr>
            </a:p>
          </p:txBody>
        </p:sp>
        <p:cxnSp>
          <p:nvCxnSpPr>
            <p:cNvPr id="210" name="직선 연결선 209">
              <a:extLst>
                <a:ext uri="{FF2B5EF4-FFF2-40B4-BE49-F238E27FC236}">
                  <a16:creationId xmlns:a16="http://schemas.microsoft.com/office/drawing/2014/main" id="{98729CA7-5419-70E5-2EC0-58D279BAC004}"/>
                </a:ext>
              </a:extLst>
            </p:cNvPr>
            <p:cNvCxnSpPr>
              <a:cxnSpLocks/>
            </p:cNvCxnSpPr>
            <p:nvPr/>
          </p:nvCxnSpPr>
          <p:spPr>
            <a:xfrm>
              <a:off x="3423441" y="8181966"/>
              <a:ext cx="72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1" name="직사각형 210">
              <a:extLst>
                <a:ext uri="{FF2B5EF4-FFF2-40B4-BE49-F238E27FC236}">
                  <a16:creationId xmlns:a16="http://schemas.microsoft.com/office/drawing/2014/main" id="{0651EEA2-CBC1-559F-2AA8-AF22D2E550E7}"/>
                </a:ext>
              </a:extLst>
            </p:cNvPr>
            <p:cNvSpPr/>
            <p:nvPr/>
          </p:nvSpPr>
          <p:spPr>
            <a:xfrm>
              <a:off x="3423441" y="8230276"/>
              <a:ext cx="852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2" name="직선 연결선 211">
              <a:extLst>
                <a:ext uri="{FF2B5EF4-FFF2-40B4-BE49-F238E27FC236}">
                  <a16:creationId xmlns:a16="http://schemas.microsoft.com/office/drawing/2014/main" id="{C7DBD64F-514B-6404-A363-FC82FFDD5BFD}"/>
                </a:ext>
              </a:extLst>
            </p:cNvPr>
            <p:cNvCxnSpPr>
              <a:cxnSpLocks/>
            </p:cNvCxnSpPr>
            <p:nvPr/>
          </p:nvCxnSpPr>
          <p:spPr>
            <a:xfrm>
              <a:off x="3631896" y="8155094"/>
              <a:ext cx="108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직선 연결선 212">
              <a:extLst>
                <a:ext uri="{FF2B5EF4-FFF2-40B4-BE49-F238E27FC236}">
                  <a16:creationId xmlns:a16="http://schemas.microsoft.com/office/drawing/2014/main" id="{D43AABC8-3B97-C1BC-B2EB-E0A715451177}"/>
                </a:ext>
              </a:extLst>
            </p:cNvPr>
            <p:cNvCxnSpPr>
              <a:cxnSpLocks/>
            </p:cNvCxnSpPr>
            <p:nvPr/>
          </p:nvCxnSpPr>
          <p:spPr>
            <a:xfrm flipV="1">
              <a:off x="3735935" y="8026359"/>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14" name="타원 213">
              <a:extLst>
                <a:ext uri="{FF2B5EF4-FFF2-40B4-BE49-F238E27FC236}">
                  <a16:creationId xmlns:a16="http://schemas.microsoft.com/office/drawing/2014/main" id="{50259E86-DA0A-B631-BE90-AC6D65F5F306}"/>
                </a:ext>
              </a:extLst>
            </p:cNvPr>
            <p:cNvSpPr/>
            <p:nvPr/>
          </p:nvSpPr>
          <p:spPr>
            <a:xfrm>
              <a:off x="3630353" y="8140694"/>
              <a:ext cx="28800" cy="28800"/>
            </a:xfrm>
            <a:prstGeom prst="ellipse">
              <a:avLst/>
            </a:prstGeom>
            <a:solidFill>
              <a:schemeClr val="bg1"/>
            </a:solidFill>
            <a:ln w="508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5" name="직사각형 214">
              <a:extLst>
                <a:ext uri="{FF2B5EF4-FFF2-40B4-BE49-F238E27FC236}">
                  <a16:creationId xmlns:a16="http://schemas.microsoft.com/office/drawing/2014/main" id="{C92539E3-C154-9958-C9EF-BAFE67D431B2}"/>
                </a:ext>
              </a:extLst>
            </p:cNvPr>
            <p:cNvSpPr/>
            <p:nvPr/>
          </p:nvSpPr>
          <p:spPr>
            <a:xfrm>
              <a:off x="4234540" y="7933890"/>
              <a:ext cx="180000" cy="108000"/>
            </a:xfrm>
            <a:prstGeom prst="rect">
              <a:avLst/>
            </a:prstGeom>
            <a:solidFill>
              <a:schemeClr val="accent5">
                <a:lumMod val="20000"/>
                <a:lumOff val="80000"/>
              </a:schemeClr>
            </a:solidFill>
            <a:ln w="635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700" dirty="0">
                  <a:solidFill>
                    <a:schemeClr val="tx1"/>
                  </a:solidFill>
                </a:rPr>
                <a:t>14</a:t>
              </a:r>
              <a:endParaRPr lang="ko-KR" altLang="en-US" sz="700" dirty="0">
                <a:solidFill>
                  <a:schemeClr val="tx1"/>
                </a:solidFill>
              </a:endParaRPr>
            </a:p>
          </p:txBody>
        </p:sp>
        <p:sp>
          <p:nvSpPr>
            <p:cNvPr id="216" name="TextBox 215">
              <a:extLst>
                <a:ext uri="{FF2B5EF4-FFF2-40B4-BE49-F238E27FC236}">
                  <a16:creationId xmlns:a16="http://schemas.microsoft.com/office/drawing/2014/main" id="{B2C9A6F8-EFF5-A708-1EEC-9529F83C8E93}"/>
                </a:ext>
              </a:extLst>
            </p:cNvPr>
            <p:cNvSpPr txBox="1"/>
            <p:nvPr/>
          </p:nvSpPr>
          <p:spPr>
            <a:xfrm>
              <a:off x="3546556" y="7363609"/>
              <a:ext cx="314510" cy="230832"/>
            </a:xfrm>
            <a:prstGeom prst="rect">
              <a:avLst/>
            </a:prstGeom>
            <a:noFill/>
          </p:spPr>
          <p:txBody>
            <a:bodyPr wrap="none" rtlCol="0">
              <a:spAutoFit/>
            </a:bodyPr>
            <a:lstStyle/>
            <a:p>
              <a:r>
                <a:rPr lang="en-US" altLang="ko-KR" sz="900" dirty="0"/>
                <a:t>XD</a:t>
              </a:r>
              <a:endParaRPr lang="ko-KR" altLang="en-US" sz="900" dirty="0"/>
            </a:p>
          </p:txBody>
        </p:sp>
        <p:sp>
          <p:nvSpPr>
            <p:cNvPr id="217" name="직사각형 216">
              <a:extLst>
                <a:ext uri="{FF2B5EF4-FFF2-40B4-BE49-F238E27FC236}">
                  <a16:creationId xmlns:a16="http://schemas.microsoft.com/office/drawing/2014/main" id="{80A27238-26FC-FA5E-0DC4-2FCF54219BE8}"/>
                </a:ext>
              </a:extLst>
            </p:cNvPr>
            <p:cNvSpPr/>
            <p:nvPr/>
          </p:nvSpPr>
          <p:spPr>
            <a:xfrm>
              <a:off x="3632819" y="8174583"/>
              <a:ext cx="45719"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cxnSp>
          <p:nvCxnSpPr>
            <p:cNvPr id="218" name="직선 연결선 217">
              <a:extLst>
                <a:ext uri="{FF2B5EF4-FFF2-40B4-BE49-F238E27FC236}">
                  <a16:creationId xmlns:a16="http://schemas.microsoft.com/office/drawing/2014/main" id="{FB18C512-5D72-3583-F1C6-91C8980C6C17}"/>
                </a:ext>
              </a:extLst>
            </p:cNvPr>
            <p:cNvCxnSpPr>
              <a:cxnSpLocks/>
            </p:cNvCxnSpPr>
            <p:nvPr/>
          </p:nvCxnSpPr>
          <p:spPr>
            <a:xfrm>
              <a:off x="3629084" y="8218332"/>
              <a:ext cx="504000" cy="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직선 연결선 218">
              <a:extLst>
                <a:ext uri="{FF2B5EF4-FFF2-40B4-BE49-F238E27FC236}">
                  <a16:creationId xmlns:a16="http://schemas.microsoft.com/office/drawing/2014/main" id="{C9FCD8AA-A65D-EE59-9868-D0EBC2FB0D0D}"/>
                </a:ext>
              </a:extLst>
            </p:cNvPr>
            <p:cNvCxnSpPr>
              <a:cxnSpLocks/>
            </p:cNvCxnSpPr>
            <p:nvPr/>
          </p:nvCxnSpPr>
          <p:spPr>
            <a:xfrm flipV="1">
              <a:off x="3738436" y="8218141"/>
              <a:ext cx="1283" cy="126433"/>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sp>
          <p:nvSpPr>
            <p:cNvPr id="220" name="직사각형 219">
              <a:extLst>
                <a:ext uri="{FF2B5EF4-FFF2-40B4-BE49-F238E27FC236}">
                  <a16:creationId xmlns:a16="http://schemas.microsoft.com/office/drawing/2014/main" id="{FC4F0004-8F6B-3A9B-9B17-A0D1F4345217}"/>
                </a:ext>
              </a:extLst>
            </p:cNvPr>
            <p:cNvSpPr/>
            <p:nvPr/>
          </p:nvSpPr>
          <p:spPr>
            <a:xfrm>
              <a:off x="3549341" y="8328107"/>
              <a:ext cx="392681" cy="108000"/>
            </a:xfrm>
            <a:prstGeom prst="rect">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600" dirty="0">
                  <a:solidFill>
                    <a:schemeClr val="tx1"/>
                  </a:solidFill>
                </a:rPr>
                <a:t>IO_MODE</a:t>
              </a:r>
              <a:endParaRPr lang="ko-KR" altLang="en-US" sz="600" dirty="0">
                <a:solidFill>
                  <a:schemeClr val="tx1"/>
                </a:solidFill>
              </a:endParaRPr>
            </a:p>
          </p:txBody>
        </p:sp>
        <p:pic>
          <p:nvPicPr>
            <p:cNvPr id="221" name="그림 220">
              <a:extLst>
                <a:ext uri="{FF2B5EF4-FFF2-40B4-BE49-F238E27FC236}">
                  <a16:creationId xmlns:a16="http://schemas.microsoft.com/office/drawing/2014/main" id="{4ED51D4C-E221-9E72-5E49-F757D5F76D4C}"/>
                </a:ext>
              </a:extLst>
            </p:cNvPr>
            <p:cNvPicPr>
              <a:picLocks noChangeAspect="1"/>
            </p:cNvPicPr>
            <p:nvPr/>
          </p:nvPicPr>
          <p:blipFill>
            <a:blip r:embed="rId2"/>
            <a:stretch>
              <a:fillRect/>
            </a:stretch>
          </p:blipFill>
          <p:spPr>
            <a:xfrm rot="10641360">
              <a:off x="4013600" y="7927439"/>
              <a:ext cx="216000" cy="149104"/>
            </a:xfrm>
            <a:prstGeom prst="rect">
              <a:avLst/>
            </a:prstGeom>
          </p:spPr>
        </p:pic>
        <p:cxnSp>
          <p:nvCxnSpPr>
            <p:cNvPr id="222" name="직선 연결선 221">
              <a:extLst>
                <a:ext uri="{FF2B5EF4-FFF2-40B4-BE49-F238E27FC236}">
                  <a16:creationId xmlns:a16="http://schemas.microsoft.com/office/drawing/2014/main" id="{6C74BA29-0470-CBF0-D3E0-26F68840D490}"/>
                </a:ext>
              </a:extLst>
            </p:cNvPr>
            <p:cNvCxnSpPr>
              <a:cxnSpLocks/>
            </p:cNvCxnSpPr>
            <p:nvPr/>
          </p:nvCxnSpPr>
          <p:spPr>
            <a:xfrm flipV="1">
              <a:off x="4134822" y="8054264"/>
              <a:ext cx="1283" cy="162000"/>
            </a:xfrm>
            <a:prstGeom prst="line">
              <a:avLst/>
            </a:prstGeom>
            <a:ln w="825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3E564A0B-7A17-9E76-8998-F8C3546F81CC}"/>
              </a:ext>
            </a:extLst>
          </p:cNvPr>
          <p:cNvSpPr txBox="1"/>
          <p:nvPr/>
        </p:nvSpPr>
        <p:spPr>
          <a:xfrm>
            <a:off x="2055133" y="4919527"/>
            <a:ext cx="2736647"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10.  External VSYNC In and Out Scheme</a:t>
            </a:r>
          </a:p>
        </p:txBody>
      </p:sp>
      <p:sp>
        <p:nvSpPr>
          <p:cNvPr id="10" name="TextBox 9">
            <a:extLst>
              <a:ext uri="{FF2B5EF4-FFF2-40B4-BE49-F238E27FC236}">
                <a16:creationId xmlns:a16="http://schemas.microsoft.com/office/drawing/2014/main" id="{126ECDC8-96DC-F2DA-33B8-DB295627511F}"/>
              </a:ext>
            </a:extLst>
          </p:cNvPr>
          <p:cNvSpPr txBox="1"/>
          <p:nvPr/>
        </p:nvSpPr>
        <p:spPr>
          <a:xfrm>
            <a:off x="2210624" y="6810249"/>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11.  External FBI and FBO Scheme</a:t>
            </a:r>
          </a:p>
        </p:txBody>
      </p:sp>
      <p:sp>
        <p:nvSpPr>
          <p:cNvPr id="11" name="TextBox 10">
            <a:extLst>
              <a:ext uri="{FF2B5EF4-FFF2-40B4-BE49-F238E27FC236}">
                <a16:creationId xmlns:a16="http://schemas.microsoft.com/office/drawing/2014/main" id="{993F220F-D814-2A70-D0FD-7EE8F97DD6C0}"/>
              </a:ext>
            </a:extLst>
          </p:cNvPr>
          <p:cNvSpPr txBox="1"/>
          <p:nvPr/>
        </p:nvSpPr>
        <p:spPr>
          <a:xfrm>
            <a:off x="2210624" y="8690366"/>
            <a:ext cx="2425664" cy="138499"/>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sz="900" dirty="0"/>
              <a:t>  Figure 12.  External FBO and VSI Scheme</a:t>
            </a:r>
          </a:p>
        </p:txBody>
      </p:sp>
    </p:spTree>
    <p:extLst>
      <p:ext uri="{BB962C8B-B14F-4D97-AF65-F5344CB8AC3E}">
        <p14:creationId xmlns:p14="http://schemas.microsoft.com/office/powerpoint/2010/main" val="34594282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AE29E-BAC9-CDDF-9257-670853C5ECEB}"/>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11B76B0D-B83F-389E-5C21-94708262059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C3AED0E-259E-C3F0-DA34-13B242416EF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C5CB4FAE-D5D9-6E67-7316-C8104FB86F6F}"/>
              </a:ext>
            </a:extLst>
          </p:cNvPr>
          <p:cNvSpPr txBox="1"/>
          <p:nvPr/>
        </p:nvSpPr>
        <p:spPr>
          <a:xfrm>
            <a:off x="399458" y="805287"/>
            <a:ext cx="6047999"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Functional Description</a:t>
            </a:r>
          </a:p>
        </p:txBody>
      </p:sp>
      <p:sp>
        <p:nvSpPr>
          <p:cNvPr id="7" name="TextBox 6">
            <a:extLst>
              <a:ext uri="{FF2B5EF4-FFF2-40B4-BE49-F238E27FC236}">
                <a16:creationId xmlns:a16="http://schemas.microsoft.com/office/drawing/2014/main" id="{316687B0-5D29-CE72-02CA-A959D7C8DED9}"/>
              </a:ext>
            </a:extLst>
          </p:cNvPr>
          <p:cNvSpPr txBox="1"/>
          <p:nvPr/>
        </p:nvSpPr>
        <p:spPr>
          <a:xfrm>
            <a:off x="407554" y="1274660"/>
            <a:ext cx="6039903" cy="246221"/>
          </a:xfrm>
          <a:prstGeom prst="rect">
            <a:avLst/>
          </a:prstGeom>
          <a:noFill/>
        </p:spPr>
        <p:txBody>
          <a:bodyPr wrap="square" lIns="0" rtlCol="0">
            <a:spAutoFit/>
          </a:bodyPr>
          <a:lstStyle/>
          <a:p>
            <a:r>
              <a:rPr lang="en-US" altLang="ko-KR" sz="1000" b="1" dirty="0">
                <a:latin typeface="Arial" panose="020B0604020202020204" pitchFamily="34" charset="0"/>
                <a:cs typeface="Arial" panose="020B0604020202020204" pitchFamily="34" charset="0"/>
              </a:rPr>
              <a:t>Switching a frame frequency without a flicker</a:t>
            </a:r>
          </a:p>
        </p:txBody>
      </p:sp>
      <p:sp>
        <p:nvSpPr>
          <p:cNvPr id="4" name="TextBox 3">
            <a:extLst>
              <a:ext uri="{FF2B5EF4-FFF2-40B4-BE49-F238E27FC236}">
                <a16:creationId xmlns:a16="http://schemas.microsoft.com/office/drawing/2014/main" id="{2F98F040-E3FC-8124-3966-151DDE4F4943}"/>
              </a:ext>
            </a:extLst>
          </p:cNvPr>
          <p:cNvSpPr txBox="1"/>
          <p:nvPr/>
        </p:nvSpPr>
        <p:spPr>
          <a:xfrm rot="5400000">
            <a:off x="3533919" y="5200376"/>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13.  PWM 12-bit</a:t>
            </a:r>
          </a:p>
        </p:txBody>
      </p:sp>
      <p:sp>
        <p:nvSpPr>
          <p:cNvPr id="5" name="TextBox 4">
            <a:extLst>
              <a:ext uri="{FF2B5EF4-FFF2-40B4-BE49-F238E27FC236}">
                <a16:creationId xmlns:a16="http://schemas.microsoft.com/office/drawing/2014/main" id="{2D4EDC85-9BAB-1113-F8F1-7EFF7CA77083}"/>
              </a:ext>
            </a:extLst>
          </p:cNvPr>
          <p:cNvSpPr txBox="1"/>
          <p:nvPr/>
        </p:nvSpPr>
        <p:spPr>
          <a:xfrm rot="5400000">
            <a:off x="433786" y="5200376"/>
            <a:ext cx="1330172" cy="135550"/>
          </a:xfrm>
          <a:prstGeom prst="rect">
            <a:avLst/>
          </a:prstGeom>
        </p:spPr>
        <p:txBody>
          <a:bodyPr vert="horz" wrap="none" lIns="0" tIns="0" rIns="0" bIns="0" rtlCol="0" anchor="ctr" anchorCtr="0">
            <a:spAutoFit/>
          </a:bodyPr>
          <a:lstStyle>
            <a:defPPr>
              <a:defRPr lang="en-US"/>
            </a:defPPr>
            <a:lvl1pPr marL="12435" defTabSz="895327" fontAlgn="auto">
              <a:spcBef>
                <a:spcPts val="118"/>
              </a:spcBef>
              <a:spcAft>
                <a:spcPts val="0"/>
              </a:spcAft>
              <a:defRPr kumimoji="0" sz="881" b="1" spc="15">
                <a:solidFill>
                  <a:prstClr val="black"/>
                </a:solidFill>
                <a:latin typeface="Arial" panose="020B0604020202020204" pitchFamily="34" charset="0"/>
                <a:cs typeface="Arial" panose="020B0604020202020204" pitchFamily="34" charset="0"/>
              </a:defRPr>
            </a:lvl1pPr>
          </a:lstStyle>
          <a:p>
            <a:r>
              <a:rPr lang="en-US" altLang="ko-KR" dirty="0"/>
              <a:t>  Figure 14.  PWM 14-bit</a:t>
            </a:r>
          </a:p>
        </p:txBody>
      </p:sp>
      <p:pic>
        <p:nvPicPr>
          <p:cNvPr id="11" name="그림 10">
            <a:extLst>
              <a:ext uri="{FF2B5EF4-FFF2-40B4-BE49-F238E27FC236}">
                <a16:creationId xmlns:a16="http://schemas.microsoft.com/office/drawing/2014/main" id="{53F461D2-DBB7-FA5B-5531-C4C36A32197F}"/>
              </a:ext>
            </a:extLst>
          </p:cNvPr>
          <p:cNvPicPr>
            <a:picLocks noChangeAspect="1"/>
          </p:cNvPicPr>
          <p:nvPr/>
        </p:nvPicPr>
        <p:blipFill>
          <a:blip r:embed="rId2"/>
          <a:stretch>
            <a:fillRect/>
          </a:stretch>
        </p:blipFill>
        <p:spPr>
          <a:xfrm rot="5400000">
            <a:off x="1563063" y="4583422"/>
            <a:ext cx="7308000" cy="1369463"/>
          </a:xfrm>
          <a:prstGeom prst="rect">
            <a:avLst/>
          </a:prstGeom>
        </p:spPr>
      </p:pic>
      <p:pic>
        <p:nvPicPr>
          <p:cNvPr id="12" name="그림 11">
            <a:extLst>
              <a:ext uri="{FF2B5EF4-FFF2-40B4-BE49-F238E27FC236}">
                <a16:creationId xmlns:a16="http://schemas.microsoft.com/office/drawing/2014/main" id="{564859F5-79FF-F573-55FE-23CC8914E9F4}"/>
              </a:ext>
            </a:extLst>
          </p:cNvPr>
          <p:cNvPicPr>
            <a:picLocks noChangeAspect="1"/>
          </p:cNvPicPr>
          <p:nvPr/>
        </p:nvPicPr>
        <p:blipFill>
          <a:blip r:embed="rId3"/>
          <a:stretch>
            <a:fillRect/>
          </a:stretch>
        </p:blipFill>
        <p:spPr>
          <a:xfrm rot="5400000">
            <a:off x="-1206243" y="4287152"/>
            <a:ext cx="7308000" cy="1962000"/>
          </a:xfrm>
          <a:prstGeom prst="rect">
            <a:avLst/>
          </a:prstGeom>
        </p:spPr>
      </p:pic>
    </p:spTree>
    <p:extLst>
      <p:ext uri="{BB962C8B-B14F-4D97-AF65-F5344CB8AC3E}">
        <p14:creationId xmlns:p14="http://schemas.microsoft.com/office/powerpoint/2010/main" val="800371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99D9A718-EAE2-4D8C-B8BD-17D024CE14FF}"/>
              </a:ext>
            </a:extLst>
          </p:cNvPr>
          <p:cNvSpPr txBox="1"/>
          <p:nvPr/>
        </p:nvSpPr>
        <p:spPr>
          <a:xfrm>
            <a:off x="404813" y="882048"/>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Register Map</a:t>
            </a:r>
          </a:p>
        </p:txBody>
      </p: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91BA68BD-CD99-1E39-D8C4-B3DECE023D43}"/>
              </a:ext>
            </a:extLst>
          </p:cNvPr>
          <p:cNvGraphicFramePr>
            <a:graphicFrameLocks noGrp="1"/>
          </p:cNvGraphicFramePr>
          <p:nvPr>
            <p:extLst>
              <p:ext uri="{D42A27DB-BD31-4B8C-83A1-F6EECF244321}">
                <p14:modId xmlns:p14="http://schemas.microsoft.com/office/powerpoint/2010/main" val="3422993458"/>
              </p:ext>
            </p:extLst>
          </p:nvPr>
        </p:nvGraphicFramePr>
        <p:xfrm>
          <a:off x="404812" y="1727442"/>
          <a:ext cx="6057357" cy="372600"/>
        </p:xfrm>
        <a:graphic>
          <a:graphicData uri="http://schemas.openxmlformats.org/drawingml/2006/table">
            <a:tbl>
              <a:tblPr firstRow="1" bandRow="1">
                <a:tableStyleId>{5C22544A-7EE6-4342-B048-85BDC9FD1C3A}</a:tableStyleId>
              </a:tblPr>
              <a:tblGrid>
                <a:gridCol w="349837">
                  <a:extLst>
                    <a:ext uri="{9D8B030D-6E8A-4147-A177-3AD203B41FA5}">
                      <a16:colId xmlns:a16="http://schemas.microsoft.com/office/drawing/2014/main" val="657570846"/>
                    </a:ext>
                  </a:extLst>
                </a:gridCol>
                <a:gridCol w="384659">
                  <a:extLst>
                    <a:ext uri="{9D8B030D-6E8A-4147-A177-3AD203B41FA5}">
                      <a16:colId xmlns:a16="http://schemas.microsoft.com/office/drawing/2014/main" val="3259894497"/>
                    </a:ext>
                  </a:extLst>
                </a:gridCol>
                <a:gridCol w="452075">
                  <a:extLst>
                    <a:ext uri="{9D8B030D-6E8A-4147-A177-3AD203B41FA5}">
                      <a16:colId xmlns:a16="http://schemas.microsoft.com/office/drawing/2014/main" val="4170535043"/>
                    </a:ext>
                  </a:extLst>
                </a:gridCol>
                <a:gridCol w="402948">
                  <a:extLst>
                    <a:ext uri="{9D8B030D-6E8A-4147-A177-3AD203B41FA5}">
                      <a16:colId xmlns:a16="http://schemas.microsoft.com/office/drawing/2014/main" val="2079070694"/>
                    </a:ext>
                  </a:extLst>
                </a:gridCol>
                <a:gridCol w="438358">
                  <a:extLst>
                    <a:ext uri="{9D8B030D-6E8A-4147-A177-3AD203B41FA5}">
                      <a16:colId xmlns:a16="http://schemas.microsoft.com/office/drawing/2014/main" val="4213315911"/>
                    </a:ext>
                  </a:extLst>
                </a:gridCol>
                <a:gridCol w="402948">
                  <a:extLst>
                    <a:ext uri="{9D8B030D-6E8A-4147-A177-3AD203B41FA5}">
                      <a16:colId xmlns:a16="http://schemas.microsoft.com/office/drawing/2014/main" val="2769999950"/>
                    </a:ext>
                  </a:extLst>
                </a:gridCol>
                <a:gridCol w="402948">
                  <a:extLst>
                    <a:ext uri="{9D8B030D-6E8A-4147-A177-3AD203B41FA5}">
                      <a16:colId xmlns:a16="http://schemas.microsoft.com/office/drawing/2014/main" val="135637185"/>
                    </a:ext>
                  </a:extLst>
                </a:gridCol>
                <a:gridCol w="402948">
                  <a:extLst>
                    <a:ext uri="{9D8B030D-6E8A-4147-A177-3AD203B41FA5}">
                      <a16:colId xmlns:a16="http://schemas.microsoft.com/office/drawing/2014/main" val="3038050475"/>
                    </a:ext>
                  </a:extLst>
                </a:gridCol>
                <a:gridCol w="402948">
                  <a:extLst>
                    <a:ext uri="{9D8B030D-6E8A-4147-A177-3AD203B41FA5}">
                      <a16:colId xmlns:a16="http://schemas.microsoft.com/office/drawing/2014/main" val="1979433044"/>
                    </a:ext>
                  </a:extLst>
                </a:gridCol>
                <a:gridCol w="402948">
                  <a:extLst>
                    <a:ext uri="{9D8B030D-6E8A-4147-A177-3AD203B41FA5}">
                      <a16:colId xmlns:a16="http://schemas.microsoft.com/office/drawing/2014/main" val="4270661649"/>
                    </a:ext>
                  </a:extLst>
                </a:gridCol>
                <a:gridCol w="402948">
                  <a:extLst>
                    <a:ext uri="{9D8B030D-6E8A-4147-A177-3AD203B41FA5}">
                      <a16:colId xmlns:a16="http://schemas.microsoft.com/office/drawing/2014/main" val="3027041370"/>
                    </a:ext>
                  </a:extLst>
                </a:gridCol>
                <a:gridCol w="402948">
                  <a:extLst>
                    <a:ext uri="{9D8B030D-6E8A-4147-A177-3AD203B41FA5}">
                      <a16:colId xmlns:a16="http://schemas.microsoft.com/office/drawing/2014/main" val="2852526216"/>
                    </a:ext>
                  </a:extLst>
                </a:gridCol>
                <a:gridCol w="402948">
                  <a:extLst>
                    <a:ext uri="{9D8B030D-6E8A-4147-A177-3AD203B41FA5}">
                      <a16:colId xmlns:a16="http://schemas.microsoft.com/office/drawing/2014/main" val="103420222"/>
                    </a:ext>
                  </a:extLst>
                </a:gridCol>
                <a:gridCol w="402948">
                  <a:extLst>
                    <a:ext uri="{9D8B030D-6E8A-4147-A177-3AD203B41FA5}">
                      <a16:colId xmlns:a16="http://schemas.microsoft.com/office/drawing/2014/main" val="1470405609"/>
                    </a:ext>
                  </a:extLst>
                </a:gridCol>
                <a:gridCol w="4029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err="1">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RST</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VS_RST</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E_RST</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ID [4:0]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7" name="TextBox 6">
            <a:extLst>
              <a:ext uri="{FF2B5EF4-FFF2-40B4-BE49-F238E27FC236}">
                <a16:creationId xmlns:a16="http://schemas.microsoft.com/office/drawing/2014/main" id="{FC28EF0F-BE36-6237-CD6A-53BD8C559916}"/>
              </a:ext>
            </a:extLst>
          </p:cNvPr>
          <p:cNvSpPr txBox="1"/>
          <p:nvPr/>
        </p:nvSpPr>
        <p:spPr>
          <a:xfrm>
            <a:off x="404811" y="1465288"/>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RESET / ID</a:t>
            </a:r>
          </a:p>
        </p:txBody>
      </p:sp>
      <p:graphicFrame>
        <p:nvGraphicFramePr>
          <p:cNvPr id="4" name="표 3">
            <a:extLst>
              <a:ext uri="{FF2B5EF4-FFF2-40B4-BE49-F238E27FC236}">
                <a16:creationId xmlns:a16="http://schemas.microsoft.com/office/drawing/2014/main" id="{A88FEB45-FEE4-B39F-17EB-F8E56A45E514}"/>
              </a:ext>
            </a:extLst>
          </p:cNvPr>
          <p:cNvGraphicFramePr>
            <a:graphicFrameLocks noGrp="1"/>
          </p:cNvGraphicFramePr>
          <p:nvPr>
            <p:extLst>
              <p:ext uri="{D42A27DB-BD31-4B8C-83A1-F6EECF244321}">
                <p14:modId xmlns:p14="http://schemas.microsoft.com/office/powerpoint/2010/main" val="1787346165"/>
              </p:ext>
            </p:extLst>
          </p:nvPr>
        </p:nvGraphicFramePr>
        <p:xfrm>
          <a:off x="404812" y="2156360"/>
          <a:ext cx="6048622" cy="3131936"/>
        </p:xfrm>
        <a:graphic>
          <a:graphicData uri="http://schemas.openxmlformats.org/drawingml/2006/table">
            <a:tbl>
              <a:tblPr firstRow="1" bandRow="1">
                <a:tableStyleId>{5C22544A-7EE6-4342-B048-85BDC9FD1C3A}</a:tableStyleId>
              </a:tblPr>
              <a:tblGrid>
                <a:gridCol w="411264">
                  <a:extLst>
                    <a:ext uri="{9D8B030D-6E8A-4147-A177-3AD203B41FA5}">
                      <a16:colId xmlns:a16="http://schemas.microsoft.com/office/drawing/2014/main" val="4170535043"/>
                    </a:ext>
                  </a:extLst>
                </a:gridCol>
                <a:gridCol w="594736">
                  <a:extLst>
                    <a:ext uri="{9D8B030D-6E8A-4147-A177-3AD203B41FA5}">
                      <a16:colId xmlns:a16="http://schemas.microsoft.com/office/drawing/2014/main" val="2079070694"/>
                    </a:ext>
                  </a:extLst>
                </a:gridCol>
                <a:gridCol w="287961">
                  <a:extLst>
                    <a:ext uri="{9D8B030D-6E8A-4147-A177-3AD203B41FA5}">
                      <a16:colId xmlns:a16="http://schemas.microsoft.com/office/drawing/2014/main" val="3858367650"/>
                    </a:ext>
                  </a:extLst>
                </a:gridCol>
                <a:gridCol w="4754661">
                  <a:extLst>
                    <a:ext uri="{9D8B030D-6E8A-4147-A177-3AD203B41FA5}">
                      <a16:colId xmlns:a16="http://schemas.microsoft.com/office/drawing/2014/main" val="32595803"/>
                    </a:ext>
                  </a:extLst>
                </a:gridCol>
              </a:tblGrid>
              <a:tr h="27749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a:noFill/>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2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All internal logics are initialized to a default state and this bit will be auto-cleared after internal initialization.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1576041"/>
                  </a:ext>
                </a:extLst>
              </a:tr>
              <a:tr h="53226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VS_RST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every vsync. This bit set does not affect all internal registers and buffers.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3354998"/>
                  </a:ext>
                </a:extLst>
              </a:tr>
              <a:tr h="688281">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E_RST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then the serializer and de-serializer of XD will be initialized to a default state at the last third pwm clock. This function starts from the first vsync input. So, it is careful that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XD access at the back of the frame should be avoided for proper operation. This bit set does not affect all internal registers and buffers.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5687421"/>
                  </a:ext>
                </a:extLst>
              </a:tr>
              <a:tr h="9955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just"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ID</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T>
                      <a:noFill/>
                    </a:lnT>
                  </a:tcPr>
                </a:tc>
                <a:tc>
                  <a:txBody>
                    <a:bodyPr/>
                    <a:lstStyle/>
                    <a:p>
                      <a:pPr algn="just" latinLnBrk="1"/>
                      <a:r>
                        <a:rPr lang="en-US" altLang="ko-KR" sz="900" b="0" dirty="0">
                          <a:solidFill>
                            <a:schemeClr val="tx1"/>
                          </a:solidFill>
                          <a:latin typeface="Arial" panose="020B0604020202020204" pitchFamily="34" charset="0"/>
                          <a:ea typeface="+mn-ea"/>
                          <a:cs typeface="Arial" panose="020B0604020202020204" pitchFamily="34" charset="0"/>
                        </a:rPr>
                        <a:t>These bits are read only. If the XD12 will receive the ID-Gen command from the XC24 controller, then the ID value is automatically generated. The ID value is needed for proper reading, so, the ID-Gen command must be firstly executed by the XC24 controller before executing any commands.  If all XD12 drivers daisied will receive the ID-Gen command, the last-located device will have the first number of ID, and the first located device will have the last number of ID, that is, the number of daisied devices. The ID value can not be written by a Host.</a:t>
                      </a:r>
                    </a:p>
                  </a:txBody>
                  <a:tcPr marL="36000" marR="0" marT="36000" marB="36000">
                    <a:lnL>
                      <a:noFill/>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2461270"/>
                  </a:ext>
                </a:extLst>
              </a:tr>
            </a:tbl>
          </a:graphicData>
        </a:graphic>
      </p:graphicFrame>
    </p:spTree>
    <p:extLst>
      <p:ext uri="{BB962C8B-B14F-4D97-AF65-F5344CB8AC3E}">
        <p14:creationId xmlns:p14="http://schemas.microsoft.com/office/powerpoint/2010/main" val="3517499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361CF8C-9724-C6B9-548F-BF8FA6528D54}"/>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029D54CF-82BA-535C-68BC-B2EBBCF3C384}"/>
              </a:ext>
            </a:extLst>
          </p:cNvPr>
          <p:cNvGraphicFramePr>
            <a:graphicFrameLocks noGrp="1"/>
          </p:cNvGraphicFramePr>
          <p:nvPr>
            <p:extLst>
              <p:ext uri="{D42A27DB-BD31-4B8C-83A1-F6EECF244321}">
                <p14:modId xmlns:p14="http://schemas.microsoft.com/office/powerpoint/2010/main" val="3553629635"/>
              </p:ext>
            </p:extLst>
          </p:nvPr>
        </p:nvGraphicFramePr>
        <p:xfrm>
          <a:off x="408946" y="1577336"/>
          <a:ext cx="6053219" cy="6192672"/>
        </p:xfrm>
        <a:graphic>
          <a:graphicData uri="http://schemas.openxmlformats.org/drawingml/2006/table">
            <a:tbl>
              <a:tblPr firstRow="1" bandRow="1">
                <a:tableStyleId>{5C22544A-7EE6-4342-B048-85BDC9FD1C3A}</a:tableStyleId>
              </a:tblPr>
              <a:tblGrid>
                <a:gridCol w="465167">
                  <a:extLst>
                    <a:ext uri="{9D8B030D-6E8A-4147-A177-3AD203B41FA5}">
                      <a16:colId xmlns:a16="http://schemas.microsoft.com/office/drawing/2014/main" val="4170535043"/>
                    </a:ext>
                  </a:extLst>
                </a:gridCol>
                <a:gridCol w="954687">
                  <a:extLst>
                    <a:ext uri="{9D8B030D-6E8A-4147-A177-3AD203B41FA5}">
                      <a16:colId xmlns:a16="http://schemas.microsoft.com/office/drawing/2014/main" val="2079070694"/>
                    </a:ext>
                  </a:extLst>
                </a:gridCol>
                <a:gridCol w="4633365">
                  <a:extLst>
                    <a:ext uri="{9D8B030D-6E8A-4147-A177-3AD203B41FA5}">
                      <a16:colId xmlns:a16="http://schemas.microsoft.com/office/drawing/2014/main" val="32595803"/>
                    </a:ext>
                  </a:extLst>
                </a:gridCol>
              </a:tblGrid>
              <a:tr h="27686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dimming sequence. Even if the LD_DIR, PWM_RES, OVER_TO_E and SCAN_NO value will be changed in the middle of the current frame, the  value will affect the dimming sequence from the next frame after completing the current frame process.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LD_SIZE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how many LD data will be transmitted for one time. This value is not needed to match with the number of enabled channels in the CHANNEL ENABLE register. It keeps in mind that the LD data to be transmitted </a:t>
                      </a:r>
                      <a:r>
                        <a:rPr lang="en-US" altLang="ko-KR" sz="900" b="0" i="1" dirty="0">
                          <a:solidFill>
                            <a:schemeClr val="tx1"/>
                          </a:solidFill>
                          <a:latin typeface="Arial" panose="020B0604020202020204" pitchFamily="34" charset="0"/>
                          <a:ea typeface="+mn-ea"/>
                          <a:cs typeface="Arial" panose="020B0604020202020204" pitchFamily="34" charset="0"/>
                        </a:rPr>
                        <a:t>will be mapped sequentially from channel 1 to channel n regardless of the corresponded CHx_EN bit activation</a:t>
                      </a:r>
                      <a:r>
                        <a:rPr lang="en-US" altLang="ko-KR" sz="900" b="0" dirty="0">
                          <a:solidFill>
                            <a:schemeClr val="tx1"/>
                          </a:solidFill>
                          <a:latin typeface="Arial" panose="020B0604020202020204" pitchFamily="34" charset="0"/>
                          <a:ea typeface="+mn-ea"/>
                          <a:cs typeface="Arial" panose="020B0604020202020204" pitchFamily="34" charset="0"/>
                        </a:rPr>
                        <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6047234"/>
                  </a:ext>
                </a:extLst>
              </a:tr>
              <a:tr h="177606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IO_MODE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FB and VSYNC functional usage as a pin. Refer to below table.</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8617746"/>
                  </a:ext>
                </a:extLst>
              </a:tr>
              <a:tr h="77566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SCAN_NO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value determines the number of scanning within a frame. The scanning number is one if the value is zero. In case the value is greater than 0, the larger the value, the smaller the PWM depth. The available value is from 0 to 5, and the relationship between the set value vs the scanning number and the PWM depth can be showed in below Table 5.</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8853742"/>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OVER_TO_E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Over Turn-On Enable. This bit is an optional and recommended to decide the set according to the dimming performance from internal PWM clock. It is useful in case the PWM clock is faster than ideal frequency under full PWM data.</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8028463"/>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PWM_RES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PWM resolution.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12-bit PWM resolution (max steps 4,095)</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14-bit PWM resolution (max steps 16,383)</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5336826"/>
                  </a:ext>
                </a:extLst>
              </a:tr>
              <a:tr h="604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LD_DIR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determines the direction of modulated edge with increasing on time from a vsync.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Head Shift Lighting</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Tail Shift Lighting</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3402798"/>
                  </a:ext>
                </a:extLst>
              </a:tr>
            </a:tbl>
          </a:graphicData>
        </a:graphic>
      </p:graphicFrame>
      <p:graphicFrame>
        <p:nvGraphicFramePr>
          <p:cNvPr id="11" name="표 10">
            <a:extLst>
              <a:ext uri="{FF2B5EF4-FFF2-40B4-BE49-F238E27FC236}">
                <a16:creationId xmlns:a16="http://schemas.microsoft.com/office/drawing/2014/main" id="{D22F6820-209F-D236-672E-D96181586F8B}"/>
              </a:ext>
            </a:extLst>
          </p:cNvPr>
          <p:cNvGraphicFramePr>
            <a:graphicFrameLocks noGrp="1"/>
          </p:cNvGraphicFramePr>
          <p:nvPr>
            <p:extLst>
              <p:ext uri="{D42A27DB-BD31-4B8C-83A1-F6EECF244321}">
                <p14:modId xmlns:p14="http://schemas.microsoft.com/office/powerpoint/2010/main" val="3874643504"/>
              </p:ext>
            </p:extLst>
          </p:nvPr>
        </p:nvGraphicFramePr>
        <p:xfrm>
          <a:off x="401292" y="1108857"/>
          <a:ext cx="6060873" cy="372600"/>
        </p:xfrm>
        <a:graphic>
          <a:graphicData uri="http://schemas.openxmlformats.org/drawingml/2006/table">
            <a:tbl>
              <a:tblPr firstRow="1" bandRow="1">
                <a:tableStyleId>{5C22544A-7EE6-4342-B048-85BDC9FD1C3A}</a:tableStyleId>
              </a:tblPr>
              <a:tblGrid>
                <a:gridCol w="261945">
                  <a:extLst>
                    <a:ext uri="{9D8B030D-6E8A-4147-A177-3AD203B41FA5}">
                      <a16:colId xmlns:a16="http://schemas.microsoft.com/office/drawing/2014/main" val="657570846"/>
                    </a:ext>
                  </a:extLst>
                </a:gridCol>
                <a:gridCol w="306537">
                  <a:extLst>
                    <a:ext uri="{9D8B030D-6E8A-4147-A177-3AD203B41FA5}">
                      <a16:colId xmlns:a16="http://schemas.microsoft.com/office/drawing/2014/main" val="3259894497"/>
                    </a:ext>
                  </a:extLst>
                </a:gridCol>
                <a:gridCol w="411096">
                  <a:extLst>
                    <a:ext uri="{9D8B030D-6E8A-4147-A177-3AD203B41FA5}">
                      <a16:colId xmlns:a16="http://schemas.microsoft.com/office/drawing/2014/main" val="4170535043"/>
                    </a:ext>
                  </a:extLst>
                </a:gridCol>
                <a:gridCol w="333929">
                  <a:extLst>
                    <a:ext uri="{9D8B030D-6E8A-4147-A177-3AD203B41FA5}">
                      <a16:colId xmlns:a16="http://schemas.microsoft.com/office/drawing/2014/main" val="2079070694"/>
                    </a:ext>
                  </a:extLst>
                </a:gridCol>
                <a:gridCol w="333929">
                  <a:extLst>
                    <a:ext uri="{9D8B030D-6E8A-4147-A177-3AD203B41FA5}">
                      <a16:colId xmlns:a16="http://schemas.microsoft.com/office/drawing/2014/main" val="4213315911"/>
                    </a:ext>
                  </a:extLst>
                </a:gridCol>
                <a:gridCol w="333929">
                  <a:extLst>
                    <a:ext uri="{9D8B030D-6E8A-4147-A177-3AD203B41FA5}">
                      <a16:colId xmlns:a16="http://schemas.microsoft.com/office/drawing/2014/main" val="2769999950"/>
                    </a:ext>
                  </a:extLst>
                </a:gridCol>
                <a:gridCol w="333929">
                  <a:extLst>
                    <a:ext uri="{9D8B030D-6E8A-4147-A177-3AD203B41FA5}">
                      <a16:colId xmlns:a16="http://schemas.microsoft.com/office/drawing/2014/main" val="135637185"/>
                    </a:ext>
                  </a:extLst>
                </a:gridCol>
                <a:gridCol w="623514">
                  <a:extLst>
                    <a:ext uri="{9D8B030D-6E8A-4147-A177-3AD203B41FA5}">
                      <a16:colId xmlns:a16="http://schemas.microsoft.com/office/drawing/2014/main" val="3038050475"/>
                    </a:ext>
                  </a:extLst>
                </a:gridCol>
                <a:gridCol w="544649">
                  <a:extLst>
                    <a:ext uri="{9D8B030D-6E8A-4147-A177-3AD203B41FA5}">
                      <a16:colId xmlns:a16="http://schemas.microsoft.com/office/drawing/2014/main" val="1979433044"/>
                    </a:ext>
                  </a:extLst>
                </a:gridCol>
                <a:gridCol w="333929">
                  <a:extLst>
                    <a:ext uri="{9D8B030D-6E8A-4147-A177-3AD203B41FA5}">
                      <a16:colId xmlns:a16="http://schemas.microsoft.com/office/drawing/2014/main" val="4270661649"/>
                    </a:ext>
                  </a:extLst>
                </a:gridCol>
                <a:gridCol w="333929">
                  <a:extLst>
                    <a:ext uri="{9D8B030D-6E8A-4147-A177-3AD203B41FA5}">
                      <a16:colId xmlns:a16="http://schemas.microsoft.com/office/drawing/2014/main" val="3027041370"/>
                    </a:ext>
                  </a:extLst>
                </a:gridCol>
                <a:gridCol w="333929">
                  <a:extLst>
                    <a:ext uri="{9D8B030D-6E8A-4147-A177-3AD203B41FA5}">
                      <a16:colId xmlns:a16="http://schemas.microsoft.com/office/drawing/2014/main" val="2852526216"/>
                    </a:ext>
                  </a:extLst>
                </a:gridCol>
                <a:gridCol w="609453">
                  <a:extLst>
                    <a:ext uri="{9D8B030D-6E8A-4147-A177-3AD203B41FA5}">
                      <a16:colId xmlns:a16="http://schemas.microsoft.com/office/drawing/2014/main" val="103420222"/>
                    </a:ext>
                  </a:extLst>
                </a:gridCol>
                <a:gridCol w="527959">
                  <a:extLst>
                    <a:ext uri="{9D8B030D-6E8A-4147-A177-3AD203B41FA5}">
                      <a16:colId xmlns:a16="http://schemas.microsoft.com/office/drawing/2014/main" val="1470405609"/>
                    </a:ext>
                  </a:extLst>
                </a:gridCol>
                <a:gridCol w="43821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LD_SIZE [3:0]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IO_MODE [1:0]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SCAN_NO [2:0]</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OVER_TO_E</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PWM_RES</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LD_DIR</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1EBAC887-FA70-6A55-8D5F-F5578055C9AC}"/>
              </a:ext>
            </a:extLst>
          </p:cNvPr>
          <p:cNvSpPr txBox="1"/>
          <p:nvPr/>
        </p:nvSpPr>
        <p:spPr>
          <a:xfrm>
            <a:off x="401291" y="848186"/>
            <a:ext cx="605214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LD CONTROL</a:t>
            </a:r>
          </a:p>
        </p:txBody>
      </p:sp>
      <p:graphicFrame>
        <p:nvGraphicFramePr>
          <p:cNvPr id="5" name="표 4">
            <a:extLst>
              <a:ext uri="{FF2B5EF4-FFF2-40B4-BE49-F238E27FC236}">
                <a16:creationId xmlns:a16="http://schemas.microsoft.com/office/drawing/2014/main" id="{B6DD68C4-5BE9-AE64-0C5B-2A14194E6524}"/>
              </a:ext>
            </a:extLst>
          </p:cNvPr>
          <p:cNvGraphicFramePr>
            <a:graphicFrameLocks noGrp="1"/>
          </p:cNvGraphicFramePr>
          <p:nvPr>
            <p:extLst>
              <p:ext uri="{D42A27DB-BD31-4B8C-83A1-F6EECF244321}">
                <p14:modId xmlns:p14="http://schemas.microsoft.com/office/powerpoint/2010/main" val="2482953979"/>
              </p:ext>
            </p:extLst>
          </p:nvPr>
        </p:nvGraphicFramePr>
        <p:xfrm>
          <a:off x="1866407" y="3625955"/>
          <a:ext cx="4567259" cy="1328185"/>
        </p:xfrm>
        <a:graphic>
          <a:graphicData uri="http://schemas.openxmlformats.org/drawingml/2006/table">
            <a:tbl>
              <a:tblPr firstRow="1" bandRow="1">
                <a:tableStyleId>{5C22544A-7EE6-4342-B048-85BDC9FD1C3A}</a:tableStyleId>
              </a:tblPr>
              <a:tblGrid>
                <a:gridCol w="297712">
                  <a:extLst>
                    <a:ext uri="{9D8B030D-6E8A-4147-A177-3AD203B41FA5}">
                      <a16:colId xmlns:a16="http://schemas.microsoft.com/office/drawing/2014/main" val="2861869108"/>
                    </a:ext>
                  </a:extLst>
                </a:gridCol>
                <a:gridCol w="745388">
                  <a:extLst>
                    <a:ext uri="{9D8B030D-6E8A-4147-A177-3AD203B41FA5}">
                      <a16:colId xmlns:a16="http://schemas.microsoft.com/office/drawing/2014/main" val="3471461862"/>
                    </a:ext>
                  </a:extLst>
                </a:gridCol>
                <a:gridCol w="258025">
                  <a:extLst>
                    <a:ext uri="{9D8B030D-6E8A-4147-A177-3AD203B41FA5}">
                      <a16:colId xmlns:a16="http://schemas.microsoft.com/office/drawing/2014/main" val="4138367841"/>
                    </a:ext>
                  </a:extLst>
                </a:gridCol>
                <a:gridCol w="258025">
                  <a:extLst>
                    <a:ext uri="{9D8B030D-6E8A-4147-A177-3AD203B41FA5}">
                      <a16:colId xmlns:a16="http://schemas.microsoft.com/office/drawing/2014/main" val="3589866634"/>
                    </a:ext>
                  </a:extLst>
                </a:gridCol>
                <a:gridCol w="258025">
                  <a:extLst>
                    <a:ext uri="{9D8B030D-6E8A-4147-A177-3AD203B41FA5}">
                      <a16:colId xmlns:a16="http://schemas.microsoft.com/office/drawing/2014/main" val="203027085"/>
                    </a:ext>
                  </a:extLst>
                </a:gridCol>
                <a:gridCol w="258025">
                  <a:extLst>
                    <a:ext uri="{9D8B030D-6E8A-4147-A177-3AD203B41FA5}">
                      <a16:colId xmlns:a16="http://schemas.microsoft.com/office/drawing/2014/main" val="1213780966"/>
                    </a:ext>
                  </a:extLst>
                </a:gridCol>
                <a:gridCol w="2492059">
                  <a:extLst>
                    <a:ext uri="{9D8B030D-6E8A-4147-A177-3AD203B41FA5}">
                      <a16:colId xmlns:a16="http://schemas.microsoft.com/office/drawing/2014/main" val="4000803811"/>
                    </a:ext>
                  </a:extLst>
                </a:gridCol>
              </a:tblGrid>
              <a:tr h="20805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Value</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Description</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FBO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VSI</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VSO</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Remark</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309093">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NOP (default)</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VSYNC and 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p>
                      <a:pPr algn="l" latinLnBrk="1"/>
                      <a:r>
                        <a:rPr lang="en-US" altLang="ko-KR" sz="800" dirty="0">
                          <a:solidFill>
                            <a:schemeClr val="tx1"/>
                          </a:solidFill>
                          <a:latin typeface="Arial" panose="020B0604020202020204" pitchFamily="34" charset="0"/>
                          <a:ea typeface="+mn-ea"/>
                          <a:cs typeface="Arial" panose="020B0604020202020204" pitchFamily="34" charset="0"/>
                        </a:rPr>
                        <a:t>These pins, 5 and 14, can be connected to GND.</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01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VSYNC-In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FB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10</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FB daisied</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l" latinLnBrk="1"/>
                      <a:r>
                        <a:rPr lang="en-US" altLang="ko-KR" sz="800" dirty="0">
                          <a:solidFill>
                            <a:schemeClr val="tx1"/>
                          </a:solidFill>
                          <a:latin typeface="Arial" panose="020B0604020202020204" pitchFamily="34" charset="0"/>
                          <a:ea typeface="+mn-ea"/>
                          <a:cs typeface="Arial" panose="020B0604020202020204" pitchFamily="34" charset="0"/>
                        </a:rPr>
                        <a:t>External FB-Out signal scheme in a daisy chain</a:t>
                      </a:r>
                    </a:p>
                    <a:p>
                      <a:pPr algn="l" latinLnBrk="1"/>
                      <a:r>
                        <a:rPr lang="en-US" altLang="ko-KR" sz="800" dirty="0">
                          <a:solidFill>
                            <a:schemeClr val="tx1"/>
                          </a:solidFill>
                          <a:latin typeface="Arial" panose="020B0604020202020204" pitchFamily="34" charset="0"/>
                          <a:ea typeface="+mn-ea"/>
                          <a:cs typeface="Arial" panose="020B0604020202020204" pitchFamily="34" charset="0"/>
                        </a:rPr>
                        <a:t>VSYNC-In can be got through a communication.</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62294112"/>
                  </a:ext>
                </a:extLst>
              </a:tr>
              <a:tr h="270347">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11</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ea typeface="+mn-ea"/>
                          <a:cs typeface="Arial" panose="020B0604020202020204" pitchFamily="34" charset="0"/>
                        </a:rPr>
                        <a:t>VSYNC and FB</a:t>
                      </a:r>
                    </a:p>
                    <a:p>
                      <a:pPr algn="ctr" latinLnBrk="1"/>
                      <a:r>
                        <a:rPr lang="en-US" altLang="ko-KR" sz="800" dirty="0">
                          <a:solidFill>
                            <a:schemeClr val="tx1"/>
                          </a:solidFill>
                          <a:latin typeface="Arial" panose="020B0604020202020204" pitchFamily="34" charset="0"/>
                          <a:ea typeface="+mn-ea"/>
                          <a:cs typeface="Arial" panose="020B0604020202020204" pitchFamily="34" charset="0"/>
                        </a:rPr>
                        <a:t>individual drive</a:t>
                      </a:r>
                      <a:endParaRPr lang="ko-KR" altLang="en-US" sz="80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FFFEB"/>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l" defTabSz="685800" rtl="0" eaLnBrk="1" fontAlgn="auto" latinLnBrk="1" hangingPunct="1">
                        <a:lnSpc>
                          <a:spcPct val="100000"/>
                        </a:lnSpc>
                        <a:spcBef>
                          <a:spcPts val="0"/>
                        </a:spcBef>
                        <a:spcAft>
                          <a:spcPts val="0"/>
                        </a:spcAft>
                        <a:buClrTx/>
                        <a:buSzTx/>
                        <a:buFontTx/>
                        <a:buNone/>
                        <a:tabLst/>
                        <a:defRPr/>
                      </a:pPr>
                      <a:r>
                        <a:rPr lang="en-US" altLang="ko-KR" sz="800" dirty="0">
                          <a:solidFill>
                            <a:schemeClr val="tx1"/>
                          </a:solidFill>
                          <a:latin typeface="Arial" panose="020B0604020202020204" pitchFamily="34" charset="0"/>
                          <a:ea typeface="+mn-ea"/>
                          <a:cs typeface="Arial" panose="020B0604020202020204" pitchFamily="34" charset="0"/>
                        </a:rPr>
                        <a:t>External VSYNC-In and FB-Out are used individually, not in daisy chain.</a:t>
                      </a: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52375884"/>
                  </a:ext>
                </a:extLst>
              </a:tr>
            </a:tbl>
          </a:graphicData>
        </a:graphic>
      </p:graphicFrame>
    </p:spTree>
    <p:extLst>
      <p:ext uri="{BB962C8B-B14F-4D97-AF65-F5344CB8AC3E}">
        <p14:creationId xmlns:p14="http://schemas.microsoft.com/office/powerpoint/2010/main" val="15710624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3047941353"/>
              </p:ext>
            </p:extLst>
          </p:nvPr>
        </p:nvGraphicFramePr>
        <p:xfrm>
          <a:off x="389761" y="1549501"/>
          <a:ext cx="6053732" cy="2193501"/>
        </p:xfrm>
        <a:graphic>
          <a:graphicData uri="http://schemas.openxmlformats.org/drawingml/2006/table">
            <a:tbl>
              <a:tblPr firstRow="1" bandRow="1">
                <a:tableStyleId>{5C22544A-7EE6-4342-B048-85BDC9FD1C3A}</a:tableStyleId>
              </a:tblPr>
              <a:tblGrid>
                <a:gridCol w="444621">
                  <a:extLst>
                    <a:ext uri="{9D8B030D-6E8A-4147-A177-3AD203B41FA5}">
                      <a16:colId xmlns:a16="http://schemas.microsoft.com/office/drawing/2014/main" val="4170535043"/>
                    </a:ext>
                  </a:extLst>
                </a:gridCol>
                <a:gridCol w="1056517">
                  <a:extLst>
                    <a:ext uri="{9D8B030D-6E8A-4147-A177-3AD203B41FA5}">
                      <a16:colId xmlns:a16="http://schemas.microsoft.com/office/drawing/2014/main" val="2079070694"/>
                    </a:ext>
                  </a:extLst>
                </a:gridCol>
                <a:gridCol w="4552594">
                  <a:extLst>
                    <a:ext uri="{9D8B030D-6E8A-4147-A177-3AD203B41FA5}">
                      <a16:colId xmlns:a16="http://schemas.microsoft.com/office/drawing/2014/main" val="32595803"/>
                    </a:ext>
                  </a:extLst>
                </a:gridCol>
              </a:tblGrid>
              <a:tr h="30003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89346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FPWM_DIV</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determines the PWM reference clock. The PWM reference clock can be created by dividing the MCLK frequency by the setting value + 1. Even if the setting value will be changed in the middle of the frame, the value will be applied immediately from the next vsync assertion. The setting value according to the frame frequency is guided as shown Table 7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399453" y="848186"/>
            <a:ext cx="60537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FPWM DIVIDER</a:t>
            </a:r>
          </a:p>
        </p:txBody>
      </p:sp>
      <p:sp>
        <p:nvSpPr>
          <p:cNvPr id="13" name="TextBox 12">
            <a:extLst>
              <a:ext uri="{FF2B5EF4-FFF2-40B4-BE49-F238E27FC236}">
                <a16:creationId xmlns:a16="http://schemas.microsoft.com/office/drawing/2014/main" id="{73440F33-4BCE-8AB1-2175-28FBD67160EF}"/>
              </a:ext>
            </a:extLst>
          </p:cNvPr>
          <p:cNvSpPr txBox="1"/>
          <p:nvPr/>
        </p:nvSpPr>
        <p:spPr>
          <a:xfrm>
            <a:off x="382986" y="4556430"/>
            <a:ext cx="6070200"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CHANNEL ENABLE</a:t>
            </a:r>
          </a:p>
        </p:txBody>
      </p:sp>
      <p:sp>
        <p:nvSpPr>
          <p:cNvPr id="18" name="TextBox 17">
            <a:extLst>
              <a:ext uri="{FF2B5EF4-FFF2-40B4-BE49-F238E27FC236}">
                <a16:creationId xmlns:a16="http://schemas.microsoft.com/office/drawing/2014/main" id="{C2BD314D-1132-1D85-789B-26AF97F14C5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AEC2914C-3763-C1D3-D233-AB03C8E93409}"/>
              </a:ext>
            </a:extLst>
          </p:cNvPr>
          <p:cNvGraphicFramePr>
            <a:graphicFrameLocks noGrp="1"/>
          </p:cNvGraphicFramePr>
          <p:nvPr>
            <p:extLst>
              <p:ext uri="{D42A27DB-BD31-4B8C-83A1-F6EECF244321}">
                <p14:modId xmlns:p14="http://schemas.microsoft.com/office/powerpoint/2010/main" val="2489695626"/>
              </p:ext>
            </p:extLst>
          </p:nvPr>
        </p:nvGraphicFramePr>
        <p:xfrm>
          <a:off x="394817" y="1109669"/>
          <a:ext cx="6058369" cy="372600"/>
        </p:xfrm>
        <a:graphic>
          <a:graphicData uri="http://schemas.openxmlformats.org/drawingml/2006/table">
            <a:tbl>
              <a:tblPr firstRow="1" bandRow="1">
                <a:tableStyleId>{5C22544A-7EE6-4342-B048-85BDC9FD1C3A}</a:tableStyleId>
              </a:tblPr>
              <a:tblGrid>
                <a:gridCol w="351954">
                  <a:extLst>
                    <a:ext uri="{9D8B030D-6E8A-4147-A177-3AD203B41FA5}">
                      <a16:colId xmlns:a16="http://schemas.microsoft.com/office/drawing/2014/main" val="657570846"/>
                    </a:ext>
                  </a:extLst>
                </a:gridCol>
                <a:gridCol w="386986">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FPWM_DIV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9" name="표 8">
            <a:extLst>
              <a:ext uri="{FF2B5EF4-FFF2-40B4-BE49-F238E27FC236}">
                <a16:creationId xmlns:a16="http://schemas.microsoft.com/office/drawing/2014/main" id="{5CA8150D-F886-E5BB-7700-33A31FAE56DC}"/>
              </a:ext>
            </a:extLst>
          </p:cNvPr>
          <p:cNvGraphicFramePr>
            <a:graphicFrameLocks noGrp="1"/>
          </p:cNvGraphicFramePr>
          <p:nvPr>
            <p:extLst>
              <p:ext uri="{D42A27DB-BD31-4B8C-83A1-F6EECF244321}">
                <p14:modId xmlns:p14="http://schemas.microsoft.com/office/powerpoint/2010/main" val="2851135739"/>
              </p:ext>
            </p:extLst>
          </p:nvPr>
        </p:nvGraphicFramePr>
        <p:xfrm>
          <a:off x="394817" y="4821945"/>
          <a:ext cx="6058367" cy="372600"/>
        </p:xfrm>
        <a:graphic>
          <a:graphicData uri="http://schemas.openxmlformats.org/drawingml/2006/table">
            <a:tbl>
              <a:tblPr firstRow="1" bandRow="1">
                <a:tableStyleId>{5C22544A-7EE6-4342-B048-85BDC9FD1C3A}</a:tableStyleId>
              </a:tblPr>
              <a:tblGrid>
                <a:gridCol w="351953">
                  <a:extLst>
                    <a:ext uri="{9D8B030D-6E8A-4147-A177-3AD203B41FA5}">
                      <a16:colId xmlns:a16="http://schemas.microsoft.com/office/drawing/2014/main" val="657570846"/>
                    </a:ext>
                  </a:extLst>
                </a:gridCol>
                <a:gridCol w="386985">
                  <a:extLst>
                    <a:ext uri="{9D8B030D-6E8A-4147-A177-3AD203B41FA5}">
                      <a16:colId xmlns:a16="http://schemas.microsoft.com/office/drawing/2014/main" val="3259894497"/>
                    </a:ext>
                  </a:extLst>
                </a:gridCol>
                <a:gridCol w="454809">
                  <a:extLst>
                    <a:ext uri="{9D8B030D-6E8A-4147-A177-3AD203B41FA5}">
                      <a16:colId xmlns:a16="http://schemas.microsoft.com/office/drawing/2014/main" val="4170535043"/>
                    </a:ext>
                  </a:extLst>
                </a:gridCol>
                <a:gridCol w="405385">
                  <a:extLst>
                    <a:ext uri="{9D8B030D-6E8A-4147-A177-3AD203B41FA5}">
                      <a16:colId xmlns:a16="http://schemas.microsoft.com/office/drawing/2014/main" val="2079070694"/>
                    </a:ext>
                  </a:extLst>
                </a:gridCol>
                <a:gridCol w="405385">
                  <a:extLst>
                    <a:ext uri="{9D8B030D-6E8A-4147-A177-3AD203B41FA5}">
                      <a16:colId xmlns:a16="http://schemas.microsoft.com/office/drawing/2014/main" val="4213315911"/>
                    </a:ext>
                  </a:extLst>
                </a:gridCol>
                <a:gridCol w="405385">
                  <a:extLst>
                    <a:ext uri="{9D8B030D-6E8A-4147-A177-3AD203B41FA5}">
                      <a16:colId xmlns:a16="http://schemas.microsoft.com/office/drawing/2014/main" val="2769999950"/>
                    </a:ext>
                  </a:extLst>
                </a:gridCol>
                <a:gridCol w="405385">
                  <a:extLst>
                    <a:ext uri="{9D8B030D-6E8A-4147-A177-3AD203B41FA5}">
                      <a16:colId xmlns:a16="http://schemas.microsoft.com/office/drawing/2014/main" val="135637185"/>
                    </a:ext>
                  </a:extLst>
                </a:gridCol>
                <a:gridCol w="405385">
                  <a:extLst>
                    <a:ext uri="{9D8B030D-6E8A-4147-A177-3AD203B41FA5}">
                      <a16:colId xmlns:a16="http://schemas.microsoft.com/office/drawing/2014/main" val="3038050475"/>
                    </a:ext>
                  </a:extLst>
                </a:gridCol>
                <a:gridCol w="405385">
                  <a:extLst>
                    <a:ext uri="{9D8B030D-6E8A-4147-A177-3AD203B41FA5}">
                      <a16:colId xmlns:a16="http://schemas.microsoft.com/office/drawing/2014/main" val="1979433044"/>
                    </a:ext>
                  </a:extLst>
                </a:gridCol>
                <a:gridCol w="405385">
                  <a:extLst>
                    <a:ext uri="{9D8B030D-6E8A-4147-A177-3AD203B41FA5}">
                      <a16:colId xmlns:a16="http://schemas.microsoft.com/office/drawing/2014/main" val="4270661649"/>
                    </a:ext>
                  </a:extLst>
                </a:gridCol>
                <a:gridCol w="405385">
                  <a:extLst>
                    <a:ext uri="{9D8B030D-6E8A-4147-A177-3AD203B41FA5}">
                      <a16:colId xmlns:a16="http://schemas.microsoft.com/office/drawing/2014/main" val="3027041370"/>
                    </a:ext>
                  </a:extLst>
                </a:gridCol>
                <a:gridCol w="405385">
                  <a:extLst>
                    <a:ext uri="{9D8B030D-6E8A-4147-A177-3AD203B41FA5}">
                      <a16:colId xmlns:a16="http://schemas.microsoft.com/office/drawing/2014/main" val="2852526216"/>
                    </a:ext>
                  </a:extLst>
                </a:gridCol>
                <a:gridCol w="405385">
                  <a:extLst>
                    <a:ext uri="{9D8B030D-6E8A-4147-A177-3AD203B41FA5}">
                      <a16:colId xmlns:a16="http://schemas.microsoft.com/office/drawing/2014/main" val="103420222"/>
                    </a:ext>
                  </a:extLst>
                </a:gridCol>
                <a:gridCol w="405385">
                  <a:extLst>
                    <a:ext uri="{9D8B030D-6E8A-4147-A177-3AD203B41FA5}">
                      <a16:colId xmlns:a16="http://schemas.microsoft.com/office/drawing/2014/main" val="1470405609"/>
                    </a:ext>
                  </a:extLst>
                </a:gridCol>
                <a:gridCol w="40538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CH1_EN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53BD7BCF-2BBA-9C05-D584-6716FA12324C}"/>
              </a:ext>
            </a:extLst>
          </p:cNvPr>
          <p:cNvGraphicFramePr>
            <a:graphicFrameLocks noGrp="1"/>
          </p:cNvGraphicFramePr>
          <p:nvPr>
            <p:extLst>
              <p:ext uri="{D42A27DB-BD31-4B8C-83A1-F6EECF244321}">
                <p14:modId xmlns:p14="http://schemas.microsoft.com/office/powerpoint/2010/main" val="66471010"/>
              </p:ext>
            </p:extLst>
          </p:nvPr>
        </p:nvGraphicFramePr>
        <p:xfrm>
          <a:off x="1944559" y="2694223"/>
          <a:ext cx="4496795" cy="789600"/>
        </p:xfrm>
        <a:graphic>
          <a:graphicData uri="http://schemas.openxmlformats.org/drawingml/2006/table">
            <a:tbl>
              <a:tblPr firstRow="1" bandRow="1">
                <a:tableStyleId>{5C22544A-7EE6-4342-B048-85BDC9FD1C3A}</a:tableStyleId>
              </a:tblPr>
              <a:tblGrid>
                <a:gridCol w="628841">
                  <a:extLst>
                    <a:ext uri="{9D8B030D-6E8A-4147-A177-3AD203B41FA5}">
                      <a16:colId xmlns:a16="http://schemas.microsoft.com/office/drawing/2014/main" val="2861869108"/>
                    </a:ext>
                  </a:extLst>
                </a:gridCol>
                <a:gridCol w="1196174">
                  <a:extLst>
                    <a:ext uri="{9D8B030D-6E8A-4147-A177-3AD203B41FA5}">
                      <a16:colId xmlns:a16="http://schemas.microsoft.com/office/drawing/2014/main" val="3471461862"/>
                    </a:ext>
                  </a:extLst>
                </a:gridCol>
                <a:gridCol w="534356">
                  <a:extLst>
                    <a:ext uri="{9D8B030D-6E8A-4147-A177-3AD203B41FA5}">
                      <a16:colId xmlns:a16="http://schemas.microsoft.com/office/drawing/2014/main" val="4138367841"/>
                    </a:ext>
                  </a:extLst>
                </a:gridCol>
                <a:gridCol w="534356">
                  <a:extLst>
                    <a:ext uri="{9D8B030D-6E8A-4147-A177-3AD203B41FA5}">
                      <a16:colId xmlns:a16="http://schemas.microsoft.com/office/drawing/2014/main" val="3589866634"/>
                    </a:ext>
                  </a:extLst>
                </a:gridCol>
                <a:gridCol w="534356">
                  <a:extLst>
                    <a:ext uri="{9D8B030D-6E8A-4147-A177-3AD203B41FA5}">
                      <a16:colId xmlns:a16="http://schemas.microsoft.com/office/drawing/2014/main" val="203027085"/>
                    </a:ext>
                  </a:extLst>
                </a:gridCol>
                <a:gridCol w="534356">
                  <a:extLst>
                    <a:ext uri="{9D8B030D-6E8A-4147-A177-3AD203B41FA5}">
                      <a16:colId xmlns:a16="http://schemas.microsoft.com/office/drawing/2014/main" val="1213780966"/>
                    </a:ext>
                  </a:extLst>
                </a:gridCol>
                <a:gridCol w="534356">
                  <a:extLst>
                    <a:ext uri="{9D8B030D-6E8A-4147-A177-3AD203B41FA5}">
                      <a16:colId xmlns:a16="http://schemas.microsoft.com/office/drawing/2014/main" val="4000803811"/>
                    </a:ext>
                  </a:extLst>
                </a:gridCol>
              </a:tblGrid>
              <a:tr h="122804">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PWM_RES</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Register</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100Hz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120Hz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144Hz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165Hz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b="0" dirty="0">
                          <a:solidFill>
                            <a:schemeClr val="tx1"/>
                          </a:solidFill>
                          <a:latin typeface="Arial" panose="020B0604020202020204" pitchFamily="34" charset="0"/>
                          <a:cs typeface="Arial" panose="020B0604020202020204" pitchFamily="34" charset="0"/>
                        </a:rPr>
                        <a:t>240Hz</a:t>
                      </a:r>
                      <a:endParaRPr lang="ko-KR" altLang="en-US" sz="800" b="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0</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95</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79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67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59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225489603"/>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393,434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327,862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278,683</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245,897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163,931</a:t>
                      </a: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3990245991"/>
                  </a:ext>
                </a:extLst>
              </a:tr>
              <a:tr h="122804">
                <a:tc rowSpan="2">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FPWM_DIV</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23</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16</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14</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9</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074396062"/>
                  </a:ext>
                </a:extLst>
              </a:tr>
              <a:tr h="122804">
                <a:tc vMerge="1">
                  <a:txBody>
                    <a:bodyPr/>
                    <a:lstStyle/>
                    <a:p>
                      <a:pPr algn="ctr" latinLnBrk="1"/>
                      <a:endParaRPr lang="ko-KR" altLang="en-US" sz="900" dirty="0">
                        <a:solidFill>
                          <a:schemeClr val="tx1"/>
                        </a:solidFill>
                        <a:latin typeface="Arial" panose="020B0604020202020204" pitchFamily="34" charset="0"/>
                        <a:cs typeface="Arial" panose="020B0604020202020204" pitchFamily="34" charset="0"/>
                      </a:endParaRPr>
                    </a:p>
                  </a:txBody>
                  <a:tcPr marL="0" marR="0" marT="0" marB="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MCLK_LOCK_CNT</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393,507</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327,922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278,734</a:t>
                      </a:r>
                      <a:endParaRPr kumimoji="0" lang="ko-KR" altLang="en-US" sz="8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245,942</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ctr" latinLnBrk="1"/>
                      <a:r>
                        <a:rPr lang="en-US" altLang="ko-KR" sz="800" dirty="0">
                          <a:solidFill>
                            <a:schemeClr val="tx1"/>
                          </a:solidFill>
                          <a:latin typeface="Arial" panose="020B0604020202020204" pitchFamily="34" charset="0"/>
                          <a:cs typeface="Arial" panose="020B0604020202020204" pitchFamily="34" charset="0"/>
                        </a:rPr>
                        <a:t>163,961</a:t>
                      </a:r>
                      <a:endParaRPr lang="ko-KR" altLang="en-US" sz="800" dirty="0">
                        <a:solidFill>
                          <a:schemeClr val="tx1"/>
                        </a:solidFill>
                        <a:latin typeface="Arial" panose="020B0604020202020204" pitchFamily="34" charset="0"/>
                        <a:cs typeface="Arial" panose="020B0604020202020204" pitchFamily="34" charset="0"/>
                      </a:endParaRPr>
                    </a:p>
                  </a:txBody>
                  <a:tcPr marL="3600" marR="3600" marT="18000" marB="18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213828537"/>
                  </a:ext>
                </a:extLst>
              </a:tr>
            </a:tbl>
          </a:graphicData>
        </a:graphic>
      </p:graphicFrame>
      <p:sp>
        <p:nvSpPr>
          <p:cNvPr id="2" name="TextBox 1">
            <a:extLst>
              <a:ext uri="{FF2B5EF4-FFF2-40B4-BE49-F238E27FC236}">
                <a16:creationId xmlns:a16="http://schemas.microsoft.com/office/drawing/2014/main" id="{FA590B96-11D0-752B-F5C3-8B8E90F71147}"/>
              </a:ext>
            </a:extLst>
          </p:cNvPr>
          <p:cNvSpPr txBox="1"/>
          <p:nvPr/>
        </p:nvSpPr>
        <p:spPr>
          <a:xfrm>
            <a:off x="3375424" y="3686842"/>
            <a:ext cx="1635063" cy="138499"/>
          </a:xfrm>
          <a:prstGeom prst="rect">
            <a:avLst/>
          </a:prstGeom>
          <a:noFill/>
        </p:spPr>
        <p:txBody>
          <a:bodyPr wrap="none" lIns="0" tIns="0" rIns="0" bIns="0" rtlCol="0" anchor="ctr" anchorCtr="0">
            <a:spAutoFit/>
          </a:bodyPr>
          <a:lstStyle/>
          <a:p>
            <a:r>
              <a:rPr lang="en-US" altLang="ko-KR" sz="900" b="1" dirty="0">
                <a:latin typeface="Arial" panose="020B0604020202020204" pitchFamily="34" charset="0"/>
                <a:cs typeface="Arial" panose="020B0604020202020204" pitchFamily="34" charset="0"/>
              </a:rPr>
              <a:t>Table 7.  FPWM Configuration</a:t>
            </a:r>
          </a:p>
        </p:txBody>
      </p:sp>
      <p:graphicFrame>
        <p:nvGraphicFramePr>
          <p:cNvPr id="4" name="표 3">
            <a:extLst>
              <a:ext uri="{FF2B5EF4-FFF2-40B4-BE49-F238E27FC236}">
                <a16:creationId xmlns:a16="http://schemas.microsoft.com/office/drawing/2014/main" id="{FC553F71-E8AF-1693-34A7-8F6D536792F5}"/>
              </a:ext>
            </a:extLst>
          </p:cNvPr>
          <p:cNvGraphicFramePr>
            <a:graphicFrameLocks noGrp="1"/>
          </p:cNvGraphicFramePr>
          <p:nvPr>
            <p:extLst>
              <p:ext uri="{D42A27DB-BD31-4B8C-83A1-F6EECF244321}">
                <p14:modId xmlns:p14="http://schemas.microsoft.com/office/powerpoint/2010/main" val="4179759240"/>
              </p:ext>
            </p:extLst>
          </p:nvPr>
        </p:nvGraphicFramePr>
        <p:xfrm>
          <a:off x="389761" y="5271446"/>
          <a:ext cx="6058367" cy="2025032"/>
        </p:xfrm>
        <a:graphic>
          <a:graphicData uri="http://schemas.openxmlformats.org/drawingml/2006/table">
            <a:tbl>
              <a:tblPr firstRow="1" bandRow="1">
                <a:tableStyleId>{5C22544A-7EE6-4342-B048-85BDC9FD1C3A}</a:tableStyleId>
              </a:tblPr>
              <a:tblGrid>
                <a:gridCol w="441510">
                  <a:extLst>
                    <a:ext uri="{9D8B030D-6E8A-4147-A177-3AD203B41FA5}">
                      <a16:colId xmlns:a16="http://schemas.microsoft.com/office/drawing/2014/main" val="4170535043"/>
                    </a:ext>
                  </a:extLst>
                </a:gridCol>
                <a:gridCol w="1049124">
                  <a:extLst>
                    <a:ext uri="{9D8B030D-6E8A-4147-A177-3AD203B41FA5}">
                      <a16:colId xmlns:a16="http://schemas.microsoft.com/office/drawing/2014/main" val="2079070694"/>
                    </a:ext>
                  </a:extLst>
                </a:gridCol>
                <a:gridCol w="4567733">
                  <a:extLst>
                    <a:ext uri="{9D8B030D-6E8A-4147-A177-3AD203B41FA5}">
                      <a16:colId xmlns:a16="http://schemas.microsoft.com/office/drawing/2014/main" val="32595803"/>
                    </a:ext>
                  </a:extLst>
                </a:gridCol>
              </a:tblGrid>
              <a:tr h="30711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CHx_EN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These bits should be set if the corresponding channels are to be used, but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can</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be</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if</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any</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channel</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is</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ko-KR" altLang="en-US"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used.  The number of enabled channels in these registers does not need to match the LD_SIZE value. It is careful that the number of enabled channels should be the same as the LD_SIZE value, but the number can be smaller than the LD_SIZE value like the special mapping below.</a:t>
                      </a: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3582489"/>
                  </a:ext>
                </a:extLst>
              </a:tr>
            </a:tbl>
          </a:graphicData>
        </a:graphic>
      </p:graphicFrame>
      <p:graphicFrame>
        <p:nvGraphicFramePr>
          <p:cNvPr id="5" name="표 4">
            <a:extLst>
              <a:ext uri="{FF2B5EF4-FFF2-40B4-BE49-F238E27FC236}">
                <a16:creationId xmlns:a16="http://schemas.microsoft.com/office/drawing/2014/main" id="{C67641E6-527D-AA18-90DA-71E1276F9061}"/>
              </a:ext>
            </a:extLst>
          </p:cNvPr>
          <p:cNvGraphicFramePr>
            <a:graphicFrameLocks noGrp="1"/>
          </p:cNvGraphicFramePr>
          <p:nvPr>
            <p:extLst>
              <p:ext uri="{D42A27DB-BD31-4B8C-83A1-F6EECF244321}">
                <p14:modId xmlns:p14="http://schemas.microsoft.com/office/powerpoint/2010/main" val="4230509232"/>
              </p:ext>
            </p:extLst>
          </p:nvPr>
        </p:nvGraphicFramePr>
        <p:xfrm>
          <a:off x="1913829" y="6472181"/>
          <a:ext cx="3491366" cy="227760"/>
        </p:xfrm>
        <a:graphic>
          <a:graphicData uri="http://schemas.openxmlformats.org/drawingml/2006/table">
            <a:tbl>
              <a:tblPr firstRow="1" bandRow="1">
                <a:tableStyleId>{5C22544A-7EE6-4342-B048-85BDC9FD1C3A}</a:tableStyleId>
              </a:tblPr>
              <a:tblGrid>
                <a:gridCol w="380263">
                  <a:extLst>
                    <a:ext uri="{9D8B030D-6E8A-4147-A177-3AD203B41FA5}">
                      <a16:colId xmlns:a16="http://schemas.microsoft.com/office/drawing/2014/main" val="4138367841"/>
                    </a:ext>
                  </a:extLst>
                </a:gridCol>
                <a:gridCol w="380263">
                  <a:extLst>
                    <a:ext uri="{9D8B030D-6E8A-4147-A177-3AD203B41FA5}">
                      <a16:colId xmlns:a16="http://schemas.microsoft.com/office/drawing/2014/main" val="3589866634"/>
                    </a:ext>
                  </a:extLst>
                </a:gridCol>
                <a:gridCol w="380263">
                  <a:extLst>
                    <a:ext uri="{9D8B030D-6E8A-4147-A177-3AD203B41FA5}">
                      <a16:colId xmlns:a16="http://schemas.microsoft.com/office/drawing/2014/main" val="203027085"/>
                    </a:ext>
                  </a:extLst>
                </a:gridCol>
                <a:gridCol w="380263">
                  <a:extLst>
                    <a:ext uri="{9D8B030D-6E8A-4147-A177-3AD203B41FA5}">
                      <a16:colId xmlns:a16="http://schemas.microsoft.com/office/drawing/2014/main" val="1213780966"/>
                    </a:ext>
                  </a:extLst>
                </a:gridCol>
                <a:gridCol w="380263">
                  <a:extLst>
                    <a:ext uri="{9D8B030D-6E8A-4147-A177-3AD203B41FA5}">
                      <a16:colId xmlns:a16="http://schemas.microsoft.com/office/drawing/2014/main" val="2173165944"/>
                    </a:ext>
                  </a:extLst>
                </a:gridCol>
                <a:gridCol w="380263">
                  <a:extLst>
                    <a:ext uri="{9D8B030D-6E8A-4147-A177-3AD203B41FA5}">
                      <a16:colId xmlns:a16="http://schemas.microsoft.com/office/drawing/2014/main" val="3651997756"/>
                    </a:ext>
                  </a:extLst>
                </a:gridCol>
                <a:gridCol w="380263">
                  <a:extLst>
                    <a:ext uri="{9D8B030D-6E8A-4147-A177-3AD203B41FA5}">
                      <a16:colId xmlns:a16="http://schemas.microsoft.com/office/drawing/2014/main" val="4226967004"/>
                    </a:ext>
                  </a:extLst>
                </a:gridCol>
                <a:gridCol w="829525">
                  <a:extLst>
                    <a:ext uri="{9D8B030D-6E8A-4147-A177-3AD203B41FA5}">
                      <a16:colId xmlns:a16="http://schemas.microsoft.com/office/drawing/2014/main" val="1995533423"/>
                    </a:ext>
                  </a:extLst>
                </a:gridCol>
              </a:tblGrid>
              <a:tr h="0">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CH1_EN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CH3_EN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CH4_EN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CH5_EN</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CH6_EN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CH7_EN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CH8_EN~CH12_EN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40453051"/>
                  </a:ext>
                </a:extLst>
              </a:tr>
              <a:tr h="0">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ctr" defTabSz="6858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all 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 marR="3600" marT="3600" marB="36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990245991"/>
                  </a:ext>
                </a:extLst>
              </a:tr>
            </a:tbl>
          </a:graphicData>
        </a:graphic>
      </p:graphicFrame>
      <p:sp>
        <p:nvSpPr>
          <p:cNvPr id="7" name="TextBox 6">
            <a:extLst>
              <a:ext uri="{FF2B5EF4-FFF2-40B4-BE49-F238E27FC236}">
                <a16:creationId xmlns:a16="http://schemas.microsoft.com/office/drawing/2014/main" id="{5AD8E342-1644-B9E9-1D04-76CE731784DD}"/>
              </a:ext>
            </a:extLst>
          </p:cNvPr>
          <p:cNvSpPr txBox="1"/>
          <p:nvPr/>
        </p:nvSpPr>
        <p:spPr>
          <a:xfrm>
            <a:off x="5452503" y="6484497"/>
            <a:ext cx="854401" cy="215444"/>
          </a:xfrm>
          <a:prstGeom prst="rect">
            <a:avLst/>
          </a:prstGeom>
          <a:noFill/>
        </p:spPr>
        <p:txBody>
          <a:bodyPr wrap="none" lIns="0" tIns="0" rIns="0" bIns="0" rtlCol="0" anchor="ctr" anchorCtr="0">
            <a:spAutoFit/>
          </a:bodyPr>
          <a:lstStyle/>
          <a:p>
            <a:r>
              <a:rPr lang="en-US" altLang="ko-KR" sz="700" i="1" dirty="0">
                <a:latin typeface="Arial" panose="020B0604020202020204" pitchFamily="34" charset="0"/>
                <a:cs typeface="Arial" panose="020B0604020202020204" pitchFamily="34" charset="0"/>
              </a:rPr>
              <a:t>the number of</a:t>
            </a:r>
          </a:p>
          <a:p>
            <a:r>
              <a:rPr lang="en-US" altLang="ko-KR" sz="700" i="1" dirty="0">
                <a:latin typeface="Arial" panose="020B0604020202020204" pitchFamily="34" charset="0"/>
                <a:cs typeface="Arial" panose="020B0604020202020204" pitchFamily="34" charset="0"/>
              </a:rPr>
              <a:t>enabled channels = 5</a:t>
            </a:r>
            <a:endParaRPr lang="ko-KR" altLang="en-US" sz="700" i="1" dirty="0">
              <a:latin typeface="Arial" panose="020B0604020202020204" pitchFamily="34" charset="0"/>
              <a:cs typeface="Arial" panose="020B0604020202020204" pitchFamily="34" charset="0"/>
            </a:endParaRPr>
          </a:p>
        </p:txBody>
      </p:sp>
      <p:cxnSp>
        <p:nvCxnSpPr>
          <p:cNvPr id="8" name="직선 화살표 연결선 7">
            <a:extLst>
              <a:ext uri="{FF2B5EF4-FFF2-40B4-BE49-F238E27FC236}">
                <a16:creationId xmlns:a16="http://schemas.microsoft.com/office/drawing/2014/main" id="{DAEF715F-AAB3-68FD-8E5F-9FC905DC2EC9}"/>
              </a:ext>
            </a:extLst>
          </p:cNvPr>
          <p:cNvCxnSpPr>
            <a:cxnSpLocks/>
          </p:cNvCxnSpPr>
          <p:nvPr/>
        </p:nvCxnSpPr>
        <p:spPr>
          <a:xfrm>
            <a:off x="1906186" y="6945590"/>
            <a:ext cx="2664000" cy="0"/>
          </a:xfrm>
          <a:prstGeom prst="straightConnector1">
            <a:avLst/>
          </a:prstGeom>
          <a:ln w="3175">
            <a:solidFill>
              <a:schemeClr val="bg1">
                <a:lumMod val="50000"/>
              </a:schemeClr>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9A25F7F-35CD-B92B-3C54-5C5CA1F1575B}"/>
              </a:ext>
            </a:extLst>
          </p:cNvPr>
          <p:cNvSpPr txBox="1"/>
          <p:nvPr/>
        </p:nvSpPr>
        <p:spPr>
          <a:xfrm>
            <a:off x="2222643" y="6845820"/>
            <a:ext cx="2090317" cy="215444"/>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the amount of LD data to be transmitted for one time</a:t>
            </a:r>
          </a:p>
          <a:p>
            <a:pPr algn="ctr"/>
            <a:r>
              <a:rPr lang="en-US" altLang="ko-KR" sz="700" i="1" dirty="0">
                <a:latin typeface="Arial" panose="020B0604020202020204" pitchFamily="34" charset="0"/>
                <a:cs typeface="Arial" panose="020B0604020202020204" pitchFamily="34" charset="0"/>
              </a:rPr>
              <a:t>LD_SIZE = 7</a:t>
            </a:r>
            <a:endParaRPr lang="ko-KR" altLang="en-US" sz="700" i="1" dirty="0">
              <a:latin typeface="Arial" panose="020B0604020202020204" pitchFamily="34" charset="0"/>
              <a:cs typeface="Arial" panose="020B0604020202020204" pitchFamily="34" charset="0"/>
            </a:endParaRPr>
          </a:p>
        </p:txBody>
      </p:sp>
      <p:cxnSp>
        <p:nvCxnSpPr>
          <p:cNvPr id="15" name="직선 연결선 14">
            <a:extLst>
              <a:ext uri="{FF2B5EF4-FFF2-40B4-BE49-F238E27FC236}">
                <a16:creationId xmlns:a16="http://schemas.microsoft.com/office/drawing/2014/main" id="{C8B70524-1D2D-8136-4CB4-0D7A7B19B160}"/>
              </a:ext>
            </a:extLst>
          </p:cNvPr>
          <p:cNvCxnSpPr/>
          <p:nvPr/>
        </p:nvCxnSpPr>
        <p:spPr>
          <a:xfrm>
            <a:off x="1913829" y="6763492"/>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05AF0378-80F0-262F-797C-6ABAD6ED976D}"/>
              </a:ext>
            </a:extLst>
          </p:cNvPr>
          <p:cNvCxnSpPr/>
          <p:nvPr/>
        </p:nvCxnSpPr>
        <p:spPr>
          <a:xfrm>
            <a:off x="4570186" y="6759518"/>
            <a:ext cx="0" cy="252000"/>
          </a:xfrm>
          <a:prstGeom prst="line">
            <a:avLst/>
          </a:prstGeom>
          <a:ln w="317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DAFDC117-62AB-C501-8F4A-E26FB56F70C2}"/>
              </a:ext>
            </a:extLst>
          </p:cNvPr>
          <p:cNvSpPr txBox="1"/>
          <p:nvPr/>
        </p:nvSpPr>
        <p:spPr>
          <a:xfrm>
            <a:off x="2239076" y="7114916"/>
            <a:ext cx="3157917" cy="107722"/>
          </a:xfrm>
          <a:prstGeom prst="rect">
            <a:avLst/>
          </a:prstGeom>
          <a:solidFill>
            <a:schemeClr val="bg1"/>
          </a:solidFill>
        </p:spPr>
        <p:txBody>
          <a:bodyPr wrap="none" lIns="0" tIns="0" rIns="0" bIns="0" rtlCol="0" anchor="ctr" anchorCtr="0">
            <a:spAutoFit/>
          </a:bodyPr>
          <a:lstStyle/>
          <a:p>
            <a:pPr algn="ctr"/>
            <a:r>
              <a:rPr lang="en-US" altLang="ko-KR" sz="700" i="1" dirty="0">
                <a:latin typeface="Arial" panose="020B0604020202020204" pitchFamily="34" charset="0"/>
                <a:cs typeface="Arial" panose="020B0604020202020204" pitchFamily="34" charset="0"/>
              </a:rPr>
              <a:t>wherein, the LD data of the disabled channels, CH2 and CH5, can be any value</a:t>
            </a:r>
            <a:endParaRPr lang="ko-KR" altLang="en-US" sz="7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87303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표 14">
            <a:extLst>
              <a:ext uri="{FF2B5EF4-FFF2-40B4-BE49-F238E27FC236}">
                <a16:creationId xmlns:a16="http://schemas.microsoft.com/office/drawing/2014/main" id="{3C26C8CF-B06F-F2E1-D4AC-FF96B5CC5C7E}"/>
              </a:ext>
            </a:extLst>
          </p:cNvPr>
          <p:cNvGraphicFramePr>
            <a:graphicFrameLocks noGrp="1"/>
          </p:cNvGraphicFramePr>
          <p:nvPr>
            <p:extLst>
              <p:ext uri="{D42A27DB-BD31-4B8C-83A1-F6EECF244321}">
                <p14:modId xmlns:p14="http://schemas.microsoft.com/office/powerpoint/2010/main" val="1523447939"/>
              </p:ext>
            </p:extLst>
          </p:nvPr>
        </p:nvGraphicFramePr>
        <p:xfrm>
          <a:off x="403136" y="7077018"/>
          <a:ext cx="6053977" cy="1916828"/>
        </p:xfrm>
        <a:graphic>
          <a:graphicData uri="http://schemas.openxmlformats.org/drawingml/2006/table">
            <a:tbl>
              <a:tblPr firstRow="1" bandRow="1">
                <a:tableStyleId>{5C22544A-7EE6-4342-B048-85BDC9FD1C3A}</a:tableStyleId>
              </a:tblPr>
              <a:tblGrid>
                <a:gridCol w="353521">
                  <a:extLst>
                    <a:ext uri="{9D8B030D-6E8A-4147-A177-3AD203B41FA5}">
                      <a16:colId xmlns:a16="http://schemas.microsoft.com/office/drawing/2014/main" val="4170535043"/>
                    </a:ext>
                  </a:extLst>
                </a:gridCol>
                <a:gridCol w="1322448">
                  <a:extLst>
                    <a:ext uri="{9D8B030D-6E8A-4147-A177-3AD203B41FA5}">
                      <a16:colId xmlns:a16="http://schemas.microsoft.com/office/drawing/2014/main" val="2079070694"/>
                    </a:ext>
                  </a:extLst>
                </a:gridCol>
                <a:gridCol w="4378008">
                  <a:extLst>
                    <a:ext uri="{9D8B030D-6E8A-4147-A177-3AD203B41FA5}">
                      <a16:colId xmlns:a16="http://schemas.microsoft.com/office/drawing/2014/main" val="32595803"/>
                    </a:ext>
                  </a:extLst>
                </a:gridCol>
              </a:tblGrid>
              <a:tr h="283508">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2185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DEV_MAX_CURR_</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DEV_MAX_CURR_LEVEL determines the physical maximum current level of the device.  The max dimming sink-current set by the MAX_CURR_VREF can not be beyond the DEV_MAX_CURR_LEVEL.</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max   8mA     3b’001 : max 16mA     3b’010 : max 24mA    3b’011 : max 32mA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max 48mA     3b’101 : max 64mA     3b’110 : max 92mA    3b’111 : max 128mA </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8560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SHORT_LEVEL determines the level at which a SHORT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&gt;  6V             3b’001 : &gt;   8V            3b’010 : &gt; 12V            3b’011 : &gt; 16V </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&gt; 24V            3b’101 : &gt; 32V            3b’110 : &gt; 48V            3b’111 : &gt; 70V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2860"/>
                  </a:ext>
                </a:extLst>
              </a:tr>
              <a:tr h="42366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FB_LEVEL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FB_LEVEL determines the level at which a FB event occurs.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3b’000 : &lt;  0.40V         3b’001 : &lt;  0.60V        3b’010 : &lt;  0.80V        3b’011 : &lt; 1.00V</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      3b’100 : &lt; 1.20V          3b’101 : &lt; 1.40V         3b’110 : &lt; 1.60V         3b’111 : &lt; 1.80V</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0507561"/>
                  </a:ext>
                </a:extLst>
              </a:tr>
            </a:tbl>
          </a:graphicData>
        </a:graphic>
      </p:graphicFrame>
      <p:sp>
        <p:nvSpPr>
          <p:cNvPr id="16" name="TextBox 15">
            <a:extLst>
              <a:ext uri="{FF2B5EF4-FFF2-40B4-BE49-F238E27FC236}">
                <a16:creationId xmlns:a16="http://schemas.microsoft.com/office/drawing/2014/main" id="{4B3B8378-FEF3-0BCE-5CAE-D3DEA41C9F85}"/>
              </a:ext>
            </a:extLst>
          </p:cNvPr>
          <p:cNvSpPr txBox="1"/>
          <p:nvPr/>
        </p:nvSpPr>
        <p:spPr>
          <a:xfrm>
            <a:off x="403138" y="6394297"/>
            <a:ext cx="605397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LEVEL</a:t>
            </a:r>
          </a:p>
        </p:txBody>
      </p:sp>
      <p:graphicFrame>
        <p:nvGraphicFramePr>
          <p:cNvPr id="8" name="표 7">
            <a:extLst>
              <a:ext uri="{FF2B5EF4-FFF2-40B4-BE49-F238E27FC236}">
                <a16:creationId xmlns:a16="http://schemas.microsoft.com/office/drawing/2014/main" id="{D867E8F5-FBF2-B122-27BF-B411415894F3}"/>
              </a:ext>
            </a:extLst>
          </p:cNvPr>
          <p:cNvGraphicFramePr>
            <a:graphicFrameLocks noGrp="1"/>
          </p:cNvGraphicFramePr>
          <p:nvPr>
            <p:extLst>
              <p:ext uri="{D42A27DB-BD31-4B8C-83A1-F6EECF244321}">
                <p14:modId xmlns:p14="http://schemas.microsoft.com/office/powerpoint/2010/main" val="2694348871"/>
              </p:ext>
            </p:extLst>
          </p:nvPr>
        </p:nvGraphicFramePr>
        <p:xfrm>
          <a:off x="403137" y="6658934"/>
          <a:ext cx="6059032" cy="372600"/>
        </p:xfrm>
        <a:graphic>
          <a:graphicData uri="http://schemas.openxmlformats.org/drawingml/2006/table">
            <a:tbl>
              <a:tblPr firstRow="1" bandRow="1">
                <a:tableStyleId>{5C22544A-7EE6-4342-B048-85BDC9FD1C3A}</a:tableStyleId>
              </a:tblPr>
              <a:tblGrid>
                <a:gridCol w="345612">
                  <a:extLst>
                    <a:ext uri="{9D8B030D-6E8A-4147-A177-3AD203B41FA5}">
                      <a16:colId xmlns:a16="http://schemas.microsoft.com/office/drawing/2014/main" val="657570846"/>
                    </a:ext>
                  </a:extLst>
                </a:gridCol>
                <a:gridCol w="380013">
                  <a:extLst>
                    <a:ext uri="{9D8B030D-6E8A-4147-A177-3AD203B41FA5}">
                      <a16:colId xmlns:a16="http://schemas.microsoft.com/office/drawing/2014/main" val="3259894497"/>
                    </a:ext>
                  </a:extLst>
                </a:gridCol>
                <a:gridCol w="446615">
                  <a:extLst>
                    <a:ext uri="{9D8B030D-6E8A-4147-A177-3AD203B41FA5}">
                      <a16:colId xmlns:a16="http://schemas.microsoft.com/office/drawing/2014/main" val="4170535043"/>
                    </a:ext>
                  </a:extLst>
                </a:gridCol>
                <a:gridCol w="398080">
                  <a:extLst>
                    <a:ext uri="{9D8B030D-6E8A-4147-A177-3AD203B41FA5}">
                      <a16:colId xmlns:a16="http://schemas.microsoft.com/office/drawing/2014/main" val="2079070694"/>
                    </a:ext>
                  </a:extLst>
                </a:gridCol>
                <a:gridCol w="398080">
                  <a:extLst>
                    <a:ext uri="{9D8B030D-6E8A-4147-A177-3AD203B41FA5}">
                      <a16:colId xmlns:a16="http://schemas.microsoft.com/office/drawing/2014/main" val="4213315911"/>
                    </a:ext>
                  </a:extLst>
                </a:gridCol>
                <a:gridCol w="398080">
                  <a:extLst>
                    <a:ext uri="{9D8B030D-6E8A-4147-A177-3AD203B41FA5}">
                      <a16:colId xmlns:a16="http://schemas.microsoft.com/office/drawing/2014/main" val="2769999950"/>
                    </a:ext>
                  </a:extLst>
                </a:gridCol>
                <a:gridCol w="465793">
                  <a:extLst>
                    <a:ext uri="{9D8B030D-6E8A-4147-A177-3AD203B41FA5}">
                      <a16:colId xmlns:a16="http://schemas.microsoft.com/office/drawing/2014/main" val="135637185"/>
                    </a:ext>
                  </a:extLst>
                </a:gridCol>
                <a:gridCol w="398080">
                  <a:extLst>
                    <a:ext uri="{9D8B030D-6E8A-4147-A177-3AD203B41FA5}">
                      <a16:colId xmlns:a16="http://schemas.microsoft.com/office/drawing/2014/main" val="3038050475"/>
                    </a:ext>
                  </a:extLst>
                </a:gridCol>
                <a:gridCol w="398080">
                  <a:extLst>
                    <a:ext uri="{9D8B030D-6E8A-4147-A177-3AD203B41FA5}">
                      <a16:colId xmlns:a16="http://schemas.microsoft.com/office/drawing/2014/main" val="1979433044"/>
                    </a:ext>
                  </a:extLst>
                </a:gridCol>
                <a:gridCol w="398080">
                  <a:extLst>
                    <a:ext uri="{9D8B030D-6E8A-4147-A177-3AD203B41FA5}">
                      <a16:colId xmlns:a16="http://schemas.microsoft.com/office/drawing/2014/main" val="4270661649"/>
                    </a:ext>
                  </a:extLst>
                </a:gridCol>
                <a:gridCol w="398080">
                  <a:extLst>
                    <a:ext uri="{9D8B030D-6E8A-4147-A177-3AD203B41FA5}">
                      <a16:colId xmlns:a16="http://schemas.microsoft.com/office/drawing/2014/main" val="3027041370"/>
                    </a:ext>
                  </a:extLst>
                </a:gridCol>
                <a:gridCol w="440199">
                  <a:extLst>
                    <a:ext uri="{9D8B030D-6E8A-4147-A177-3AD203B41FA5}">
                      <a16:colId xmlns:a16="http://schemas.microsoft.com/office/drawing/2014/main" val="2852526216"/>
                    </a:ext>
                  </a:extLst>
                </a:gridCol>
                <a:gridCol w="398080">
                  <a:extLst>
                    <a:ext uri="{9D8B030D-6E8A-4147-A177-3AD203B41FA5}">
                      <a16:colId xmlns:a16="http://schemas.microsoft.com/office/drawing/2014/main" val="103420222"/>
                    </a:ext>
                  </a:extLst>
                </a:gridCol>
                <a:gridCol w="398080">
                  <a:extLst>
                    <a:ext uri="{9D8B030D-6E8A-4147-A177-3AD203B41FA5}">
                      <a16:colId xmlns:a16="http://schemas.microsoft.com/office/drawing/2014/main" val="1470405609"/>
                    </a:ext>
                  </a:extLst>
                </a:gridCol>
                <a:gridCol w="39808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DEV_MAX_CURR_LEVEL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[2:0]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FB_LEVEL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1296941765"/>
              </p:ext>
            </p:extLst>
          </p:nvPr>
        </p:nvGraphicFramePr>
        <p:xfrm>
          <a:off x="404563" y="1528398"/>
          <a:ext cx="6047025" cy="4766169"/>
        </p:xfrm>
        <a:graphic>
          <a:graphicData uri="http://schemas.openxmlformats.org/drawingml/2006/table">
            <a:tbl>
              <a:tblPr firstRow="1" bandRow="1">
                <a:tableStyleId>{5C22544A-7EE6-4342-B048-85BDC9FD1C3A}</a:tableStyleId>
              </a:tblPr>
              <a:tblGrid>
                <a:gridCol w="432577">
                  <a:extLst>
                    <a:ext uri="{9D8B030D-6E8A-4147-A177-3AD203B41FA5}">
                      <a16:colId xmlns:a16="http://schemas.microsoft.com/office/drawing/2014/main" val="4170535043"/>
                    </a:ext>
                  </a:extLst>
                </a:gridCol>
                <a:gridCol w="797409">
                  <a:extLst>
                    <a:ext uri="{9D8B030D-6E8A-4147-A177-3AD203B41FA5}">
                      <a16:colId xmlns:a16="http://schemas.microsoft.com/office/drawing/2014/main" val="2079070694"/>
                    </a:ext>
                  </a:extLst>
                </a:gridCol>
                <a:gridCol w="4817039">
                  <a:extLst>
                    <a:ext uri="{9D8B030D-6E8A-4147-A177-3AD203B41FA5}">
                      <a16:colId xmlns:a16="http://schemas.microsoft.com/office/drawing/2014/main" val="32595803"/>
                    </a:ext>
                  </a:extLst>
                </a:gridCol>
              </a:tblGrid>
              <a:tr h="28452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2908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MISS_VS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MISS_VS bit indicates whether the vsync missing event happens,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OV15 indicates whether the internal LDO keeps over 1.8V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6270388"/>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UV15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The UV15 indicates whether the internal LDO keeps under 1.2V for 100us or not, and auto-cleared after a readout this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2857247"/>
                  </a:ext>
                </a:extLst>
              </a:tr>
              <a:tr h="5623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THERMAL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THERMAL bit indicates whether the THERMAL event due to overheating happens, and this bit will keep asserted as long as the THERMAL event is not cleared. The event threshold can be set by the OFS_TEMP in the TEMP register.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T_OFF_E bit of the FAULT CONTROL register is set, all output sink drivers will be turned-off as long as the event is asserted, and turned-on again after internal temperature goes down below the set level of the OFS_TEMP. This bit involves other fault events in the readout information, MISS_VS, OV15 and UV15 at the FAULT_(AUTO)_READ transaction.</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776345"/>
                  </a:ext>
                </a:extLst>
              </a:tr>
              <a:tr h="29137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SHORT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SHORT bit indicates whether the SHORT event happens. The event can be detected in case some channel’s headroom goes above the set value in the SHORT_LEVEL of FAULT LEVEL register and its channel’s PWM out is ON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S_OFF_E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0635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OPEN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OPEN bit indicates whether the OPEN event happens. The event can be detected in case some channel’s headroom goes below 0.25V and its channel’s PWM out is OFF status. </a:t>
                      </a: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O_OFF_E bit of the FAULT CONTROL register is set, the output of the channels in which the event occurs is turned off. This bit is auto-cleared after readout but set again as long as the event is not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80098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FB</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FB bit indicates whether the output channels’ headroom voltage is below the value set by FB_LEVEL of the FAULT LEVEL register due to insufficient VLED.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This bit is set whenever the  FB event occurs in even one of the activated channels and will be auto-cleared after readout this register. This bit will be set again after readout as long as the FB condition is still valid.</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0" kern="1200" dirty="0">
                          <a:solidFill>
                            <a:schemeClr val="dk1"/>
                          </a:solidFill>
                          <a:effectLst/>
                          <a:latin typeface="Arial" panose="020B0604020202020204" pitchFamily="34" charset="0"/>
                          <a:ea typeface="+mn-ea"/>
                          <a:cs typeface="Arial" panose="020B0604020202020204" pitchFamily="34" charset="0"/>
                        </a:rPr>
                        <a:t>If the O_FB_E of FAULT CONTROL register is set, the FB event will happen in case the OPEN event is not asserted. </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2427817230"/>
              </p:ext>
            </p:extLst>
          </p:nvPr>
        </p:nvGraphicFramePr>
        <p:xfrm>
          <a:off x="404564" y="1109616"/>
          <a:ext cx="6048450" cy="372600"/>
        </p:xfrm>
        <a:graphic>
          <a:graphicData uri="http://schemas.openxmlformats.org/drawingml/2006/table">
            <a:tbl>
              <a:tblPr firstRow="1" bandRow="1">
                <a:tableStyleId>{5C22544A-7EE6-4342-B048-85BDC9FD1C3A}</a:tableStyleId>
              </a:tblPr>
              <a:tblGrid>
                <a:gridCol w="348464">
                  <a:extLst>
                    <a:ext uri="{9D8B030D-6E8A-4147-A177-3AD203B41FA5}">
                      <a16:colId xmlns:a16="http://schemas.microsoft.com/office/drawing/2014/main" val="657570846"/>
                    </a:ext>
                  </a:extLst>
                </a:gridCol>
                <a:gridCol w="383148">
                  <a:extLst>
                    <a:ext uri="{9D8B030D-6E8A-4147-A177-3AD203B41FA5}">
                      <a16:colId xmlns:a16="http://schemas.microsoft.com/office/drawing/2014/main" val="3259894497"/>
                    </a:ext>
                  </a:extLst>
                </a:gridCol>
                <a:gridCol w="450301">
                  <a:extLst>
                    <a:ext uri="{9D8B030D-6E8A-4147-A177-3AD203B41FA5}">
                      <a16:colId xmlns:a16="http://schemas.microsoft.com/office/drawing/2014/main" val="4170535043"/>
                    </a:ext>
                  </a:extLst>
                </a:gridCol>
                <a:gridCol w="409055">
                  <a:extLst>
                    <a:ext uri="{9D8B030D-6E8A-4147-A177-3AD203B41FA5}">
                      <a16:colId xmlns:a16="http://schemas.microsoft.com/office/drawing/2014/main" val="2079070694"/>
                    </a:ext>
                  </a:extLst>
                </a:gridCol>
                <a:gridCol w="401365">
                  <a:extLst>
                    <a:ext uri="{9D8B030D-6E8A-4147-A177-3AD203B41FA5}">
                      <a16:colId xmlns:a16="http://schemas.microsoft.com/office/drawing/2014/main" val="4213315911"/>
                    </a:ext>
                  </a:extLst>
                </a:gridCol>
                <a:gridCol w="401365">
                  <a:extLst>
                    <a:ext uri="{9D8B030D-6E8A-4147-A177-3AD203B41FA5}">
                      <a16:colId xmlns:a16="http://schemas.microsoft.com/office/drawing/2014/main" val="2769999950"/>
                    </a:ext>
                  </a:extLst>
                </a:gridCol>
                <a:gridCol w="401365">
                  <a:extLst>
                    <a:ext uri="{9D8B030D-6E8A-4147-A177-3AD203B41FA5}">
                      <a16:colId xmlns:a16="http://schemas.microsoft.com/office/drawing/2014/main" val="135637185"/>
                    </a:ext>
                  </a:extLst>
                </a:gridCol>
                <a:gridCol w="401365">
                  <a:extLst>
                    <a:ext uri="{9D8B030D-6E8A-4147-A177-3AD203B41FA5}">
                      <a16:colId xmlns:a16="http://schemas.microsoft.com/office/drawing/2014/main" val="3038050475"/>
                    </a:ext>
                  </a:extLst>
                </a:gridCol>
                <a:gridCol w="401365">
                  <a:extLst>
                    <a:ext uri="{9D8B030D-6E8A-4147-A177-3AD203B41FA5}">
                      <a16:colId xmlns:a16="http://schemas.microsoft.com/office/drawing/2014/main" val="1979433044"/>
                    </a:ext>
                  </a:extLst>
                </a:gridCol>
                <a:gridCol w="401365">
                  <a:extLst>
                    <a:ext uri="{9D8B030D-6E8A-4147-A177-3AD203B41FA5}">
                      <a16:colId xmlns:a16="http://schemas.microsoft.com/office/drawing/2014/main" val="4270661649"/>
                    </a:ext>
                  </a:extLst>
                </a:gridCol>
                <a:gridCol w="401365">
                  <a:extLst>
                    <a:ext uri="{9D8B030D-6E8A-4147-A177-3AD203B41FA5}">
                      <a16:colId xmlns:a16="http://schemas.microsoft.com/office/drawing/2014/main" val="3027041370"/>
                    </a:ext>
                  </a:extLst>
                </a:gridCol>
                <a:gridCol w="443832">
                  <a:extLst>
                    <a:ext uri="{9D8B030D-6E8A-4147-A177-3AD203B41FA5}">
                      <a16:colId xmlns:a16="http://schemas.microsoft.com/office/drawing/2014/main" val="2852526216"/>
                    </a:ext>
                  </a:extLst>
                </a:gridCol>
                <a:gridCol w="401365">
                  <a:extLst>
                    <a:ext uri="{9D8B030D-6E8A-4147-A177-3AD203B41FA5}">
                      <a16:colId xmlns:a16="http://schemas.microsoft.com/office/drawing/2014/main" val="103420222"/>
                    </a:ext>
                  </a:extLst>
                </a:gridCol>
                <a:gridCol w="401365">
                  <a:extLst>
                    <a:ext uri="{9D8B030D-6E8A-4147-A177-3AD203B41FA5}">
                      <a16:colId xmlns:a16="http://schemas.microsoft.com/office/drawing/2014/main" val="1470405609"/>
                    </a:ext>
                  </a:extLst>
                </a:gridCol>
                <a:gridCol w="401365">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MISS_VS</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UV15</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THERMAL</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SHORT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OPEN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FB</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404564" y="848186"/>
            <a:ext cx="605760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STATUS</a:t>
            </a:r>
          </a:p>
        </p:txBody>
      </p:sp>
    </p:spTree>
    <p:extLst>
      <p:ext uri="{BB962C8B-B14F-4D97-AF65-F5344CB8AC3E}">
        <p14:creationId xmlns:p14="http://schemas.microsoft.com/office/powerpoint/2010/main" val="4294352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84F39684-074B-5DEA-EE16-EDB1308D9CD6}"/>
              </a:ext>
            </a:extLst>
          </p:cNvPr>
          <p:cNvGraphicFramePr>
            <a:graphicFrameLocks noGrp="1"/>
          </p:cNvGraphicFramePr>
          <p:nvPr>
            <p:extLst>
              <p:ext uri="{D42A27DB-BD31-4B8C-83A1-F6EECF244321}">
                <p14:modId xmlns:p14="http://schemas.microsoft.com/office/powerpoint/2010/main" val="2470544445"/>
              </p:ext>
            </p:extLst>
          </p:nvPr>
        </p:nvGraphicFramePr>
        <p:xfrm>
          <a:off x="406838" y="1556231"/>
          <a:ext cx="6046597" cy="6184087"/>
        </p:xfrm>
        <a:graphic>
          <a:graphicData uri="http://schemas.openxmlformats.org/drawingml/2006/table">
            <a:tbl>
              <a:tblPr firstRow="1" bandRow="1">
                <a:tableStyleId>{5C22544A-7EE6-4342-B048-85BDC9FD1C3A}</a:tableStyleId>
              </a:tblPr>
              <a:tblGrid>
                <a:gridCol w="304092">
                  <a:extLst>
                    <a:ext uri="{9D8B030D-6E8A-4147-A177-3AD203B41FA5}">
                      <a16:colId xmlns:a16="http://schemas.microsoft.com/office/drawing/2014/main" val="4170535043"/>
                    </a:ext>
                  </a:extLst>
                </a:gridCol>
                <a:gridCol w="1243023">
                  <a:extLst>
                    <a:ext uri="{9D8B030D-6E8A-4147-A177-3AD203B41FA5}">
                      <a16:colId xmlns:a16="http://schemas.microsoft.com/office/drawing/2014/main" val="2079070694"/>
                    </a:ext>
                  </a:extLst>
                </a:gridCol>
                <a:gridCol w="4499482">
                  <a:extLst>
                    <a:ext uri="{9D8B030D-6E8A-4147-A177-3AD203B41FA5}">
                      <a16:colId xmlns:a16="http://schemas.microsoft.com/office/drawing/2014/main" val="32595803"/>
                    </a:ext>
                  </a:extLst>
                </a:gridCol>
              </a:tblGrid>
              <a:tr h="29796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just"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8440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TIMEOUT_E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If this bit is set, the internal timeout timer starts counting after some read-back command stream is done and stops after the XD responds own information to the front XD. If the timer will be expired due to any no response, internal communication logics will be recovered to the standby state. The timeout counter is </a:t>
                      </a:r>
                      <a:r>
                        <a:rPr lang="en-US" altLang="ko-KR" sz="900" b="0" i="0" kern="1200" dirty="0">
                          <a:solidFill>
                            <a:schemeClr val="dk1"/>
                          </a:solidFill>
                          <a:effectLst/>
                          <a:latin typeface="Arial" panose="020B0604020202020204" pitchFamily="34" charset="0"/>
                          <a:ea typeface="+mn-ea"/>
                          <a:cs typeface="Arial" panose="020B0604020202020204" pitchFamily="34" charset="0"/>
                        </a:rPr>
                        <a:t>expired at approximately 2.1ms upon receiving the read command. Recommended to be set.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3328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OVUV15_EN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enables the detection of OV15 and UV15 of the internal LDO output.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5133679"/>
                  </a:ext>
                </a:extLst>
              </a:tr>
              <a:tr h="44547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MS_VS_LOCK</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MS_VS_LOCK = 1 and the MS_VS_DET_E = 1, if the vsync missing event happens, then the MCLK_LOCK_CNT function will be halted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68446870"/>
                  </a:ext>
                </a:extLst>
              </a:tr>
              <a:tr h="57610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MS_VS_DIMM</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the MS_VS_DIMM = 1 and the MS_VS_DET_E = 1, if the vsync missing event happens, then the dimming will be automatically fixed to PWM full value and the VREF FIX value until receiving a vsync.</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124849"/>
                  </a:ext>
                </a:extLst>
              </a:tr>
              <a:tr h="6162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MS_VS_DET_E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to detect whether the vsync input is missed or not. If the vsync is not supplied within about 26ms, then the vsync missing event is asserted internally. This event assertion can be readout through the FALUT STATUS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5420437"/>
                  </a:ext>
                </a:extLst>
              </a:tr>
              <a:tr h="61924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O_FB_E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FB possible to be asserted in only case the corresponding channel’s OPEN event is not happen. If this bit is 0, then the FB can be asserted owing to the OPEN event.</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0471077"/>
                  </a:ext>
                </a:extLst>
              </a:tr>
              <a:tr h="59364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OPEN event, and the event can be detected in only case the corresponding channel’s PWM output is OFF status and its channel’s headroom is below 0.25V.</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3801518"/>
                  </a:ext>
                </a:extLst>
              </a:tr>
              <a:tr h="58419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S_DET_E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enables to detect the SHORT event, and the event can be detected in only case the corresponding channel’s PWM output is ON status and its channel’s headroom is above the set value in the SHORT_LEVEL register.</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5460863"/>
                  </a:ext>
                </a:extLst>
              </a:tr>
              <a:tr h="4671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all channels’ output be off in case the THERMAL event happens, and all channels will be activated again after the THERMAL event is cleared.</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9934807"/>
                  </a:ext>
                </a:extLst>
              </a:tr>
              <a:tr h="46082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SHORTed channel’s output be off in case the SHORT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8665145"/>
                  </a:ext>
                </a:extLst>
              </a:tr>
              <a:tr h="327603">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O_OFF_E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setting makes the OPENed channel’s output be off in case the OPEN event happens.</a:t>
                      </a:r>
                    </a:p>
                  </a:txBody>
                  <a:tcPr marL="36000" marR="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2155465"/>
                  </a:ext>
                </a:extLst>
              </a:tr>
            </a:tbl>
          </a:graphicData>
        </a:graphic>
      </p:graphicFrame>
      <p:graphicFrame>
        <p:nvGraphicFramePr>
          <p:cNvPr id="14" name="표 13">
            <a:extLst>
              <a:ext uri="{FF2B5EF4-FFF2-40B4-BE49-F238E27FC236}">
                <a16:creationId xmlns:a16="http://schemas.microsoft.com/office/drawing/2014/main" id="{7475652E-49D4-5321-BD7A-5EA905AD066A}"/>
              </a:ext>
            </a:extLst>
          </p:cNvPr>
          <p:cNvGraphicFramePr>
            <a:graphicFrameLocks noGrp="1"/>
          </p:cNvGraphicFramePr>
          <p:nvPr>
            <p:extLst>
              <p:ext uri="{D42A27DB-BD31-4B8C-83A1-F6EECF244321}">
                <p14:modId xmlns:p14="http://schemas.microsoft.com/office/powerpoint/2010/main" val="3487928824"/>
              </p:ext>
            </p:extLst>
          </p:nvPr>
        </p:nvGraphicFramePr>
        <p:xfrm>
          <a:off x="399454" y="1113183"/>
          <a:ext cx="6053982" cy="372600"/>
        </p:xfrm>
        <a:graphic>
          <a:graphicData uri="http://schemas.openxmlformats.org/drawingml/2006/table">
            <a:tbl>
              <a:tblPr firstRow="1" bandRow="1">
                <a:tableStyleId>{5C22544A-7EE6-4342-B048-85BDC9FD1C3A}</a:tableStyleId>
              </a:tblPr>
              <a:tblGrid>
                <a:gridCol w="276259">
                  <a:extLst>
                    <a:ext uri="{9D8B030D-6E8A-4147-A177-3AD203B41FA5}">
                      <a16:colId xmlns:a16="http://schemas.microsoft.com/office/drawing/2014/main" val="657570846"/>
                    </a:ext>
                  </a:extLst>
                </a:gridCol>
                <a:gridCol w="317447">
                  <a:extLst>
                    <a:ext uri="{9D8B030D-6E8A-4147-A177-3AD203B41FA5}">
                      <a16:colId xmlns:a16="http://schemas.microsoft.com/office/drawing/2014/main" val="3259894497"/>
                    </a:ext>
                  </a:extLst>
                </a:gridCol>
                <a:gridCol w="425729">
                  <a:extLst>
                    <a:ext uri="{9D8B030D-6E8A-4147-A177-3AD203B41FA5}">
                      <a16:colId xmlns:a16="http://schemas.microsoft.com/office/drawing/2014/main" val="4170535043"/>
                    </a:ext>
                  </a:extLst>
                </a:gridCol>
                <a:gridCol w="468454">
                  <a:extLst>
                    <a:ext uri="{9D8B030D-6E8A-4147-A177-3AD203B41FA5}">
                      <a16:colId xmlns:a16="http://schemas.microsoft.com/office/drawing/2014/main" val="2079070694"/>
                    </a:ext>
                  </a:extLst>
                </a:gridCol>
                <a:gridCol w="484777">
                  <a:extLst>
                    <a:ext uri="{9D8B030D-6E8A-4147-A177-3AD203B41FA5}">
                      <a16:colId xmlns:a16="http://schemas.microsoft.com/office/drawing/2014/main" val="4213315911"/>
                    </a:ext>
                  </a:extLst>
                </a:gridCol>
                <a:gridCol w="230851">
                  <a:extLst>
                    <a:ext uri="{9D8B030D-6E8A-4147-A177-3AD203B41FA5}">
                      <a16:colId xmlns:a16="http://schemas.microsoft.com/office/drawing/2014/main" val="2769999950"/>
                    </a:ext>
                  </a:extLst>
                </a:gridCol>
                <a:gridCol w="545170">
                  <a:extLst>
                    <a:ext uri="{9D8B030D-6E8A-4147-A177-3AD203B41FA5}">
                      <a16:colId xmlns:a16="http://schemas.microsoft.com/office/drawing/2014/main" val="135637185"/>
                    </a:ext>
                  </a:extLst>
                </a:gridCol>
                <a:gridCol w="540273">
                  <a:extLst>
                    <a:ext uri="{9D8B030D-6E8A-4147-A177-3AD203B41FA5}">
                      <a16:colId xmlns:a16="http://schemas.microsoft.com/office/drawing/2014/main" val="3038050475"/>
                    </a:ext>
                  </a:extLst>
                </a:gridCol>
                <a:gridCol w="584343">
                  <a:extLst>
                    <a:ext uri="{9D8B030D-6E8A-4147-A177-3AD203B41FA5}">
                      <a16:colId xmlns:a16="http://schemas.microsoft.com/office/drawing/2014/main" val="1979433044"/>
                    </a:ext>
                  </a:extLst>
                </a:gridCol>
                <a:gridCol w="321553">
                  <a:extLst>
                    <a:ext uri="{9D8B030D-6E8A-4147-A177-3AD203B41FA5}">
                      <a16:colId xmlns:a16="http://schemas.microsoft.com/office/drawing/2014/main" val="4270661649"/>
                    </a:ext>
                  </a:extLst>
                </a:gridCol>
                <a:gridCol w="378681">
                  <a:extLst>
                    <a:ext uri="{9D8B030D-6E8A-4147-A177-3AD203B41FA5}">
                      <a16:colId xmlns:a16="http://schemas.microsoft.com/office/drawing/2014/main" val="3027041370"/>
                    </a:ext>
                  </a:extLst>
                </a:gridCol>
                <a:gridCol w="370520">
                  <a:extLst>
                    <a:ext uri="{9D8B030D-6E8A-4147-A177-3AD203B41FA5}">
                      <a16:colId xmlns:a16="http://schemas.microsoft.com/office/drawing/2014/main" val="2852526216"/>
                    </a:ext>
                  </a:extLst>
                </a:gridCol>
                <a:gridCol w="363990">
                  <a:extLst>
                    <a:ext uri="{9D8B030D-6E8A-4147-A177-3AD203B41FA5}">
                      <a16:colId xmlns:a16="http://schemas.microsoft.com/office/drawing/2014/main" val="103420222"/>
                    </a:ext>
                  </a:extLst>
                </a:gridCol>
                <a:gridCol w="368887">
                  <a:extLst>
                    <a:ext uri="{9D8B030D-6E8A-4147-A177-3AD203B41FA5}">
                      <a16:colId xmlns:a16="http://schemas.microsoft.com/office/drawing/2014/main" val="1470405609"/>
                    </a:ext>
                  </a:extLst>
                </a:gridCol>
                <a:gridCol w="37704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00" b="0" dirty="0">
                          <a:solidFill>
                            <a:schemeClr val="tx1"/>
                          </a:solidFill>
                          <a:latin typeface="Arial" panose="020B0604020202020204" pitchFamily="34" charset="0"/>
                          <a:ea typeface="+mn-ea"/>
                          <a:cs typeface="Arial" panose="020B0604020202020204" pitchFamily="34" charset="0"/>
                        </a:rPr>
                        <a:t>TIMEOUT_E</a:t>
                      </a:r>
                      <a:endParaRPr lang="ko-KR" altLang="en-US" sz="6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OVUV15_EN</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MS_VS_LOCK</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MS_VS_DIMM</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MS_VS_DET_E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O_FB_E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S_DET_E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S_OFF_E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O_OFF_E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7" name="TextBox 16">
            <a:extLst>
              <a:ext uri="{FF2B5EF4-FFF2-40B4-BE49-F238E27FC236}">
                <a16:creationId xmlns:a16="http://schemas.microsoft.com/office/drawing/2014/main" id="{F7A5E6D2-F026-3E2B-9B67-2951B89D805B}"/>
              </a:ext>
            </a:extLst>
          </p:cNvPr>
          <p:cNvSpPr txBox="1"/>
          <p:nvPr/>
        </p:nvSpPr>
        <p:spPr>
          <a:xfrm>
            <a:off x="399453" y="848186"/>
            <a:ext cx="605398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FAULT CONTROL</a:t>
            </a:r>
          </a:p>
        </p:txBody>
      </p:sp>
    </p:spTree>
    <p:extLst>
      <p:ext uri="{BB962C8B-B14F-4D97-AF65-F5344CB8AC3E}">
        <p14:creationId xmlns:p14="http://schemas.microsoft.com/office/powerpoint/2010/main" val="2020182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1" name="표 10">
            <a:extLst>
              <a:ext uri="{FF2B5EF4-FFF2-40B4-BE49-F238E27FC236}">
                <a16:creationId xmlns:a16="http://schemas.microsoft.com/office/drawing/2014/main" id="{14285246-E127-43FC-3DA8-40FA6321DBDC}"/>
              </a:ext>
            </a:extLst>
          </p:cNvPr>
          <p:cNvGraphicFramePr>
            <a:graphicFrameLocks noGrp="1"/>
          </p:cNvGraphicFramePr>
          <p:nvPr>
            <p:extLst>
              <p:ext uri="{D42A27DB-BD31-4B8C-83A1-F6EECF244321}">
                <p14:modId xmlns:p14="http://schemas.microsoft.com/office/powerpoint/2010/main" val="115146430"/>
              </p:ext>
            </p:extLst>
          </p:nvPr>
        </p:nvGraphicFramePr>
        <p:xfrm>
          <a:off x="395838" y="3912235"/>
          <a:ext cx="6046695" cy="922349"/>
        </p:xfrm>
        <a:graphic>
          <a:graphicData uri="http://schemas.openxmlformats.org/drawingml/2006/table">
            <a:tbl>
              <a:tblPr firstRow="1" bandRow="1">
                <a:tableStyleId>{5C22544A-7EE6-4342-B048-85BDC9FD1C3A}</a:tableStyleId>
              </a:tblPr>
              <a:tblGrid>
                <a:gridCol w="439978">
                  <a:extLst>
                    <a:ext uri="{9D8B030D-6E8A-4147-A177-3AD203B41FA5}">
                      <a16:colId xmlns:a16="http://schemas.microsoft.com/office/drawing/2014/main" val="4170535043"/>
                    </a:ext>
                  </a:extLst>
                </a:gridCol>
                <a:gridCol w="1128219">
                  <a:extLst>
                    <a:ext uri="{9D8B030D-6E8A-4147-A177-3AD203B41FA5}">
                      <a16:colId xmlns:a16="http://schemas.microsoft.com/office/drawing/2014/main" val="2079070694"/>
                    </a:ext>
                  </a:extLst>
                </a:gridCol>
                <a:gridCol w="4478498">
                  <a:extLst>
                    <a:ext uri="{9D8B030D-6E8A-4147-A177-3AD203B41FA5}">
                      <a16:colId xmlns:a16="http://schemas.microsoft.com/office/drawing/2014/main" val="32595803"/>
                    </a:ext>
                  </a:extLst>
                </a:gridCol>
              </a:tblGrid>
              <a:tr h="3017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7800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DELAY_CHx</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[13:12]</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register includes the MSB 2 bits of each channel’s DELAY_CHx [13:0] value.</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DELAY_CHx determines from which PWM position the dimming out starts. If this is set to n, then the dimming out starts at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PWM position. Normally, the setting value can not exceed the max PWM resolution.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0A0E28D5-A8BE-3313-6E1E-880FD4AA20EE}"/>
              </a:ext>
            </a:extLst>
          </p:cNvPr>
          <p:cNvSpPr txBox="1"/>
          <p:nvPr/>
        </p:nvSpPr>
        <p:spPr>
          <a:xfrm>
            <a:off x="404811" y="3142176"/>
            <a:ext cx="60377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 EXTEND</a:t>
            </a:r>
          </a:p>
        </p:txBody>
      </p:sp>
      <p:graphicFrame>
        <p:nvGraphicFramePr>
          <p:cNvPr id="5" name="표 4">
            <a:extLst>
              <a:ext uri="{FF2B5EF4-FFF2-40B4-BE49-F238E27FC236}">
                <a16:creationId xmlns:a16="http://schemas.microsoft.com/office/drawing/2014/main" id="{45DE8FCB-50B5-353C-2592-F95A83E0479C}"/>
              </a:ext>
            </a:extLst>
          </p:cNvPr>
          <p:cNvGraphicFramePr>
            <a:graphicFrameLocks noGrp="1"/>
          </p:cNvGraphicFramePr>
          <p:nvPr>
            <p:extLst>
              <p:ext uri="{D42A27DB-BD31-4B8C-83A1-F6EECF244321}">
                <p14:modId xmlns:p14="http://schemas.microsoft.com/office/powerpoint/2010/main" val="3556435091"/>
              </p:ext>
            </p:extLst>
          </p:nvPr>
        </p:nvGraphicFramePr>
        <p:xfrm>
          <a:off x="404811" y="3408291"/>
          <a:ext cx="6046696" cy="372600"/>
        </p:xfrm>
        <a:graphic>
          <a:graphicData uri="http://schemas.openxmlformats.org/drawingml/2006/table">
            <a:tbl>
              <a:tblPr firstRow="1" bandRow="1">
                <a:tableStyleId>{5C22544A-7EE6-4342-B048-85BDC9FD1C3A}</a:tableStyleId>
              </a:tblPr>
              <a:tblGrid>
                <a:gridCol w="351275">
                  <a:extLst>
                    <a:ext uri="{9D8B030D-6E8A-4147-A177-3AD203B41FA5}">
                      <a16:colId xmlns:a16="http://schemas.microsoft.com/office/drawing/2014/main" val="657570846"/>
                    </a:ext>
                  </a:extLst>
                </a:gridCol>
                <a:gridCol w="386240">
                  <a:extLst>
                    <a:ext uri="{9D8B030D-6E8A-4147-A177-3AD203B41FA5}">
                      <a16:colId xmlns:a16="http://schemas.microsoft.com/office/drawing/2014/main" val="3259894497"/>
                    </a:ext>
                  </a:extLst>
                </a:gridCol>
                <a:gridCol w="453933">
                  <a:extLst>
                    <a:ext uri="{9D8B030D-6E8A-4147-A177-3AD203B41FA5}">
                      <a16:colId xmlns:a16="http://schemas.microsoft.com/office/drawing/2014/main" val="4170535043"/>
                    </a:ext>
                  </a:extLst>
                </a:gridCol>
                <a:gridCol w="404604">
                  <a:extLst>
                    <a:ext uri="{9D8B030D-6E8A-4147-A177-3AD203B41FA5}">
                      <a16:colId xmlns:a16="http://schemas.microsoft.com/office/drawing/2014/main" val="2079070694"/>
                    </a:ext>
                  </a:extLst>
                </a:gridCol>
                <a:gridCol w="404604">
                  <a:extLst>
                    <a:ext uri="{9D8B030D-6E8A-4147-A177-3AD203B41FA5}">
                      <a16:colId xmlns:a16="http://schemas.microsoft.com/office/drawing/2014/main" val="4213315911"/>
                    </a:ext>
                  </a:extLst>
                </a:gridCol>
                <a:gridCol w="404604">
                  <a:extLst>
                    <a:ext uri="{9D8B030D-6E8A-4147-A177-3AD203B41FA5}">
                      <a16:colId xmlns:a16="http://schemas.microsoft.com/office/drawing/2014/main" val="2769999950"/>
                    </a:ext>
                  </a:extLst>
                </a:gridCol>
                <a:gridCol w="404604">
                  <a:extLst>
                    <a:ext uri="{9D8B030D-6E8A-4147-A177-3AD203B41FA5}">
                      <a16:colId xmlns:a16="http://schemas.microsoft.com/office/drawing/2014/main" val="135637185"/>
                    </a:ext>
                  </a:extLst>
                </a:gridCol>
                <a:gridCol w="404604">
                  <a:extLst>
                    <a:ext uri="{9D8B030D-6E8A-4147-A177-3AD203B41FA5}">
                      <a16:colId xmlns:a16="http://schemas.microsoft.com/office/drawing/2014/main" val="3038050475"/>
                    </a:ext>
                  </a:extLst>
                </a:gridCol>
                <a:gridCol w="404604">
                  <a:extLst>
                    <a:ext uri="{9D8B030D-6E8A-4147-A177-3AD203B41FA5}">
                      <a16:colId xmlns:a16="http://schemas.microsoft.com/office/drawing/2014/main" val="1979433044"/>
                    </a:ext>
                  </a:extLst>
                </a:gridCol>
                <a:gridCol w="404604">
                  <a:extLst>
                    <a:ext uri="{9D8B030D-6E8A-4147-A177-3AD203B41FA5}">
                      <a16:colId xmlns:a16="http://schemas.microsoft.com/office/drawing/2014/main" val="4270661649"/>
                    </a:ext>
                  </a:extLst>
                </a:gridCol>
                <a:gridCol w="404604">
                  <a:extLst>
                    <a:ext uri="{9D8B030D-6E8A-4147-A177-3AD203B41FA5}">
                      <a16:colId xmlns:a16="http://schemas.microsoft.com/office/drawing/2014/main" val="3027041370"/>
                    </a:ext>
                  </a:extLst>
                </a:gridCol>
                <a:gridCol w="404604">
                  <a:extLst>
                    <a:ext uri="{9D8B030D-6E8A-4147-A177-3AD203B41FA5}">
                      <a16:colId xmlns:a16="http://schemas.microsoft.com/office/drawing/2014/main" val="2852526216"/>
                    </a:ext>
                  </a:extLst>
                </a:gridCol>
                <a:gridCol w="404604">
                  <a:extLst>
                    <a:ext uri="{9D8B030D-6E8A-4147-A177-3AD203B41FA5}">
                      <a16:colId xmlns:a16="http://schemas.microsoft.com/office/drawing/2014/main" val="103420222"/>
                    </a:ext>
                  </a:extLst>
                </a:gridCol>
                <a:gridCol w="404604">
                  <a:extLst>
                    <a:ext uri="{9D8B030D-6E8A-4147-A177-3AD203B41FA5}">
                      <a16:colId xmlns:a16="http://schemas.microsoft.com/office/drawing/2014/main" val="1470405609"/>
                    </a:ext>
                  </a:extLst>
                </a:gridCol>
                <a:gridCol w="40460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DELAY_CH4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DELAY_CH3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DELAY_CH2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650" b="0" dirty="0">
                          <a:solidFill>
                            <a:schemeClr val="tx1"/>
                          </a:solidFill>
                          <a:latin typeface="Arial" panose="020B0604020202020204" pitchFamily="34" charset="0"/>
                          <a:ea typeface="+mn-ea"/>
                          <a:cs typeface="Arial" panose="020B0604020202020204" pitchFamily="34" charset="0"/>
                        </a:rPr>
                        <a:t>DELAY_CH1 [13:12]</a:t>
                      </a:r>
                      <a:endParaRPr kumimoji="0" lang="ko-KR" altLang="en-US" sz="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18210FDE-3A51-7E1D-93F0-F4E03F60164F}"/>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2" name="표 1">
            <a:extLst>
              <a:ext uri="{FF2B5EF4-FFF2-40B4-BE49-F238E27FC236}">
                <a16:creationId xmlns:a16="http://schemas.microsoft.com/office/drawing/2014/main" id="{5246DEB0-6373-C080-BE63-A9B65ACD3330}"/>
              </a:ext>
            </a:extLst>
          </p:cNvPr>
          <p:cNvGraphicFramePr>
            <a:graphicFrameLocks noGrp="1"/>
          </p:cNvGraphicFramePr>
          <p:nvPr>
            <p:extLst>
              <p:ext uri="{D42A27DB-BD31-4B8C-83A1-F6EECF244321}">
                <p14:modId xmlns:p14="http://schemas.microsoft.com/office/powerpoint/2010/main" val="1933877422"/>
              </p:ext>
            </p:extLst>
          </p:nvPr>
        </p:nvGraphicFramePr>
        <p:xfrm>
          <a:off x="404811" y="1558963"/>
          <a:ext cx="6052400" cy="1190197"/>
        </p:xfrm>
        <a:graphic>
          <a:graphicData uri="http://schemas.openxmlformats.org/drawingml/2006/table">
            <a:tbl>
              <a:tblPr firstRow="1" bandRow="1">
                <a:tableStyleId>{5C22544A-7EE6-4342-B048-85BDC9FD1C3A}</a:tableStyleId>
              </a:tblPr>
              <a:tblGrid>
                <a:gridCol w="373704">
                  <a:extLst>
                    <a:ext uri="{9D8B030D-6E8A-4147-A177-3AD203B41FA5}">
                      <a16:colId xmlns:a16="http://schemas.microsoft.com/office/drawing/2014/main" val="4170535043"/>
                    </a:ext>
                  </a:extLst>
                </a:gridCol>
                <a:gridCol w="1115461">
                  <a:extLst>
                    <a:ext uri="{9D8B030D-6E8A-4147-A177-3AD203B41FA5}">
                      <a16:colId xmlns:a16="http://schemas.microsoft.com/office/drawing/2014/main" val="2079070694"/>
                    </a:ext>
                  </a:extLst>
                </a:gridCol>
                <a:gridCol w="4563235">
                  <a:extLst>
                    <a:ext uri="{9D8B030D-6E8A-4147-A177-3AD203B41FA5}">
                      <a16:colId xmlns:a16="http://schemas.microsoft.com/office/drawing/2014/main" val="32595803"/>
                    </a:ext>
                  </a:extLst>
                </a:gridCol>
              </a:tblGrid>
              <a:tr h="295237">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611714">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MAX_CURR_VREF</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MAX_CURR_VREF determines the maximum current value of a frame to be dimmed. If the max current level is set to 8mA, then the MAX_CURR_VREF value is proportional to the max current level, and so this value decides the max current reference of all blocks being dimmed for a frame. The setting value will come into effect at the next vsync assertion even if the value is set during current dimming frame earlier than the next vsync.</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1CA3539C-262F-DCFF-AAB8-7187F49BD04E}"/>
              </a:ext>
            </a:extLst>
          </p:cNvPr>
          <p:cNvGraphicFramePr>
            <a:graphicFrameLocks noGrp="1"/>
          </p:cNvGraphicFramePr>
          <p:nvPr>
            <p:extLst>
              <p:ext uri="{D42A27DB-BD31-4B8C-83A1-F6EECF244321}">
                <p14:modId xmlns:p14="http://schemas.microsoft.com/office/powerpoint/2010/main" val="311023684"/>
              </p:ext>
            </p:extLst>
          </p:nvPr>
        </p:nvGraphicFramePr>
        <p:xfrm>
          <a:off x="406736" y="1110452"/>
          <a:ext cx="6046700" cy="372600"/>
        </p:xfrm>
        <a:graphic>
          <a:graphicData uri="http://schemas.openxmlformats.org/drawingml/2006/table">
            <a:tbl>
              <a:tblPr firstRow="1" bandRow="1">
                <a:tableStyleId>{5C22544A-7EE6-4342-B048-85BDC9FD1C3A}</a:tableStyleId>
              </a:tblPr>
              <a:tblGrid>
                <a:gridCol w="289172">
                  <a:extLst>
                    <a:ext uri="{9D8B030D-6E8A-4147-A177-3AD203B41FA5}">
                      <a16:colId xmlns:a16="http://schemas.microsoft.com/office/drawing/2014/main" val="657570846"/>
                    </a:ext>
                  </a:extLst>
                </a:gridCol>
                <a:gridCol w="411853">
                  <a:extLst>
                    <a:ext uri="{9D8B030D-6E8A-4147-A177-3AD203B41FA5}">
                      <a16:colId xmlns:a16="http://schemas.microsoft.com/office/drawing/2014/main" val="3259894497"/>
                    </a:ext>
                  </a:extLst>
                </a:gridCol>
                <a:gridCol w="464429">
                  <a:extLst>
                    <a:ext uri="{9D8B030D-6E8A-4147-A177-3AD203B41FA5}">
                      <a16:colId xmlns:a16="http://schemas.microsoft.com/office/drawing/2014/main" val="4170535043"/>
                    </a:ext>
                  </a:extLst>
                </a:gridCol>
                <a:gridCol w="327345">
                  <a:extLst>
                    <a:ext uri="{9D8B030D-6E8A-4147-A177-3AD203B41FA5}">
                      <a16:colId xmlns:a16="http://schemas.microsoft.com/office/drawing/2014/main" val="2079070694"/>
                    </a:ext>
                  </a:extLst>
                </a:gridCol>
                <a:gridCol w="413991">
                  <a:extLst>
                    <a:ext uri="{9D8B030D-6E8A-4147-A177-3AD203B41FA5}">
                      <a16:colId xmlns:a16="http://schemas.microsoft.com/office/drawing/2014/main" val="4213315911"/>
                    </a:ext>
                  </a:extLst>
                </a:gridCol>
                <a:gridCol w="413991">
                  <a:extLst>
                    <a:ext uri="{9D8B030D-6E8A-4147-A177-3AD203B41FA5}">
                      <a16:colId xmlns:a16="http://schemas.microsoft.com/office/drawing/2014/main" val="2769999950"/>
                    </a:ext>
                  </a:extLst>
                </a:gridCol>
                <a:gridCol w="413991">
                  <a:extLst>
                    <a:ext uri="{9D8B030D-6E8A-4147-A177-3AD203B41FA5}">
                      <a16:colId xmlns:a16="http://schemas.microsoft.com/office/drawing/2014/main" val="135637185"/>
                    </a:ext>
                  </a:extLst>
                </a:gridCol>
                <a:gridCol w="413991">
                  <a:extLst>
                    <a:ext uri="{9D8B030D-6E8A-4147-A177-3AD203B41FA5}">
                      <a16:colId xmlns:a16="http://schemas.microsoft.com/office/drawing/2014/main" val="3038050475"/>
                    </a:ext>
                  </a:extLst>
                </a:gridCol>
                <a:gridCol w="413991">
                  <a:extLst>
                    <a:ext uri="{9D8B030D-6E8A-4147-A177-3AD203B41FA5}">
                      <a16:colId xmlns:a16="http://schemas.microsoft.com/office/drawing/2014/main" val="1979433044"/>
                    </a:ext>
                  </a:extLst>
                </a:gridCol>
                <a:gridCol w="413991">
                  <a:extLst>
                    <a:ext uri="{9D8B030D-6E8A-4147-A177-3AD203B41FA5}">
                      <a16:colId xmlns:a16="http://schemas.microsoft.com/office/drawing/2014/main" val="4270661649"/>
                    </a:ext>
                  </a:extLst>
                </a:gridCol>
                <a:gridCol w="413991">
                  <a:extLst>
                    <a:ext uri="{9D8B030D-6E8A-4147-A177-3AD203B41FA5}">
                      <a16:colId xmlns:a16="http://schemas.microsoft.com/office/drawing/2014/main" val="3027041370"/>
                    </a:ext>
                  </a:extLst>
                </a:gridCol>
                <a:gridCol w="413991">
                  <a:extLst>
                    <a:ext uri="{9D8B030D-6E8A-4147-A177-3AD203B41FA5}">
                      <a16:colId xmlns:a16="http://schemas.microsoft.com/office/drawing/2014/main" val="2852526216"/>
                    </a:ext>
                  </a:extLst>
                </a:gridCol>
                <a:gridCol w="413991">
                  <a:extLst>
                    <a:ext uri="{9D8B030D-6E8A-4147-A177-3AD203B41FA5}">
                      <a16:colId xmlns:a16="http://schemas.microsoft.com/office/drawing/2014/main" val="103420222"/>
                    </a:ext>
                  </a:extLst>
                </a:gridCol>
                <a:gridCol w="413991">
                  <a:extLst>
                    <a:ext uri="{9D8B030D-6E8A-4147-A177-3AD203B41FA5}">
                      <a16:colId xmlns:a16="http://schemas.microsoft.com/office/drawing/2014/main" val="1470405609"/>
                    </a:ext>
                  </a:extLst>
                </a:gridCol>
                <a:gridCol w="41399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MAX_CURR_VREF [11:0]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5CBB5A2B-88AD-CB2B-06D4-A847F70DC2AB}"/>
              </a:ext>
            </a:extLst>
          </p:cNvPr>
          <p:cNvSpPr txBox="1"/>
          <p:nvPr/>
        </p:nvSpPr>
        <p:spPr>
          <a:xfrm>
            <a:off x="404564" y="848842"/>
            <a:ext cx="6037969"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MAX CURRENT VREF</a:t>
            </a:r>
          </a:p>
        </p:txBody>
      </p:sp>
    </p:spTree>
    <p:extLst>
      <p:ext uri="{BB962C8B-B14F-4D97-AF65-F5344CB8AC3E}">
        <p14:creationId xmlns:p14="http://schemas.microsoft.com/office/powerpoint/2010/main" val="2566225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A0E28D5-A8BE-3313-6E1E-880FD4AA20EE}"/>
              </a:ext>
            </a:extLst>
          </p:cNvPr>
          <p:cNvSpPr txBox="1"/>
          <p:nvPr/>
        </p:nvSpPr>
        <p:spPr>
          <a:xfrm>
            <a:off x="404574" y="848186"/>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CH1</a:t>
            </a:r>
          </a:p>
        </p:txBody>
      </p:sp>
      <p:sp>
        <p:nvSpPr>
          <p:cNvPr id="11" name="TextBox 10">
            <a:extLst>
              <a:ext uri="{FF2B5EF4-FFF2-40B4-BE49-F238E27FC236}">
                <a16:creationId xmlns:a16="http://schemas.microsoft.com/office/drawing/2014/main" id="{209B56D3-A1E6-0BF0-F524-22950314FD50}"/>
              </a:ext>
            </a:extLst>
          </p:cNvPr>
          <p:cNvSpPr txBox="1"/>
          <p:nvPr/>
        </p:nvSpPr>
        <p:spPr>
          <a:xfrm>
            <a:off x="404574" y="1495984"/>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CH2</a:t>
            </a:r>
          </a:p>
        </p:txBody>
      </p:sp>
      <p:sp>
        <p:nvSpPr>
          <p:cNvPr id="17" name="TextBox 16">
            <a:extLst>
              <a:ext uri="{FF2B5EF4-FFF2-40B4-BE49-F238E27FC236}">
                <a16:creationId xmlns:a16="http://schemas.microsoft.com/office/drawing/2014/main" id="{86284F22-9BD3-DA53-61A8-C4D4A8AAB9AB}"/>
              </a:ext>
            </a:extLst>
          </p:cNvPr>
          <p:cNvSpPr txBox="1"/>
          <p:nvPr/>
        </p:nvSpPr>
        <p:spPr>
          <a:xfrm>
            <a:off x="398738" y="2139072"/>
            <a:ext cx="604301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CH3</a:t>
            </a:r>
          </a:p>
        </p:txBody>
      </p:sp>
      <p:sp>
        <p:nvSpPr>
          <p:cNvPr id="19" name="TextBox 18">
            <a:extLst>
              <a:ext uri="{FF2B5EF4-FFF2-40B4-BE49-F238E27FC236}">
                <a16:creationId xmlns:a16="http://schemas.microsoft.com/office/drawing/2014/main" id="{7DEE360B-C85A-D80A-47C2-BEB07BF4B79B}"/>
              </a:ext>
            </a:extLst>
          </p:cNvPr>
          <p:cNvSpPr txBox="1"/>
          <p:nvPr/>
        </p:nvSpPr>
        <p:spPr>
          <a:xfrm>
            <a:off x="396029" y="2779932"/>
            <a:ext cx="603360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DELAY CH4</a:t>
            </a:r>
          </a:p>
        </p:txBody>
      </p:sp>
      <p:sp>
        <p:nvSpPr>
          <p:cNvPr id="8" name="TextBox 7">
            <a:extLst>
              <a:ext uri="{FF2B5EF4-FFF2-40B4-BE49-F238E27FC236}">
                <a16:creationId xmlns:a16="http://schemas.microsoft.com/office/drawing/2014/main" id="{EE80EB99-3C8E-D87B-607D-CC8405F3B532}"/>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 name="표 2">
            <a:extLst>
              <a:ext uri="{FF2B5EF4-FFF2-40B4-BE49-F238E27FC236}">
                <a16:creationId xmlns:a16="http://schemas.microsoft.com/office/drawing/2014/main" id="{40875B01-BF9D-B25E-61B2-039D54F5B2C6}"/>
              </a:ext>
            </a:extLst>
          </p:cNvPr>
          <p:cNvGraphicFramePr>
            <a:graphicFrameLocks noGrp="1"/>
          </p:cNvGraphicFramePr>
          <p:nvPr/>
        </p:nvGraphicFramePr>
        <p:xfrm>
          <a:off x="395231" y="1712036"/>
          <a:ext cx="6058189" cy="372600"/>
        </p:xfrm>
        <a:graphic>
          <a:graphicData uri="http://schemas.openxmlformats.org/drawingml/2006/table">
            <a:tbl>
              <a:tblPr firstRow="1" bandRow="1">
                <a:tableStyleId>{5C22544A-7EE6-4342-B048-85BDC9FD1C3A}</a:tableStyleId>
              </a:tblPr>
              <a:tblGrid>
                <a:gridCol w="299115">
                  <a:extLst>
                    <a:ext uri="{9D8B030D-6E8A-4147-A177-3AD203B41FA5}">
                      <a16:colId xmlns:a16="http://schemas.microsoft.com/office/drawing/2014/main" val="657570846"/>
                    </a:ext>
                  </a:extLst>
                </a:gridCol>
                <a:gridCol w="350034">
                  <a:extLst>
                    <a:ext uri="{9D8B030D-6E8A-4147-A177-3AD203B41FA5}">
                      <a16:colId xmlns:a16="http://schemas.microsoft.com/office/drawing/2014/main" val="3259894497"/>
                    </a:ext>
                  </a:extLst>
                </a:gridCol>
                <a:gridCol w="504141">
                  <a:extLst>
                    <a:ext uri="{9D8B030D-6E8A-4147-A177-3AD203B41FA5}">
                      <a16:colId xmlns:a16="http://schemas.microsoft.com/office/drawing/2014/main" val="4170535043"/>
                    </a:ext>
                  </a:extLst>
                </a:gridCol>
                <a:gridCol w="416914">
                  <a:extLst>
                    <a:ext uri="{9D8B030D-6E8A-4147-A177-3AD203B41FA5}">
                      <a16:colId xmlns:a16="http://schemas.microsoft.com/office/drawing/2014/main" val="2079070694"/>
                    </a:ext>
                  </a:extLst>
                </a:gridCol>
                <a:gridCol w="441436">
                  <a:extLst>
                    <a:ext uri="{9D8B030D-6E8A-4147-A177-3AD203B41FA5}">
                      <a16:colId xmlns:a16="http://schemas.microsoft.com/office/drawing/2014/main" val="4213315911"/>
                    </a:ext>
                  </a:extLst>
                </a:gridCol>
                <a:gridCol w="446342">
                  <a:extLst>
                    <a:ext uri="{9D8B030D-6E8A-4147-A177-3AD203B41FA5}">
                      <a16:colId xmlns:a16="http://schemas.microsoft.com/office/drawing/2014/main" val="2769999950"/>
                    </a:ext>
                  </a:extLst>
                </a:gridCol>
                <a:gridCol w="451280">
                  <a:extLst>
                    <a:ext uri="{9D8B030D-6E8A-4147-A177-3AD203B41FA5}">
                      <a16:colId xmlns:a16="http://schemas.microsoft.com/office/drawing/2014/main" val="135637185"/>
                    </a:ext>
                  </a:extLst>
                </a:gridCol>
                <a:gridCol w="397419">
                  <a:extLst>
                    <a:ext uri="{9D8B030D-6E8A-4147-A177-3AD203B41FA5}">
                      <a16:colId xmlns:a16="http://schemas.microsoft.com/office/drawing/2014/main" val="3038050475"/>
                    </a:ext>
                  </a:extLst>
                </a:gridCol>
                <a:gridCol w="397419">
                  <a:extLst>
                    <a:ext uri="{9D8B030D-6E8A-4147-A177-3AD203B41FA5}">
                      <a16:colId xmlns:a16="http://schemas.microsoft.com/office/drawing/2014/main" val="1979433044"/>
                    </a:ext>
                  </a:extLst>
                </a:gridCol>
                <a:gridCol w="397419">
                  <a:extLst>
                    <a:ext uri="{9D8B030D-6E8A-4147-A177-3AD203B41FA5}">
                      <a16:colId xmlns:a16="http://schemas.microsoft.com/office/drawing/2014/main" val="4270661649"/>
                    </a:ext>
                  </a:extLst>
                </a:gridCol>
                <a:gridCol w="397419">
                  <a:extLst>
                    <a:ext uri="{9D8B030D-6E8A-4147-A177-3AD203B41FA5}">
                      <a16:colId xmlns:a16="http://schemas.microsoft.com/office/drawing/2014/main" val="3027041370"/>
                    </a:ext>
                  </a:extLst>
                </a:gridCol>
                <a:gridCol w="397419">
                  <a:extLst>
                    <a:ext uri="{9D8B030D-6E8A-4147-A177-3AD203B41FA5}">
                      <a16:colId xmlns:a16="http://schemas.microsoft.com/office/drawing/2014/main" val="2852526216"/>
                    </a:ext>
                  </a:extLst>
                </a:gridCol>
                <a:gridCol w="397419">
                  <a:extLst>
                    <a:ext uri="{9D8B030D-6E8A-4147-A177-3AD203B41FA5}">
                      <a16:colId xmlns:a16="http://schemas.microsoft.com/office/drawing/2014/main" val="103420222"/>
                    </a:ext>
                  </a:extLst>
                </a:gridCol>
                <a:gridCol w="397419">
                  <a:extLst>
                    <a:ext uri="{9D8B030D-6E8A-4147-A177-3AD203B41FA5}">
                      <a16:colId xmlns:a16="http://schemas.microsoft.com/office/drawing/2014/main" val="1470405609"/>
                    </a:ext>
                  </a:extLst>
                </a:gridCol>
                <a:gridCol w="36699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DELAY_CH2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2" name="표 11">
            <a:extLst>
              <a:ext uri="{FF2B5EF4-FFF2-40B4-BE49-F238E27FC236}">
                <a16:creationId xmlns:a16="http://schemas.microsoft.com/office/drawing/2014/main" id="{633C6583-5C79-3893-781B-ED9CA0DEC798}"/>
              </a:ext>
            </a:extLst>
          </p:cNvPr>
          <p:cNvGraphicFramePr>
            <a:graphicFrameLocks noGrp="1"/>
          </p:cNvGraphicFramePr>
          <p:nvPr/>
        </p:nvGraphicFramePr>
        <p:xfrm>
          <a:off x="389907" y="2351145"/>
          <a:ext cx="6057677" cy="372600"/>
        </p:xfrm>
        <a:graphic>
          <a:graphicData uri="http://schemas.openxmlformats.org/drawingml/2006/table">
            <a:tbl>
              <a:tblPr firstRow="1" bandRow="1">
                <a:tableStyleId>{5C22544A-7EE6-4342-B048-85BDC9FD1C3A}</a:tableStyleId>
              </a:tblPr>
              <a:tblGrid>
                <a:gridCol w="299090">
                  <a:extLst>
                    <a:ext uri="{9D8B030D-6E8A-4147-A177-3AD203B41FA5}">
                      <a16:colId xmlns:a16="http://schemas.microsoft.com/office/drawing/2014/main" val="657570846"/>
                    </a:ext>
                  </a:extLst>
                </a:gridCol>
                <a:gridCol w="350004">
                  <a:extLst>
                    <a:ext uri="{9D8B030D-6E8A-4147-A177-3AD203B41FA5}">
                      <a16:colId xmlns:a16="http://schemas.microsoft.com/office/drawing/2014/main" val="3259894497"/>
                    </a:ext>
                  </a:extLst>
                </a:gridCol>
                <a:gridCol w="503060">
                  <a:extLst>
                    <a:ext uri="{9D8B030D-6E8A-4147-A177-3AD203B41FA5}">
                      <a16:colId xmlns:a16="http://schemas.microsoft.com/office/drawing/2014/main" val="4170535043"/>
                    </a:ext>
                  </a:extLst>
                </a:gridCol>
                <a:gridCol w="416877">
                  <a:extLst>
                    <a:ext uri="{9D8B030D-6E8A-4147-A177-3AD203B41FA5}">
                      <a16:colId xmlns:a16="http://schemas.microsoft.com/office/drawing/2014/main" val="2079070694"/>
                    </a:ext>
                  </a:extLst>
                </a:gridCol>
                <a:gridCol w="456114">
                  <a:extLst>
                    <a:ext uri="{9D8B030D-6E8A-4147-A177-3AD203B41FA5}">
                      <a16:colId xmlns:a16="http://schemas.microsoft.com/office/drawing/2014/main" val="4213315911"/>
                    </a:ext>
                  </a:extLst>
                </a:gridCol>
                <a:gridCol w="436496">
                  <a:extLst>
                    <a:ext uri="{9D8B030D-6E8A-4147-A177-3AD203B41FA5}">
                      <a16:colId xmlns:a16="http://schemas.microsoft.com/office/drawing/2014/main" val="2769999950"/>
                    </a:ext>
                  </a:extLst>
                </a:gridCol>
                <a:gridCol w="447377">
                  <a:extLst>
                    <a:ext uri="{9D8B030D-6E8A-4147-A177-3AD203B41FA5}">
                      <a16:colId xmlns:a16="http://schemas.microsoft.com/office/drawing/2014/main" val="135637185"/>
                    </a:ext>
                  </a:extLst>
                </a:gridCol>
                <a:gridCol w="397385">
                  <a:extLst>
                    <a:ext uri="{9D8B030D-6E8A-4147-A177-3AD203B41FA5}">
                      <a16:colId xmlns:a16="http://schemas.microsoft.com/office/drawing/2014/main" val="3038050475"/>
                    </a:ext>
                  </a:extLst>
                </a:gridCol>
                <a:gridCol w="397385">
                  <a:extLst>
                    <a:ext uri="{9D8B030D-6E8A-4147-A177-3AD203B41FA5}">
                      <a16:colId xmlns:a16="http://schemas.microsoft.com/office/drawing/2014/main" val="1979433044"/>
                    </a:ext>
                  </a:extLst>
                </a:gridCol>
                <a:gridCol w="397385">
                  <a:extLst>
                    <a:ext uri="{9D8B030D-6E8A-4147-A177-3AD203B41FA5}">
                      <a16:colId xmlns:a16="http://schemas.microsoft.com/office/drawing/2014/main" val="4270661649"/>
                    </a:ext>
                  </a:extLst>
                </a:gridCol>
                <a:gridCol w="397385">
                  <a:extLst>
                    <a:ext uri="{9D8B030D-6E8A-4147-A177-3AD203B41FA5}">
                      <a16:colId xmlns:a16="http://schemas.microsoft.com/office/drawing/2014/main" val="3027041370"/>
                    </a:ext>
                  </a:extLst>
                </a:gridCol>
                <a:gridCol w="397385">
                  <a:extLst>
                    <a:ext uri="{9D8B030D-6E8A-4147-A177-3AD203B41FA5}">
                      <a16:colId xmlns:a16="http://schemas.microsoft.com/office/drawing/2014/main" val="2852526216"/>
                    </a:ext>
                  </a:extLst>
                </a:gridCol>
                <a:gridCol w="397385">
                  <a:extLst>
                    <a:ext uri="{9D8B030D-6E8A-4147-A177-3AD203B41FA5}">
                      <a16:colId xmlns:a16="http://schemas.microsoft.com/office/drawing/2014/main" val="103420222"/>
                    </a:ext>
                  </a:extLst>
                </a:gridCol>
                <a:gridCol w="397385">
                  <a:extLst>
                    <a:ext uri="{9D8B030D-6E8A-4147-A177-3AD203B41FA5}">
                      <a16:colId xmlns:a16="http://schemas.microsoft.com/office/drawing/2014/main" val="1470405609"/>
                    </a:ext>
                  </a:extLst>
                </a:gridCol>
                <a:gridCol w="3669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DELAY_CH3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3" name="표 12">
            <a:extLst>
              <a:ext uri="{FF2B5EF4-FFF2-40B4-BE49-F238E27FC236}">
                <a16:creationId xmlns:a16="http://schemas.microsoft.com/office/drawing/2014/main" id="{809720F3-A7B4-ABA1-D2EE-A4DE0A2814EB}"/>
              </a:ext>
            </a:extLst>
          </p:cNvPr>
          <p:cNvGraphicFramePr>
            <a:graphicFrameLocks noGrp="1"/>
          </p:cNvGraphicFramePr>
          <p:nvPr/>
        </p:nvGraphicFramePr>
        <p:xfrm>
          <a:off x="386686" y="2994388"/>
          <a:ext cx="6052357" cy="372600"/>
        </p:xfrm>
        <a:graphic>
          <a:graphicData uri="http://schemas.openxmlformats.org/drawingml/2006/table">
            <a:tbl>
              <a:tblPr firstRow="1" bandRow="1">
                <a:tableStyleId>{5C22544A-7EE6-4342-B048-85BDC9FD1C3A}</a:tableStyleId>
              </a:tblPr>
              <a:tblGrid>
                <a:gridCol w="298826">
                  <a:extLst>
                    <a:ext uri="{9D8B030D-6E8A-4147-A177-3AD203B41FA5}">
                      <a16:colId xmlns:a16="http://schemas.microsoft.com/office/drawing/2014/main" val="657570846"/>
                    </a:ext>
                  </a:extLst>
                </a:gridCol>
                <a:gridCol w="349697">
                  <a:extLst>
                    <a:ext uri="{9D8B030D-6E8A-4147-A177-3AD203B41FA5}">
                      <a16:colId xmlns:a16="http://schemas.microsoft.com/office/drawing/2014/main" val="3259894497"/>
                    </a:ext>
                  </a:extLst>
                </a:gridCol>
                <a:gridCol w="496905">
                  <a:extLst>
                    <a:ext uri="{9D8B030D-6E8A-4147-A177-3AD203B41FA5}">
                      <a16:colId xmlns:a16="http://schemas.microsoft.com/office/drawing/2014/main" val="4170535043"/>
                    </a:ext>
                  </a:extLst>
                </a:gridCol>
                <a:gridCol w="431212">
                  <a:extLst>
                    <a:ext uri="{9D8B030D-6E8A-4147-A177-3AD203B41FA5}">
                      <a16:colId xmlns:a16="http://schemas.microsoft.com/office/drawing/2014/main" val="2079070694"/>
                    </a:ext>
                  </a:extLst>
                </a:gridCol>
                <a:gridCol w="455713">
                  <a:extLst>
                    <a:ext uri="{9D8B030D-6E8A-4147-A177-3AD203B41FA5}">
                      <a16:colId xmlns:a16="http://schemas.microsoft.com/office/drawing/2014/main" val="4213315911"/>
                    </a:ext>
                  </a:extLst>
                </a:gridCol>
                <a:gridCol w="436113">
                  <a:extLst>
                    <a:ext uri="{9D8B030D-6E8A-4147-A177-3AD203B41FA5}">
                      <a16:colId xmlns:a16="http://schemas.microsoft.com/office/drawing/2014/main" val="2769999950"/>
                    </a:ext>
                  </a:extLst>
                </a:gridCol>
                <a:gridCol w="437998">
                  <a:extLst>
                    <a:ext uri="{9D8B030D-6E8A-4147-A177-3AD203B41FA5}">
                      <a16:colId xmlns:a16="http://schemas.microsoft.com/office/drawing/2014/main" val="135637185"/>
                    </a:ext>
                  </a:extLst>
                </a:gridCol>
                <a:gridCol w="397036">
                  <a:extLst>
                    <a:ext uri="{9D8B030D-6E8A-4147-A177-3AD203B41FA5}">
                      <a16:colId xmlns:a16="http://schemas.microsoft.com/office/drawing/2014/main" val="3038050475"/>
                    </a:ext>
                  </a:extLst>
                </a:gridCol>
                <a:gridCol w="397036">
                  <a:extLst>
                    <a:ext uri="{9D8B030D-6E8A-4147-A177-3AD203B41FA5}">
                      <a16:colId xmlns:a16="http://schemas.microsoft.com/office/drawing/2014/main" val="1979433044"/>
                    </a:ext>
                  </a:extLst>
                </a:gridCol>
                <a:gridCol w="397036">
                  <a:extLst>
                    <a:ext uri="{9D8B030D-6E8A-4147-A177-3AD203B41FA5}">
                      <a16:colId xmlns:a16="http://schemas.microsoft.com/office/drawing/2014/main" val="4270661649"/>
                    </a:ext>
                  </a:extLst>
                </a:gridCol>
                <a:gridCol w="397036">
                  <a:extLst>
                    <a:ext uri="{9D8B030D-6E8A-4147-A177-3AD203B41FA5}">
                      <a16:colId xmlns:a16="http://schemas.microsoft.com/office/drawing/2014/main" val="3027041370"/>
                    </a:ext>
                  </a:extLst>
                </a:gridCol>
                <a:gridCol w="397036">
                  <a:extLst>
                    <a:ext uri="{9D8B030D-6E8A-4147-A177-3AD203B41FA5}">
                      <a16:colId xmlns:a16="http://schemas.microsoft.com/office/drawing/2014/main" val="2852526216"/>
                    </a:ext>
                  </a:extLst>
                </a:gridCol>
                <a:gridCol w="397036">
                  <a:extLst>
                    <a:ext uri="{9D8B030D-6E8A-4147-A177-3AD203B41FA5}">
                      <a16:colId xmlns:a16="http://schemas.microsoft.com/office/drawing/2014/main" val="103420222"/>
                    </a:ext>
                  </a:extLst>
                </a:gridCol>
                <a:gridCol w="397036">
                  <a:extLst>
                    <a:ext uri="{9D8B030D-6E8A-4147-A177-3AD203B41FA5}">
                      <a16:colId xmlns:a16="http://schemas.microsoft.com/office/drawing/2014/main" val="1470405609"/>
                    </a:ext>
                  </a:extLst>
                </a:gridCol>
                <a:gridCol w="36664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DELAY_CH4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2" name="표 1">
            <a:extLst>
              <a:ext uri="{FF2B5EF4-FFF2-40B4-BE49-F238E27FC236}">
                <a16:creationId xmlns:a16="http://schemas.microsoft.com/office/drawing/2014/main" id="{21C86FD6-3222-ACED-7A3E-6B28C856AE77}"/>
              </a:ext>
            </a:extLst>
          </p:cNvPr>
          <p:cNvGraphicFramePr>
            <a:graphicFrameLocks noGrp="1"/>
          </p:cNvGraphicFramePr>
          <p:nvPr/>
        </p:nvGraphicFramePr>
        <p:xfrm>
          <a:off x="404574" y="1061852"/>
          <a:ext cx="6048848" cy="372600"/>
        </p:xfrm>
        <a:graphic>
          <a:graphicData uri="http://schemas.openxmlformats.org/drawingml/2006/table">
            <a:tbl>
              <a:tblPr firstRow="1" bandRow="1">
                <a:tableStyleId>{5C22544A-7EE6-4342-B048-85BDC9FD1C3A}</a:tableStyleId>
              </a:tblPr>
              <a:tblGrid>
                <a:gridCol w="298654">
                  <a:extLst>
                    <a:ext uri="{9D8B030D-6E8A-4147-A177-3AD203B41FA5}">
                      <a16:colId xmlns:a16="http://schemas.microsoft.com/office/drawing/2014/main" val="657570846"/>
                    </a:ext>
                  </a:extLst>
                </a:gridCol>
                <a:gridCol w="349494">
                  <a:extLst>
                    <a:ext uri="{9D8B030D-6E8A-4147-A177-3AD203B41FA5}">
                      <a16:colId xmlns:a16="http://schemas.microsoft.com/office/drawing/2014/main" val="3259894497"/>
                    </a:ext>
                  </a:extLst>
                </a:gridCol>
                <a:gridCol w="512120">
                  <a:extLst>
                    <a:ext uri="{9D8B030D-6E8A-4147-A177-3AD203B41FA5}">
                      <a16:colId xmlns:a16="http://schemas.microsoft.com/office/drawing/2014/main" val="4170535043"/>
                    </a:ext>
                  </a:extLst>
                </a:gridCol>
                <a:gridCol w="421168">
                  <a:extLst>
                    <a:ext uri="{9D8B030D-6E8A-4147-A177-3AD203B41FA5}">
                      <a16:colId xmlns:a16="http://schemas.microsoft.com/office/drawing/2014/main" val="2079070694"/>
                    </a:ext>
                  </a:extLst>
                </a:gridCol>
                <a:gridCol w="445654">
                  <a:extLst>
                    <a:ext uri="{9D8B030D-6E8A-4147-A177-3AD203B41FA5}">
                      <a16:colId xmlns:a16="http://schemas.microsoft.com/office/drawing/2014/main" val="4213315911"/>
                    </a:ext>
                  </a:extLst>
                </a:gridCol>
                <a:gridCol w="440756">
                  <a:extLst>
                    <a:ext uri="{9D8B030D-6E8A-4147-A177-3AD203B41FA5}">
                      <a16:colId xmlns:a16="http://schemas.microsoft.com/office/drawing/2014/main" val="2769999950"/>
                    </a:ext>
                  </a:extLst>
                </a:gridCol>
                <a:gridCol w="436931">
                  <a:extLst>
                    <a:ext uri="{9D8B030D-6E8A-4147-A177-3AD203B41FA5}">
                      <a16:colId xmlns:a16="http://schemas.microsoft.com/office/drawing/2014/main" val="135637185"/>
                    </a:ext>
                  </a:extLst>
                </a:gridCol>
                <a:gridCol w="396806">
                  <a:extLst>
                    <a:ext uri="{9D8B030D-6E8A-4147-A177-3AD203B41FA5}">
                      <a16:colId xmlns:a16="http://schemas.microsoft.com/office/drawing/2014/main" val="3038050475"/>
                    </a:ext>
                  </a:extLst>
                </a:gridCol>
                <a:gridCol w="396806">
                  <a:extLst>
                    <a:ext uri="{9D8B030D-6E8A-4147-A177-3AD203B41FA5}">
                      <a16:colId xmlns:a16="http://schemas.microsoft.com/office/drawing/2014/main" val="1979433044"/>
                    </a:ext>
                  </a:extLst>
                </a:gridCol>
                <a:gridCol w="396806">
                  <a:extLst>
                    <a:ext uri="{9D8B030D-6E8A-4147-A177-3AD203B41FA5}">
                      <a16:colId xmlns:a16="http://schemas.microsoft.com/office/drawing/2014/main" val="4270661649"/>
                    </a:ext>
                  </a:extLst>
                </a:gridCol>
                <a:gridCol w="396806">
                  <a:extLst>
                    <a:ext uri="{9D8B030D-6E8A-4147-A177-3AD203B41FA5}">
                      <a16:colId xmlns:a16="http://schemas.microsoft.com/office/drawing/2014/main" val="3027041370"/>
                    </a:ext>
                  </a:extLst>
                </a:gridCol>
                <a:gridCol w="396806">
                  <a:extLst>
                    <a:ext uri="{9D8B030D-6E8A-4147-A177-3AD203B41FA5}">
                      <a16:colId xmlns:a16="http://schemas.microsoft.com/office/drawing/2014/main" val="2852526216"/>
                    </a:ext>
                  </a:extLst>
                </a:gridCol>
                <a:gridCol w="396806">
                  <a:extLst>
                    <a:ext uri="{9D8B030D-6E8A-4147-A177-3AD203B41FA5}">
                      <a16:colId xmlns:a16="http://schemas.microsoft.com/office/drawing/2014/main" val="103420222"/>
                    </a:ext>
                  </a:extLst>
                </a:gridCol>
                <a:gridCol w="396806">
                  <a:extLst>
                    <a:ext uri="{9D8B030D-6E8A-4147-A177-3AD203B41FA5}">
                      <a16:colId xmlns:a16="http://schemas.microsoft.com/office/drawing/2014/main" val="1470405609"/>
                    </a:ext>
                  </a:extLst>
                </a:gridCol>
                <a:gridCol w="366429">
                  <a:extLst>
                    <a:ext uri="{9D8B030D-6E8A-4147-A177-3AD203B41FA5}">
                      <a16:colId xmlns:a16="http://schemas.microsoft.com/office/drawing/2014/main" val="604176390"/>
                    </a:ext>
                  </a:extLst>
                </a:gridCol>
              </a:tblGrid>
              <a:tr h="118231">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10894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DELAY_CH1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3126727"/>
                  </a:ext>
                </a:extLst>
              </a:tr>
            </a:tbl>
          </a:graphicData>
        </a:graphic>
      </p:graphicFrame>
      <p:sp>
        <p:nvSpPr>
          <p:cNvPr id="4" name="TextBox 3">
            <a:extLst>
              <a:ext uri="{FF2B5EF4-FFF2-40B4-BE49-F238E27FC236}">
                <a16:creationId xmlns:a16="http://schemas.microsoft.com/office/drawing/2014/main" id="{CFE5E142-71EF-A5A9-BBE8-4C38920B9072}"/>
              </a:ext>
            </a:extLst>
          </p:cNvPr>
          <p:cNvSpPr txBox="1"/>
          <p:nvPr/>
        </p:nvSpPr>
        <p:spPr>
          <a:xfrm>
            <a:off x="404813" y="3808205"/>
            <a:ext cx="60486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SERIALIZER OUTPUT BAUDRATE</a:t>
            </a:r>
          </a:p>
        </p:txBody>
      </p:sp>
      <p:sp>
        <p:nvSpPr>
          <p:cNvPr id="5" name="TextBox 4">
            <a:extLst>
              <a:ext uri="{FF2B5EF4-FFF2-40B4-BE49-F238E27FC236}">
                <a16:creationId xmlns:a16="http://schemas.microsoft.com/office/drawing/2014/main" id="{1FE550D8-1E6F-40F2-944C-461A0CE2480F}"/>
              </a:ext>
            </a:extLst>
          </p:cNvPr>
          <p:cNvSpPr txBox="1"/>
          <p:nvPr/>
        </p:nvSpPr>
        <p:spPr>
          <a:xfrm>
            <a:off x="404552" y="6277370"/>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SERIAL LATENCY</a:t>
            </a:r>
          </a:p>
        </p:txBody>
      </p:sp>
      <p:graphicFrame>
        <p:nvGraphicFramePr>
          <p:cNvPr id="7" name="표 6">
            <a:extLst>
              <a:ext uri="{FF2B5EF4-FFF2-40B4-BE49-F238E27FC236}">
                <a16:creationId xmlns:a16="http://schemas.microsoft.com/office/drawing/2014/main" id="{0347C6B3-A089-CBC9-EE3D-E6CAE4878A9B}"/>
              </a:ext>
            </a:extLst>
          </p:cNvPr>
          <p:cNvGraphicFramePr>
            <a:graphicFrameLocks noGrp="1"/>
          </p:cNvGraphicFramePr>
          <p:nvPr>
            <p:extLst>
              <p:ext uri="{D42A27DB-BD31-4B8C-83A1-F6EECF244321}">
                <p14:modId xmlns:p14="http://schemas.microsoft.com/office/powerpoint/2010/main" val="4020400961"/>
              </p:ext>
            </p:extLst>
          </p:nvPr>
        </p:nvGraphicFramePr>
        <p:xfrm>
          <a:off x="404565" y="4585146"/>
          <a:ext cx="6048609" cy="1341883"/>
        </p:xfrm>
        <a:graphic>
          <a:graphicData uri="http://schemas.openxmlformats.org/drawingml/2006/table">
            <a:tbl>
              <a:tblPr firstRow="1" bandRow="1">
                <a:tableStyleId>{5C22544A-7EE6-4342-B048-85BDC9FD1C3A}</a:tableStyleId>
              </a:tblPr>
              <a:tblGrid>
                <a:gridCol w="435859">
                  <a:extLst>
                    <a:ext uri="{9D8B030D-6E8A-4147-A177-3AD203B41FA5}">
                      <a16:colId xmlns:a16="http://schemas.microsoft.com/office/drawing/2014/main" val="4170535043"/>
                    </a:ext>
                  </a:extLst>
                </a:gridCol>
                <a:gridCol w="1142081">
                  <a:extLst>
                    <a:ext uri="{9D8B030D-6E8A-4147-A177-3AD203B41FA5}">
                      <a16:colId xmlns:a16="http://schemas.microsoft.com/office/drawing/2014/main" val="2079070694"/>
                    </a:ext>
                  </a:extLst>
                </a:gridCol>
                <a:gridCol w="4470669">
                  <a:extLst>
                    <a:ext uri="{9D8B030D-6E8A-4147-A177-3AD203B41FA5}">
                      <a16:colId xmlns:a16="http://schemas.microsoft.com/office/drawing/2014/main" val="32595803"/>
                    </a:ext>
                  </a:extLst>
                </a:gridCol>
              </a:tblGrid>
              <a:tr h="27324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SERIAL_CLK_LOW</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low value ‘0’ or the number of MCLK of 0 level in logic high value ‘1’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low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53431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SERIAL_CLK_HIGH</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These bits determine the number of MCLK of V</a:t>
                      </a:r>
                      <a:r>
                        <a:rPr lang="en-US" altLang="ko-KR" sz="900" b="0" baseline="-25000" dirty="0">
                          <a:solidFill>
                            <a:schemeClr val="tx1"/>
                          </a:solidFill>
                          <a:latin typeface="Arial" panose="020B0604020202020204" pitchFamily="34" charset="0"/>
                          <a:ea typeface="+mn-ea"/>
                          <a:cs typeface="Arial" panose="020B0604020202020204" pitchFamily="34" charset="0"/>
                        </a:rPr>
                        <a:t>DD</a:t>
                      </a:r>
                      <a:r>
                        <a:rPr lang="en-US" altLang="ko-KR" sz="900" b="0" dirty="0">
                          <a:solidFill>
                            <a:schemeClr val="tx1"/>
                          </a:solidFill>
                          <a:latin typeface="Arial" panose="020B0604020202020204" pitchFamily="34" charset="0"/>
                          <a:ea typeface="+mn-ea"/>
                          <a:cs typeface="Arial" panose="020B0604020202020204" pitchFamily="34" charset="0"/>
                        </a:rPr>
                        <a:t> level in logic high value ‘1’ or the number of MCLK of 0 level in logic low value ‘0’ when the XD12 is driving the D</a:t>
                      </a:r>
                      <a:r>
                        <a:rPr lang="en-US" altLang="ko-KR" sz="900" b="0" baseline="-25000" dirty="0">
                          <a:solidFill>
                            <a:schemeClr val="tx1"/>
                          </a:solidFill>
                          <a:latin typeface="Arial" panose="020B0604020202020204" pitchFamily="34" charset="0"/>
                          <a:ea typeface="+mn-ea"/>
                          <a:cs typeface="Arial" panose="020B0604020202020204" pitchFamily="34" charset="0"/>
                        </a:rPr>
                        <a:t>IO</a:t>
                      </a:r>
                      <a:r>
                        <a:rPr lang="en-US" altLang="ko-KR" sz="900" b="0" dirty="0">
                          <a:solidFill>
                            <a:schemeClr val="tx1"/>
                          </a:solidFill>
                          <a:latin typeface="Arial" panose="020B0604020202020204" pitchFamily="34" charset="0"/>
                          <a:ea typeface="+mn-ea"/>
                          <a:cs typeface="Arial" panose="020B0604020202020204" pitchFamily="34" charset="0"/>
                        </a:rPr>
                        <a:t> pin on read-back.  For more details, refer to Table. 4, Logic high time.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bl>
          </a:graphicData>
        </a:graphic>
      </p:graphicFrame>
      <p:graphicFrame>
        <p:nvGraphicFramePr>
          <p:cNvPr id="9" name="표 8">
            <a:extLst>
              <a:ext uri="{FF2B5EF4-FFF2-40B4-BE49-F238E27FC236}">
                <a16:creationId xmlns:a16="http://schemas.microsoft.com/office/drawing/2014/main" id="{48DB57E6-17F3-E0EE-5A74-EDB777FC2842}"/>
              </a:ext>
            </a:extLst>
          </p:cNvPr>
          <p:cNvGraphicFramePr>
            <a:graphicFrameLocks noGrp="1"/>
          </p:cNvGraphicFramePr>
          <p:nvPr>
            <p:extLst>
              <p:ext uri="{D42A27DB-BD31-4B8C-83A1-F6EECF244321}">
                <p14:modId xmlns:p14="http://schemas.microsoft.com/office/powerpoint/2010/main" val="3232121961"/>
              </p:ext>
            </p:extLst>
          </p:nvPr>
        </p:nvGraphicFramePr>
        <p:xfrm>
          <a:off x="404565" y="4068853"/>
          <a:ext cx="6048609" cy="372600"/>
        </p:xfrm>
        <a:graphic>
          <a:graphicData uri="http://schemas.openxmlformats.org/drawingml/2006/table">
            <a:tbl>
              <a:tblPr firstRow="1" bandRow="1">
                <a:tableStyleId>{5C22544A-7EE6-4342-B048-85BDC9FD1C3A}</a:tableStyleId>
              </a:tblPr>
              <a:tblGrid>
                <a:gridCol w="288979">
                  <a:extLst>
                    <a:ext uri="{9D8B030D-6E8A-4147-A177-3AD203B41FA5}">
                      <a16:colId xmlns:a16="http://schemas.microsoft.com/office/drawing/2014/main" val="657570846"/>
                    </a:ext>
                  </a:extLst>
                </a:gridCol>
                <a:gridCol w="338173">
                  <a:extLst>
                    <a:ext uri="{9D8B030D-6E8A-4147-A177-3AD203B41FA5}">
                      <a16:colId xmlns:a16="http://schemas.microsoft.com/office/drawing/2014/main" val="3259894497"/>
                    </a:ext>
                  </a:extLst>
                </a:gridCol>
                <a:gridCol w="453524">
                  <a:extLst>
                    <a:ext uri="{9D8B030D-6E8A-4147-A177-3AD203B41FA5}">
                      <a16:colId xmlns:a16="http://schemas.microsoft.com/office/drawing/2014/main" val="4170535043"/>
                    </a:ext>
                  </a:extLst>
                </a:gridCol>
                <a:gridCol w="418634">
                  <a:extLst>
                    <a:ext uri="{9D8B030D-6E8A-4147-A177-3AD203B41FA5}">
                      <a16:colId xmlns:a16="http://schemas.microsoft.com/office/drawing/2014/main" val="2079070694"/>
                    </a:ext>
                  </a:extLst>
                </a:gridCol>
                <a:gridCol w="418634">
                  <a:extLst>
                    <a:ext uri="{9D8B030D-6E8A-4147-A177-3AD203B41FA5}">
                      <a16:colId xmlns:a16="http://schemas.microsoft.com/office/drawing/2014/main" val="4213315911"/>
                    </a:ext>
                  </a:extLst>
                </a:gridCol>
                <a:gridCol w="418634">
                  <a:extLst>
                    <a:ext uri="{9D8B030D-6E8A-4147-A177-3AD203B41FA5}">
                      <a16:colId xmlns:a16="http://schemas.microsoft.com/office/drawing/2014/main" val="2769999950"/>
                    </a:ext>
                  </a:extLst>
                </a:gridCol>
                <a:gridCol w="418634">
                  <a:extLst>
                    <a:ext uri="{9D8B030D-6E8A-4147-A177-3AD203B41FA5}">
                      <a16:colId xmlns:a16="http://schemas.microsoft.com/office/drawing/2014/main" val="135637185"/>
                    </a:ext>
                  </a:extLst>
                </a:gridCol>
                <a:gridCol w="418634">
                  <a:extLst>
                    <a:ext uri="{9D8B030D-6E8A-4147-A177-3AD203B41FA5}">
                      <a16:colId xmlns:a16="http://schemas.microsoft.com/office/drawing/2014/main" val="3038050475"/>
                    </a:ext>
                  </a:extLst>
                </a:gridCol>
                <a:gridCol w="418634">
                  <a:extLst>
                    <a:ext uri="{9D8B030D-6E8A-4147-A177-3AD203B41FA5}">
                      <a16:colId xmlns:a16="http://schemas.microsoft.com/office/drawing/2014/main" val="1979433044"/>
                    </a:ext>
                  </a:extLst>
                </a:gridCol>
                <a:gridCol w="418634">
                  <a:extLst>
                    <a:ext uri="{9D8B030D-6E8A-4147-A177-3AD203B41FA5}">
                      <a16:colId xmlns:a16="http://schemas.microsoft.com/office/drawing/2014/main" val="4270661649"/>
                    </a:ext>
                  </a:extLst>
                </a:gridCol>
                <a:gridCol w="418634">
                  <a:extLst>
                    <a:ext uri="{9D8B030D-6E8A-4147-A177-3AD203B41FA5}">
                      <a16:colId xmlns:a16="http://schemas.microsoft.com/office/drawing/2014/main" val="3027041370"/>
                    </a:ext>
                  </a:extLst>
                </a:gridCol>
                <a:gridCol w="409244">
                  <a:extLst>
                    <a:ext uri="{9D8B030D-6E8A-4147-A177-3AD203B41FA5}">
                      <a16:colId xmlns:a16="http://schemas.microsoft.com/office/drawing/2014/main" val="2852526216"/>
                    </a:ext>
                  </a:extLst>
                </a:gridCol>
                <a:gridCol w="409244">
                  <a:extLst>
                    <a:ext uri="{9D8B030D-6E8A-4147-A177-3AD203B41FA5}">
                      <a16:colId xmlns:a16="http://schemas.microsoft.com/office/drawing/2014/main" val="103420222"/>
                    </a:ext>
                  </a:extLst>
                </a:gridCol>
                <a:gridCol w="409244">
                  <a:extLst>
                    <a:ext uri="{9D8B030D-6E8A-4147-A177-3AD203B41FA5}">
                      <a16:colId xmlns:a16="http://schemas.microsoft.com/office/drawing/2014/main" val="1470405609"/>
                    </a:ext>
                  </a:extLst>
                </a:gridCol>
                <a:gridCol w="39112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0x318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SERIAL_CLK_LOW [5:0]</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SERIAL_CLK_HIGH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0" name="표 9">
            <a:extLst>
              <a:ext uri="{FF2B5EF4-FFF2-40B4-BE49-F238E27FC236}">
                <a16:creationId xmlns:a16="http://schemas.microsoft.com/office/drawing/2014/main" id="{0595A677-1B11-130E-D242-E543C24E8267}"/>
              </a:ext>
            </a:extLst>
          </p:cNvPr>
          <p:cNvGraphicFramePr>
            <a:graphicFrameLocks noGrp="1"/>
          </p:cNvGraphicFramePr>
          <p:nvPr>
            <p:extLst>
              <p:ext uri="{D42A27DB-BD31-4B8C-83A1-F6EECF244321}">
                <p14:modId xmlns:p14="http://schemas.microsoft.com/office/powerpoint/2010/main" val="4104862072"/>
              </p:ext>
            </p:extLst>
          </p:nvPr>
        </p:nvGraphicFramePr>
        <p:xfrm>
          <a:off x="404552" y="7060348"/>
          <a:ext cx="6048610" cy="1604593"/>
        </p:xfrm>
        <a:graphic>
          <a:graphicData uri="http://schemas.openxmlformats.org/drawingml/2006/table">
            <a:tbl>
              <a:tblPr firstRow="1" bandRow="1">
                <a:tableStyleId>{5C22544A-7EE6-4342-B048-85BDC9FD1C3A}</a:tableStyleId>
              </a:tblPr>
              <a:tblGrid>
                <a:gridCol w="437163">
                  <a:extLst>
                    <a:ext uri="{9D8B030D-6E8A-4147-A177-3AD203B41FA5}">
                      <a16:colId xmlns:a16="http://schemas.microsoft.com/office/drawing/2014/main" val="4170535043"/>
                    </a:ext>
                  </a:extLst>
                </a:gridCol>
                <a:gridCol w="1145495">
                  <a:extLst>
                    <a:ext uri="{9D8B030D-6E8A-4147-A177-3AD203B41FA5}">
                      <a16:colId xmlns:a16="http://schemas.microsoft.com/office/drawing/2014/main" val="2079070694"/>
                    </a:ext>
                  </a:extLst>
                </a:gridCol>
                <a:gridCol w="4465952">
                  <a:extLst>
                    <a:ext uri="{9D8B030D-6E8A-4147-A177-3AD203B41FA5}">
                      <a16:colId xmlns:a16="http://schemas.microsoft.com/office/drawing/2014/main" val="32595803"/>
                    </a:ext>
                  </a:extLst>
                </a:gridCol>
              </a:tblGrid>
              <a:tr h="298153">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1573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SERIAL_LAT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interval time between the successive data packets incoming from the XC. That means the interval time between the last bit of n</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and the first bit of (n+1)</a:t>
                      </a:r>
                      <a:r>
                        <a:rPr lang="en-US" altLang="ko-KR" sz="900" b="0" baseline="30000" dirty="0">
                          <a:solidFill>
                            <a:schemeClr val="tx1"/>
                          </a:solidFill>
                          <a:latin typeface="Arial" panose="020B0604020202020204" pitchFamily="34" charset="0"/>
                          <a:ea typeface="+mn-ea"/>
                          <a:cs typeface="Arial" panose="020B0604020202020204" pitchFamily="34" charset="0"/>
                        </a:rPr>
                        <a:t>th</a:t>
                      </a:r>
                      <a:r>
                        <a:rPr lang="en-US" altLang="ko-KR" sz="900" b="0" dirty="0">
                          <a:solidFill>
                            <a:schemeClr val="tx1"/>
                          </a:solidFill>
                          <a:latin typeface="Arial" panose="020B0604020202020204" pitchFamily="34" charset="0"/>
                          <a:ea typeface="+mn-ea"/>
                          <a:cs typeface="Arial" panose="020B0604020202020204" pitchFamily="34" charset="0"/>
                        </a:rPr>
                        <a:t> XD device’s data packet incoming from the XC. The setting value should be larger than the 1-bit serial data length time at which the XC is sending to the daisied XDs. So, the proper value depends on the serial baudrate of the XC and can be set between (1-bit time + 3 MCLKs) and (1-bit time + 5 MCLKs). If the proper value will be set, then the serial data value will be broken.</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careful that this register value should be changed to the proper value firstly in case that the Serializer Output Baudrate of XC is changed to slow down. </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4" name="표 13">
            <a:extLst>
              <a:ext uri="{FF2B5EF4-FFF2-40B4-BE49-F238E27FC236}">
                <a16:creationId xmlns:a16="http://schemas.microsoft.com/office/drawing/2014/main" id="{60C088E7-716A-2AEF-2948-34D16AD2D163}"/>
              </a:ext>
            </a:extLst>
          </p:cNvPr>
          <p:cNvGraphicFramePr>
            <a:graphicFrameLocks noGrp="1"/>
          </p:cNvGraphicFramePr>
          <p:nvPr>
            <p:extLst>
              <p:ext uri="{D42A27DB-BD31-4B8C-83A1-F6EECF244321}">
                <p14:modId xmlns:p14="http://schemas.microsoft.com/office/powerpoint/2010/main" val="2214377968"/>
              </p:ext>
            </p:extLst>
          </p:nvPr>
        </p:nvGraphicFramePr>
        <p:xfrm>
          <a:off x="404552" y="6539709"/>
          <a:ext cx="6048623" cy="372600"/>
        </p:xfrm>
        <a:graphic>
          <a:graphicData uri="http://schemas.openxmlformats.org/drawingml/2006/table">
            <a:tbl>
              <a:tblPr firstRow="1" bandRow="1">
                <a:tableStyleId>{5C22544A-7EE6-4342-B048-85BDC9FD1C3A}</a:tableStyleId>
              </a:tblPr>
              <a:tblGrid>
                <a:gridCol w="351387">
                  <a:extLst>
                    <a:ext uri="{9D8B030D-6E8A-4147-A177-3AD203B41FA5}">
                      <a16:colId xmlns:a16="http://schemas.microsoft.com/office/drawing/2014/main" val="657570846"/>
                    </a:ext>
                  </a:extLst>
                </a:gridCol>
                <a:gridCol w="386363">
                  <a:extLst>
                    <a:ext uri="{9D8B030D-6E8A-4147-A177-3AD203B41FA5}">
                      <a16:colId xmlns:a16="http://schemas.microsoft.com/office/drawing/2014/main" val="3259894497"/>
                    </a:ext>
                  </a:extLst>
                </a:gridCol>
                <a:gridCol w="454077">
                  <a:extLst>
                    <a:ext uri="{9D8B030D-6E8A-4147-A177-3AD203B41FA5}">
                      <a16:colId xmlns:a16="http://schemas.microsoft.com/office/drawing/2014/main" val="4170535043"/>
                    </a:ext>
                  </a:extLst>
                </a:gridCol>
                <a:gridCol w="404733">
                  <a:extLst>
                    <a:ext uri="{9D8B030D-6E8A-4147-A177-3AD203B41FA5}">
                      <a16:colId xmlns:a16="http://schemas.microsoft.com/office/drawing/2014/main" val="2079070694"/>
                    </a:ext>
                  </a:extLst>
                </a:gridCol>
                <a:gridCol w="404733">
                  <a:extLst>
                    <a:ext uri="{9D8B030D-6E8A-4147-A177-3AD203B41FA5}">
                      <a16:colId xmlns:a16="http://schemas.microsoft.com/office/drawing/2014/main" val="4213315911"/>
                    </a:ext>
                  </a:extLst>
                </a:gridCol>
                <a:gridCol w="404733">
                  <a:extLst>
                    <a:ext uri="{9D8B030D-6E8A-4147-A177-3AD203B41FA5}">
                      <a16:colId xmlns:a16="http://schemas.microsoft.com/office/drawing/2014/main" val="2769999950"/>
                    </a:ext>
                  </a:extLst>
                </a:gridCol>
                <a:gridCol w="404733">
                  <a:extLst>
                    <a:ext uri="{9D8B030D-6E8A-4147-A177-3AD203B41FA5}">
                      <a16:colId xmlns:a16="http://schemas.microsoft.com/office/drawing/2014/main" val="135637185"/>
                    </a:ext>
                  </a:extLst>
                </a:gridCol>
                <a:gridCol w="404733">
                  <a:extLst>
                    <a:ext uri="{9D8B030D-6E8A-4147-A177-3AD203B41FA5}">
                      <a16:colId xmlns:a16="http://schemas.microsoft.com/office/drawing/2014/main" val="3038050475"/>
                    </a:ext>
                  </a:extLst>
                </a:gridCol>
                <a:gridCol w="404733">
                  <a:extLst>
                    <a:ext uri="{9D8B030D-6E8A-4147-A177-3AD203B41FA5}">
                      <a16:colId xmlns:a16="http://schemas.microsoft.com/office/drawing/2014/main" val="1979433044"/>
                    </a:ext>
                  </a:extLst>
                </a:gridCol>
                <a:gridCol w="404733">
                  <a:extLst>
                    <a:ext uri="{9D8B030D-6E8A-4147-A177-3AD203B41FA5}">
                      <a16:colId xmlns:a16="http://schemas.microsoft.com/office/drawing/2014/main" val="4270661649"/>
                    </a:ext>
                  </a:extLst>
                </a:gridCol>
                <a:gridCol w="404733">
                  <a:extLst>
                    <a:ext uri="{9D8B030D-6E8A-4147-A177-3AD203B41FA5}">
                      <a16:colId xmlns:a16="http://schemas.microsoft.com/office/drawing/2014/main" val="3027041370"/>
                    </a:ext>
                  </a:extLst>
                </a:gridCol>
                <a:gridCol w="404733">
                  <a:extLst>
                    <a:ext uri="{9D8B030D-6E8A-4147-A177-3AD203B41FA5}">
                      <a16:colId xmlns:a16="http://schemas.microsoft.com/office/drawing/2014/main" val="2852526216"/>
                    </a:ext>
                  </a:extLst>
                </a:gridCol>
                <a:gridCol w="404733">
                  <a:extLst>
                    <a:ext uri="{9D8B030D-6E8A-4147-A177-3AD203B41FA5}">
                      <a16:colId xmlns:a16="http://schemas.microsoft.com/office/drawing/2014/main" val="103420222"/>
                    </a:ext>
                  </a:extLst>
                </a:gridCol>
                <a:gridCol w="404733">
                  <a:extLst>
                    <a:ext uri="{9D8B030D-6E8A-4147-A177-3AD203B41FA5}">
                      <a16:colId xmlns:a16="http://schemas.microsoft.com/office/drawing/2014/main" val="1470405609"/>
                    </a:ext>
                  </a:extLst>
                </a:gridCol>
                <a:gridCol w="40473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0x0C8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SERIAL_LATENCY [7:0]</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09380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09B56D3-A1E6-0BF0-F524-22950314FD50}"/>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MCLK LOCK</a:t>
            </a:r>
          </a:p>
        </p:txBody>
      </p: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6" name="표 5">
            <a:extLst>
              <a:ext uri="{FF2B5EF4-FFF2-40B4-BE49-F238E27FC236}">
                <a16:creationId xmlns:a16="http://schemas.microsoft.com/office/drawing/2014/main" id="{B74AEC9C-7E5E-C643-C092-A9386D372D49}"/>
              </a:ext>
            </a:extLst>
          </p:cNvPr>
          <p:cNvGraphicFramePr>
            <a:graphicFrameLocks noGrp="1"/>
          </p:cNvGraphicFramePr>
          <p:nvPr>
            <p:extLst>
              <p:ext uri="{D42A27DB-BD31-4B8C-83A1-F6EECF244321}">
                <p14:modId xmlns:p14="http://schemas.microsoft.com/office/powerpoint/2010/main" val="2676772509"/>
              </p:ext>
            </p:extLst>
          </p:nvPr>
        </p:nvGraphicFramePr>
        <p:xfrm>
          <a:off x="404813" y="1110958"/>
          <a:ext cx="6057236"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9">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8">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4">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0x27</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0xFB0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23" name="표 22">
            <a:extLst>
              <a:ext uri="{FF2B5EF4-FFF2-40B4-BE49-F238E27FC236}">
                <a16:creationId xmlns:a16="http://schemas.microsoft.com/office/drawing/2014/main" id="{A9B15A9D-D8B3-4A05-B136-F3E2A73FFC13}"/>
              </a:ext>
            </a:extLst>
          </p:cNvPr>
          <p:cNvGraphicFramePr>
            <a:graphicFrameLocks noGrp="1"/>
          </p:cNvGraphicFramePr>
          <p:nvPr>
            <p:extLst>
              <p:ext uri="{D42A27DB-BD31-4B8C-83A1-F6EECF244321}">
                <p14:modId xmlns:p14="http://schemas.microsoft.com/office/powerpoint/2010/main" val="3729408579"/>
              </p:ext>
            </p:extLst>
          </p:nvPr>
        </p:nvGraphicFramePr>
        <p:xfrm>
          <a:off x="404560" y="1974658"/>
          <a:ext cx="6061539" cy="1941607"/>
        </p:xfrm>
        <a:graphic>
          <a:graphicData uri="http://schemas.openxmlformats.org/drawingml/2006/table">
            <a:tbl>
              <a:tblPr firstRow="1" bandRow="1">
                <a:tableStyleId>{5C22544A-7EE6-4342-B048-85BDC9FD1C3A}</a:tableStyleId>
              </a:tblPr>
              <a:tblGrid>
                <a:gridCol w="331867">
                  <a:extLst>
                    <a:ext uri="{9D8B030D-6E8A-4147-A177-3AD203B41FA5}">
                      <a16:colId xmlns:a16="http://schemas.microsoft.com/office/drawing/2014/main" val="4170535043"/>
                    </a:ext>
                  </a:extLst>
                </a:gridCol>
                <a:gridCol w="1181468">
                  <a:extLst>
                    <a:ext uri="{9D8B030D-6E8A-4147-A177-3AD203B41FA5}">
                      <a16:colId xmlns:a16="http://schemas.microsoft.com/office/drawing/2014/main" val="2079070694"/>
                    </a:ext>
                  </a:extLst>
                </a:gridCol>
                <a:gridCol w="4548204">
                  <a:extLst>
                    <a:ext uri="{9D8B030D-6E8A-4147-A177-3AD203B41FA5}">
                      <a16:colId xmlns:a16="http://schemas.microsoft.com/office/drawing/2014/main" val="32595803"/>
                    </a:ext>
                  </a:extLst>
                </a:gridCol>
              </a:tblGrid>
              <a:tr h="29962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39233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7:0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MCLK_LOCK_CNT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The proper value according to the frame frequency is showed in the Table 7.</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645465">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MCLK_LOCK_E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enables the FLL function. </a:t>
                      </a:r>
                      <a:r>
                        <a:rPr lang="en-US" altLang="ko-KR" sz="900" b="0" i="0" kern="1200" dirty="0">
                          <a:solidFill>
                            <a:schemeClr val="dk1"/>
                          </a:solidFill>
                          <a:effectLst/>
                          <a:latin typeface="Arial" panose="020B0604020202020204" pitchFamily="34" charset="0"/>
                          <a:ea typeface="+mn-ea"/>
                          <a:cs typeface="Arial" panose="020B0604020202020204" pitchFamily="34" charset="0"/>
                        </a:rPr>
                        <a:t>The FLL continues to calibrate the MCLK frequency to exactly match the PWM frequency with the time of one frame.</a:t>
                      </a: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0  Enable FLL function (= The MCLK is unlocking, so calibrated to the target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   1  Disable FLL function (= The MCLK is locking at the current frequency)</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i="1" dirty="0">
                          <a:solidFill>
                            <a:schemeClr val="tx1"/>
                          </a:solidFill>
                          <a:latin typeface="Arial" panose="020B0604020202020204" pitchFamily="34" charset="0"/>
                          <a:ea typeface="+mn-ea"/>
                          <a:cs typeface="Arial" panose="020B0604020202020204" pitchFamily="34" charset="0"/>
                        </a:rPr>
                        <a:t>It is needed that this bit should be set to 0 just before the first vsync starts to be entered to the XD and set to 1 just before the vsync is not asserted if the vsync will be not supplied any more to the XD.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6493848"/>
                  </a:ext>
                </a:extLst>
              </a:tr>
              <a:tr h="217526">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FLL_RANGE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sp>
        <p:nvSpPr>
          <p:cNvPr id="24" name="TextBox 23">
            <a:extLst>
              <a:ext uri="{FF2B5EF4-FFF2-40B4-BE49-F238E27FC236}">
                <a16:creationId xmlns:a16="http://schemas.microsoft.com/office/drawing/2014/main" id="{8335AA9B-3BE9-16B9-C410-D75AE72144ED}"/>
              </a:ext>
            </a:extLst>
          </p:cNvPr>
          <p:cNvSpPr txBox="1"/>
          <p:nvPr/>
        </p:nvSpPr>
        <p:spPr>
          <a:xfrm>
            <a:off x="404565" y="4193591"/>
            <a:ext cx="605723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TEMP</a:t>
            </a:r>
          </a:p>
        </p:txBody>
      </p:sp>
      <p:graphicFrame>
        <p:nvGraphicFramePr>
          <p:cNvPr id="25" name="표 24">
            <a:extLst>
              <a:ext uri="{FF2B5EF4-FFF2-40B4-BE49-F238E27FC236}">
                <a16:creationId xmlns:a16="http://schemas.microsoft.com/office/drawing/2014/main" id="{A1FDA793-6EBB-D149-BD9E-2DFF0644A2B5}"/>
              </a:ext>
            </a:extLst>
          </p:cNvPr>
          <p:cNvGraphicFramePr>
            <a:graphicFrameLocks noGrp="1"/>
          </p:cNvGraphicFramePr>
          <p:nvPr>
            <p:extLst>
              <p:ext uri="{D42A27DB-BD31-4B8C-83A1-F6EECF244321}">
                <p14:modId xmlns:p14="http://schemas.microsoft.com/office/powerpoint/2010/main" val="3764077049"/>
              </p:ext>
            </p:extLst>
          </p:nvPr>
        </p:nvGraphicFramePr>
        <p:xfrm>
          <a:off x="404564" y="4873549"/>
          <a:ext cx="6057230" cy="1504596"/>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256476">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OFS_TEMP</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temperature level at which the thermal event occurs. The thermal threshold temperature may vary slightly from the set value. The thermal event threshold temperature according to the OFS_TEMP value is mapped as follows.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96/ 102/ 107/ 112/ 117/ 122/ 127/ 132/ </a:t>
                      </a:r>
                      <a:r>
                        <a:rPr lang="en-US" altLang="ko-KR" sz="900" b="1" dirty="0">
                          <a:solidFill>
                            <a:schemeClr val="tx1"/>
                          </a:solidFill>
                          <a:latin typeface="Arial" panose="020B0604020202020204" pitchFamily="34" charset="0"/>
                          <a:ea typeface="+mn-ea"/>
                          <a:cs typeface="Arial" panose="020B0604020202020204" pitchFamily="34" charset="0"/>
                        </a:rPr>
                        <a:t>137</a:t>
                      </a:r>
                      <a:r>
                        <a:rPr lang="en-US" altLang="ko-KR" sz="900" b="0" dirty="0">
                          <a:solidFill>
                            <a:schemeClr val="tx1"/>
                          </a:solidFill>
                          <a:latin typeface="Arial" panose="020B0604020202020204" pitchFamily="34" charset="0"/>
                          <a:ea typeface="+mn-ea"/>
                          <a:cs typeface="Arial" panose="020B0604020202020204" pitchFamily="34" charset="0"/>
                        </a:rPr>
                        <a:t>(default) / 142/ 147/ 151/ 157/ 161/ 166/ 171</a:t>
                      </a:r>
                      <a:r>
                        <a:rPr lang="en-US" altLang="ko-KR" sz="900" b="0" dirty="0">
                          <a:solidFill>
                            <a:schemeClr val="tx1"/>
                          </a:solidFill>
                          <a:latin typeface="맑은 고딕" panose="020B0503020000020004" pitchFamily="50" charset="-127"/>
                          <a:ea typeface="+mn-ea"/>
                          <a:cs typeface="Arial" panose="020B0604020202020204" pitchFamily="34" charset="0"/>
                        </a:rPr>
                        <a:t>℃</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DAC_RNG</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445018"/>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FLT_CTL</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1"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set to 1.</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3784100"/>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FLT_GAIN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It is recommended to use the default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26" name="표 25">
            <a:extLst>
              <a:ext uri="{FF2B5EF4-FFF2-40B4-BE49-F238E27FC236}">
                <a16:creationId xmlns:a16="http://schemas.microsoft.com/office/drawing/2014/main" id="{932221D9-41CD-A487-FB5D-BC527316E06D}"/>
              </a:ext>
            </a:extLst>
          </p:cNvPr>
          <p:cNvGraphicFramePr>
            <a:graphicFrameLocks noGrp="1"/>
          </p:cNvGraphicFramePr>
          <p:nvPr>
            <p:extLst>
              <p:ext uri="{D42A27DB-BD31-4B8C-83A1-F6EECF244321}">
                <p14:modId xmlns:p14="http://schemas.microsoft.com/office/powerpoint/2010/main" val="2838798599"/>
              </p:ext>
            </p:extLst>
          </p:nvPr>
        </p:nvGraphicFramePr>
        <p:xfrm>
          <a:off x="404813" y="1553915"/>
          <a:ext cx="6056982" cy="372600"/>
        </p:xfrm>
        <a:graphic>
          <a:graphicData uri="http://schemas.openxmlformats.org/drawingml/2006/table">
            <a:tbl>
              <a:tblPr firstRow="1" bandRow="1">
                <a:tableStyleId>{5C22544A-7EE6-4342-B048-85BDC9FD1C3A}</a:tableStyleId>
              </a:tblPr>
              <a:tblGrid>
                <a:gridCol w="291937">
                  <a:extLst>
                    <a:ext uri="{9D8B030D-6E8A-4147-A177-3AD203B41FA5}">
                      <a16:colId xmlns:a16="http://schemas.microsoft.com/office/drawing/2014/main" val="657570846"/>
                    </a:ext>
                  </a:extLst>
                </a:gridCol>
                <a:gridCol w="342863">
                  <a:extLst>
                    <a:ext uri="{9D8B030D-6E8A-4147-A177-3AD203B41FA5}">
                      <a16:colId xmlns:a16="http://schemas.microsoft.com/office/drawing/2014/main" val="3259894497"/>
                    </a:ext>
                  </a:extLst>
                </a:gridCol>
                <a:gridCol w="468140">
                  <a:extLst>
                    <a:ext uri="{9D8B030D-6E8A-4147-A177-3AD203B41FA5}">
                      <a16:colId xmlns:a16="http://schemas.microsoft.com/office/drawing/2014/main" val="4170535043"/>
                    </a:ext>
                  </a:extLst>
                </a:gridCol>
                <a:gridCol w="844121">
                  <a:extLst>
                    <a:ext uri="{9D8B030D-6E8A-4147-A177-3AD203B41FA5}">
                      <a16:colId xmlns:a16="http://schemas.microsoft.com/office/drawing/2014/main" val="2079070694"/>
                    </a:ext>
                  </a:extLst>
                </a:gridCol>
                <a:gridCol w="384820">
                  <a:extLst>
                    <a:ext uri="{9D8B030D-6E8A-4147-A177-3AD203B41FA5}">
                      <a16:colId xmlns:a16="http://schemas.microsoft.com/office/drawing/2014/main" val="4213315911"/>
                    </a:ext>
                  </a:extLst>
                </a:gridCol>
                <a:gridCol w="377084">
                  <a:extLst>
                    <a:ext uri="{9D8B030D-6E8A-4147-A177-3AD203B41FA5}">
                      <a16:colId xmlns:a16="http://schemas.microsoft.com/office/drawing/2014/main" val="2769999950"/>
                    </a:ext>
                  </a:extLst>
                </a:gridCol>
                <a:gridCol w="427038">
                  <a:extLst>
                    <a:ext uri="{9D8B030D-6E8A-4147-A177-3AD203B41FA5}">
                      <a16:colId xmlns:a16="http://schemas.microsoft.com/office/drawing/2014/main" val="135637185"/>
                    </a:ext>
                  </a:extLst>
                </a:gridCol>
                <a:gridCol w="362375">
                  <a:extLst>
                    <a:ext uri="{9D8B030D-6E8A-4147-A177-3AD203B41FA5}">
                      <a16:colId xmlns:a16="http://schemas.microsoft.com/office/drawing/2014/main" val="3038050475"/>
                    </a:ext>
                  </a:extLst>
                </a:gridCol>
                <a:gridCol w="374785">
                  <a:extLst>
                    <a:ext uri="{9D8B030D-6E8A-4147-A177-3AD203B41FA5}">
                      <a16:colId xmlns:a16="http://schemas.microsoft.com/office/drawing/2014/main" val="1979433044"/>
                    </a:ext>
                  </a:extLst>
                </a:gridCol>
                <a:gridCol w="369821">
                  <a:extLst>
                    <a:ext uri="{9D8B030D-6E8A-4147-A177-3AD203B41FA5}">
                      <a16:colId xmlns:a16="http://schemas.microsoft.com/office/drawing/2014/main" val="4270661649"/>
                    </a:ext>
                  </a:extLst>
                </a:gridCol>
                <a:gridCol w="377266">
                  <a:extLst>
                    <a:ext uri="{9D8B030D-6E8A-4147-A177-3AD203B41FA5}">
                      <a16:colId xmlns:a16="http://schemas.microsoft.com/office/drawing/2014/main" val="3027041370"/>
                    </a:ext>
                  </a:extLst>
                </a:gridCol>
                <a:gridCol w="367338">
                  <a:extLst>
                    <a:ext uri="{9D8B030D-6E8A-4147-A177-3AD203B41FA5}">
                      <a16:colId xmlns:a16="http://schemas.microsoft.com/office/drawing/2014/main" val="2852526216"/>
                    </a:ext>
                  </a:extLst>
                </a:gridCol>
                <a:gridCol w="352448">
                  <a:extLst>
                    <a:ext uri="{9D8B030D-6E8A-4147-A177-3AD203B41FA5}">
                      <a16:colId xmlns:a16="http://schemas.microsoft.com/office/drawing/2014/main" val="103420222"/>
                    </a:ext>
                  </a:extLst>
                </a:gridCol>
                <a:gridCol w="352447">
                  <a:extLst>
                    <a:ext uri="{9D8B030D-6E8A-4147-A177-3AD203B41FA5}">
                      <a16:colId xmlns:a16="http://schemas.microsoft.com/office/drawing/2014/main" val="1470405609"/>
                    </a:ext>
                  </a:extLst>
                </a:gridCol>
                <a:gridCol w="36449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0x84F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MCLK_LOCK_CNT_E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FLL_RANGE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MCLK_LOCK_CNT [19:12]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6986462"/>
                  </a:ext>
                </a:extLst>
              </a:tr>
            </a:tbl>
          </a:graphicData>
        </a:graphic>
      </p:graphicFrame>
      <p:graphicFrame>
        <p:nvGraphicFramePr>
          <p:cNvPr id="27" name="표 26">
            <a:extLst>
              <a:ext uri="{FF2B5EF4-FFF2-40B4-BE49-F238E27FC236}">
                <a16:creationId xmlns:a16="http://schemas.microsoft.com/office/drawing/2014/main" id="{EC2E7CCD-1BDD-B3AB-4400-29B42253278B}"/>
              </a:ext>
            </a:extLst>
          </p:cNvPr>
          <p:cNvGraphicFramePr>
            <a:graphicFrameLocks noGrp="1"/>
          </p:cNvGraphicFramePr>
          <p:nvPr>
            <p:extLst>
              <p:ext uri="{D42A27DB-BD31-4B8C-83A1-F6EECF244321}">
                <p14:modId xmlns:p14="http://schemas.microsoft.com/office/powerpoint/2010/main" val="3619679558"/>
              </p:ext>
            </p:extLst>
          </p:nvPr>
        </p:nvGraphicFramePr>
        <p:xfrm>
          <a:off x="404564" y="4459305"/>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0x29</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OFS_TEMP ]3:0]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DAC_RNG</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FLT_CTL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FLT_GAIN [1:0]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8" name="TextBox 27">
            <a:extLst>
              <a:ext uri="{FF2B5EF4-FFF2-40B4-BE49-F238E27FC236}">
                <a16:creationId xmlns:a16="http://schemas.microsoft.com/office/drawing/2014/main" id="{84013DCA-8DB1-3CA8-E765-6688DE3548BC}"/>
              </a:ext>
            </a:extLst>
          </p:cNvPr>
          <p:cNvSpPr txBox="1"/>
          <p:nvPr/>
        </p:nvSpPr>
        <p:spPr>
          <a:xfrm>
            <a:off x="395296" y="6669776"/>
            <a:ext cx="604862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MANUAL</a:t>
            </a:r>
          </a:p>
        </p:txBody>
      </p:sp>
      <p:graphicFrame>
        <p:nvGraphicFramePr>
          <p:cNvPr id="29" name="표 28">
            <a:extLst>
              <a:ext uri="{FF2B5EF4-FFF2-40B4-BE49-F238E27FC236}">
                <a16:creationId xmlns:a16="http://schemas.microsoft.com/office/drawing/2014/main" id="{B0F9C3F7-8392-9D0E-BBC4-08A0561EFBA5}"/>
              </a:ext>
            </a:extLst>
          </p:cNvPr>
          <p:cNvGraphicFramePr>
            <a:graphicFrameLocks noGrp="1"/>
          </p:cNvGraphicFramePr>
          <p:nvPr>
            <p:extLst>
              <p:ext uri="{D42A27DB-BD31-4B8C-83A1-F6EECF244321}">
                <p14:modId xmlns:p14="http://schemas.microsoft.com/office/powerpoint/2010/main" val="3191271214"/>
              </p:ext>
            </p:extLst>
          </p:nvPr>
        </p:nvGraphicFramePr>
        <p:xfrm>
          <a:off x="404560" y="7797732"/>
          <a:ext cx="6057234" cy="947022"/>
        </p:xfrm>
        <a:graphic>
          <a:graphicData uri="http://schemas.openxmlformats.org/drawingml/2006/table">
            <a:tbl>
              <a:tblPr firstRow="1" bandRow="1">
                <a:tableStyleId>{5C22544A-7EE6-4342-B048-85BDC9FD1C3A}</a:tableStyleId>
              </a:tblPr>
              <a:tblGrid>
                <a:gridCol w="442021">
                  <a:extLst>
                    <a:ext uri="{9D8B030D-6E8A-4147-A177-3AD203B41FA5}">
                      <a16:colId xmlns:a16="http://schemas.microsoft.com/office/drawing/2014/main" val="4170535043"/>
                    </a:ext>
                  </a:extLst>
                </a:gridCol>
                <a:gridCol w="962843">
                  <a:extLst>
                    <a:ext uri="{9D8B030D-6E8A-4147-A177-3AD203B41FA5}">
                      <a16:colId xmlns:a16="http://schemas.microsoft.com/office/drawing/2014/main" val="2079070694"/>
                    </a:ext>
                  </a:extLst>
                </a:gridCol>
                <a:gridCol w="4652370">
                  <a:extLst>
                    <a:ext uri="{9D8B030D-6E8A-4147-A177-3AD203B41FA5}">
                      <a16:colId xmlns:a16="http://schemas.microsoft.com/office/drawing/2014/main" val="32595803"/>
                    </a:ext>
                  </a:extLst>
                </a:gridCol>
              </a:tblGrid>
              <a:tr h="254382">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27615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OSC_MAN_E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Enable the manual mode of the FLL module. </a:t>
                      </a:r>
                      <a:r>
                        <a:rPr lang="en-US" altLang="ko-KR" sz="900" b="0" i="1" dirty="0">
                          <a:solidFill>
                            <a:schemeClr val="tx1"/>
                          </a:solidFill>
                          <a:latin typeface="Arial" panose="020B0604020202020204" pitchFamily="34" charset="0"/>
                          <a:ea typeface="+mn-ea"/>
                          <a:cs typeface="Arial" panose="020B0604020202020204" pitchFamily="34" charset="0"/>
                        </a:rPr>
                        <a:t> It is careful that this bit must be cleared during the initialization after POR.</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210798">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3:0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OSC_FLL_MAN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determines the FLL target frequency value in manual 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41420319"/>
                  </a:ext>
                </a:extLst>
              </a:tr>
            </a:tbl>
          </a:graphicData>
        </a:graphic>
      </p:graphicFrame>
      <p:graphicFrame>
        <p:nvGraphicFramePr>
          <p:cNvPr id="30" name="표 29">
            <a:extLst>
              <a:ext uri="{FF2B5EF4-FFF2-40B4-BE49-F238E27FC236}">
                <a16:creationId xmlns:a16="http://schemas.microsoft.com/office/drawing/2014/main" id="{4D95D8B9-11D2-7EA1-C74F-769A284E3D38}"/>
              </a:ext>
            </a:extLst>
          </p:cNvPr>
          <p:cNvGraphicFramePr>
            <a:graphicFrameLocks noGrp="1"/>
          </p:cNvGraphicFramePr>
          <p:nvPr>
            <p:extLst>
              <p:ext uri="{D42A27DB-BD31-4B8C-83A1-F6EECF244321}">
                <p14:modId xmlns:p14="http://schemas.microsoft.com/office/powerpoint/2010/main" val="2909330120"/>
              </p:ext>
            </p:extLst>
          </p:nvPr>
        </p:nvGraphicFramePr>
        <p:xfrm>
          <a:off x="404563" y="6935392"/>
          <a:ext cx="6057233" cy="372600"/>
        </p:xfrm>
        <a:graphic>
          <a:graphicData uri="http://schemas.openxmlformats.org/drawingml/2006/table">
            <a:tbl>
              <a:tblPr firstRow="1" bandRow="1">
                <a:tableStyleId>{5C22544A-7EE6-4342-B048-85BDC9FD1C3A}</a:tableStyleId>
              </a:tblPr>
              <a:tblGrid>
                <a:gridCol w="299068">
                  <a:extLst>
                    <a:ext uri="{9D8B030D-6E8A-4147-A177-3AD203B41FA5}">
                      <a16:colId xmlns:a16="http://schemas.microsoft.com/office/drawing/2014/main" val="657570846"/>
                    </a:ext>
                  </a:extLst>
                </a:gridCol>
                <a:gridCol w="349978">
                  <a:extLst>
                    <a:ext uri="{9D8B030D-6E8A-4147-A177-3AD203B41FA5}">
                      <a16:colId xmlns:a16="http://schemas.microsoft.com/office/drawing/2014/main" val="3259894497"/>
                    </a:ext>
                  </a:extLst>
                </a:gridCol>
                <a:gridCol w="469357">
                  <a:extLst>
                    <a:ext uri="{9D8B030D-6E8A-4147-A177-3AD203B41FA5}">
                      <a16:colId xmlns:a16="http://schemas.microsoft.com/office/drawing/2014/main" val="4170535043"/>
                    </a:ext>
                  </a:extLst>
                </a:gridCol>
                <a:gridCol w="430897">
                  <a:extLst>
                    <a:ext uri="{9D8B030D-6E8A-4147-A177-3AD203B41FA5}">
                      <a16:colId xmlns:a16="http://schemas.microsoft.com/office/drawing/2014/main" val="2079070694"/>
                    </a:ext>
                  </a:extLst>
                </a:gridCol>
                <a:gridCol w="421751">
                  <a:extLst>
                    <a:ext uri="{9D8B030D-6E8A-4147-A177-3AD203B41FA5}">
                      <a16:colId xmlns:a16="http://schemas.microsoft.com/office/drawing/2014/main" val="4213315911"/>
                    </a:ext>
                  </a:extLst>
                </a:gridCol>
                <a:gridCol w="456080">
                  <a:extLst>
                    <a:ext uri="{9D8B030D-6E8A-4147-A177-3AD203B41FA5}">
                      <a16:colId xmlns:a16="http://schemas.microsoft.com/office/drawing/2014/main" val="2769999950"/>
                    </a:ext>
                  </a:extLst>
                </a:gridCol>
                <a:gridCol w="481673">
                  <a:extLst>
                    <a:ext uri="{9D8B030D-6E8A-4147-A177-3AD203B41FA5}">
                      <a16:colId xmlns:a16="http://schemas.microsoft.com/office/drawing/2014/main" val="135637185"/>
                    </a:ext>
                  </a:extLst>
                </a:gridCol>
                <a:gridCol w="397356">
                  <a:extLst>
                    <a:ext uri="{9D8B030D-6E8A-4147-A177-3AD203B41FA5}">
                      <a16:colId xmlns:a16="http://schemas.microsoft.com/office/drawing/2014/main" val="3038050475"/>
                    </a:ext>
                  </a:extLst>
                </a:gridCol>
                <a:gridCol w="397356">
                  <a:extLst>
                    <a:ext uri="{9D8B030D-6E8A-4147-A177-3AD203B41FA5}">
                      <a16:colId xmlns:a16="http://schemas.microsoft.com/office/drawing/2014/main" val="1979433044"/>
                    </a:ext>
                  </a:extLst>
                </a:gridCol>
                <a:gridCol w="397356">
                  <a:extLst>
                    <a:ext uri="{9D8B030D-6E8A-4147-A177-3AD203B41FA5}">
                      <a16:colId xmlns:a16="http://schemas.microsoft.com/office/drawing/2014/main" val="4270661649"/>
                    </a:ext>
                  </a:extLst>
                </a:gridCol>
                <a:gridCol w="397356">
                  <a:extLst>
                    <a:ext uri="{9D8B030D-6E8A-4147-A177-3AD203B41FA5}">
                      <a16:colId xmlns:a16="http://schemas.microsoft.com/office/drawing/2014/main" val="3027041370"/>
                    </a:ext>
                  </a:extLst>
                </a:gridCol>
                <a:gridCol w="397356">
                  <a:extLst>
                    <a:ext uri="{9D8B030D-6E8A-4147-A177-3AD203B41FA5}">
                      <a16:colId xmlns:a16="http://schemas.microsoft.com/office/drawing/2014/main" val="2852526216"/>
                    </a:ext>
                  </a:extLst>
                </a:gridCol>
                <a:gridCol w="397356">
                  <a:extLst>
                    <a:ext uri="{9D8B030D-6E8A-4147-A177-3AD203B41FA5}">
                      <a16:colId xmlns:a16="http://schemas.microsoft.com/office/drawing/2014/main" val="103420222"/>
                    </a:ext>
                  </a:extLst>
                </a:gridCol>
                <a:gridCol w="397356">
                  <a:extLst>
                    <a:ext uri="{9D8B030D-6E8A-4147-A177-3AD203B41FA5}">
                      <a16:colId xmlns:a16="http://schemas.microsoft.com/office/drawing/2014/main" val="1470405609"/>
                    </a:ext>
                  </a:extLst>
                </a:gridCol>
                <a:gridCol w="366937">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algn="ctr" latinLnBrk="1"/>
                      <a:r>
                        <a:rPr lang="en-US" altLang="ko-KR" sz="700" b="0" dirty="0">
                          <a:solidFill>
                            <a:schemeClr val="tx1"/>
                          </a:solidFill>
                          <a:latin typeface="Arial" panose="020B0604020202020204" pitchFamily="34" charset="0"/>
                          <a:ea typeface="+mn-ea"/>
                          <a:cs typeface="Arial" panose="020B0604020202020204" pitchFamily="34" charset="0"/>
                        </a:rPr>
                        <a:t>OSC_FLL_MAN [11:0]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906492"/>
                  </a:ext>
                </a:extLst>
              </a:tr>
            </a:tbl>
          </a:graphicData>
        </a:graphic>
      </p:graphicFrame>
      <p:graphicFrame>
        <p:nvGraphicFramePr>
          <p:cNvPr id="31" name="표 30">
            <a:extLst>
              <a:ext uri="{FF2B5EF4-FFF2-40B4-BE49-F238E27FC236}">
                <a16:creationId xmlns:a16="http://schemas.microsoft.com/office/drawing/2014/main" id="{19B6B3BB-F158-C4A1-58F6-72344C49D799}"/>
              </a:ext>
            </a:extLst>
          </p:cNvPr>
          <p:cNvGraphicFramePr>
            <a:graphicFrameLocks noGrp="1"/>
          </p:cNvGraphicFramePr>
          <p:nvPr>
            <p:extLst>
              <p:ext uri="{D42A27DB-BD31-4B8C-83A1-F6EECF244321}">
                <p14:modId xmlns:p14="http://schemas.microsoft.com/office/powerpoint/2010/main" val="3492914973"/>
              </p:ext>
            </p:extLst>
          </p:nvPr>
        </p:nvGraphicFramePr>
        <p:xfrm>
          <a:off x="404563" y="7378349"/>
          <a:ext cx="6057233" cy="372600"/>
        </p:xfrm>
        <a:graphic>
          <a:graphicData uri="http://schemas.openxmlformats.org/drawingml/2006/table">
            <a:tbl>
              <a:tblPr firstRow="1" bandRow="1">
                <a:tableStyleId>{5C22544A-7EE6-4342-B048-85BDC9FD1C3A}</a:tableStyleId>
              </a:tblPr>
              <a:tblGrid>
                <a:gridCol w="289194">
                  <a:extLst>
                    <a:ext uri="{9D8B030D-6E8A-4147-A177-3AD203B41FA5}">
                      <a16:colId xmlns:a16="http://schemas.microsoft.com/office/drawing/2014/main" val="657570846"/>
                    </a:ext>
                  </a:extLst>
                </a:gridCol>
                <a:gridCol w="345135">
                  <a:extLst>
                    <a:ext uri="{9D8B030D-6E8A-4147-A177-3AD203B41FA5}">
                      <a16:colId xmlns:a16="http://schemas.microsoft.com/office/drawing/2014/main" val="3259894497"/>
                    </a:ext>
                  </a:extLst>
                </a:gridCol>
                <a:gridCol w="463468">
                  <a:extLst>
                    <a:ext uri="{9D8B030D-6E8A-4147-A177-3AD203B41FA5}">
                      <a16:colId xmlns:a16="http://schemas.microsoft.com/office/drawing/2014/main" val="4170535043"/>
                    </a:ext>
                  </a:extLst>
                </a:gridCol>
                <a:gridCol w="553606">
                  <a:extLst>
                    <a:ext uri="{9D8B030D-6E8A-4147-A177-3AD203B41FA5}">
                      <a16:colId xmlns:a16="http://schemas.microsoft.com/office/drawing/2014/main" val="2079070694"/>
                    </a:ext>
                  </a:extLst>
                </a:gridCol>
                <a:gridCol w="400530">
                  <a:extLst>
                    <a:ext uri="{9D8B030D-6E8A-4147-A177-3AD203B41FA5}">
                      <a16:colId xmlns:a16="http://schemas.microsoft.com/office/drawing/2014/main" val="4213315911"/>
                    </a:ext>
                  </a:extLst>
                </a:gridCol>
                <a:gridCol w="400530">
                  <a:extLst>
                    <a:ext uri="{9D8B030D-6E8A-4147-A177-3AD203B41FA5}">
                      <a16:colId xmlns:a16="http://schemas.microsoft.com/office/drawing/2014/main" val="2769999950"/>
                    </a:ext>
                  </a:extLst>
                </a:gridCol>
                <a:gridCol w="400530">
                  <a:extLst>
                    <a:ext uri="{9D8B030D-6E8A-4147-A177-3AD203B41FA5}">
                      <a16:colId xmlns:a16="http://schemas.microsoft.com/office/drawing/2014/main" val="135637185"/>
                    </a:ext>
                  </a:extLst>
                </a:gridCol>
                <a:gridCol w="400530">
                  <a:extLst>
                    <a:ext uri="{9D8B030D-6E8A-4147-A177-3AD203B41FA5}">
                      <a16:colId xmlns:a16="http://schemas.microsoft.com/office/drawing/2014/main" val="3038050475"/>
                    </a:ext>
                  </a:extLst>
                </a:gridCol>
                <a:gridCol w="400530">
                  <a:extLst>
                    <a:ext uri="{9D8B030D-6E8A-4147-A177-3AD203B41FA5}">
                      <a16:colId xmlns:a16="http://schemas.microsoft.com/office/drawing/2014/main" val="1979433044"/>
                    </a:ext>
                  </a:extLst>
                </a:gridCol>
                <a:gridCol w="400530">
                  <a:extLst>
                    <a:ext uri="{9D8B030D-6E8A-4147-A177-3AD203B41FA5}">
                      <a16:colId xmlns:a16="http://schemas.microsoft.com/office/drawing/2014/main" val="4270661649"/>
                    </a:ext>
                  </a:extLst>
                </a:gridCol>
                <a:gridCol w="400530">
                  <a:extLst>
                    <a:ext uri="{9D8B030D-6E8A-4147-A177-3AD203B41FA5}">
                      <a16:colId xmlns:a16="http://schemas.microsoft.com/office/drawing/2014/main" val="3027041370"/>
                    </a:ext>
                  </a:extLst>
                </a:gridCol>
                <a:gridCol w="400530">
                  <a:extLst>
                    <a:ext uri="{9D8B030D-6E8A-4147-A177-3AD203B41FA5}">
                      <a16:colId xmlns:a16="http://schemas.microsoft.com/office/drawing/2014/main" val="2852526216"/>
                    </a:ext>
                  </a:extLst>
                </a:gridCol>
                <a:gridCol w="400530">
                  <a:extLst>
                    <a:ext uri="{9D8B030D-6E8A-4147-A177-3AD203B41FA5}">
                      <a16:colId xmlns:a16="http://schemas.microsoft.com/office/drawing/2014/main" val="103420222"/>
                    </a:ext>
                  </a:extLst>
                </a:gridCol>
                <a:gridCol w="400530">
                  <a:extLst>
                    <a:ext uri="{9D8B030D-6E8A-4147-A177-3AD203B41FA5}">
                      <a16:colId xmlns:a16="http://schemas.microsoft.com/office/drawing/2014/main" val="1470405609"/>
                    </a:ext>
                  </a:extLst>
                </a:gridCol>
                <a:gridCol w="4005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0x808</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OSC_MAN_E</a:t>
                      </a:r>
                      <a:endParaRPr kumimoji="0" lang="ko-KR" altLang="en-US" sz="6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OSC_FLL_MAN [15:12]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139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76B63-A8D7-40DC-BF8D-54458CF50D07}"/>
            </a:ext>
          </a:extLst>
        </p:cNvPr>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DEEAC2FA-C1F1-C7AC-B47C-371895D08EF3}"/>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8A52AD2-BF87-1384-1692-BC1018F57241}"/>
              </a:ext>
            </a:extLst>
          </p:cNvPr>
          <p:cNvSpPr txBox="1"/>
          <p:nvPr/>
        </p:nvSpPr>
        <p:spPr>
          <a:xfrm>
            <a:off x="404813" y="845342"/>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 FLL MONITOR</a:t>
            </a:r>
          </a:p>
        </p:txBody>
      </p:sp>
      <p:sp>
        <p:nvSpPr>
          <p:cNvPr id="13" name="TextBox 12">
            <a:extLst>
              <a:ext uri="{FF2B5EF4-FFF2-40B4-BE49-F238E27FC236}">
                <a16:creationId xmlns:a16="http://schemas.microsoft.com/office/drawing/2014/main" id="{F3C8A488-F49C-56B2-803E-CD74D59ED800}"/>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graphicFrame>
        <p:nvGraphicFramePr>
          <p:cNvPr id="33" name="표 32">
            <a:extLst>
              <a:ext uri="{FF2B5EF4-FFF2-40B4-BE49-F238E27FC236}">
                <a16:creationId xmlns:a16="http://schemas.microsoft.com/office/drawing/2014/main" id="{002FA1BA-C25C-2638-AE8A-ACAFB2001602}"/>
              </a:ext>
            </a:extLst>
          </p:cNvPr>
          <p:cNvGraphicFramePr>
            <a:graphicFrameLocks noGrp="1"/>
          </p:cNvGraphicFramePr>
          <p:nvPr>
            <p:extLst>
              <p:ext uri="{D42A27DB-BD31-4B8C-83A1-F6EECF244321}">
                <p14:modId xmlns:p14="http://schemas.microsoft.com/office/powerpoint/2010/main" val="3883642941"/>
              </p:ext>
            </p:extLst>
          </p:nvPr>
        </p:nvGraphicFramePr>
        <p:xfrm>
          <a:off x="400387" y="1574425"/>
          <a:ext cx="6057230" cy="515634"/>
        </p:xfrm>
        <a:graphic>
          <a:graphicData uri="http://schemas.openxmlformats.org/drawingml/2006/table">
            <a:tbl>
              <a:tblPr firstRow="1" bandRow="1">
                <a:tableStyleId>{5C22544A-7EE6-4342-B048-85BDC9FD1C3A}</a:tableStyleId>
              </a:tblPr>
              <a:tblGrid>
                <a:gridCol w="435763">
                  <a:extLst>
                    <a:ext uri="{9D8B030D-6E8A-4147-A177-3AD203B41FA5}">
                      <a16:colId xmlns:a16="http://schemas.microsoft.com/office/drawing/2014/main" val="4170535043"/>
                    </a:ext>
                  </a:extLst>
                </a:gridCol>
                <a:gridCol w="1031099">
                  <a:extLst>
                    <a:ext uri="{9D8B030D-6E8A-4147-A177-3AD203B41FA5}">
                      <a16:colId xmlns:a16="http://schemas.microsoft.com/office/drawing/2014/main" val="2079070694"/>
                    </a:ext>
                  </a:extLst>
                </a:gridCol>
                <a:gridCol w="4590368">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OSC_FLL_FLT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bl>
          </a:graphicData>
        </a:graphic>
      </p:graphicFrame>
      <p:graphicFrame>
        <p:nvGraphicFramePr>
          <p:cNvPr id="34" name="표 33">
            <a:extLst>
              <a:ext uri="{FF2B5EF4-FFF2-40B4-BE49-F238E27FC236}">
                <a16:creationId xmlns:a16="http://schemas.microsoft.com/office/drawing/2014/main" id="{CDDC3793-8541-51A4-83B1-0526E3A23C77}"/>
              </a:ext>
            </a:extLst>
          </p:cNvPr>
          <p:cNvGraphicFramePr>
            <a:graphicFrameLocks noGrp="1"/>
          </p:cNvGraphicFramePr>
          <p:nvPr>
            <p:extLst>
              <p:ext uri="{D42A27DB-BD31-4B8C-83A1-F6EECF244321}">
                <p14:modId xmlns:p14="http://schemas.microsoft.com/office/powerpoint/2010/main" val="3717872425"/>
              </p:ext>
            </p:extLst>
          </p:nvPr>
        </p:nvGraphicFramePr>
        <p:xfrm>
          <a:off x="400387" y="1111787"/>
          <a:ext cx="6057226" cy="372600"/>
        </p:xfrm>
        <a:graphic>
          <a:graphicData uri="http://schemas.openxmlformats.org/drawingml/2006/table">
            <a:tbl>
              <a:tblPr firstRow="1" bandRow="1">
                <a:tableStyleId>{5C22544A-7EE6-4342-B048-85BDC9FD1C3A}</a:tableStyleId>
              </a:tblPr>
              <a:tblGrid>
                <a:gridCol w="348898">
                  <a:extLst>
                    <a:ext uri="{9D8B030D-6E8A-4147-A177-3AD203B41FA5}">
                      <a16:colId xmlns:a16="http://schemas.microsoft.com/office/drawing/2014/main" val="657570846"/>
                    </a:ext>
                  </a:extLst>
                </a:gridCol>
                <a:gridCol w="383626">
                  <a:extLst>
                    <a:ext uri="{9D8B030D-6E8A-4147-A177-3AD203B41FA5}">
                      <a16:colId xmlns:a16="http://schemas.microsoft.com/office/drawing/2014/main" val="3259894497"/>
                    </a:ext>
                  </a:extLst>
                </a:gridCol>
                <a:gridCol w="450860">
                  <a:extLst>
                    <a:ext uri="{9D8B030D-6E8A-4147-A177-3AD203B41FA5}">
                      <a16:colId xmlns:a16="http://schemas.microsoft.com/office/drawing/2014/main" val="4170535043"/>
                    </a:ext>
                  </a:extLst>
                </a:gridCol>
                <a:gridCol w="401866">
                  <a:extLst>
                    <a:ext uri="{9D8B030D-6E8A-4147-A177-3AD203B41FA5}">
                      <a16:colId xmlns:a16="http://schemas.microsoft.com/office/drawing/2014/main" val="2079070694"/>
                    </a:ext>
                  </a:extLst>
                </a:gridCol>
                <a:gridCol w="401866">
                  <a:extLst>
                    <a:ext uri="{9D8B030D-6E8A-4147-A177-3AD203B41FA5}">
                      <a16:colId xmlns:a16="http://schemas.microsoft.com/office/drawing/2014/main" val="4213315911"/>
                    </a:ext>
                  </a:extLst>
                </a:gridCol>
                <a:gridCol w="401866">
                  <a:extLst>
                    <a:ext uri="{9D8B030D-6E8A-4147-A177-3AD203B41FA5}">
                      <a16:colId xmlns:a16="http://schemas.microsoft.com/office/drawing/2014/main" val="2769999950"/>
                    </a:ext>
                  </a:extLst>
                </a:gridCol>
                <a:gridCol w="401866">
                  <a:extLst>
                    <a:ext uri="{9D8B030D-6E8A-4147-A177-3AD203B41FA5}">
                      <a16:colId xmlns:a16="http://schemas.microsoft.com/office/drawing/2014/main" val="135637185"/>
                    </a:ext>
                  </a:extLst>
                </a:gridCol>
                <a:gridCol w="401866">
                  <a:extLst>
                    <a:ext uri="{9D8B030D-6E8A-4147-A177-3AD203B41FA5}">
                      <a16:colId xmlns:a16="http://schemas.microsoft.com/office/drawing/2014/main" val="3038050475"/>
                    </a:ext>
                  </a:extLst>
                </a:gridCol>
                <a:gridCol w="453316">
                  <a:extLst>
                    <a:ext uri="{9D8B030D-6E8A-4147-A177-3AD203B41FA5}">
                      <a16:colId xmlns:a16="http://schemas.microsoft.com/office/drawing/2014/main" val="1979433044"/>
                    </a:ext>
                  </a:extLst>
                </a:gridCol>
                <a:gridCol w="401866">
                  <a:extLst>
                    <a:ext uri="{9D8B030D-6E8A-4147-A177-3AD203B41FA5}">
                      <a16:colId xmlns:a16="http://schemas.microsoft.com/office/drawing/2014/main" val="4270661649"/>
                    </a:ext>
                  </a:extLst>
                </a:gridCol>
                <a:gridCol w="401866">
                  <a:extLst>
                    <a:ext uri="{9D8B030D-6E8A-4147-A177-3AD203B41FA5}">
                      <a16:colId xmlns:a16="http://schemas.microsoft.com/office/drawing/2014/main" val="3027041370"/>
                    </a:ext>
                  </a:extLst>
                </a:gridCol>
                <a:gridCol w="401866">
                  <a:extLst>
                    <a:ext uri="{9D8B030D-6E8A-4147-A177-3AD203B41FA5}">
                      <a16:colId xmlns:a16="http://schemas.microsoft.com/office/drawing/2014/main" val="2852526216"/>
                    </a:ext>
                  </a:extLst>
                </a:gridCol>
                <a:gridCol w="401866">
                  <a:extLst>
                    <a:ext uri="{9D8B030D-6E8A-4147-A177-3AD203B41FA5}">
                      <a16:colId xmlns:a16="http://schemas.microsoft.com/office/drawing/2014/main" val="103420222"/>
                    </a:ext>
                  </a:extLst>
                </a:gridCol>
                <a:gridCol w="401866">
                  <a:extLst>
                    <a:ext uri="{9D8B030D-6E8A-4147-A177-3AD203B41FA5}">
                      <a16:colId xmlns:a16="http://schemas.microsoft.com/office/drawing/2014/main" val="1470405609"/>
                    </a:ext>
                  </a:extLst>
                </a:gridCol>
                <a:gridCol w="401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OSC_FLL_FLT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F61D9CFB-ECE3-D615-7245-E08201675C11}"/>
              </a:ext>
            </a:extLst>
          </p:cNvPr>
          <p:cNvSpPr txBox="1"/>
          <p:nvPr/>
        </p:nvSpPr>
        <p:spPr>
          <a:xfrm>
            <a:off x="401536" y="5556119"/>
            <a:ext cx="605493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FIX</a:t>
            </a:r>
          </a:p>
        </p:txBody>
      </p:sp>
      <p:graphicFrame>
        <p:nvGraphicFramePr>
          <p:cNvPr id="6" name="표 5">
            <a:extLst>
              <a:ext uri="{FF2B5EF4-FFF2-40B4-BE49-F238E27FC236}">
                <a16:creationId xmlns:a16="http://schemas.microsoft.com/office/drawing/2014/main" id="{D1E683FD-78DC-5C73-0187-0F84EFB406F1}"/>
              </a:ext>
            </a:extLst>
          </p:cNvPr>
          <p:cNvGraphicFramePr>
            <a:graphicFrameLocks noGrp="1"/>
          </p:cNvGraphicFramePr>
          <p:nvPr>
            <p:extLst>
              <p:ext uri="{D42A27DB-BD31-4B8C-83A1-F6EECF244321}">
                <p14:modId xmlns:p14="http://schemas.microsoft.com/office/powerpoint/2010/main" val="1363882198"/>
              </p:ext>
            </p:extLst>
          </p:nvPr>
        </p:nvGraphicFramePr>
        <p:xfrm>
          <a:off x="401536" y="6295443"/>
          <a:ext cx="6054928" cy="745351"/>
        </p:xfrm>
        <a:graphic>
          <a:graphicData uri="http://schemas.openxmlformats.org/drawingml/2006/table">
            <a:tbl>
              <a:tblPr firstRow="1" bandRow="1">
                <a:tableStyleId>{5C22544A-7EE6-4342-B048-85BDC9FD1C3A}</a:tableStyleId>
              </a:tblPr>
              <a:tblGrid>
                <a:gridCol w="437619">
                  <a:extLst>
                    <a:ext uri="{9D8B030D-6E8A-4147-A177-3AD203B41FA5}">
                      <a16:colId xmlns:a16="http://schemas.microsoft.com/office/drawing/2014/main" val="4170535043"/>
                    </a:ext>
                  </a:extLst>
                </a:gridCol>
                <a:gridCol w="1146691">
                  <a:extLst>
                    <a:ext uri="{9D8B030D-6E8A-4147-A177-3AD203B41FA5}">
                      <a16:colId xmlns:a16="http://schemas.microsoft.com/office/drawing/2014/main" val="2079070694"/>
                    </a:ext>
                  </a:extLst>
                </a:gridCol>
                <a:gridCol w="4470618">
                  <a:extLst>
                    <a:ext uri="{9D8B030D-6E8A-4147-A177-3AD203B41FA5}">
                      <a16:colId xmlns:a16="http://schemas.microsoft.com/office/drawing/2014/main" val="32595803"/>
                    </a:ext>
                  </a:extLst>
                </a:gridCol>
              </a:tblGrid>
              <a:tr h="261871">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78197">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VREF_FIX</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determines the fixed VREF out value instead of the MAX_CURR_VREF when the vsync miss is detected under the MISS_VS_DIMM=1 and the MISS_VS_DET_E=1.  At the same time, the LD PWM data is out with full value.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D7E6E016-6853-D810-F28B-10FF3B662A46}"/>
              </a:ext>
            </a:extLst>
          </p:cNvPr>
          <p:cNvGraphicFramePr>
            <a:graphicFrameLocks noGrp="1"/>
          </p:cNvGraphicFramePr>
          <p:nvPr>
            <p:extLst>
              <p:ext uri="{D42A27DB-BD31-4B8C-83A1-F6EECF244321}">
                <p14:modId xmlns:p14="http://schemas.microsoft.com/office/powerpoint/2010/main" val="1529729808"/>
              </p:ext>
            </p:extLst>
          </p:nvPr>
        </p:nvGraphicFramePr>
        <p:xfrm>
          <a:off x="401536" y="5833000"/>
          <a:ext cx="6054929" cy="372600"/>
        </p:xfrm>
        <a:graphic>
          <a:graphicData uri="http://schemas.openxmlformats.org/drawingml/2006/table">
            <a:tbl>
              <a:tblPr firstRow="1" bandRow="1">
                <a:tableStyleId>{5C22544A-7EE6-4342-B048-85BDC9FD1C3A}</a:tableStyleId>
              </a:tblPr>
              <a:tblGrid>
                <a:gridCol w="274897">
                  <a:extLst>
                    <a:ext uri="{9D8B030D-6E8A-4147-A177-3AD203B41FA5}">
                      <a16:colId xmlns:a16="http://schemas.microsoft.com/office/drawing/2014/main" val="657570846"/>
                    </a:ext>
                  </a:extLst>
                </a:gridCol>
                <a:gridCol w="324864">
                  <a:extLst>
                    <a:ext uri="{9D8B030D-6E8A-4147-A177-3AD203B41FA5}">
                      <a16:colId xmlns:a16="http://schemas.microsoft.com/office/drawing/2014/main" val="3259894497"/>
                    </a:ext>
                  </a:extLst>
                </a:gridCol>
                <a:gridCol w="424012">
                  <a:extLst>
                    <a:ext uri="{9D8B030D-6E8A-4147-A177-3AD203B41FA5}">
                      <a16:colId xmlns:a16="http://schemas.microsoft.com/office/drawing/2014/main" val="4170535043"/>
                    </a:ext>
                  </a:extLst>
                </a:gridCol>
                <a:gridCol w="419263">
                  <a:extLst>
                    <a:ext uri="{9D8B030D-6E8A-4147-A177-3AD203B41FA5}">
                      <a16:colId xmlns:a16="http://schemas.microsoft.com/office/drawing/2014/main" val="2079070694"/>
                    </a:ext>
                  </a:extLst>
                </a:gridCol>
                <a:gridCol w="419263">
                  <a:extLst>
                    <a:ext uri="{9D8B030D-6E8A-4147-A177-3AD203B41FA5}">
                      <a16:colId xmlns:a16="http://schemas.microsoft.com/office/drawing/2014/main" val="4213315911"/>
                    </a:ext>
                  </a:extLst>
                </a:gridCol>
                <a:gridCol w="419263">
                  <a:extLst>
                    <a:ext uri="{9D8B030D-6E8A-4147-A177-3AD203B41FA5}">
                      <a16:colId xmlns:a16="http://schemas.microsoft.com/office/drawing/2014/main" val="2769999950"/>
                    </a:ext>
                  </a:extLst>
                </a:gridCol>
                <a:gridCol w="419263">
                  <a:extLst>
                    <a:ext uri="{9D8B030D-6E8A-4147-A177-3AD203B41FA5}">
                      <a16:colId xmlns:a16="http://schemas.microsoft.com/office/drawing/2014/main" val="135637185"/>
                    </a:ext>
                  </a:extLst>
                </a:gridCol>
                <a:gridCol w="419263">
                  <a:extLst>
                    <a:ext uri="{9D8B030D-6E8A-4147-A177-3AD203B41FA5}">
                      <a16:colId xmlns:a16="http://schemas.microsoft.com/office/drawing/2014/main" val="3038050475"/>
                    </a:ext>
                  </a:extLst>
                </a:gridCol>
                <a:gridCol w="419263">
                  <a:extLst>
                    <a:ext uri="{9D8B030D-6E8A-4147-A177-3AD203B41FA5}">
                      <a16:colId xmlns:a16="http://schemas.microsoft.com/office/drawing/2014/main" val="1979433044"/>
                    </a:ext>
                  </a:extLst>
                </a:gridCol>
                <a:gridCol w="419263">
                  <a:extLst>
                    <a:ext uri="{9D8B030D-6E8A-4147-A177-3AD203B41FA5}">
                      <a16:colId xmlns:a16="http://schemas.microsoft.com/office/drawing/2014/main" val="4270661649"/>
                    </a:ext>
                  </a:extLst>
                </a:gridCol>
                <a:gridCol w="419263">
                  <a:extLst>
                    <a:ext uri="{9D8B030D-6E8A-4147-A177-3AD203B41FA5}">
                      <a16:colId xmlns:a16="http://schemas.microsoft.com/office/drawing/2014/main" val="3027041370"/>
                    </a:ext>
                  </a:extLst>
                </a:gridCol>
                <a:gridCol w="419263">
                  <a:extLst>
                    <a:ext uri="{9D8B030D-6E8A-4147-A177-3AD203B41FA5}">
                      <a16:colId xmlns:a16="http://schemas.microsoft.com/office/drawing/2014/main" val="2852526216"/>
                    </a:ext>
                  </a:extLst>
                </a:gridCol>
                <a:gridCol w="419263">
                  <a:extLst>
                    <a:ext uri="{9D8B030D-6E8A-4147-A177-3AD203B41FA5}">
                      <a16:colId xmlns:a16="http://schemas.microsoft.com/office/drawing/2014/main" val="103420222"/>
                    </a:ext>
                  </a:extLst>
                </a:gridCol>
                <a:gridCol w="419263">
                  <a:extLst>
                    <a:ext uri="{9D8B030D-6E8A-4147-A177-3AD203B41FA5}">
                      <a16:colId xmlns:a16="http://schemas.microsoft.com/office/drawing/2014/main" val="1470405609"/>
                    </a:ext>
                  </a:extLst>
                </a:gridCol>
                <a:gridCol w="4192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VREF_FIX [11:0]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1749121"/>
                  </a:ext>
                </a:extLst>
              </a:tr>
            </a:tbl>
          </a:graphicData>
        </a:graphic>
      </p:graphicFrame>
      <p:sp>
        <p:nvSpPr>
          <p:cNvPr id="8" name="TextBox 7">
            <a:extLst>
              <a:ext uri="{FF2B5EF4-FFF2-40B4-BE49-F238E27FC236}">
                <a16:creationId xmlns:a16="http://schemas.microsoft.com/office/drawing/2014/main" id="{8CF01BEA-D872-76BF-C3C3-597DB07E290C}"/>
              </a:ext>
            </a:extLst>
          </p:cNvPr>
          <p:cNvSpPr txBox="1"/>
          <p:nvPr/>
        </p:nvSpPr>
        <p:spPr>
          <a:xfrm>
            <a:off x="409242" y="2610088"/>
            <a:ext cx="605723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WR PROTECT</a:t>
            </a:r>
          </a:p>
        </p:txBody>
      </p:sp>
      <p:graphicFrame>
        <p:nvGraphicFramePr>
          <p:cNvPr id="9" name="표 8">
            <a:extLst>
              <a:ext uri="{FF2B5EF4-FFF2-40B4-BE49-F238E27FC236}">
                <a16:creationId xmlns:a16="http://schemas.microsoft.com/office/drawing/2014/main" id="{D7BEB0E8-019E-D9FF-4691-67D13E7EC83C}"/>
              </a:ext>
            </a:extLst>
          </p:cNvPr>
          <p:cNvGraphicFramePr>
            <a:graphicFrameLocks noGrp="1"/>
          </p:cNvGraphicFramePr>
          <p:nvPr>
            <p:extLst>
              <p:ext uri="{D42A27DB-BD31-4B8C-83A1-F6EECF244321}">
                <p14:modId xmlns:p14="http://schemas.microsoft.com/office/powerpoint/2010/main" val="2177021956"/>
              </p:ext>
            </p:extLst>
          </p:nvPr>
        </p:nvGraphicFramePr>
        <p:xfrm>
          <a:off x="404817" y="3339171"/>
          <a:ext cx="6048614" cy="1663083"/>
        </p:xfrm>
        <a:graphic>
          <a:graphicData uri="http://schemas.openxmlformats.org/drawingml/2006/table">
            <a:tbl>
              <a:tblPr firstRow="1" bandRow="1">
                <a:tableStyleId>{5C22544A-7EE6-4342-B048-85BDC9FD1C3A}</a:tableStyleId>
              </a:tblPr>
              <a:tblGrid>
                <a:gridCol w="422321">
                  <a:extLst>
                    <a:ext uri="{9D8B030D-6E8A-4147-A177-3AD203B41FA5}">
                      <a16:colId xmlns:a16="http://schemas.microsoft.com/office/drawing/2014/main" val="4170535043"/>
                    </a:ext>
                  </a:extLst>
                </a:gridCol>
                <a:gridCol w="1235500">
                  <a:extLst>
                    <a:ext uri="{9D8B030D-6E8A-4147-A177-3AD203B41FA5}">
                      <a16:colId xmlns:a16="http://schemas.microsoft.com/office/drawing/2014/main" val="2079070694"/>
                    </a:ext>
                  </a:extLst>
                </a:gridCol>
                <a:gridCol w="4390793">
                  <a:extLst>
                    <a:ext uri="{9D8B030D-6E8A-4147-A177-3AD203B41FA5}">
                      <a16:colId xmlns:a16="http://schemas.microsoft.com/office/drawing/2014/main" val="32595803"/>
                    </a:ext>
                  </a:extLst>
                </a:gridCol>
              </a:tblGrid>
              <a:tr h="306474">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59880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PCK_MODE</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 CLOCK MODE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0    Each channel uses a common pwm clock.</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1    Each channel uses an independent own pwm clock.</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969923"/>
                  </a:ext>
                </a:extLst>
              </a:tr>
              <a:tr h="106489">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REG_WR_PROTECT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This feature is used to protect write access to all internal registers except the MAX_ CURR_REF register.</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0x155, means that the write access to all internal registers is allowable.</a:t>
                      </a:r>
                    </a:p>
                    <a:p>
                      <a:pPr marL="0" marR="0" lvl="0" indent="0" algn="just" defTabSz="6858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The set value, 0x2AA, means that the write access to all internal registers except the MAX_CURR_REF register is not allowable.</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1743245"/>
                  </a:ext>
                </a:extLst>
              </a:tr>
            </a:tbl>
          </a:graphicData>
        </a:graphic>
      </p:graphicFrame>
      <p:graphicFrame>
        <p:nvGraphicFramePr>
          <p:cNvPr id="10" name="표 9">
            <a:extLst>
              <a:ext uri="{FF2B5EF4-FFF2-40B4-BE49-F238E27FC236}">
                <a16:creationId xmlns:a16="http://schemas.microsoft.com/office/drawing/2014/main" id="{3D58C381-B667-CBF6-2118-DAAD868B1D60}"/>
              </a:ext>
            </a:extLst>
          </p:cNvPr>
          <p:cNvGraphicFramePr>
            <a:graphicFrameLocks noGrp="1"/>
          </p:cNvGraphicFramePr>
          <p:nvPr>
            <p:extLst>
              <p:ext uri="{D42A27DB-BD31-4B8C-83A1-F6EECF244321}">
                <p14:modId xmlns:p14="http://schemas.microsoft.com/office/powerpoint/2010/main" val="1604365857"/>
              </p:ext>
            </p:extLst>
          </p:nvPr>
        </p:nvGraphicFramePr>
        <p:xfrm>
          <a:off x="404816" y="2876533"/>
          <a:ext cx="6048614" cy="372600"/>
        </p:xfrm>
        <a:graphic>
          <a:graphicData uri="http://schemas.openxmlformats.org/drawingml/2006/table">
            <a:tbl>
              <a:tblPr firstRow="1" bandRow="1">
                <a:tableStyleId>{5C22544A-7EE6-4342-B048-85BDC9FD1C3A}</a:tableStyleId>
              </a:tblPr>
              <a:tblGrid>
                <a:gridCol w="337675">
                  <a:extLst>
                    <a:ext uri="{9D8B030D-6E8A-4147-A177-3AD203B41FA5}">
                      <a16:colId xmlns:a16="http://schemas.microsoft.com/office/drawing/2014/main" val="657570846"/>
                    </a:ext>
                  </a:extLst>
                </a:gridCol>
                <a:gridCol w="371286">
                  <a:extLst>
                    <a:ext uri="{9D8B030D-6E8A-4147-A177-3AD203B41FA5}">
                      <a16:colId xmlns:a16="http://schemas.microsoft.com/office/drawing/2014/main" val="3259894497"/>
                    </a:ext>
                  </a:extLst>
                </a:gridCol>
                <a:gridCol w="436357">
                  <a:extLst>
                    <a:ext uri="{9D8B030D-6E8A-4147-A177-3AD203B41FA5}">
                      <a16:colId xmlns:a16="http://schemas.microsoft.com/office/drawing/2014/main" val="4170535043"/>
                    </a:ext>
                  </a:extLst>
                </a:gridCol>
                <a:gridCol w="575172">
                  <a:extLst>
                    <a:ext uri="{9D8B030D-6E8A-4147-A177-3AD203B41FA5}">
                      <a16:colId xmlns:a16="http://schemas.microsoft.com/office/drawing/2014/main" val="2079070694"/>
                    </a:ext>
                  </a:extLst>
                </a:gridCol>
                <a:gridCol w="388939">
                  <a:extLst>
                    <a:ext uri="{9D8B030D-6E8A-4147-A177-3AD203B41FA5}">
                      <a16:colId xmlns:a16="http://schemas.microsoft.com/office/drawing/2014/main" val="4213315911"/>
                    </a:ext>
                  </a:extLst>
                </a:gridCol>
                <a:gridCol w="388939">
                  <a:extLst>
                    <a:ext uri="{9D8B030D-6E8A-4147-A177-3AD203B41FA5}">
                      <a16:colId xmlns:a16="http://schemas.microsoft.com/office/drawing/2014/main" val="2769999950"/>
                    </a:ext>
                  </a:extLst>
                </a:gridCol>
                <a:gridCol w="388939">
                  <a:extLst>
                    <a:ext uri="{9D8B030D-6E8A-4147-A177-3AD203B41FA5}">
                      <a16:colId xmlns:a16="http://schemas.microsoft.com/office/drawing/2014/main" val="135637185"/>
                    </a:ext>
                  </a:extLst>
                </a:gridCol>
                <a:gridCol w="388939">
                  <a:extLst>
                    <a:ext uri="{9D8B030D-6E8A-4147-A177-3AD203B41FA5}">
                      <a16:colId xmlns:a16="http://schemas.microsoft.com/office/drawing/2014/main" val="3038050475"/>
                    </a:ext>
                  </a:extLst>
                </a:gridCol>
                <a:gridCol w="438734">
                  <a:extLst>
                    <a:ext uri="{9D8B030D-6E8A-4147-A177-3AD203B41FA5}">
                      <a16:colId xmlns:a16="http://schemas.microsoft.com/office/drawing/2014/main" val="1979433044"/>
                    </a:ext>
                  </a:extLst>
                </a:gridCol>
                <a:gridCol w="388939">
                  <a:extLst>
                    <a:ext uri="{9D8B030D-6E8A-4147-A177-3AD203B41FA5}">
                      <a16:colId xmlns:a16="http://schemas.microsoft.com/office/drawing/2014/main" val="4270661649"/>
                    </a:ext>
                  </a:extLst>
                </a:gridCol>
                <a:gridCol w="388939">
                  <a:extLst>
                    <a:ext uri="{9D8B030D-6E8A-4147-A177-3AD203B41FA5}">
                      <a16:colId xmlns:a16="http://schemas.microsoft.com/office/drawing/2014/main" val="3027041370"/>
                    </a:ext>
                  </a:extLst>
                </a:gridCol>
                <a:gridCol w="388939">
                  <a:extLst>
                    <a:ext uri="{9D8B030D-6E8A-4147-A177-3AD203B41FA5}">
                      <a16:colId xmlns:a16="http://schemas.microsoft.com/office/drawing/2014/main" val="2852526216"/>
                    </a:ext>
                  </a:extLst>
                </a:gridCol>
                <a:gridCol w="388939">
                  <a:extLst>
                    <a:ext uri="{9D8B030D-6E8A-4147-A177-3AD203B41FA5}">
                      <a16:colId xmlns:a16="http://schemas.microsoft.com/office/drawing/2014/main" val="103420222"/>
                    </a:ext>
                  </a:extLst>
                </a:gridCol>
                <a:gridCol w="388939">
                  <a:extLst>
                    <a:ext uri="{9D8B030D-6E8A-4147-A177-3AD203B41FA5}">
                      <a16:colId xmlns:a16="http://schemas.microsoft.com/office/drawing/2014/main" val="1470405609"/>
                    </a:ext>
                  </a:extLst>
                </a:gridCol>
                <a:gridCol w="388939">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RO</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0x955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PCK_MODE</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0">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REG_WR_PROTECT [9:0]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1134111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2490E0-50A8-0836-29F9-CBF8E7A84435}"/>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796B731-2885-C230-7204-FD277CF6F662}"/>
              </a:ext>
            </a:extLst>
          </p:cNvPr>
          <p:cNvSpPr txBox="1"/>
          <p:nvPr/>
        </p:nvSpPr>
        <p:spPr>
          <a:xfrm>
            <a:off x="399058" y="65519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5" name="TextBox 4">
            <a:extLst>
              <a:ext uri="{FF2B5EF4-FFF2-40B4-BE49-F238E27FC236}">
                <a16:creationId xmlns:a16="http://schemas.microsoft.com/office/drawing/2014/main" id="{728915BE-104A-4704-66CA-DFDA6057FCAF}"/>
              </a:ext>
            </a:extLst>
          </p:cNvPr>
          <p:cNvSpPr txBox="1"/>
          <p:nvPr/>
        </p:nvSpPr>
        <p:spPr>
          <a:xfrm>
            <a:off x="404812" y="992188"/>
            <a:ext cx="6054707"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OP MODE</a:t>
            </a:r>
          </a:p>
        </p:txBody>
      </p:sp>
      <p:graphicFrame>
        <p:nvGraphicFramePr>
          <p:cNvPr id="3" name="표 2">
            <a:extLst>
              <a:ext uri="{FF2B5EF4-FFF2-40B4-BE49-F238E27FC236}">
                <a16:creationId xmlns:a16="http://schemas.microsoft.com/office/drawing/2014/main" id="{67241985-4BDF-5EC0-8BBB-983F6BE792E2}"/>
              </a:ext>
            </a:extLst>
          </p:cNvPr>
          <p:cNvGraphicFramePr>
            <a:graphicFrameLocks noGrp="1"/>
          </p:cNvGraphicFramePr>
          <p:nvPr>
            <p:extLst>
              <p:ext uri="{D42A27DB-BD31-4B8C-83A1-F6EECF244321}">
                <p14:modId xmlns:p14="http://schemas.microsoft.com/office/powerpoint/2010/main" val="390749836"/>
              </p:ext>
            </p:extLst>
          </p:nvPr>
        </p:nvGraphicFramePr>
        <p:xfrm>
          <a:off x="395875" y="1734018"/>
          <a:ext cx="6063640" cy="3812729"/>
        </p:xfrm>
        <a:graphic>
          <a:graphicData uri="http://schemas.openxmlformats.org/drawingml/2006/table">
            <a:tbl>
              <a:tblPr firstRow="1" bandRow="1">
                <a:tableStyleId>{5C22544A-7EE6-4342-B048-85BDC9FD1C3A}</a:tableStyleId>
              </a:tblPr>
              <a:tblGrid>
                <a:gridCol w="448185">
                  <a:extLst>
                    <a:ext uri="{9D8B030D-6E8A-4147-A177-3AD203B41FA5}">
                      <a16:colId xmlns:a16="http://schemas.microsoft.com/office/drawing/2014/main" val="4170535043"/>
                    </a:ext>
                  </a:extLst>
                </a:gridCol>
                <a:gridCol w="925008">
                  <a:extLst>
                    <a:ext uri="{9D8B030D-6E8A-4147-A177-3AD203B41FA5}">
                      <a16:colId xmlns:a16="http://schemas.microsoft.com/office/drawing/2014/main" val="2079070694"/>
                    </a:ext>
                  </a:extLst>
                </a:gridCol>
                <a:gridCol w="237279">
                  <a:extLst>
                    <a:ext uri="{9D8B030D-6E8A-4147-A177-3AD203B41FA5}">
                      <a16:colId xmlns:a16="http://schemas.microsoft.com/office/drawing/2014/main" val="2393941440"/>
                    </a:ext>
                  </a:extLst>
                </a:gridCol>
                <a:gridCol w="4453168">
                  <a:extLst>
                    <a:ext uri="{9D8B030D-6E8A-4147-A177-3AD203B41FA5}">
                      <a16:colId xmlns:a16="http://schemas.microsoft.com/office/drawing/2014/main" val="32595803"/>
                    </a:ext>
                  </a:extLst>
                </a:gridCol>
              </a:tblGrid>
              <a:tr h="291209">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Bits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Fields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latinLnBrk="1"/>
                      <a:r>
                        <a:rPr lang="en-US" altLang="ko-KR" sz="900" b="1" dirty="0">
                          <a:solidFill>
                            <a:schemeClr val="tx1"/>
                          </a:solidFill>
                          <a:latin typeface="Arial" panose="020B0604020202020204" pitchFamily="34" charset="0"/>
                          <a:ea typeface="+mn-ea"/>
                          <a:cs typeface="Arial" panose="020B0604020202020204" pitchFamily="34" charset="0"/>
                        </a:rPr>
                        <a:t>Descriptions</a:t>
                      </a:r>
                      <a:endParaRPr lang="ko-KR" altLang="en-US" sz="900" b="1"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0404736"/>
                  </a:ext>
                </a:extLst>
              </a:tr>
              <a:tr h="11245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It is used to test the device for trimming. To use the PWM_FULL_O, MCLK_O and VREF_O function, this bit should be set firstly and cleared lastly after these functions are used.</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DDIO_DIS</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TEST_EN=1, the D</a:t>
                      </a:r>
                      <a:r>
                        <a:rPr lang="en-US" altLang="ko-KR" sz="900" b="0" baseline="-25000" dirty="0">
                          <a:solidFill>
                            <a:schemeClr val="tx1"/>
                          </a:solidFill>
                          <a:latin typeface="Arial" panose="020B0604020202020204" pitchFamily="34" charset="0"/>
                          <a:ea typeface="+mn-ea"/>
                          <a:cs typeface="Arial" panose="020B0604020202020204" pitchFamily="34" charset="0"/>
                        </a:rPr>
                        <a:t>DIO </a:t>
                      </a:r>
                      <a:r>
                        <a:rPr lang="en-US" altLang="ko-KR" sz="900" b="0" dirty="0">
                          <a:solidFill>
                            <a:schemeClr val="tx1"/>
                          </a:solidFill>
                          <a:latin typeface="Arial" panose="020B0604020202020204" pitchFamily="34" charset="0"/>
                          <a:ea typeface="+mn-ea"/>
                          <a:cs typeface="Arial" panose="020B0604020202020204" pitchFamily="34" charset="0"/>
                        </a:rPr>
                        <a:t>pin’s output will be disabled so that the read access of registers is possible without any mulfunction even though the MCLK32 clock is driven on the D</a:t>
                      </a:r>
                      <a:r>
                        <a:rPr lang="en-US" altLang="ko-KR" sz="900" b="0" baseline="-25000" dirty="0">
                          <a:solidFill>
                            <a:schemeClr val="tx1"/>
                          </a:solidFill>
                          <a:latin typeface="Arial" panose="020B0604020202020204" pitchFamily="34" charset="0"/>
                          <a:ea typeface="+mn-ea"/>
                          <a:cs typeface="Arial" panose="020B0604020202020204" pitchFamily="34" charset="0"/>
                        </a:rPr>
                        <a:t>DIO</a:t>
                      </a:r>
                      <a:r>
                        <a:rPr lang="en-US" altLang="ko-KR" sz="900" b="0" dirty="0">
                          <a:solidFill>
                            <a:schemeClr val="tx1"/>
                          </a:solidFill>
                          <a:latin typeface="Arial" panose="020B0604020202020204" pitchFamily="34" charset="0"/>
                          <a:ea typeface="+mn-ea"/>
                          <a:cs typeface="Arial" panose="020B0604020202020204" pitchFamily="34" charset="0"/>
                        </a:rPr>
                        <a:t> pin.</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749921"/>
                  </a:ext>
                </a:extLst>
              </a:tr>
              <a:tr h="11726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9:8</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TEST_ANA_EN</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7080443"/>
                  </a:ext>
                </a:extLst>
              </a:tr>
              <a:tr h="304392">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6</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PWM_FULL_O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enabled channels’ PWM out keeps active state regardless of the vsync.</a:t>
                      </a:r>
                      <a:endParaRPr lang="ko-KR" altLang="en-US" sz="900" b="0" dirty="0">
                        <a:solidFill>
                          <a:srgbClr val="FF0000"/>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1456802"/>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5</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MCLK32_O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clock </a:t>
                      </a:r>
                      <a:r>
                        <a:rPr lang="en-US" altLang="ko-KR" sz="900" b="0" i="0" kern="1200" dirty="0">
                          <a:solidFill>
                            <a:schemeClr val="dk1"/>
                          </a:solidFill>
                          <a:effectLst/>
                          <a:latin typeface="Arial" panose="020B0604020202020204" pitchFamily="34" charset="0"/>
                          <a:ea typeface="+mn-ea"/>
                          <a:cs typeface="Arial" panose="020B0604020202020204" pitchFamily="34" charset="0"/>
                        </a:rPr>
                        <a:t>obtained by dividing MCLK by 32 is output to DDIO pin.</a:t>
                      </a:r>
                      <a:endParaRPr lang="en-US" altLang="ko-KR"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01427674"/>
                  </a:ext>
                </a:extLst>
              </a:tr>
              <a:tr h="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4</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VREF_O</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NOP</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Under TEST_EN =1, the MAX_CURR_VREF register value is continuously output to all internal current control logics regardless of the vsync.</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3638392"/>
                  </a:ext>
                </a:extLst>
              </a:tr>
              <a:tr h="391970">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3175"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ADDR_EXT</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endParaRPr lang="en-US" altLang="ko-KR" sz="900" b="0" dirty="0">
                        <a:solidFill>
                          <a:schemeClr val="tx1"/>
                        </a:solidFill>
                        <a:latin typeface="Arial" panose="020B0604020202020204" pitchFamily="34" charset="0"/>
                        <a:ea typeface="+mn-ea"/>
                        <a:cs typeface="Arial" panose="020B0604020202020204" pitchFamily="34" charset="0"/>
                      </a:endParaRP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0</a:t>
                      </a:r>
                    </a:p>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1</a:t>
                      </a:r>
                      <a:endParaRPr lang="ko-KR" altLang="en-US" sz="900" b="0" dirty="0">
                        <a:solidFill>
                          <a:schemeClr val="tx1"/>
                        </a:solidFill>
                        <a:latin typeface="Arial" panose="020B0604020202020204" pitchFamily="34" charset="0"/>
                        <a:ea typeface="+mn-ea"/>
                        <a:cs typeface="Arial" panose="020B0604020202020204" pitchFamily="34" charset="0"/>
                      </a:endParaRPr>
                    </a:p>
                  </a:txBody>
                  <a:tcPr marL="36000" marR="36000" marT="36000" marB="36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This bit is used to select which register groups, the general registers or the OTP mirror registers, will be accessed. The OTP control registers address, 0x3A ~ 0x3F, can be commonly accessed regardless of this bit.</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general registers can be accessed except for the OTP mirror registers.</a:t>
                      </a:r>
                    </a:p>
                    <a:p>
                      <a:pPr marL="0" marR="0" lvl="0" indent="0" algn="just" defTabSz="6858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Arial" panose="020B0604020202020204" pitchFamily="34" charset="0"/>
                          <a:ea typeface="+mn-ea"/>
                          <a:cs typeface="Arial" panose="020B0604020202020204" pitchFamily="34" charset="0"/>
                        </a:rPr>
                        <a:t>The OTP mirror registers can be accessed except for the general registers.</a:t>
                      </a:r>
                    </a:p>
                  </a:txBody>
                  <a:tcPr marL="36000" marR="36000" marT="36000" marB="36000">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5958323"/>
                  </a:ext>
                </a:extLst>
              </a:tr>
            </a:tbl>
          </a:graphicData>
        </a:graphic>
      </p:graphicFrame>
      <p:graphicFrame>
        <p:nvGraphicFramePr>
          <p:cNvPr id="4" name="표 3">
            <a:extLst>
              <a:ext uri="{FF2B5EF4-FFF2-40B4-BE49-F238E27FC236}">
                <a16:creationId xmlns:a16="http://schemas.microsoft.com/office/drawing/2014/main" id="{BA68E979-0566-7465-6BC6-D61F7AAE31A2}"/>
              </a:ext>
            </a:extLst>
          </p:cNvPr>
          <p:cNvGraphicFramePr>
            <a:graphicFrameLocks noGrp="1"/>
          </p:cNvGraphicFramePr>
          <p:nvPr>
            <p:extLst>
              <p:ext uri="{D42A27DB-BD31-4B8C-83A1-F6EECF244321}">
                <p14:modId xmlns:p14="http://schemas.microsoft.com/office/powerpoint/2010/main" val="2644601038"/>
              </p:ext>
            </p:extLst>
          </p:nvPr>
        </p:nvGraphicFramePr>
        <p:xfrm>
          <a:off x="404811" y="1258316"/>
          <a:ext cx="6057353" cy="372600"/>
        </p:xfrm>
        <a:graphic>
          <a:graphicData uri="http://schemas.openxmlformats.org/drawingml/2006/table">
            <a:tbl>
              <a:tblPr firstRow="1" bandRow="1">
                <a:tableStyleId>{5C22544A-7EE6-4342-B048-85BDC9FD1C3A}</a:tableStyleId>
              </a:tblPr>
              <a:tblGrid>
                <a:gridCol w="292531">
                  <a:extLst>
                    <a:ext uri="{9D8B030D-6E8A-4147-A177-3AD203B41FA5}">
                      <a16:colId xmlns:a16="http://schemas.microsoft.com/office/drawing/2014/main" val="657570846"/>
                    </a:ext>
                  </a:extLst>
                </a:gridCol>
                <a:gridCol w="342329">
                  <a:extLst>
                    <a:ext uri="{9D8B030D-6E8A-4147-A177-3AD203B41FA5}">
                      <a16:colId xmlns:a16="http://schemas.microsoft.com/office/drawing/2014/main" val="3259894497"/>
                    </a:ext>
                  </a:extLst>
                </a:gridCol>
                <a:gridCol w="459098">
                  <a:extLst>
                    <a:ext uri="{9D8B030D-6E8A-4147-A177-3AD203B41FA5}">
                      <a16:colId xmlns:a16="http://schemas.microsoft.com/office/drawing/2014/main" val="4170535043"/>
                    </a:ext>
                  </a:extLst>
                </a:gridCol>
                <a:gridCol w="456773">
                  <a:extLst>
                    <a:ext uri="{9D8B030D-6E8A-4147-A177-3AD203B41FA5}">
                      <a16:colId xmlns:a16="http://schemas.microsoft.com/office/drawing/2014/main" val="2079070694"/>
                    </a:ext>
                  </a:extLst>
                </a:gridCol>
                <a:gridCol w="480813">
                  <a:extLst>
                    <a:ext uri="{9D8B030D-6E8A-4147-A177-3AD203B41FA5}">
                      <a16:colId xmlns:a16="http://schemas.microsoft.com/office/drawing/2014/main" val="4213315911"/>
                    </a:ext>
                  </a:extLst>
                </a:gridCol>
                <a:gridCol w="390182">
                  <a:extLst>
                    <a:ext uri="{9D8B030D-6E8A-4147-A177-3AD203B41FA5}">
                      <a16:colId xmlns:a16="http://schemas.microsoft.com/office/drawing/2014/main" val="2769999950"/>
                    </a:ext>
                  </a:extLst>
                </a:gridCol>
                <a:gridCol w="504473">
                  <a:extLst>
                    <a:ext uri="{9D8B030D-6E8A-4147-A177-3AD203B41FA5}">
                      <a16:colId xmlns:a16="http://schemas.microsoft.com/office/drawing/2014/main" val="135637185"/>
                    </a:ext>
                  </a:extLst>
                </a:gridCol>
                <a:gridCol w="244449">
                  <a:extLst>
                    <a:ext uri="{9D8B030D-6E8A-4147-A177-3AD203B41FA5}">
                      <a16:colId xmlns:a16="http://schemas.microsoft.com/office/drawing/2014/main" val="3038050475"/>
                    </a:ext>
                  </a:extLst>
                </a:gridCol>
                <a:gridCol w="678291">
                  <a:extLst>
                    <a:ext uri="{9D8B030D-6E8A-4147-A177-3AD203B41FA5}">
                      <a16:colId xmlns:a16="http://schemas.microsoft.com/office/drawing/2014/main" val="1979433044"/>
                    </a:ext>
                  </a:extLst>
                </a:gridCol>
                <a:gridCol w="528895">
                  <a:extLst>
                    <a:ext uri="{9D8B030D-6E8A-4147-A177-3AD203B41FA5}">
                      <a16:colId xmlns:a16="http://schemas.microsoft.com/office/drawing/2014/main" val="4270661649"/>
                    </a:ext>
                  </a:extLst>
                </a:gridCol>
                <a:gridCol w="410409">
                  <a:extLst>
                    <a:ext uri="{9D8B030D-6E8A-4147-A177-3AD203B41FA5}">
                      <a16:colId xmlns:a16="http://schemas.microsoft.com/office/drawing/2014/main" val="3027041370"/>
                    </a:ext>
                  </a:extLst>
                </a:gridCol>
                <a:gridCol w="244449">
                  <a:extLst>
                    <a:ext uri="{9D8B030D-6E8A-4147-A177-3AD203B41FA5}">
                      <a16:colId xmlns:a16="http://schemas.microsoft.com/office/drawing/2014/main" val="2852526216"/>
                    </a:ext>
                  </a:extLst>
                </a:gridCol>
                <a:gridCol w="244449">
                  <a:extLst>
                    <a:ext uri="{9D8B030D-6E8A-4147-A177-3AD203B41FA5}">
                      <a16:colId xmlns:a16="http://schemas.microsoft.com/office/drawing/2014/main" val="103420222"/>
                    </a:ext>
                  </a:extLst>
                </a:gridCol>
                <a:gridCol w="244449">
                  <a:extLst>
                    <a:ext uri="{9D8B030D-6E8A-4147-A177-3AD203B41FA5}">
                      <a16:colId xmlns:a16="http://schemas.microsoft.com/office/drawing/2014/main" val="1470405609"/>
                    </a:ext>
                  </a:extLst>
                </a:gridCol>
                <a:gridCol w="53576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TEST_EN</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DDIO_DIS</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TEST_ANA_EN[1:0]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PWM_FULL_O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MCLK32_O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VREF_O</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ADDR_EXT</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6" name="TextBox 5">
            <a:extLst>
              <a:ext uri="{FF2B5EF4-FFF2-40B4-BE49-F238E27FC236}">
                <a16:creationId xmlns:a16="http://schemas.microsoft.com/office/drawing/2014/main" id="{FE200622-9050-41C4-8638-182ADF00F93C}"/>
              </a:ext>
            </a:extLst>
          </p:cNvPr>
          <p:cNvSpPr txBox="1"/>
          <p:nvPr/>
        </p:nvSpPr>
        <p:spPr>
          <a:xfrm>
            <a:off x="395873" y="5681756"/>
            <a:ext cx="605192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ACCESS</a:t>
            </a:r>
          </a:p>
        </p:txBody>
      </p:sp>
      <p:graphicFrame>
        <p:nvGraphicFramePr>
          <p:cNvPr id="8" name="표 7">
            <a:extLst>
              <a:ext uri="{FF2B5EF4-FFF2-40B4-BE49-F238E27FC236}">
                <a16:creationId xmlns:a16="http://schemas.microsoft.com/office/drawing/2014/main" id="{DD26270D-524D-4591-5E24-7407D04B32FA}"/>
              </a:ext>
            </a:extLst>
          </p:cNvPr>
          <p:cNvGraphicFramePr>
            <a:graphicFrameLocks noGrp="1"/>
          </p:cNvGraphicFramePr>
          <p:nvPr>
            <p:extLst>
              <p:ext uri="{D42A27DB-BD31-4B8C-83A1-F6EECF244321}">
                <p14:modId xmlns:p14="http://schemas.microsoft.com/office/powerpoint/2010/main" val="2781841914"/>
              </p:ext>
            </p:extLst>
          </p:nvPr>
        </p:nvGraphicFramePr>
        <p:xfrm>
          <a:off x="404813" y="7148051"/>
          <a:ext cx="6038247" cy="372600"/>
        </p:xfrm>
        <a:graphic>
          <a:graphicData uri="http://schemas.openxmlformats.org/drawingml/2006/table">
            <a:tbl>
              <a:tblPr firstRow="1" bandRow="1">
                <a:tableStyleId>{5C22544A-7EE6-4342-B048-85BDC9FD1C3A}</a:tableStyleId>
              </a:tblPr>
              <a:tblGrid>
                <a:gridCol w="334389">
                  <a:extLst>
                    <a:ext uri="{9D8B030D-6E8A-4147-A177-3AD203B41FA5}">
                      <a16:colId xmlns:a16="http://schemas.microsoft.com/office/drawing/2014/main" val="657570846"/>
                    </a:ext>
                  </a:extLst>
                </a:gridCol>
                <a:gridCol w="354228">
                  <a:extLst>
                    <a:ext uri="{9D8B030D-6E8A-4147-A177-3AD203B41FA5}">
                      <a16:colId xmlns:a16="http://schemas.microsoft.com/office/drawing/2014/main" val="3259894497"/>
                    </a:ext>
                  </a:extLst>
                </a:gridCol>
                <a:gridCol w="464161">
                  <a:extLst>
                    <a:ext uri="{9D8B030D-6E8A-4147-A177-3AD203B41FA5}">
                      <a16:colId xmlns:a16="http://schemas.microsoft.com/office/drawing/2014/main" val="4170535043"/>
                    </a:ext>
                  </a:extLst>
                </a:gridCol>
                <a:gridCol w="423445">
                  <a:extLst>
                    <a:ext uri="{9D8B030D-6E8A-4147-A177-3AD203B41FA5}">
                      <a16:colId xmlns:a16="http://schemas.microsoft.com/office/drawing/2014/main" val="2079070694"/>
                    </a:ext>
                  </a:extLst>
                </a:gridCol>
                <a:gridCol w="407160">
                  <a:extLst>
                    <a:ext uri="{9D8B030D-6E8A-4147-A177-3AD203B41FA5}">
                      <a16:colId xmlns:a16="http://schemas.microsoft.com/office/drawing/2014/main" val="4213315911"/>
                    </a:ext>
                  </a:extLst>
                </a:gridCol>
                <a:gridCol w="415302">
                  <a:extLst>
                    <a:ext uri="{9D8B030D-6E8A-4147-A177-3AD203B41FA5}">
                      <a16:colId xmlns:a16="http://schemas.microsoft.com/office/drawing/2014/main" val="2769999950"/>
                    </a:ext>
                  </a:extLst>
                </a:gridCol>
                <a:gridCol w="411231">
                  <a:extLst>
                    <a:ext uri="{9D8B030D-6E8A-4147-A177-3AD203B41FA5}">
                      <a16:colId xmlns:a16="http://schemas.microsoft.com/office/drawing/2014/main" val="135637185"/>
                    </a:ext>
                  </a:extLst>
                </a:gridCol>
                <a:gridCol w="411230">
                  <a:extLst>
                    <a:ext uri="{9D8B030D-6E8A-4147-A177-3AD203B41FA5}">
                      <a16:colId xmlns:a16="http://schemas.microsoft.com/office/drawing/2014/main" val="3038050475"/>
                    </a:ext>
                  </a:extLst>
                </a:gridCol>
                <a:gridCol w="411230">
                  <a:extLst>
                    <a:ext uri="{9D8B030D-6E8A-4147-A177-3AD203B41FA5}">
                      <a16:colId xmlns:a16="http://schemas.microsoft.com/office/drawing/2014/main" val="1979433044"/>
                    </a:ext>
                  </a:extLst>
                </a:gridCol>
                <a:gridCol w="415303">
                  <a:extLst>
                    <a:ext uri="{9D8B030D-6E8A-4147-A177-3AD203B41FA5}">
                      <a16:colId xmlns:a16="http://schemas.microsoft.com/office/drawing/2014/main" val="4270661649"/>
                    </a:ext>
                  </a:extLst>
                </a:gridCol>
                <a:gridCol w="397996">
                  <a:extLst>
                    <a:ext uri="{9D8B030D-6E8A-4147-A177-3AD203B41FA5}">
                      <a16:colId xmlns:a16="http://schemas.microsoft.com/office/drawing/2014/main" val="3027041370"/>
                    </a:ext>
                  </a:extLst>
                </a:gridCol>
                <a:gridCol w="398143">
                  <a:extLst>
                    <a:ext uri="{9D8B030D-6E8A-4147-A177-3AD203B41FA5}">
                      <a16:colId xmlns:a16="http://schemas.microsoft.com/office/drawing/2014/main" val="2852526216"/>
                    </a:ext>
                  </a:extLst>
                </a:gridCol>
                <a:gridCol w="398143">
                  <a:extLst>
                    <a:ext uri="{9D8B030D-6E8A-4147-A177-3AD203B41FA5}">
                      <a16:colId xmlns:a16="http://schemas.microsoft.com/office/drawing/2014/main" val="103420222"/>
                    </a:ext>
                  </a:extLst>
                </a:gridCol>
                <a:gridCol w="398143">
                  <a:extLst>
                    <a:ext uri="{9D8B030D-6E8A-4147-A177-3AD203B41FA5}">
                      <a16:colId xmlns:a16="http://schemas.microsoft.com/office/drawing/2014/main" val="1470405609"/>
                    </a:ext>
                  </a:extLst>
                </a:gridCol>
                <a:gridCol w="398143">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OTP_WSEL [3:0]</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SHORT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OPEN</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FB</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9" name="TextBox 8">
            <a:extLst>
              <a:ext uri="{FF2B5EF4-FFF2-40B4-BE49-F238E27FC236}">
                <a16:creationId xmlns:a16="http://schemas.microsoft.com/office/drawing/2014/main" id="{CAA62088-3B7C-61A3-6F91-9B214CE79E50}"/>
              </a:ext>
            </a:extLst>
          </p:cNvPr>
          <p:cNvSpPr txBox="1"/>
          <p:nvPr/>
        </p:nvSpPr>
        <p:spPr>
          <a:xfrm>
            <a:off x="404813" y="6884965"/>
            <a:ext cx="603824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WRITE</a:t>
            </a:r>
          </a:p>
        </p:txBody>
      </p:sp>
      <p:sp>
        <p:nvSpPr>
          <p:cNvPr id="10" name="TextBox 9">
            <a:extLst>
              <a:ext uri="{FF2B5EF4-FFF2-40B4-BE49-F238E27FC236}">
                <a16:creationId xmlns:a16="http://schemas.microsoft.com/office/drawing/2014/main" id="{C25AC4EC-04E2-6187-D17D-61FD290A9822}"/>
              </a:ext>
            </a:extLst>
          </p:cNvPr>
          <p:cNvSpPr txBox="1"/>
          <p:nvPr/>
        </p:nvSpPr>
        <p:spPr>
          <a:xfrm>
            <a:off x="395876" y="7605929"/>
            <a:ext cx="6048656"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RD/PROG</a:t>
            </a:r>
          </a:p>
        </p:txBody>
      </p:sp>
      <p:sp>
        <p:nvSpPr>
          <p:cNvPr id="11" name="TextBox 10">
            <a:extLst>
              <a:ext uri="{FF2B5EF4-FFF2-40B4-BE49-F238E27FC236}">
                <a16:creationId xmlns:a16="http://schemas.microsoft.com/office/drawing/2014/main" id="{8F8E669F-B977-6C3D-AE98-3ECA6BC8CC44}"/>
              </a:ext>
            </a:extLst>
          </p:cNvPr>
          <p:cNvSpPr txBox="1"/>
          <p:nvPr/>
        </p:nvSpPr>
        <p:spPr>
          <a:xfrm>
            <a:off x="395876" y="8309360"/>
            <a:ext cx="603967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PROTECT</a:t>
            </a:r>
          </a:p>
        </p:txBody>
      </p:sp>
      <p:graphicFrame>
        <p:nvGraphicFramePr>
          <p:cNvPr id="12" name="표 11">
            <a:extLst>
              <a:ext uri="{FF2B5EF4-FFF2-40B4-BE49-F238E27FC236}">
                <a16:creationId xmlns:a16="http://schemas.microsoft.com/office/drawing/2014/main" id="{C8DB8188-5E87-3C58-2F91-C9DF85D1E33C}"/>
              </a:ext>
            </a:extLst>
          </p:cNvPr>
          <p:cNvGraphicFramePr>
            <a:graphicFrameLocks noGrp="1"/>
          </p:cNvGraphicFramePr>
          <p:nvPr>
            <p:extLst>
              <p:ext uri="{D42A27DB-BD31-4B8C-83A1-F6EECF244321}">
                <p14:modId xmlns:p14="http://schemas.microsoft.com/office/powerpoint/2010/main" val="2033894346"/>
              </p:ext>
            </p:extLst>
          </p:nvPr>
        </p:nvGraphicFramePr>
        <p:xfrm>
          <a:off x="399529" y="8575976"/>
          <a:ext cx="6043535" cy="372600"/>
        </p:xfrm>
        <a:graphic>
          <a:graphicData uri="http://schemas.openxmlformats.org/drawingml/2006/table">
            <a:tbl>
              <a:tblPr firstRow="1" bandRow="1">
                <a:tableStyleId>{5C22544A-7EE6-4342-B048-85BDC9FD1C3A}</a:tableStyleId>
              </a:tblPr>
              <a:tblGrid>
                <a:gridCol w="351093">
                  <a:extLst>
                    <a:ext uri="{9D8B030D-6E8A-4147-A177-3AD203B41FA5}">
                      <a16:colId xmlns:a16="http://schemas.microsoft.com/office/drawing/2014/main" val="657570846"/>
                    </a:ext>
                  </a:extLst>
                </a:gridCol>
                <a:gridCol w="386041">
                  <a:extLst>
                    <a:ext uri="{9D8B030D-6E8A-4147-A177-3AD203B41FA5}">
                      <a16:colId xmlns:a16="http://schemas.microsoft.com/office/drawing/2014/main" val="3259894497"/>
                    </a:ext>
                  </a:extLst>
                </a:gridCol>
                <a:gridCol w="453697">
                  <a:extLst>
                    <a:ext uri="{9D8B030D-6E8A-4147-A177-3AD203B41FA5}">
                      <a16:colId xmlns:a16="http://schemas.microsoft.com/office/drawing/2014/main" val="4170535043"/>
                    </a:ext>
                  </a:extLst>
                </a:gridCol>
                <a:gridCol w="404392">
                  <a:extLst>
                    <a:ext uri="{9D8B030D-6E8A-4147-A177-3AD203B41FA5}">
                      <a16:colId xmlns:a16="http://schemas.microsoft.com/office/drawing/2014/main" val="2079070694"/>
                    </a:ext>
                  </a:extLst>
                </a:gridCol>
                <a:gridCol w="404392">
                  <a:extLst>
                    <a:ext uri="{9D8B030D-6E8A-4147-A177-3AD203B41FA5}">
                      <a16:colId xmlns:a16="http://schemas.microsoft.com/office/drawing/2014/main" val="4213315911"/>
                    </a:ext>
                  </a:extLst>
                </a:gridCol>
                <a:gridCol w="404392">
                  <a:extLst>
                    <a:ext uri="{9D8B030D-6E8A-4147-A177-3AD203B41FA5}">
                      <a16:colId xmlns:a16="http://schemas.microsoft.com/office/drawing/2014/main" val="2769999950"/>
                    </a:ext>
                  </a:extLst>
                </a:gridCol>
                <a:gridCol w="404392">
                  <a:extLst>
                    <a:ext uri="{9D8B030D-6E8A-4147-A177-3AD203B41FA5}">
                      <a16:colId xmlns:a16="http://schemas.microsoft.com/office/drawing/2014/main" val="135637185"/>
                    </a:ext>
                  </a:extLst>
                </a:gridCol>
                <a:gridCol w="404392">
                  <a:extLst>
                    <a:ext uri="{9D8B030D-6E8A-4147-A177-3AD203B41FA5}">
                      <a16:colId xmlns:a16="http://schemas.microsoft.com/office/drawing/2014/main" val="3038050475"/>
                    </a:ext>
                  </a:extLst>
                </a:gridCol>
                <a:gridCol w="404392">
                  <a:extLst>
                    <a:ext uri="{9D8B030D-6E8A-4147-A177-3AD203B41FA5}">
                      <a16:colId xmlns:a16="http://schemas.microsoft.com/office/drawing/2014/main" val="1979433044"/>
                    </a:ext>
                  </a:extLst>
                </a:gridCol>
                <a:gridCol w="404392">
                  <a:extLst>
                    <a:ext uri="{9D8B030D-6E8A-4147-A177-3AD203B41FA5}">
                      <a16:colId xmlns:a16="http://schemas.microsoft.com/office/drawing/2014/main" val="4270661649"/>
                    </a:ext>
                  </a:extLst>
                </a:gridCol>
                <a:gridCol w="404392">
                  <a:extLst>
                    <a:ext uri="{9D8B030D-6E8A-4147-A177-3AD203B41FA5}">
                      <a16:colId xmlns:a16="http://schemas.microsoft.com/office/drawing/2014/main" val="3027041370"/>
                    </a:ext>
                  </a:extLst>
                </a:gridCol>
                <a:gridCol w="404392">
                  <a:extLst>
                    <a:ext uri="{9D8B030D-6E8A-4147-A177-3AD203B41FA5}">
                      <a16:colId xmlns:a16="http://schemas.microsoft.com/office/drawing/2014/main" val="2852526216"/>
                    </a:ext>
                  </a:extLst>
                </a:gridCol>
                <a:gridCol w="404392">
                  <a:extLst>
                    <a:ext uri="{9D8B030D-6E8A-4147-A177-3AD203B41FA5}">
                      <a16:colId xmlns:a16="http://schemas.microsoft.com/office/drawing/2014/main" val="103420222"/>
                    </a:ext>
                  </a:extLst>
                </a:gridCol>
                <a:gridCol w="404392">
                  <a:extLst>
                    <a:ext uri="{9D8B030D-6E8A-4147-A177-3AD203B41FA5}">
                      <a16:colId xmlns:a16="http://schemas.microsoft.com/office/drawing/2014/main" val="1470405609"/>
                    </a:ext>
                  </a:extLst>
                </a:gridCol>
                <a:gridCol w="40439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0x5A5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               PROTECT_EN/DIS [11:0]        </a:t>
                      </a:r>
                      <a:r>
                        <a:rPr lang="en-US" altLang="ko-KR" sz="700" b="0" kern="1200" dirty="0">
                          <a:solidFill>
                            <a:schemeClr val="tx1"/>
                          </a:solidFill>
                          <a:latin typeface="Microsoft GothicNeo" panose="020B0500000101010101" pitchFamily="50" charset="-127"/>
                          <a:ea typeface="Microsoft GothicNeo" panose="020B0500000101010101" pitchFamily="50" charset="-127"/>
                          <a:cs typeface="Microsoft GothicNeo" panose="020B0500000101010101" pitchFamily="50" charset="-127"/>
                        </a:rPr>
                        <a:t>※ </a:t>
                      </a:r>
                      <a:r>
                        <a:rPr lang="en-US" altLang="ko-KR" sz="700" b="0" kern="1200" dirty="0">
                          <a:solidFill>
                            <a:schemeClr val="tx1"/>
                          </a:solidFill>
                          <a:latin typeface="Arial" panose="020B0604020202020204" pitchFamily="34" charset="0"/>
                          <a:ea typeface="+mn-ea"/>
                          <a:cs typeface="Arial" panose="020B0604020202020204" pitchFamily="34" charset="0"/>
                        </a:rPr>
                        <a:t>enable (0x5A5), disable (0xA5A), need to disable for writing</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5" name="표 14">
            <a:extLst>
              <a:ext uri="{FF2B5EF4-FFF2-40B4-BE49-F238E27FC236}">
                <a16:creationId xmlns:a16="http://schemas.microsoft.com/office/drawing/2014/main" id="{3FB2E07B-8A35-9634-EC35-7F4DFB8BC2A3}"/>
              </a:ext>
            </a:extLst>
          </p:cNvPr>
          <p:cNvGraphicFramePr>
            <a:graphicFrameLocks noGrp="1"/>
          </p:cNvGraphicFramePr>
          <p:nvPr>
            <p:extLst>
              <p:ext uri="{D42A27DB-BD31-4B8C-83A1-F6EECF244321}">
                <p14:modId xmlns:p14="http://schemas.microsoft.com/office/powerpoint/2010/main" val="1474922628"/>
              </p:ext>
            </p:extLst>
          </p:nvPr>
        </p:nvGraphicFramePr>
        <p:xfrm>
          <a:off x="395877" y="6400190"/>
          <a:ext cx="6047183" cy="372600"/>
        </p:xfrm>
        <a:graphic>
          <a:graphicData uri="http://schemas.openxmlformats.org/drawingml/2006/table">
            <a:tbl>
              <a:tblPr firstRow="1" bandRow="1">
                <a:tableStyleId>{5C22544A-7EE6-4342-B048-85BDC9FD1C3A}</a:tableStyleId>
              </a:tblPr>
              <a:tblGrid>
                <a:gridCol w="344569">
                  <a:extLst>
                    <a:ext uri="{9D8B030D-6E8A-4147-A177-3AD203B41FA5}">
                      <a16:colId xmlns:a16="http://schemas.microsoft.com/office/drawing/2014/main" val="657570846"/>
                    </a:ext>
                  </a:extLst>
                </a:gridCol>
                <a:gridCol w="352237">
                  <a:extLst>
                    <a:ext uri="{9D8B030D-6E8A-4147-A177-3AD203B41FA5}">
                      <a16:colId xmlns:a16="http://schemas.microsoft.com/office/drawing/2014/main" val="3259894497"/>
                    </a:ext>
                  </a:extLst>
                </a:gridCol>
                <a:gridCol w="466920">
                  <a:extLst>
                    <a:ext uri="{9D8B030D-6E8A-4147-A177-3AD203B41FA5}">
                      <a16:colId xmlns:a16="http://schemas.microsoft.com/office/drawing/2014/main" val="4170535043"/>
                    </a:ext>
                  </a:extLst>
                </a:gridCol>
                <a:gridCol w="370523">
                  <a:extLst>
                    <a:ext uri="{9D8B030D-6E8A-4147-A177-3AD203B41FA5}">
                      <a16:colId xmlns:a16="http://schemas.microsoft.com/office/drawing/2014/main" val="2079070694"/>
                    </a:ext>
                  </a:extLst>
                </a:gridCol>
                <a:gridCol w="503791">
                  <a:extLst>
                    <a:ext uri="{9D8B030D-6E8A-4147-A177-3AD203B41FA5}">
                      <a16:colId xmlns:a16="http://schemas.microsoft.com/office/drawing/2014/main" val="4213315911"/>
                    </a:ext>
                  </a:extLst>
                </a:gridCol>
                <a:gridCol w="402101">
                  <a:extLst>
                    <a:ext uri="{9D8B030D-6E8A-4147-A177-3AD203B41FA5}">
                      <a16:colId xmlns:a16="http://schemas.microsoft.com/office/drawing/2014/main" val="2769999950"/>
                    </a:ext>
                  </a:extLst>
                </a:gridCol>
                <a:gridCol w="402101">
                  <a:extLst>
                    <a:ext uri="{9D8B030D-6E8A-4147-A177-3AD203B41FA5}">
                      <a16:colId xmlns:a16="http://schemas.microsoft.com/office/drawing/2014/main" val="135637185"/>
                    </a:ext>
                  </a:extLst>
                </a:gridCol>
                <a:gridCol w="402101">
                  <a:extLst>
                    <a:ext uri="{9D8B030D-6E8A-4147-A177-3AD203B41FA5}">
                      <a16:colId xmlns:a16="http://schemas.microsoft.com/office/drawing/2014/main" val="3038050475"/>
                    </a:ext>
                  </a:extLst>
                </a:gridCol>
                <a:gridCol w="402101">
                  <a:extLst>
                    <a:ext uri="{9D8B030D-6E8A-4147-A177-3AD203B41FA5}">
                      <a16:colId xmlns:a16="http://schemas.microsoft.com/office/drawing/2014/main" val="1979433044"/>
                    </a:ext>
                  </a:extLst>
                </a:gridCol>
                <a:gridCol w="402101">
                  <a:extLst>
                    <a:ext uri="{9D8B030D-6E8A-4147-A177-3AD203B41FA5}">
                      <a16:colId xmlns:a16="http://schemas.microsoft.com/office/drawing/2014/main" val="4270661649"/>
                    </a:ext>
                  </a:extLst>
                </a:gridCol>
                <a:gridCol w="402101">
                  <a:extLst>
                    <a:ext uri="{9D8B030D-6E8A-4147-A177-3AD203B41FA5}">
                      <a16:colId xmlns:a16="http://schemas.microsoft.com/office/drawing/2014/main" val="3027041370"/>
                    </a:ext>
                  </a:extLst>
                </a:gridCol>
                <a:gridCol w="402101">
                  <a:extLst>
                    <a:ext uri="{9D8B030D-6E8A-4147-A177-3AD203B41FA5}">
                      <a16:colId xmlns:a16="http://schemas.microsoft.com/office/drawing/2014/main" val="2852526216"/>
                    </a:ext>
                  </a:extLst>
                </a:gridCol>
                <a:gridCol w="402101">
                  <a:extLst>
                    <a:ext uri="{9D8B030D-6E8A-4147-A177-3AD203B41FA5}">
                      <a16:colId xmlns:a16="http://schemas.microsoft.com/office/drawing/2014/main" val="103420222"/>
                    </a:ext>
                  </a:extLst>
                </a:gridCol>
                <a:gridCol w="402101">
                  <a:extLst>
                    <a:ext uri="{9D8B030D-6E8A-4147-A177-3AD203B41FA5}">
                      <a16:colId xmlns:a16="http://schemas.microsoft.com/office/drawing/2014/main" val="1470405609"/>
                    </a:ext>
                  </a:extLst>
                </a:gridCol>
                <a:gridCol w="3902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0x3FF</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1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[11:0]</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rtl="0" fontAlgn="ctr"/>
                      <a:r>
                        <a:rPr lang="en-US" sz="700" b="0" i="0" u="none" strike="noStrike" dirty="0">
                          <a:solidFill>
                            <a:schemeClr val="tx1"/>
                          </a:solidFill>
                          <a:effectLst/>
                          <a:latin typeface="Arial" panose="020B0604020202020204" pitchFamily="34" charset="0"/>
                          <a:ea typeface="맑은 고딕" panose="020B0503020000020004" pitchFamily="50" charset="-127"/>
                          <a:cs typeface="Arial" panose="020B0604020202020204" pitchFamily="34" charset="0"/>
                        </a:rPr>
                        <a:t>x</a:t>
                      </a: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i="0" u="none" strike="noStrike" dirty="0">
                          <a:solidFill>
                            <a:schemeClr val="tx1"/>
                          </a:solidFill>
                          <a:effectLst/>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I</a:t>
                      </a:r>
                      <a:r>
                        <a:rPr lang="en-US" altLang="ko-KR" sz="700" b="0" baseline="-25000" dirty="0">
                          <a:solidFill>
                            <a:schemeClr val="tx1"/>
                          </a:solidFill>
                          <a:latin typeface="Arial" panose="020B0604020202020204" pitchFamily="34" charset="0"/>
                          <a:cs typeface="Arial" panose="020B0604020202020204" pitchFamily="34" charset="0"/>
                        </a:rPr>
                        <a:t>D </a:t>
                      </a:r>
                      <a:r>
                        <a:rPr lang="en-US" altLang="ko-KR" sz="700" b="0" baseline="0" dirty="0">
                          <a:solidFill>
                            <a:schemeClr val="tx1"/>
                          </a:solidFill>
                          <a:latin typeface="Arial" panose="020B0604020202020204" pitchFamily="34" charset="0"/>
                          <a:cs typeface="Arial" panose="020B0604020202020204" pitchFamily="34" charset="0"/>
                        </a:rPr>
                        <a:t>[4:0]</a:t>
                      </a:r>
                      <a:endParaRPr lang="ko-KR" altLang="en-US" sz="700" b="0" baseline="-2500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x</a:t>
                      </a:r>
                      <a:endPar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x</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RST2</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RST1</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7" name="표 16">
            <a:extLst>
              <a:ext uri="{FF2B5EF4-FFF2-40B4-BE49-F238E27FC236}">
                <a16:creationId xmlns:a16="http://schemas.microsoft.com/office/drawing/2014/main" id="{C2E32EE1-41A0-F1A4-C4AF-B9646E83D047}"/>
              </a:ext>
            </a:extLst>
          </p:cNvPr>
          <p:cNvGraphicFramePr>
            <a:graphicFrameLocks noGrp="1"/>
          </p:cNvGraphicFramePr>
          <p:nvPr>
            <p:extLst>
              <p:ext uri="{D42A27DB-BD31-4B8C-83A1-F6EECF244321}">
                <p14:modId xmlns:p14="http://schemas.microsoft.com/office/powerpoint/2010/main" val="3413123326"/>
              </p:ext>
            </p:extLst>
          </p:nvPr>
        </p:nvGraphicFramePr>
        <p:xfrm>
          <a:off x="395877" y="5953286"/>
          <a:ext cx="6051922" cy="372600"/>
        </p:xfrm>
        <a:graphic>
          <a:graphicData uri="http://schemas.openxmlformats.org/drawingml/2006/table">
            <a:tbl>
              <a:tblPr firstRow="1" bandRow="1">
                <a:tableStyleId>{5C22544A-7EE6-4342-B048-85BDC9FD1C3A}</a:tableStyleId>
              </a:tblPr>
              <a:tblGrid>
                <a:gridCol w="345805">
                  <a:extLst>
                    <a:ext uri="{9D8B030D-6E8A-4147-A177-3AD203B41FA5}">
                      <a16:colId xmlns:a16="http://schemas.microsoft.com/office/drawing/2014/main" val="657570846"/>
                    </a:ext>
                  </a:extLst>
                </a:gridCol>
                <a:gridCol w="358218">
                  <a:extLst>
                    <a:ext uri="{9D8B030D-6E8A-4147-A177-3AD203B41FA5}">
                      <a16:colId xmlns:a16="http://schemas.microsoft.com/office/drawing/2014/main" val="3259894497"/>
                    </a:ext>
                  </a:extLst>
                </a:gridCol>
                <a:gridCol w="466253">
                  <a:extLst>
                    <a:ext uri="{9D8B030D-6E8A-4147-A177-3AD203B41FA5}">
                      <a16:colId xmlns:a16="http://schemas.microsoft.com/office/drawing/2014/main" val="4170535043"/>
                    </a:ext>
                  </a:extLst>
                </a:gridCol>
                <a:gridCol w="327847">
                  <a:extLst>
                    <a:ext uri="{9D8B030D-6E8A-4147-A177-3AD203B41FA5}">
                      <a16:colId xmlns:a16="http://schemas.microsoft.com/office/drawing/2014/main" val="2079070694"/>
                    </a:ext>
                  </a:extLst>
                </a:gridCol>
                <a:gridCol w="418981">
                  <a:extLst>
                    <a:ext uri="{9D8B030D-6E8A-4147-A177-3AD203B41FA5}">
                      <a16:colId xmlns:a16="http://schemas.microsoft.com/office/drawing/2014/main" val="4213315911"/>
                    </a:ext>
                  </a:extLst>
                </a:gridCol>
                <a:gridCol w="334413">
                  <a:extLst>
                    <a:ext uri="{9D8B030D-6E8A-4147-A177-3AD203B41FA5}">
                      <a16:colId xmlns:a16="http://schemas.microsoft.com/office/drawing/2014/main" val="2769999950"/>
                    </a:ext>
                  </a:extLst>
                </a:gridCol>
                <a:gridCol w="334413">
                  <a:extLst>
                    <a:ext uri="{9D8B030D-6E8A-4147-A177-3AD203B41FA5}">
                      <a16:colId xmlns:a16="http://schemas.microsoft.com/office/drawing/2014/main" val="135637185"/>
                    </a:ext>
                  </a:extLst>
                </a:gridCol>
                <a:gridCol w="334413">
                  <a:extLst>
                    <a:ext uri="{9D8B030D-6E8A-4147-A177-3AD203B41FA5}">
                      <a16:colId xmlns:a16="http://schemas.microsoft.com/office/drawing/2014/main" val="3038050475"/>
                    </a:ext>
                  </a:extLst>
                </a:gridCol>
                <a:gridCol w="334413">
                  <a:extLst>
                    <a:ext uri="{9D8B030D-6E8A-4147-A177-3AD203B41FA5}">
                      <a16:colId xmlns:a16="http://schemas.microsoft.com/office/drawing/2014/main" val="1979433044"/>
                    </a:ext>
                  </a:extLst>
                </a:gridCol>
                <a:gridCol w="334413">
                  <a:extLst>
                    <a:ext uri="{9D8B030D-6E8A-4147-A177-3AD203B41FA5}">
                      <a16:colId xmlns:a16="http://schemas.microsoft.com/office/drawing/2014/main" val="4270661649"/>
                    </a:ext>
                  </a:extLst>
                </a:gridCol>
                <a:gridCol w="334413">
                  <a:extLst>
                    <a:ext uri="{9D8B030D-6E8A-4147-A177-3AD203B41FA5}">
                      <a16:colId xmlns:a16="http://schemas.microsoft.com/office/drawing/2014/main" val="3027041370"/>
                    </a:ext>
                  </a:extLst>
                </a:gridCol>
                <a:gridCol w="517570">
                  <a:extLst>
                    <a:ext uri="{9D8B030D-6E8A-4147-A177-3AD203B41FA5}">
                      <a16:colId xmlns:a16="http://schemas.microsoft.com/office/drawing/2014/main" val="2852526216"/>
                    </a:ext>
                  </a:extLst>
                </a:gridCol>
                <a:gridCol w="517570">
                  <a:extLst>
                    <a:ext uri="{9D8B030D-6E8A-4147-A177-3AD203B41FA5}">
                      <a16:colId xmlns:a16="http://schemas.microsoft.com/office/drawing/2014/main" val="103420222"/>
                    </a:ext>
                  </a:extLst>
                </a:gridCol>
                <a:gridCol w="517570">
                  <a:extLst>
                    <a:ext uri="{9D8B030D-6E8A-4147-A177-3AD203B41FA5}">
                      <a16:colId xmlns:a16="http://schemas.microsoft.com/office/drawing/2014/main" val="1470405609"/>
                    </a:ext>
                  </a:extLst>
                </a:gridCol>
                <a:gridCol w="575630">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0x3A</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kern="1200" dirty="0">
                          <a:solidFill>
                            <a:schemeClr val="tx1"/>
                          </a:solidFill>
                          <a:latin typeface="Arial" panose="020B0604020202020204" pitchFamily="34" charset="0"/>
                          <a:ea typeface="+mn-ea"/>
                          <a:cs typeface="Arial" panose="020B0604020202020204" pitchFamily="34" charset="0"/>
                        </a:rPr>
                        <a:t>OTP_PG_ACCESS_CYCLE [15:12]</a:t>
                      </a:r>
                      <a:endParaRPr lang="ko-KR" altLang="en-US" sz="700" b="0" kern="120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18" name="표 17">
            <a:extLst>
              <a:ext uri="{FF2B5EF4-FFF2-40B4-BE49-F238E27FC236}">
                <a16:creationId xmlns:a16="http://schemas.microsoft.com/office/drawing/2014/main" id="{A4DCF2F0-4E45-A2B4-C39A-6FFD33B76B37}"/>
              </a:ext>
            </a:extLst>
          </p:cNvPr>
          <p:cNvGraphicFramePr>
            <a:graphicFrameLocks noGrp="1"/>
          </p:cNvGraphicFramePr>
          <p:nvPr>
            <p:extLst>
              <p:ext uri="{D42A27DB-BD31-4B8C-83A1-F6EECF244321}">
                <p14:modId xmlns:p14="http://schemas.microsoft.com/office/powerpoint/2010/main" val="90753621"/>
              </p:ext>
            </p:extLst>
          </p:nvPr>
        </p:nvGraphicFramePr>
        <p:xfrm>
          <a:off x="399529" y="7871117"/>
          <a:ext cx="6043532" cy="372600"/>
        </p:xfrm>
        <a:graphic>
          <a:graphicData uri="http://schemas.openxmlformats.org/drawingml/2006/table">
            <a:tbl>
              <a:tblPr firstRow="1" bandRow="1">
                <a:tableStyleId>{5C22544A-7EE6-4342-B048-85BDC9FD1C3A}</a:tableStyleId>
              </a:tblPr>
              <a:tblGrid>
                <a:gridCol w="349578">
                  <a:extLst>
                    <a:ext uri="{9D8B030D-6E8A-4147-A177-3AD203B41FA5}">
                      <a16:colId xmlns:a16="http://schemas.microsoft.com/office/drawing/2014/main" val="657570846"/>
                    </a:ext>
                  </a:extLst>
                </a:gridCol>
                <a:gridCol w="341612">
                  <a:extLst>
                    <a:ext uri="{9D8B030D-6E8A-4147-A177-3AD203B41FA5}">
                      <a16:colId xmlns:a16="http://schemas.microsoft.com/office/drawing/2014/main" val="3259894497"/>
                    </a:ext>
                  </a:extLst>
                </a:gridCol>
                <a:gridCol w="468643">
                  <a:extLst>
                    <a:ext uri="{9D8B030D-6E8A-4147-A177-3AD203B41FA5}">
                      <a16:colId xmlns:a16="http://schemas.microsoft.com/office/drawing/2014/main" val="4170535043"/>
                    </a:ext>
                  </a:extLst>
                </a:gridCol>
                <a:gridCol w="327952">
                  <a:extLst>
                    <a:ext uri="{9D8B030D-6E8A-4147-A177-3AD203B41FA5}">
                      <a16:colId xmlns:a16="http://schemas.microsoft.com/office/drawing/2014/main" val="2079070694"/>
                    </a:ext>
                  </a:extLst>
                </a:gridCol>
                <a:gridCol w="293185">
                  <a:extLst>
                    <a:ext uri="{9D8B030D-6E8A-4147-A177-3AD203B41FA5}">
                      <a16:colId xmlns:a16="http://schemas.microsoft.com/office/drawing/2014/main" val="4213315911"/>
                    </a:ext>
                  </a:extLst>
                </a:gridCol>
                <a:gridCol w="278705">
                  <a:extLst>
                    <a:ext uri="{9D8B030D-6E8A-4147-A177-3AD203B41FA5}">
                      <a16:colId xmlns:a16="http://schemas.microsoft.com/office/drawing/2014/main" val="2769999950"/>
                    </a:ext>
                  </a:extLst>
                </a:gridCol>
                <a:gridCol w="278855">
                  <a:extLst>
                    <a:ext uri="{9D8B030D-6E8A-4147-A177-3AD203B41FA5}">
                      <a16:colId xmlns:a16="http://schemas.microsoft.com/office/drawing/2014/main" val="135637185"/>
                    </a:ext>
                  </a:extLst>
                </a:gridCol>
                <a:gridCol w="278855">
                  <a:extLst>
                    <a:ext uri="{9D8B030D-6E8A-4147-A177-3AD203B41FA5}">
                      <a16:colId xmlns:a16="http://schemas.microsoft.com/office/drawing/2014/main" val="3038050475"/>
                    </a:ext>
                  </a:extLst>
                </a:gridCol>
                <a:gridCol w="278855">
                  <a:extLst>
                    <a:ext uri="{9D8B030D-6E8A-4147-A177-3AD203B41FA5}">
                      <a16:colId xmlns:a16="http://schemas.microsoft.com/office/drawing/2014/main" val="1979433044"/>
                    </a:ext>
                  </a:extLst>
                </a:gridCol>
                <a:gridCol w="278855">
                  <a:extLst>
                    <a:ext uri="{9D8B030D-6E8A-4147-A177-3AD203B41FA5}">
                      <a16:colId xmlns:a16="http://schemas.microsoft.com/office/drawing/2014/main" val="4270661649"/>
                    </a:ext>
                  </a:extLst>
                </a:gridCol>
                <a:gridCol w="278855">
                  <a:extLst>
                    <a:ext uri="{9D8B030D-6E8A-4147-A177-3AD203B41FA5}">
                      <a16:colId xmlns:a16="http://schemas.microsoft.com/office/drawing/2014/main" val="3027041370"/>
                    </a:ext>
                  </a:extLst>
                </a:gridCol>
                <a:gridCol w="278855">
                  <a:extLst>
                    <a:ext uri="{9D8B030D-6E8A-4147-A177-3AD203B41FA5}">
                      <a16:colId xmlns:a16="http://schemas.microsoft.com/office/drawing/2014/main" val="2852526216"/>
                    </a:ext>
                  </a:extLst>
                </a:gridCol>
                <a:gridCol w="278855">
                  <a:extLst>
                    <a:ext uri="{9D8B030D-6E8A-4147-A177-3AD203B41FA5}">
                      <a16:colId xmlns:a16="http://schemas.microsoft.com/office/drawing/2014/main" val="103420222"/>
                    </a:ext>
                  </a:extLst>
                </a:gridCol>
                <a:gridCol w="1014921">
                  <a:extLst>
                    <a:ext uri="{9D8B030D-6E8A-4147-A177-3AD203B41FA5}">
                      <a16:colId xmlns:a16="http://schemas.microsoft.com/office/drawing/2014/main" val="1470405609"/>
                    </a:ext>
                  </a:extLst>
                </a:gridCol>
                <a:gridCol w="101695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0x3D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OTP_RD_START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latinLnBrk="1"/>
                      <a:r>
                        <a:rPr lang="en-US" altLang="ko-KR" sz="700" b="0" dirty="0">
                          <a:solidFill>
                            <a:schemeClr val="tx1"/>
                          </a:solidFill>
                          <a:latin typeface="Arial" panose="020B0604020202020204" pitchFamily="34" charset="0"/>
                          <a:cs typeface="Arial" panose="020B0604020202020204" pitchFamily="34" charset="0"/>
                        </a:rPr>
                        <a:t>OTP_PG_START</a:t>
                      </a:r>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207895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9A2885B-6E91-48F5-8F6B-6960BD3383A2}"/>
              </a:ext>
            </a:extLst>
          </p:cNvPr>
          <p:cNvSpPr txBox="1"/>
          <p:nvPr/>
        </p:nvSpPr>
        <p:spPr>
          <a:xfrm>
            <a:off x="399058" y="672784"/>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3311" y="3120787"/>
            <a:ext cx="60460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VREF CTL</a:t>
            </a:r>
          </a:p>
        </p:txBody>
      </p:sp>
      <p:sp>
        <p:nvSpPr>
          <p:cNvPr id="12" name="TextBox 11">
            <a:extLst>
              <a:ext uri="{FF2B5EF4-FFF2-40B4-BE49-F238E27FC236}">
                <a16:creationId xmlns:a16="http://schemas.microsoft.com/office/drawing/2014/main" id="{704DB72B-2006-4821-8B38-D02A5A436DB3}"/>
              </a:ext>
            </a:extLst>
          </p:cNvPr>
          <p:cNvSpPr txBox="1"/>
          <p:nvPr/>
        </p:nvSpPr>
        <p:spPr>
          <a:xfrm>
            <a:off x="395876" y="1391815"/>
            <a:ext cx="605349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OTP CRC</a:t>
            </a:r>
          </a:p>
        </p:txBody>
      </p:sp>
      <p:graphicFrame>
        <p:nvGraphicFramePr>
          <p:cNvPr id="13" name="표 12">
            <a:extLst>
              <a:ext uri="{FF2B5EF4-FFF2-40B4-BE49-F238E27FC236}">
                <a16:creationId xmlns:a16="http://schemas.microsoft.com/office/drawing/2014/main" id="{3780A594-159F-7DCD-D930-9F425E6521FB}"/>
              </a:ext>
            </a:extLst>
          </p:cNvPr>
          <p:cNvGraphicFramePr>
            <a:graphicFrameLocks noGrp="1"/>
          </p:cNvGraphicFramePr>
          <p:nvPr>
            <p:extLst>
              <p:ext uri="{D42A27DB-BD31-4B8C-83A1-F6EECF244321}">
                <p14:modId xmlns:p14="http://schemas.microsoft.com/office/powerpoint/2010/main" val="2682457150"/>
              </p:ext>
            </p:extLst>
          </p:nvPr>
        </p:nvGraphicFramePr>
        <p:xfrm>
          <a:off x="399057" y="3385561"/>
          <a:ext cx="6050312" cy="372600"/>
        </p:xfrm>
        <a:graphic>
          <a:graphicData uri="http://schemas.openxmlformats.org/drawingml/2006/table">
            <a:tbl>
              <a:tblPr firstRow="1" bandRow="1">
                <a:tableStyleId>{5C22544A-7EE6-4342-B048-85BDC9FD1C3A}</a:tableStyleId>
              </a:tblPr>
              <a:tblGrid>
                <a:gridCol w="339182">
                  <a:extLst>
                    <a:ext uri="{9D8B030D-6E8A-4147-A177-3AD203B41FA5}">
                      <a16:colId xmlns:a16="http://schemas.microsoft.com/office/drawing/2014/main" val="657570846"/>
                    </a:ext>
                  </a:extLst>
                </a:gridCol>
                <a:gridCol w="397916">
                  <a:extLst>
                    <a:ext uri="{9D8B030D-6E8A-4147-A177-3AD203B41FA5}">
                      <a16:colId xmlns:a16="http://schemas.microsoft.com/office/drawing/2014/main" val="3259894497"/>
                    </a:ext>
                  </a:extLst>
                </a:gridCol>
                <a:gridCol w="460444">
                  <a:extLst>
                    <a:ext uri="{9D8B030D-6E8A-4147-A177-3AD203B41FA5}">
                      <a16:colId xmlns:a16="http://schemas.microsoft.com/office/drawing/2014/main" val="4170535043"/>
                    </a:ext>
                  </a:extLst>
                </a:gridCol>
                <a:gridCol w="403599">
                  <a:extLst>
                    <a:ext uri="{9D8B030D-6E8A-4147-A177-3AD203B41FA5}">
                      <a16:colId xmlns:a16="http://schemas.microsoft.com/office/drawing/2014/main" val="2079070694"/>
                    </a:ext>
                  </a:extLst>
                </a:gridCol>
                <a:gridCol w="426336">
                  <a:extLst>
                    <a:ext uri="{9D8B030D-6E8A-4147-A177-3AD203B41FA5}">
                      <a16:colId xmlns:a16="http://schemas.microsoft.com/office/drawing/2014/main" val="4213315911"/>
                    </a:ext>
                  </a:extLst>
                </a:gridCol>
                <a:gridCol w="420652">
                  <a:extLst>
                    <a:ext uri="{9D8B030D-6E8A-4147-A177-3AD203B41FA5}">
                      <a16:colId xmlns:a16="http://schemas.microsoft.com/office/drawing/2014/main" val="2769999950"/>
                    </a:ext>
                  </a:extLst>
                </a:gridCol>
                <a:gridCol w="414968">
                  <a:extLst>
                    <a:ext uri="{9D8B030D-6E8A-4147-A177-3AD203B41FA5}">
                      <a16:colId xmlns:a16="http://schemas.microsoft.com/office/drawing/2014/main" val="135637185"/>
                    </a:ext>
                  </a:extLst>
                </a:gridCol>
                <a:gridCol w="420652">
                  <a:extLst>
                    <a:ext uri="{9D8B030D-6E8A-4147-A177-3AD203B41FA5}">
                      <a16:colId xmlns:a16="http://schemas.microsoft.com/office/drawing/2014/main" val="3038050475"/>
                    </a:ext>
                  </a:extLst>
                </a:gridCol>
                <a:gridCol w="414968">
                  <a:extLst>
                    <a:ext uri="{9D8B030D-6E8A-4147-A177-3AD203B41FA5}">
                      <a16:colId xmlns:a16="http://schemas.microsoft.com/office/drawing/2014/main" val="1979433044"/>
                    </a:ext>
                  </a:extLst>
                </a:gridCol>
                <a:gridCol w="393957">
                  <a:extLst>
                    <a:ext uri="{9D8B030D-6E8A-4147-A177-3AD203B41FA5}">
                      <a16:colId xmlns:a16="http://schemas.microsoft.com/office/drawing/2014/main" val="4270661649"/>
                    </a:ext>
                  </a:extLst>
                </a:gridCol>
                <a:gridCol w="423278">
                  <a:extLst>
                    <a:ext uri="{9D8B030D-6E8A-4147-A177-3AD203B41FA5}">
                      <a16:colId xmlns:a16="http://schemas.microsoft.com/office/drawing/2014/main" val="3027041370"/>
                    </a:ext>
                  </a:extLst>
                </a:gridCol>
                <a:gridCol w="423278">
                  <a:extLst>
                    <a:ext uri="{9D8B030D-6E8A-4147-A177-3AD203B41FA5}">
                      <a16:colId xmlns:a16="http://schemas.microsoft.com/office/drawing/2014/main" val="2852526216"/>
                    </a:ext>
                  </a:extLst>
                </a:gridCol>
                <a:gridCol w="423278">
                  <a:extLst>
                    <a:ext uri="{9D8B030D-6E8A-4147-A177-3AD203B41FA5}">
                      <a16:colId xmlns:a16="http://schemas.microsoft.com/office/drawing/2014/main" val="103420222"/>
                    </a:ext>
                  </a:extLst>
                </a:gridCol>
                <a:gridCol w="342442">
                  <a:extLst>
                    <a:ext uri="{9D8B030D-6E8A-4147-A177-3AD203B41FA5}">
                      <a16:colId xmlns:a16="http://schemas.microsoft.com/office/drawing/2014/main" val="1470405609"/>
                    </a:ext>
                  </a:extLst>
                </a:gridCol>
                <a:gridCol w="345362">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cs typeface="Arial" panose="020B0604020202020204" pitchFamily="34" charset="0"/>
                        </a:rPr>
                        <a:t>VREF_CTL [5:0]</a:t>
                      </a:r>
                      <a:endParaRPr lang="ko-KR" altLang="en-US" sz="700" b="0" dirty="0">
                        <a:solidFill>
                          <a:schemeClr val="tx1"/>
                        </a:solidFill>
                        <a:latin typeface="Arial" panose="020B0604020202020204" pitchFamily="34" charset="0"/>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4" name="TextBox 3">
            <a:extLst>
              <a:ext uri="{FF2B5EF4-FFF2-40B4-BE49-F238E27FC236}">
                <a16:creationId xmlns:a16="http://schemas.microsoft.com/office/drawing/2014/main" id="{78BB3975-E762-D975-1CAE-116F7C33FAA6}"/>
              </a:ext>
            </a:extLst>
          </p:cNvPr>
          <p:cNvSpPr txBox="1"/>
          <p:nvPr/>
        </p:nvSpPr>
        <p:spPr>
          <a:xfrm>
            <a:off x="397648" y="2211992"/>
            <a:ext cx="6046822"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OSC</a:t>
            </a:r>
          </a:p>
        </p:txBody>
      </p:sp>
      <p:graphicFrame>
        <p:nvGraphicFramePr>
          <p:cNvPr id="6" name="표 5">
            <a:extLst>
              <a:ext uri="{FF2B5EF4-FFF2-40B4-BE49-F238E27FC236}">
                <a16:creationId xmlns:a16="http://schemas.microsoft.com/office/drawing/2014/main" id="{E156B7AC-8C93-3DB4-C5F9-B9E4D324ADC4}"/>
              </a:ext>
            </a:extLst>
          </p:cNvPr>
          <p:cNvGraphicFramePr>
            <a:graphicFrameLocks noGrp="1"/>
          </p:cNvGraphicFramePr>
          <p:nvPr>
            <p:extLst>
              <p:ext uri="{D42A27DB-BD31-4B8C-83A1-F6EECF244321}">
                <p14:modId xmlns:p14="http://schemas.microsoft.com/office/powerpoint/2010/main" val="1177929795"/>
              </p:ext>
            </p:extLst>
          </p:nvPr>
        </p:nvGraphicFramePr>
        <p:xfrm>
          <a:off x="403311" y="2475371"/>
          <a:ext cx="6046058" cy="372600"/>
        </p:xfrm>
        <a:graphic>
          <a:graphicData uri="http://schemas.openxmlformats.org/drawingml/2006/table">
            <a:tbl>
              <a:tblPr firstRow="1" bandRow="1">
                <a:tableStyleId>{5C22544A-7EE6-4342-B048-85BDC9FD1C3A}</a:tableStyleId>
              </a:tblPr>
              <a:tblGrid>
                <a:gridCol w="351239">
                  <a:extLst>
                    <a:ext uri="{9D8B030D-6E8A-4147-A177-3AD203B41FA5}">
                      <a16:colId xmlns:a16="http://schemas.microsoft.com/office/drawing/2014/main" val="657570846"/>
                    </a:ext>
                  </a:extLst>
                </a:gridCol>
                <a:gridCol w="386201">
                  <a:extLst>
                    <a:ext uri="{9D8B030D-6E8A-4147-A177-3AD203B41FA5}">
                      <a16:colId xmlns:a16="http://schemas.microsoft.com/office/drawing/2014/main" val="3259894497"/>
                    </a:ext>
                  </a:extLst>
                </a:gridCol>
                <a:gridCol w="453886">
                  <a:extLst>
                    <a:ext uri="{9D8B030D-6E8A-4147-A177-3AD203B41FA5}">
                      <a16:colId xmlns:a16="http://schemas.microsoft.com/office/drawing/2014/main" val="4170535043"/>
                    </a:ext>
                  </a:extLst>
                </a:gridCol>
                <a:gridCol w="404561">
                  <a:extLst>
                    <a:ext uri="{9D8B030D-6E8A-4147-A177-3AD203B41FA5}">
                      <a16:colId xmlns:a16="http://schemas.microsoft.com/office/drawing/2014/main" val="2079070694"/>
                    </a:ext>
                  </a:extLst>
                </a:gridCol>
                <a:gridCol w="404561">
                  <a:extLst>
                    <a:ext uri="{9D8B030D-6E8A-4147-A177-3AD203B41FA5}">
                      <a16:colId xmlns:a16="http://schemas.microsoft.com/office/drawing/2014/main" val="4213315911"/>
                    </a:ext>
                  </a:extLst>
                </a:gridCol>
                <a:gridCol w="404561">
                  <a:extLst>
                    <a:ext uri="{9D8B030D-6E8A-4147-A177-3AD203B41FA5}">
                      <a16:colId xmlns:a16="http://schemas.microsoft.com/office/drawing/2014/main" val="2769999950"/>
                    </a:ext>
                  </a:extLst>
                </a:gridCol>
                <a:gridCol w="404561">
                  <a:extLst>
                    <a:ext uri="{9D8B030D-6E8A-4147-A177-3AD203B41FA5}">
                      <a16:colId xmlns:a16="http://schemas.microsoft.com/office/drawing/2014/main" val="135637185"/>
                    </a:ext>
                  </a:extLst>
                </a:gridCol>
                <a:gridCol w="404561">
                  <a:extLst>
                    <a:ext uri="{9D8B030D-6E8A-4147-A177-3AD203B41FA5}">
                      <a16:colId xmlns:a16="http://schemas.microsoft.com/office/drawing/2014/main" val="3038050475"/>
                    </a:ext>
                  </a:extLst>
                </a:gridCol>
                <a:gridCol w="404561">
                  <a:extLst>
                    <a:ext uri="{9D8B030D-6E8A-4147-A177-3AD203B41FA5}">
                      <a16:colId xmlns:a16="http://schemas.microsoft.com/office/drawing/2014/main" val="1979433044"/>
                    </a:ext>
                  </a:extLst>
                </a:gridCol>
                <a:gridCol w="404561">
                  <a:extLst>
                    <a:ext uri="{9D8B030D-6E8A-4147-A177-3AD203B41FA5}">
                      <a16:colId xmlns:a16="http://schemas.microsoft.com/office/drawing/2014/main" val="4270661649"/>
                    </a:ext>
                  </a:extLst>
                </a:gridCol>
                <a:gridCol w="404561">
                  <a:extLst>
                    <a:ext uri="{9D8B030D-6E8A-4147-A177-3AD203B41FA5}">
                      <a16:colId xmlns:a16="http://schemas.microsoft.com/office/drawing/2014/main" val="3027041370"/>
                    </a:ext>
                  </a:extLst>
                </a:gridCol>
                <a:gridCol w="404561">
                  <a:extLst>
                    <a:ext uri="{9D8B030D-6E8A-4147-A177-3AD203B41FA5}">
                      <a16:colId xmlns:a16="http://schemas.microsoft.com/office/drawing/2014/main" val="2852526216"/>
                    </a:ext>
                  </a:extLst>
                </a:gridCol>
                <a:gridCol w="404561">
                  <a:extLst>
                    <a:ext uri="{9D8B030D-6E8A-4147-A177-3AD203B41FA5}">
                      <a16:colId xmlns:a16="http://schemas.microsoft.com/office/drawing/2014/main" val="103420222"/>
                    </a:ext>
                  </a:extLst>
                </a:gridCol>
                <a:gridCol w="404561">
                  <a:extLst>
                    <a:ext uri="{9D8B030D-6E8A-4147-A177-3AD203B41FA5}">
                      <a16:colId xmlns:a16="http://schemas.microsoft.com/office/drawing/2014/main" val="1470405609"/>
                    </a:ext>
                  </a:extLst>
                </a:gridCol>
                <a:gridCol w="404561">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0x01</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0x020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x</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OSC [5:0]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graphicFrame>
        <p:nvGraphicFramePr>
          <p:cNvPr id="7" name="표 6">
            <a:extLst>
              <a:ext uri="{FF2B5EF4-FFF2-40B4-BE49-F238E27FC236}">
                <a16:creationId xmlns:a16="http://schemas.microsoft.com/office/drawing/2014/main" id="{C4563957-6945-7A90-55E9-08278A7599C7}"/>
              </a:ext>
            </a:extLst>
          </p:cNvPr>
          <p:cNvGraphicFramePr>
            <a:graphicFrameLocks noGrp="1"/>
          </p:cNvGraphicFramePr>
          <p:nvPr>
            <p:extLst>
              <p:ext uri="{D42A27DB-BD31-4B8C-83A1-F6EECF244321}">
                <p14:modId xmlns:p14="http://schemas.microsoft.com/office/powerpoint/2010/main" val="2313489449"/>
              </p:ext>
            </p:extLst>
          </p:nvPr>
        </p:nvGraphicFramePr>
        <p:xfrm>
          <a:off x="404813" y="1653952"/>
          <a:ext cx="6044563" cy="372600"/>
        </p:xfrm>
        <a:graphic>
          <a:graphicData uri="http://schemas.openxmlformats.org/drawingml/2006/table">
            <a:tbl>
              <a:tblPr firstRow="1" bandRow="1">
                <a:tableStyleId>{5C22544A-7EE6-4342-B048-85BDC9FD1C3A}</a:tableStyleId>
              </a:tblPr>
              <a:tblGrid>
                <a:gridCol w="338436">
                  <a:extLst>
                    <a:ext uri="{9D8B030D-6E8A-4147-A177-3AD203B41FA5}">
                      <a16:colId xmlns:a16="http://schemas.microsoft.com/office/drawing/2014/main" val="657570846"/>
                    </a:ext>
                  </a:extLst>
                </a:gridCol>
                <a:gridCol w="396048">
                  <a:extLst>
                    <a:ext uri="{9D8B030D-6E8A-4147-A177-3AD203B41FA5}">
                      <a16:colId xmlns:a16="http://schemas.microsoft.com/office/drawing/2014/main" val="3259894497"/>
                    </a:ext>
                  </a:extLst>
                </a:gridCol>
                <a:gridCol w="460603">
                  <a:extLst>
                    <a:ext uri="{9D8B030D-6E8A-4147-A177-3AD203B41FA5}">
                      <a16:colId xmlns:a16="http://schemas.microsoft.com/office/drawing/2014/main" val="4170535043"/>
                    </a:ext>
                  </a:extLst>
                </a:gridCol>
                <a:gridCol w="475729">
                  <a:extLst>
                    <a:ext uri="{9D8B030D-6E8A-4147-A177-3AD203B41FA5}">
                      <a16:colId xmlns:a16="http://schemas.microsoft.com/office/drawing/2014/main" val="2079070694"/>
                    </a:ext>
                  </a:extLst>
                </a:gridCol>
                <a:gridCol w="418290">
                  <a:extLst>
                    <a:ext uri="{9D8B030D-6E8A-4147-A177-3AD203B41FA5}">
                      <a16:colId xmlns:a16="http://schemas.microsoft.com/office/drawing/2014/main" val="4213315911"/>
                    </a:ext>
                  </a:extLst>
                </a:gridCol>
                <a:gridCol w="397189">
                  <a:extLst>
                    <a:ext uri="{9D8B030D-6E8A-4147-A177-3AD203B41FA5}">
                      <a16:colId xmlns:a16="http://schemas.microsoft.com/office/drawing/2014/main" val="2769999950"/>
                    </a:ext>
                  </a:extLst>
                </a:gridCol>
                <a:gridCol w="397189">
                  <a:extLst>
                    <a:ext uri="{9D8B030D-6E8A-4147-A177-3AD203B41FA5}">
                      <a16:colId xmlns:a16="http://schemas.microsoft.com/office/drawing/2014/main" val="135637185"/>
                    </a:ext>
                  </a:extLst>
                </a:gridCol>
                <a:gridCol w="397189">
                  <a:extLst>
                    <a:ext uri="{9D8B030D-6E8A-4147-A177-3AD203B41FA5}">
                      <a16:colId xmlns:a16="http://schemas.microsoft.com/office/drawing/2014/main" val="3038050475"/>
                    </a:ext>
                  </a:extLst>
                </a:gridCol>
                <a:gridCol w="397189">
                  <a:extLst>
                    <a:ext uri="{9D8B030D-6E8A-4147-A177-3AD203B41FA5}">
                      <a16:colId xmlns:a16="http://schemas.microsoft.com/office/drawing/2014/main" val="1979433044"/>
                    </a:ext>
                  </a:extLst>
                </a:gridCol>
                <a:gridCol w="397189">
                  <a:extLst>
                    <a:ext uri="{9D8B030D-6E8A-4147-A177-3AD203B41FA5}">
                      <a16:colId xmlns:a16="http://schemas.microsoft.com/office/drawing/2014/main" val="4270661649"/>
                    </a:ext>
                  </a:extLst>
                </a:gridCol>
                <a:gridCol w="397189">
                  <a:extLst>
                    <a:ext uri="{9D8B030D-6E8A-4147-A177-3AD203B41FA5}">
                      <a16:colId xmlns:a16="http://schemas.microsoft.com/office/drawing/2014/main" val="3027041370"/>
                    </a:ext>
                  </a:extLst>
                </a:gridCol>
                <a:gridCol w="397189">
                  <a:extLst>
                    <a:ext uri="{9D8B030D-6E8A-4147-A177-3AD203B41FA5}">
                      <a16:colId xmlns:a16="http://schemas.microsoft.com/office/drawing/2014/main" val="2852526216"/>
                    </a:ext>
                  </a:extLst>
                </a:gridCol>
                <a:gridCol w="397189">
                  <a:extLst>
                    <a:ext uri="{9D8B030D-6E8A-4147-A177-3AD203B41FA5}">
                      <a16:colId xmlns:a16="http://schemas.microsoft.com/office/drawing/2014/main" val="103420222"/>
                    </a:ext>
                  </a:extLst>
                </a:gridCol>
                <a:gridCol w="397189">
                  <a:extLst>
                    <a:ext uri="{9D8B030D-6E8A-4147-A177-3AD203B41FA5}">
                      <a16:colId xmlns:a16="http://schemas.microsoft.com/office/drawing/2014/main" val="1470405609"/>
                    </a:ext>
                  </a:extLst>
                </a:gridCol>
                <a:gridCol w="38075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0x000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8">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OTP_CRC_CHECKSUM [7:0]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8" name="TextBox 7">
            <a:extLst>
              <a:ext uri="{FF2B5EF4-FFF2-40B4-BE49-F238E27FC236}">
                <a16:creationId xmlns:a16="http://schemas.microsoft.com/office/drawing/2014/main" id="{D1F6B3BB-B5B5-2174-FE6F-317B68CEEC78}"/>
              </a:ext>
            </a:extLst>
          </p:cNvPr>
          <p:cNvSpPr txBox="1"/>
          <p:nvPr/>
        </p:nvSpPr>
        <p:spPr>
          <a:xfrm>
            <a:off x="395873" y="988283"/>
            <a:ext cx="6424873"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These registers are the OTP Mirror registers.</a:t>
            </a:r>
          </a:p>
        </p:txBody>
      </p:sp>
    </p:spTree>
    <p:extLst>
      <p:ext uri="{BB962C8B-B14F-4D97-AF65-F5344CB8AC3E}">
        <p14:creationId xmlns:p14="http://schemas.microsoft.com/office/powerpoint/2010/main" val="2259773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DE6CD186-317C-DA3A-195C-2B4D8115B628}"/>
              </a:ext>
            </a:extLst>
          </p:cNvPr>
          <p:cNvSpPr txBox="1"/>
          <p:nvPr/>
        </p:nvSpPr>
        <p:spPr>
          <a:xfrm>
            <a:off x="386687" y="274753"/>
            <a:ext cx="6075480"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solidFill>
                <a:schemeClr val="bg1">
                  <a:lumMod val="50000"/>
                </a:schemeClr>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2E2E4FC-D86E-E7F1-4FEA-4BD7CBA2B075}"/>
              </a:ext>
            </a:extLst>
          </p:cNvPr>
          <p:cNvSpPr txBox="1"/>
          <p:nvPr/>
        </p:nvSpPr>
        <p:spPr>
          <a:xfrm>
            <a:off x="404806" y="994571"/>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1</a:t>
            </a:r>
          </a:p>
        </p:txBody>
      </p:sp>
      <p:graphicFrame>
        <p:nvGraphicFramePr>
          <p:cNvPr id="20" name="표 19">
            <a:extLst>
              <a:ext uri="{FF2B5EF4-FFF2-40B4-BE49-F238E27FC236}">
                <a16:creationId xmlns:a16="http://schemas.microsoft.com/office/drawing/2014/main" id="{AE12691E-C981-3606-36D9-5004E2726680}"/>
              </a:ext>
            </a:extLst>
          </p:cNvPr>
          <p:cNvGraphicFramePr>
            <a:graphicFrameLocks noGrp="1"/>
          </p:cNvGraphicFramePr>
          <p:nvPr/>
        </p:nvGraphicFramePr>
        <p:xfrm>
          <a:off x="400082" y="1910270"/>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0x04</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4" name="TextBox 23">
            <a:extLst>
              <a:ext uri="{FF2B5EF4-FFF2-40B4-BE49-F238E27FC236}">
                <a16:creationId xmlns:a16="http://schemas.microsoft.com/office/drawing/2014/main" id="{C1ED9103-A3B5-553E-C424-E74EB0043AD4}"/>
              </a:ext>
            </a:extLst>
          </p:cNvPr>
          <p:cNvSpPr txBox="1"/>
          <p:nvPr/>
        </p:nvSpPr>
        <p:spPr>
          <a:xfrm>
            <a:off x="404809" y="1638328"/>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2</a:t>
            </a:r>
          </a:p>
        </p:txBody>
      </p:sp>
      <p:graphicFrame>
        <p:nvGraphicFramePr>
          <p:cNvPr id="26" name="표 25">
            <a:extLst>
              <a:ext uri="{FF2B5EF4-FFF2-40B4-BE49-F238E27FC236}">
                <a16:creationId xmlns:a16="http://schemas.microsoft.com/office/drawing/2014/main" id="{22B07154-E7B3-7FEF-4598-3C989132CB71}"/>
              </a:ext>
            </a:extLst>
          </p:cNvPr>
          <p:cNvGraphicFramePr>
            <a:graphicFrameLocks noGrp="1"/>
          </p:cNvGraphicFramePr>
          <p:nvPr/>
        </p:nvGraphicFramePr>
        <p:xfrm>
          <a:off x="403572" y="2558889"/>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0x05</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29" name="TextBox 28">
            <a:extLst>
              <a:ext uri="{FF2B5EF4-FFF2-40B4-BE49-F238E27FC236}">
                <a16:creationId xmlns:a16="http://schemas.microsoft.com/office/drawing/2014/main" id="{8FC7759F-EBE4-5DE8-90E0-DE7D4C8E6081}"/>
              </a:ext>
            </a:extLst>
          </p:cNvPr>
          <p:cNvSpPr txBox="1"/>
          <p:nvPr/>
        </p:nvSpPr>
        <p:spPr>
          <a:xfrm>
            <a:off x="410522" y="2299186"/>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3</a:t>
            </a:r>
          </a:p>
        </p:txBody>
      </p:sp>
      <p:graphicFrame>
        <p:nvGraphicFramePr>
          <p:cNvPr id="30" name="표 29">
            <a:extLst>
              <a:ext uri="{FF2B5EF4-FFF2-40B4-BE49-F238E27FC236}">
                <a16:creationId xmlns:a16="http://schemas.microsoft.com/office/drawing/2014/main" id="{E75B2089-F6D9-989C-7540-63292FD72D76}"/>
              </a:ext>
            </a:extLst>
          </p:cNvPr>
          <p:cNvGraphicFramePr>
            <a:graphicFrameLocks noGrp="1"/>
          </p:cNvGraphicFramePr>
          <p:nvPr/>
        </p:nvGraphicFramePr>
        <p:xfrm>
          <a:off x="402554" y="3210327"/>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0x06</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31" name="TextBox 30">
            <a:extLst>
              <a:ext uri="{FF2B5EF4-FFF2-40B4-BE49-F238E27FC236}">
                <a16:creationId xmlns:a16="http://schemas.microsoft.com/office/drawing/2014/main" id="{0C4C225D-B915-FD28-C5ED-7822B2D27829}"/>
              </a:ext>
            </a:extLst>
          </p:cNvPr>
          <p:cNvSpPr txBox="1"/>
          <p:nvPr/>
        </p:nvSpPr>
        <p:spPr>
          <a:xfrm>
            <a:off x="403994" y="2949031"/>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ICTL_L_CH 4</a:t>
            </a:r>
          </a:p>
        </p:txBody>
      </p:sp>
      <p:graphicFrame>
        <p:nvGraphicFramePr>
          <p:cNvPr id="6" name="표 5">
            <a:extLst>
              <a:ext uri="{FF2B5EF4-FFF2-40B4-BE49-F238E27FC236}">
                <a16:creationId xmlns:a16="http://schemas.microsoft.com/office/drawing/2014/main" id="{FCF1F636-FE6C-B712-4D78-ACB7EBC010F0}"/>
              </a:ext>
            </a:extLst>
          </p:cNvPr>
          <p:cNvGraphicFramePr>
            <a:graphicFrameLocks noGrp="1"/>
          </p:cNvGraphicFramePr>
          <p:nvPr/>
        </p:nvGraphicFramePr>
        <p:xfrm>
          <a:off x="404813" y="1259733"/>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0x03</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ICTL_L</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5" name="TextBox 14">
            <a:extLst>
              <a:ext uri="{FF2B5EF4-FFF2-40B4-BE49-F238E27FC236}">
                <a16:creationId xmlns:a16="http://schemas.microsoft.com/office/drawing/2014/main" id="{5EB76770-2393-D9DA-F2DB-2C60235D3630}"/>
              </a:ext>
            </a:extLst>
          </p:cNvPr>
          <p:cNvSpPr txBox="1"/>
          <p:nvPr/>
        </p:nvSpPr>
        <p:spPr>
          <a:xfrm>
            <a:off x="400454" y="668856"/>
            <a:ext cx="6044002" cy="261610"/>
          </a:xfrm>
          <a:prstGeom prst="rect">
            <a:avLst/>
          </a:prstGeom>
          <a:noFill/>
        </p:spPr>
        <p:txBody>
          <a:bodyPr wrap="square" lIns="0" rtlCol="0">
            <a:spAutoFit/>
          </a:bodyPr>
          <a:lstStyle/>
          <a:p>
            <a:r>
              <a:rPr lang="en-US" altLang="ko-KR" sz="1100" b="1" dirty="0">
                <a:solidFill>
                  <a:srgbClr val="FF0000"/>
                </a:solidFill>
                <a:latin typeface="Arial" panose="020B0604020202020204" pitchFamily="34" charset="0"/>
                <a:cs typeface="Arial" panose="020B0604020202020204" pitchFamily="34" charset="0"/>
              </a:rPr>
              <a:t>These registers can not go outside the Global Technologies.</a:t>
            </a:r>
          </a:p>
        </p:txBody>
      </p:sp>
      <p:sp>
        <p:nvSpPr>
          <p:cNvPr id="2" name="TextBox 1">
            <a:extLst>
              <a:ext uri="{FF2B5EF4-FFF2-40B4-BE49-F238E27FC236}">
                <a16:creationId xmlns:a16="http://schemas.microsoft.com/office/drawing/2014/main" id="{F2E2E4FC-D86E-E7F1-4FEA-4BD7CBA2B075}"/>
              </a:ext>
            </a:extLst>
          </p:cNvPr>
          <p:cNvSpPr txBox="1"/>
          <p:nvPr/>
        </p:nvSpPr>
        <p:spPr>
          <a:xfrm>
            <a:off x="379391" y="3871185"/>
            <a:ext cx="6057361"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1</a:t>
            </a:r>
          </a:p>
        </p:txBody>
      </p:sp>
      <p:graphicFrame>
        <p:nvGraphicFramePr>
          <p:cNvPr id="4" name="표 3">
            <a:extLst>
              <a:ext uri="{FF2B5EF4-FFF2-40B4-BE49-F238E27FC236}">
                <a16:creationId xmlns:a16="http://schemas.microsoft.com/office/drawing/2014/main" id="{AE12691E-C981-3606-36D9-5004E2726680}"/>
              </a:ext>
            </a:extLst>
          </p:cNvPr>
          <p:cNvGraphicFramePr>
            <a:graphicFrameLocks noGrp="1"/>
          </p:cNvGraphicFramePr>
          <p:nvPr/>
        </p:nvGraphicFramePr>
        <p:xfrm>
          <a:off x="374667" y="4786884"/>
          <a:ext cx="6059148" cy="372600"/>
        </p:xfrm>
        <a:graphic>
          <a:graphicData uri="http://schemas.openxmlformats.org/drawingml/2006/table">
            <a:tbl>
              <a:tblPr firstRow="1" bandRow="1">
                <a:tableStyleId>{5C22544A-7EE6-4342-B048-85BDC9FD1C3A}</a:tableStyleId>
              </a:tblPr>
              <a:tblGrid>
                <a:gridCol w="329295">
                  <a:extLst>
                    <a:ext uri="{9D8B030D-6E8A-4147-A177-3AD203B41FA5}">
                      <a16:colId xmlns:a16="http://schemas.microsoft.com/office/drawing/2014/main" val="657570846"/>
                    </a:ext>
                  </a:extLst>
                </a:gridCol>
                <a:gridCol w="404189">
                  <a:extLst>
                    <a:ext uri="{9D8B030D-6E8A-4147-A177-3AD203B41FA5}">
                      <a16:colId xmlns:a16="http://schemas.microsoft.com/office/drawing/2014/main" val="3259894497"/>
                    </a:ext>
                  </a:extLst>
                </a:gridCol>
                <a:gridCol w="461117">
                  <a:extLst>
                    <a:ext uri="{9D8B030D-6E8A-4147-A177-3AD203B41FA5}">
                      <a16:colId xmlns:a16="http://schemas.microsoft.com/office/drawing/2014/main" val="4170535043"/>
                    </a:ext>
                  </a:extLst>
                </a:gridCol>
                <a:gridCol w="415574">
                  <a:extLst>
                    <a:ext uri="{9D8B030D-6E8A-4147-A177-3AD203B41FA5}">
                      <a16:colId xmlns:a16="http://schemas.microsoft.com/office/drawing/2014/main" val="2079070694"/>
                    </a:ext>
                  </a:extLst>
                </a:gridCol>
                <a:gridCol w="421266">
                  <a:extLst>
                    <a:ext uri="{9D8B030D-6E8A-4147-A177-3AD203B41FA5}">
                      <a16:colId xmlns:a16="http://schemas.microsoft.com/office/drawing/2014/main" val="4213315911"/>
                    </a:ext>
                  </a:extLst>
                </a:gridCol>
                <a:gridCol w="415574">
                  <a:extLst>
                    <a:ext uri="{9D8B030D-6E8A-4147-A177-3AD203B41FA5}">
                      <a16:colId xmlns:a16="http://schemas.microsoft.com/office/drawing/2014/main" val="2769999950"/>
                    </a:ext>
                  </a:extLst>
                </a:gridCol>
                <a:gridCol w="421266">
                  <a:extLst>
                    <a:ext uri="{9D8B030D-6E8A-4147-A177-3AD203B41FA5}">
                      <a16:colId xmlns:a16="http://schemas.microsoft.com/office/drawing/2014/main" val="135637185"/>
                    </a:ext>
                  </a:extLst>
                </a:gridCol>
                <a:gridCol w="415574">
                  <a:extLst>
                    <a:ext uri="{9D8B030D-6E8A-4147-A177-3AD203B41FA5}">
                      <a16:colId xmlns:a16="http://schemas.microsoft.com/office/drawing/2014/main" val="3038050475"/>
                    </a:ext>
                  </a:extLst>
                </a:gridCol>
                <a:gridCol w="390897">
                  <a:extLst>
                    <a:ext uri="{9D8B030D-6E8A-4147-A177-3AD203B41FA5}">
                      <a16:colId xmlns:a16="http://schemas.microsoft.com/office/drawing/2014/main" val="1979433044"/>
                    </a:ext>
                  </a:extLst>
                </a:gridCol>
                <a:gridCol w="423897">
                  <a:extLst>
                    <a:ext uri="{9D8B030D-6E8A-4147-A177-3AD203B41FA5}">
                      <a16:colId xmlns:a16="http://schemas.microsoft.com/office/drawing/2014/main" val="4270661649"/>
                    </a:ext>
                  </a:extLst>
                </a:gridCol>
                <a:gridCol w="423897">
                  <a:extLst>
                    <a:ext uri="{9D8B030D-6E8A-4147-A177-3AD203B41FA5}">
                      <a16:colId xmlns:a16="http://schemas.microsoft.com/office/drawing/2014/main" val="3027041370"/>
                    </a:ext>
                  </a:extLst>
                </a:gridCol>
                <a:gridCol w="423897">
                  <a:extLst>
                    <a:ext uri="{9D8B030D-6E8A-4147-A177-3AD203B41FA5}">
                      <a16:colId xmlns:a16="http://schemas.microsoft.com/office/drawing/2014/main" val="2852526216"/>
                    </a:ext>
                  </a:extLst>
                </a:gridCol>
                <a:gridCol w="423897">
                  <a:extLst>
                    <a:ext uri="{9D8B030D-6E8A-4147-A177-3AD203B41FA5}">
                      <a16:colId xmlns:a16="http://schemas.microsoft.com/office/drawing/2014/main" val="103420222"/>
                    </a:ext>
                  </a:extLst>
                </a:gridCol>
                <a:gridCol w="342942">
                  <a:extLst>
                    <a:ext uri="{9D8B030D-6E8A-4147-A177-3AD203B41FA5}">
                      <a16:colId xmlns:a16="http://schemas.microsoft.com/office/drawing/2014/main" val="1470405609"/>
                    </a:ext>
                  </a:extLst>
                </a:gridCol>
                <a:gridCol w="345866">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0x1C</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_CH2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5" name="TextBox 4">
            <a:extLst>
              <a:ext uri="{FF2B5EF4-FFF2-40B4-BE49-F238E27FC236}">
                <a16:creationId xmlns:a16="http://schemas.microsoft.com/office/drawing/2014/main" id="{C1ED9103-A3B5-553E-C424-E74EB0043AD4}"/>
              </a:ext>
            </a:extLst>
          </p:cNvPr>
          <p:cNvSpPr txBox="1"/>
          <p:nvPr/>
        </p:nvSpPr>
        <p:spPr>
          <a:xfrm>
            <a:off x="379394" y="4514942"/>
            <a:ext cx="6057358"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2</a:t>
            </a:r>
          </a:p>
        </p:txBody>
      </p:sp>
      <p:graphicFrame>
        <p:nvGraphicFramePr>
          <p:cNvPr id="9" name="표 8">
            <a:extLst>
              <a:ext uri="{FF2B5EF4-FFF2-40B4-BE49-F238E27FC236}">
                <a16:creationId xmlns:a16="http://schemas.microsoft.com/office/drawing/2014/main" id="{22B07154-E7B3-7FEF-4598-3C989132CB71}"/>
              </a:ext>
            </a:extLst>
          </p:cNvPr>
          <p:cNvGraphicFramePr>
            <a:graphicFrameLocks noGrp="1"/>
          </p:cNvGraphicFramePr>
          <p:nvPr/>
        </p:nvGraphicFramePr>
        <p:xfrm>
          <a:off x="378157" y="5435503"/>
          <a:ext cx="6058595" cy="372600"/>
        </p:xfrm>
        <a:graphic>
          <a:graphicData uri="http://schemas.openxmlformats.org/drawingml/2006/table">
            <a:tbl>
              <a:tblPr firstRow="1" bandRow="1">
                <a:tableStyleId>{5C22544A-7EE6-4342-B048-85BDC9FD1C3A}</a:tableStyleId>
              </a:tblPr>
              <a:tblGrid>
                <a:gridCol w="329265">
                  <a:extLst>
                    <a:ext uri="{9D8B030D-6E8A-4147-A177-3AD203B41FA5}">
                      <a16:colId xmlns:a16="http://schemas.microsoft.com/office/drawing/2014/main" val="657570846"/>
                    </a:ext>
                  </a:extLst>
                </a:gridCol>
                <a:gridCol w="404152">
                  <a:extLst>
                    <a:ext uri="{9D8B030D-6E8A-4147-A177-3AD203B41FA5}">
                      <a16:colId xmlns:a16="http://schemas.microsoft.com/office/drawing/2014/main" val="3259894497"/>
                    </a:ext>
                  </a:extLst>
                </a:gridCol>
                <a:gridCol w="461075">
                  <a:extLst>
                    <a:ext uri="{9D8B030D-6E8A-4147-A177-3AD203B41FA5}">
                      <a16:colId xmlns:a16="http://schemas.microsoft.com/office/drawing/2014/main" val="4170535043"/>
                    </a:ext>
                  </a:extLst>
                </a:gridCol>
                <a:gridCol w="415536">
                  <a:extLst>
                    <a:ext uri="{9D8B030D-6E8A-4147-A177-3AD203B41FA5}">
                      <a16:colId xmlns:a16="http://schemas.microsoft.com/office/drawing/2014/main" val="2079070694"/>
                    </a:ext>
                  </a:extLst>
                </a:gridCol>
                <a:gridCol w="421228">
                  <a:extLst>
                    <a:ext uri="{9D8B030D-6E8A-4147-A177-3AD203B41FA5}">
                      <a16:colId xmlns:a16="http://schemas.microsoft.com/office/drawing/2014/main" val="4213315911"/>
                    </a:ext>
                  </a:extLst>
                </a:gridCol>
                <a:gridCol w="415536">
                  <a:extLst>
                    <a:ext uri="{9D8B030D-6E8A-4147-A177-3AD203B41FA5}">
                      <a16:colId xmlns:a16="http://schemas.microsoft.com/office/drawing/2014/main" val="2769999950"/>
                    </a:ext>
                  </a:extLst>
                </a:gridCol>
                <a:gridCol w="421228">
                  <a:extLst>
                    <a:ext uri="{9D8B030D-6E8A-4147-A177-3AD203B41FA5}">
                      <a16:colId xmlns:a16="http://schemas.microsoft.com/office/drawing/2014/main" val="135637185"/>
                    </a:ext>
                  </a:extLst>
                </a:gridCol>
                <a:gridCol w="415536">
                  <a:extLst>
                    <a:ext uri="{9D8B030D-6E8A-4147-A177-3AD203B41FA5}">
                      <a16:colId xmlns:a16="http://schemas.microsoft.com/office/drawing/2014/main" val="3038050475"/>
                    </a:ext>
                  </a:extLst>
                </a:gridCol>
                <a:gridCol w="390862">
                  <a:extLst>
                    <a:ext uri="{9D8B030D-6E8A-4147-A177-3AD203B41FA5}">
                      <a16:colId xmlns:a16="http://schemas.microsoft.com/office/drawing/2014/main" val="1979433044"/>
                    </a:ext>
                  </a:extLst>
                </a:gridCol>
                <a:gridCol w="423858">
                  <a:extLst>
                    <a:ext uri="{9D8B030D-6E8A-4147-A177-3AD203B41FA5}">
                      <a16:colId xmlns:a16="http://schemas.microsoft.com/office/drawing/2014/main" val="4270661649"/>
                    </a:ext>
                  </a:extLst>
                </a:gridCol>
                <a:gridCol w="423858">
                  <a:extLst>
                    <a:ext uri="{9D8B030D-6E8A-4147-A177-3AD203B41FA5}">
                      <a16:colId xmlns:a16="http://schemas.microsoft.com/office/drawing/2014/main" val="3027041370"/>
                    </a:ext>
                  </a:extLst>
                </a:gridCol>
                <a:gridCol w="423858">
                  <a:extLst>
                    <a:ext uri="{9D8B030D-6E8A-4147-A177-3AD203B41FA5}">
                      <a16:colId xmlns:a16="http://schemas.microsoft.com/office/drawing/2014/main" val="2852526216"/>
                    </a:ext>
                  </a:extLst>
                </a:gridCol>
                <a:gridCol w="423858">
                  <a:extLst>
                    <a:ext uri="{9D8B030D-6E8A-4147-A177-3AD203B41FA5}">
                      <a16:colId xmlns:a16="http://schemas.microsoft.com/office/drawing/2014/main" val="103420222"/>
                    </a:ext>
                  </a:extLst>
                </a:gridCol>
                <a:gridCol w="342911">
                  <a:extLst>
                    <a:ext uri="{9D8B030D-6E8A-4147-A177-3AD203B41FA5}">
                      <a16:colId xmlns:a16="http://schemas.microsoft.com/office/drawing/2014/main" val="1470405609"/>
                    </a:ext>
                  </a:extLst>
                </a:gridCol>
                <a:gridCol w="34583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0x1D</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_CH3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2" name="TextBox 11">
            <a:extLst>
              <a:ext uri="{FF2B5EF4-FFF2-40B4-BE49-F238E27FC236}">
                <a16:creationId xmlns:a16="http://schemas.microsoft.com/office/drawing/2014/main" id="{8FC7759F-EBE4-5DE8-90E0-DE7D4C8E6081}"/>
              </a:ext>
            </a:extLst>
          </p:cNvPr>
          <p:cNvSpPr txBox="1"/>
          <p:nvPr/>
        </p:nvSpPr>
        <p:spPr>
          <a:xfrm>
            <a:off x="385107" y="5175800"/>
            <a:ext cx="6053655"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3</a:t>
            </a:r>
          </a:p>
        </p:txBody>
      </p:sp>
      <p:graphicFrame>
        <p:nvGraphicFramePr>
          <p:cNvPr id="13" name="표 12">
            <a:extLst>
              <a:ext uri="{FF2B5EF4-FFF2-40B4-BE49-F238E27FC236}">
                <a16:creationId xmlns:a16="http://schemas.microsoft.com/office/drawing/2014/main" id="{E75B2089-F6D9-989C-7540-63292FD72D76}"/>
              </a:ext>
            </a:extLst>
          </p:cNvPr>
          <p:cNvGraphicFramePr>
            <a:graphicFrameLocks noGrp="1"/>
          </p:cNvGraphicFramePr>
          <p:nvPr/>
        </p:nvGraphicFramePr>
        <p:xfrm>
          <a:off x="377139" y="6086941"/>
          <a:ext cx="6063914" cy="372600"/>
        </p:xfrm>
        <a:graphic>
          <a:graphicData uri="http://schemas.openxmlformats.org/drawingml/2006/table">
            <a:tbl>
              <a:tblPr firstRow="1" bandRow="1">
                <a:tableStyleId>{5C22544A-7EE6-4342-B048-85BDC9FD1C3A}</a:tableStyleId>
              </a:tblPr>
              <a:tblGrid>
                <a:gridCol w="329554">
                  <a:extLst>
                    <a:ext uri="{9D8B030D-6E8A-4147-A177-3AD203B41FA5}">
                      <a16:colId xmlns:a16="http://schemas.microsoft.com/office/drawing/2014/main" val="657570846"/>
                    </a:ext>
                  </a:extLst>
                </a:gridCol>
                <a:gridCol w="404506">
                  <a:extLst>
                    <a:ext uri="{9D8B030D-6E8A-4147-A177-3AD203B41FA5}">
                      <a16:colId xmlns:a16="http://schemas.microsoft.com/office/drawing/2014/main" val="3259894497"/>
                    </a:ext>
                  </a:extLst>
                </a:gridCol>
                <a:gridCol w="461480">
                  <a:extLst>
                    <a:ext uri="{9D8B030D-6E8A-4147-A177-3AD203B41FA5}">
                      <a16:colId xmlns:a16="http://schemas.microsoft.com/office/drawing/2014/main" val="4170535043"/>
                    </a:ext>
                  </a:extLst>
                </a:gridCol>
                <a:gridCol w="415901">
                  <a:extLst>
                    <a:ext uri="{9D8B030D-6E8A-4147-A177-3AD203B41FA5}">
                      <a16:colId xmlns:a16="http://schemas.microsoft.com/office/drawing/2014/main" val="2079070694"/>
                    </a:ext>
                  </a:extLst>
                </a:gridCol>
                <a:gridCol w="421598">
                  <a:extLst>
                    <a:ext uri="{9D8B030D-6E8A-4147-A177-3AD203B41FA5}">
                      <a16:colId xmlns:a16="http://schemas.microsoft.com/office/drawing/2014/main" val="4213315911"/>
                    </a:ext>
                  </a:extLst>
                </a:gridCol>
                <a:gridCol w="415901">
                  <a:extLst>
                    <a:ext uri="{9D8B030D-6E8A-4147-A177-3AD203B41FA5}">
                      <a16:colId xmlns:a16="http://schemas.microsoft.com/office/drawing/2014/main" val="2769999950"/>
                    </a:ext>
                  </a:extLst>
                </a:gridCol>
                <a:gridCol w="421598">
                  <a:extLst>
                    <a:ext uri="{9D8B030D-6E8A-4147-A177-3AD203B41FA5}">
                      <a16:colId xmlns:a16="http://schemas.microsoft.com/office/drawing/2014/main" val="135637185"/>
                    </a:ext>
                  </a:extLst>
                </a:gridCol>
                <a:gridCol w="415901">
                  <a:extLst>
                    <a:ext uri="{9D8B030D-6E8A-4147-A177-3AD203B41FA5}">
                      <a16:colId xmlns:a16="http://schemas.microsoft.com/office/drawing/2014/main" val="3038050475"/>
                    </a:ext>
                  </a:extLst>
                </a:gridCol>
                <a:gridCol w="391205">
                  <a:extLst>
                    <a:ext uri="{9D8B030D-6E8A-4147-A177-3AD203B41FA5}">
                      <a16:colId xmlns:a16="http://schemas.microsoft.com/office/drawing/2014/main" val="1979433044"/>
                    </a:ext>
                  </a:extLst>
                </a:gridCol>
                <a:gridCol w="424230">
                  <a:extLst>
                    <a:ext uri="{9D8B030D-6E8A-4147-A177-3AD203B41FA5}">
                      <a16:colId xmlns:a16="http://schemas.microsoft.com/office/drawing/2014/main" val="4270661649"/>
                    </a:ext>
                  </a:extLst>
                </a:gridCol>
                <a:gridCol w="424230">
                  <a:extLst>
                    <a:ext uri="{9D8B030D-6E8A-4147-A177-3AD203B41FA5}">
                      <a16:colId xmlns:a16="http://schemas.microsoft.com/office/drawing/2014/main" val="3027041370"/>
                    </a:ext>
                  </a:extLst>
                </a:gridCol>
                <a:gridCol w="424230">
                  <a:extLst>
                    <a:ext uri="{9D8B030D-6E8A-4147-A177-3AD203B41FA5}">
                      <a16:colId xmlns:a16="http://schemas.microsoft.com/office/drawing/2014/main" val="2852526216"/>
                    </a:ext>
                  </a:extLst>
                </a:gridCol>
                <a:gridCol w="424230">
                  <a:extLst>
                    <a:ext uri="{9D8B030D-6E8A-4147-A177-3AD203B41FA5}">
                      <a16:colId xmlns:a16="http://schemas.microsoft.com/office/drawing/2014/main" val="103420222"/>
                    </a:ext>
                  </a:extLst>
                </a:gridCol>
                <a:gridCol w="343212">
                  <a:extLst>
                    <a:ext uri="{9D8B030D-6E8A-4147-A177-3AD203B41FA5}">
                      <a16:colId xmlns:a16="http://schemas.microsoft.com/office/drawing/2014/main" val="1470405609"/>
                    </a:ext>
                  </a:extLst>
                </a:gridCol>
                <a:gridCol w="346138">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0x1E</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_CH4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
        <p:nvSpPr>
          <p:cNvPr id="14" name="TextBox 13">
            <a:extLst>
              <a:ext uri="{FF2B5EF4-FFF2-40B4-BE49-F238E27FC236}">
                <a16:creationId xmlns:a16="http://schemas.microsoft.com/office/drawing/2014/main" id="{0C4C225D-B915-FD28-C5ED-7822B2D27829}"/>
              </a:ext>
            </a:extLst>
          </p:cNvPr>
          <p:cNvSpPr txBox="1"/>
          <p:nvPr/>
        </p:nvSpPr>
        <p:spPr>
          <a:xfrm>
            <a:off x="378579" y="5825645"/>
            <a:ext cx="6058594" cy="261610"/>
          </a:xfrm>
          <a:prstGeom prst="rect">
            <a:avLst/>
          </a:prstGeom>
          <a:noFill/>
        </p:spPr>
        <p:txBody>
          <a:bodyPr wrap="square" lIns="0" rtlCol="0">
            <a:spAutoFit/>
          </a:bodyPr>
          <a:lstStyle/>
          <a:p>
            <a:r>
              <a:rPr lang="en-US" altLang="ko-KR" sz="1100" b="1" dirty="0">
                <a:latin typeface="Arial" panose="020B0604020202020204" pitchFamily="34" charset="0"/>
                <a:cs typeface="Arial" panose="020B0604020202020204" pitchFamily="34" charset="0"/>
              </a:rPr>
              <a:t>ICTL_H_CH 4</a:t>
            </a:r>
          </a:p>
        </p:txBody>
      </p:sp>
      <p:graphicFrame>
        <p:nvGraphicFramePr>
          <p:cNvPr id="17" name="표 16">
            <a:extLst>
              <a:ext uri="{FF2B5EF4-FFF2-40B4-BE49-F238E27FC236}">
                <a16:creationId xmlns:a16="http://schemas.microsoft.com/office/drawing/2014/main" id="{FCF1F636-FE6C-B712-4D78-ACB7EBC010F0}"/>
              </a:ext>
            </a:extLst>
          </p:cNvPr>
          <p:cNvGraphicFramePr>
            <a:graphicFrameLocks noGrp="1"/>
          </p:cNvGraphicFramePr>
          <p:nvPr/>
        </p:nvGraphicFramePr>
        <p:xfrm>
          <a:off x="379398" y="4136347"/>
          <a:ext cx="6057359" cy="372600"/>
        </p:xfrm>
        <a:graphic>
          <a:graphicData uri="http://schemas.openxmlformats.org/drawingml/2006/table">
            <a:tbl>
              <a:tblPr firstRow="1" bandRow="1">
                <a:tableStyleId>{5C22544A-7EE6-4342-B048-85BDC9FD1C3A}</a:tableStyleId>
              </a:tblPr>
              <a:tblGrid>
                <a:gridCol w="329198">
                  <a:extLst>
                    <a:ext uri="{9D8B030D-6E8A-4147-A177-3AD203B41FA5}">
                      <a16:colId xmlns:a16="http://schemas.microsoft.com/office/drawing/2014/main" val="657570846"/>
                    </a:ext>
                  </a:extLst>
                </a:gridCol>
                <a:gridCol w="404069">
                  <a:extLst>
                    <a:ext uri="{9D8B030D-6E8A-4147-A177-3AD203B41FA5}">
                      <a16:colId xmlns:a16="http://schemas.microsoft.com/office/drawing/2014/main" val="3259894497"/>
                    </a:ext>
                  </a:extLst>
                </a:gridCol>
                <a:gridCol w="460980">
                  <a:extLst>
                    <a:ext uri="{9D8B030D-6E8A-4147-A177-3AD203B41FA5}">
                      <a16:colId xmlns:a16="http://schemas.microsoft.com/office/drawing/2014/main" val="4170535043"/>
                    </a:ext>
                  </a:extLst>
                </a:gridCol>
                <a:gridCol w="415451">
                  <a:extLst>
                    <a:ext uri="{9D8B030D-6E8A-4147-A177-3AD203B41FA5}">
                      <a16:colId xmlns:a16="http://schemas.microsoft.com/office/drawing/2014/main" val="2079070694"/>
                    </a:ext>
                  </a:extLst>
                </a:gridCol>
                <a:gridCol w="421142">
                  <a:extLst>
                    <a:ext uri="{9D8B030D-6E8A-4147-A177-3AD203B41FA5}">
                      <a16:colId xmlns:a16="http://schemas.microsoft.com/office/drawing/2014/main" val="4213315911"/>
                    </a:ext>
                  </a:extLst>
                </a:gridCol>
                <a:gridCol w="415451">
                  <a:extLst>
                    <a:ext uri="{9D8B030D-6E8A-4147-A177-3AD203B41FA5}">
                      <a16:colId xmlns:a16="http://schemas.microsoft.com/office/drawing/2014/main" val="2769999950"/>
                    </a:ext>
                  </a:extLst>
                </a:gridCol>
                <a:gridCol w="421142">
                  <a:extLst>
                    <a:ext uri="{9D8B030D-6E8A-4147-A177-3AD203B41FA5}">
                      <a16:colId xmlns:a16="http://schemas.microsoft.com/office/drawing/2014/main" val="135637185"/>
                    </a:ext>
                  </a:extLst>
                </a:gridCol>
                <a:gridCol w="415451">
                  <a:extLst>
                    <a:ext uri="{9D8B030D-6E8A-4147-A177-3AD203B41FA5}">
                      <a16:colId xmlns:a16="http://schemas.microsoft.com/office/drawing/2014/main" val="3038050475"/>
                    </a:ext>
                  </a:extLst>
                </a:gridCol>
                <a:gridCol w="390782">
                  <a:extLst>
                    <a:ext uri="{9D8B030D-6E8A-4147-A177-3AD203B41FA5}">
                      <a16:colId xmlns:a16="http://schemas.microsoft.com/office/drawing/2014/main" val="1979433044"/>
                    </a:ext>
                  </a:extLst>
                </a:gridCol>
                <a:gridCol w="423772">
                  <a:extLst>
                    <a:ext uri="{9D8B030D-6E8A-4147-A177-3AD203B41FA5}">
                      <a16:colId xmlns:a16="http://schemas.microsoft.com/office/drawing/2014/main" val="4270661649"/>
                    </a:ext>
                  </a:extLst>
                </a:gridCol>
                <a:gridCol w="423772">
                  <a:extLst>
                    <a:ext uri="{9D8B030D-6E8A-4147-A177-3AD203B41FA5}">
                      <a16:colId xmlns:a16="http://schemas.microsoft.com/office/drawing/2014/main" val="3027041370"/>
                    </a:ext>
                  </a:extLst>
                </a:gridCol>
                <a:gridCol w="423772">
                  <a:extLst>
                    <a:ext uri="{9D8B030D-6E8A-4147-A177-3AD203B41FA5}">
                      <a16:colId xmlns:a16="http://schemas.microsoft.com/office/drawing/2014/main" val="2852526216"/>
                    </a:ext>
                  </a:extLst>
                </a:gridCol>
                <a:gridCol w="423772">
                  <a:extLst>
                    <a:ext uri="{9D8B030D-6E8A-4147-A177-3AD203B41FA5}">
                      <a16:colId xmlns:a16="http://schemas.microsoft.com/office/drawing/2014/main" val="103420222"/>
                    </a:ext>
                  </a:extLst>
                </a:gridCol>
                <a:gridCol w="342841">
                  <a:extLst>
                    <a:ext uri="{9D8B030D-6E8A-4147-A177-3AD203B41FA5}">
                      <a16:colId xmlns:a16="http://schemas.microsoft.com/office/drawing/2014/main" val="1470405609"/>
                    </a:ext>
                  </a:extLst>
                </a:gridCol>
                <a:gridCol w="345764">
                  <a:extLst>
                    <a:ext uri="{9D8B030D-6E8A-4147-A177-3AD203B41FA5}">
                      <a16:colId xmlns:a16="http://schemas.microsoft.com/office/drawing/2014/main" val="604176390"/>
                    </a:ext>
                  </a:extLst>
                </a:gridCol>
              </a:tblGrid>
              <a:tr h="0">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Acc</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Addr</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Default</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r>
                        <a:rPr lang="en-US" altLang="ko-KR" sz="800" b="0" dirty="0">
                          <a:solidFill>
                            <a:schemeClr val="tx1"/>
                          </a:solidFill>
                          <a:latin typeface="Arial" panose="020B0604020202020204" pitchFamily="34" charset="0"/>
                          <a:ea typeface="+mn-ea"/>
                          <a:cs typeface="Arial" panose="020B0604020202020204" pitchFamily="34" charset="0"/>
                        </a:rPr>
                        <a:t>B11</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B10</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dirty="0">
                          <a:solidFill>
                            <a:schemeClr val="tx1"/>
                          </a:solidFill>
                          <a:latin typeface="Arial" panose="020B0604020202020204" pitchFamily="34" charset="0"/>
                          <a:ea typeface="+mn-ea"/>
                          <a:cs typeface="Arial" panose="020B0604020202020204" pitchFamily="34" charset="0"/>
                        </a:rPr>
                        <a:t>B9</a:t>
                      </a:r>
                      <a:endParaRPr lang="ko-KR" altLang="en-US" sz="8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B8</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B7</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B6</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B5</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B4</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B3</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B2</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B1</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B0</a:t>
                      </a:r>
                      <a:endParaRPr kumimoji="0" lang="ko-KR" altLang="en-US" sz="8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4120404736"/>
                  </a:ext>
                </a:extLst>
              </a:tr>
              <a:tr h="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R/W</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0x1B</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700" b="0" dirty="0">
                          <a:solidFill>
                            <a:schemeClr val="tx1"/>
                          </a:solidFill>
                          <a:latin typeface="Arial" panose="020B0604020202020204" pitchFamily="34" charset="0"/>
                          <a:ea typeface="+mn-ea"/>
                          <a:cs typeface="Arial" panose="020B0604020202020204" pitchFamily="34" charset="0"/>
                        </a:rPr>
                        <a:t>0x40</a:t>
                      </a:r>
                      <a:endParaRPr lang="ko-KR" altLang="en-US" sz="700" b="0" dirty="0">
                        <a:solidFill>
                          <a:schemeClr val="tx1"/>
                        </a:solidFill>
                        <a:latin typeface="Arial" panose="020B0604020202020204" pitchFamily="34" charset="0"/>
                        <a:ea typeface="+mn-ea"/>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gridSpan="7">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ICTL_H</a:t>
                      </a: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_CH1 [6:0]</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rPr>
                        <a:t>x</a:t>
                      </a:r>
                      <a:endParaRPr kumimoji="0" lang="ko-KR" altLang="en-US" sz="700" b="0" i="0" u="none" strike="noStrike" kern="1200" cap="none" spc="0" normalizeH="0" baseline="0" noProof="0" dirty="0">
                        <a:ln>
                          <a:noFill/>
                        </a:ln>
                        <a:solidFill>
                          <a:prstClr val="black"/>
                        </a:solidFill>
                        <a:effectLst/>
                        <a:uLnTx/>
                        <a:uFillTx/>
                        <a:latin typeface="Arial" panose="020B0604020202020204" pitchFamily="34" charset="0"/>
                        <a:ea typeface="맑은 고딕" panose="020B0503020000020004" pitchFamily="50" charset="-127"/>
                        <a:cs typeface="Arial" panose="020B0604020202020204" pitchFamily="34" charset="0"/>
                      </a:endParaRPr>
                    </a:p>
                  </a:txBody>
                  <a:tcPr marL="0" marR="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latinLnBrk="1"/>
                      <a:endParaRPr lang="ko-KR" altLang="en-US" sz="700" b="0" dirty="0">
                        <a:solidFill>
                          <a:schemeClr val="tx1"/>
                        </a:solidFill>
                        <a:latin typeface="Arial" panose="020B0604020202020204" pitchFamily="34" charset="0"/>
                        <a:cs typeface="Arial" panose="020B0604020202020204" pitchFamily="34" charset="0"/>
                      </a:endParaRPr>
                    </a:p>
                  </a:txBody>
                  <a:tcPr marL="36000" marR="36000" marT="36000" marB="3600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738556"/>
                  </a:ext>
                </a:extLst>
              </a:tr>
            </a:tbl>
          </a:graphicData>
        </a:graphic>
      </p:graphicFrame>
    </p:spTree>
    <p:extLst>
      <p:ext uri="{BB962C8B-B14F-4D97-AF65-F5344CB8AC3E}">
        <p14:creationId xmlns:p14="http://schemas.microsoft.com/office/powerpoint/2010/main" val="4203310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5483E082-5750-0675-BD82-DA0197ED0D3C}"/>
              </a:ext>
            </a:extLst>
          </p:cNvPr>
          <p:cNvSpPr txBox="1"/>
          <p:nvPr/>
        </p:nvSpPr>
        <p:spPr>
          <a:xfrm>
            <a:off x="404813" y="774866"/>
            <a:ext cx="6048622"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Soldering Temperature Reflow Profile</a:t>
            </a:r>
          </a:p>
        </p:txBody>
      </p:sp>
      <p:sp>
        <p:nvSpPr>
          <p:cNvPr id="4" name="object 9">
            <a:extLst>
              <a:ext uri="{FF2B5EF4-FFF2-40B4-BE49-F238E27FC236}">
                <a16:creationId xmlns:a16="http://schemas.microsoft.com/office/drawing/2014/main" id="{B8374579-25BF-CDD0-FB25-E170194C425D}"/>
              </a:ext>
            </a:extLst>
          </p:cNvPr>
          <p:cNvSpPr txBox="1"/>
          <p:nvPr/>
        </p:nvSpPr>
        <p:spPr>
          <a:xfrm>
            <a:off x="413545" y="8470612"/>
            <a:ext cx="6039889" cy="335989"/>
          </a:xfrm>
          <a:prstGeom prst="rect">
            <a:avLst/>
          </a:prstGeom>
        </p:spPr>
        <p:txBody>
          <a:bodyPr vert="horz" wrap="square" lIns="0" tIns="50800" rIns="0" bIns="0" rtlCol="0">
            <a:spAutoFit/>
          </a:bodyPr>
          <a:lstStyle/>
          <a:p>
            <a:pPr marL="12700" defTabSz="839876" fontAlgn="auto">
              <a:spcBef>
                <a:spcPts val="400"/>
              </a:spcBef>
              <a:spcAft>
                <a:spcPts val="0"/>
              </a:spcAft>
            </a:pPr>
            <a:r>
              <a:rPr kumimoji="0" sz="800" b="1" spc="-5" dirty="0">
                <a:solidFill>
                  <a:prstClr val="black"/>
                </a:solidFill>
                <a:latin typeface="Arial" panose="020B0604020202020204" pitchFamily="34" charset="0"/>
                <a:ea typeface="+mn-ea"/>
                <a:cs typeface="Arial" panose="020B0604020202020204" pitchFamily="34" charset="0"/>
              </a:rPr>
              <a:t>Important</a:t>
            </a:r>
            <a:r>
              <a:rPr kumimoji="0" sz="800" b="1" spc="-15" dirty="0">
                <a:solidFill>
                  <a:prstClr val="black"/>
                </a:solidFill>
                <a:latin typeface="Arial" panose="020B0604020202020204" pitchFamily="34" charset="0"/>
                <a:ea typeface="+mn-ea"/>
                <a:cs typeface="Arial" panose="020B0604020202020204" pitchFamily="34" charset="0"/>
              </a:rPr>
              <a:t> </a:t>
            </a:r>
            <a:r>
              <a:rPr kumimoji="0" sz="800" b="1" spc="-5" dirty="0">
                <a:solidFill>
                  <a:prstClr val="black"/>
                </a:solidFill>
                <a:latin typeface="Arial" panose="020B0604020202020204" pitchFamily="34" charset="0"/>
                <a:ea typeface="+mn-ea"/>
                <a:cs typeface="Arial" panose="020B0604020202020204" pitchFamily="34" charset="0"/>
              </a:rPr>
              <a:t>statement</a:t>
            </a:r>
            <a:endParaRPr kumimoji="0" sz="800" dirty="0">
              <a:solidFill>
                <a:prstClr val="black"/>
              </a:solidFill>
              <a:latin typeface="Arial" panose="020B0604020202020204" pitchFamily="34" charset="0"/>
              <a:ea typeface="+mn-ea"/>
              <a:cs typeface="Arial" panose="020B0604020202020204" pitchFamily="34" charset="0"/>
            </a:endParaRPr>
          </a:p>
          <a:p>
            <a:pPr marL="12700" defTabSz="839876" fontAlgn="auto">
              <a:spcBef>
                <a:spcPts val="305"/>
              </a:spcBef>
              <a:spcAft>
                <a:spcPts val="0"/>
              </a:spcAft>
            </a:pPr>
            <a:r>
              <a:rPr kumimoji="0" lang="en-US" sz="800" spc="-5" dirty="0">
                <a:solidFill>
                  <a:prstClr val="black"/>
                </a:solidFill>
                <a:latin typeface="Arial" panose="020B0604020202020204" pitchFamily="34" charset="0"/>
                <a:ea typeface="+mn-ea"/>
                <a:cs typeface="Arial" panose="020B0604020202020204" pitchFamily="34" charset="0"/>
              </a:rPr>
              <a:t>Global Technologies </a:t>
            </a:r>
            <a:r>
              <a:rPr kumimoji="0" sz="800" spc="-15" dirty="0">
                <a:solidFill>
                  <a:prstClr val="black"/>
                </a:solidFill>
                <a:latin typeface="Arial" panose="020B0604020202020204" pitchFamily="34" charset="0"/>
                <a:ea typeface="+mn-ea"/>
                <a:cs typeface="Arial" panose="020B0604020202020204" pitchFamily="34" charset="0"/>
              </a:rPr>
              <a:t> </a:t>
            </a:r>
            <a:r>
              <a:rPr kumimoji="0" sz="800" dirty="0">
                <a:solidFill>
                  <a:prstClr val="black"/>
                </a:solidFill>
                <a:latin typeface="Arial" panose="020B0604020202020204" pitchFamily="34" charset="0"/>
                <a:ea typeface="+mn-ea"/>
                <a:cs typeface="Arial" panose="020B0604020202020204" pitchFamily="34" charset="0"/>
              </a:rPr>
              <a:t>reserves</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right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to</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change</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the</a:t>
            </a:r>
            <a:r>
              <a:rPr kumimoji="0" sz="800" spc="1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above-mentioned</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information</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without</a:t>
            </a:r>
            <a:r>
              <a:rPr kumimoji="0" sz="800" spc="10"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prior</a:t>
            </a:r>
            <a:r>
              <a:rPr kumimoji="0" sz="800" spc="5" dirty="0">
                <a:solidFill>
                  <a:prstClr val="black"/>
                </a:solidFill>
                <a:latin typeface="Arial" panose="020B0604020202020204" pitchFamily="34" charset="0"/>
                <a:ea typeface="+mn-ea"/>
                <a:cs typeface="Arial" panose="020B0604020202020204" pitchFamily="34" charset="0"/>
              </a:rPr>
              <a:t> </a:t>
            </a:r>
            <a:r>
              <a:rPr kumimoji="0" sz="800" spc="-5" dirty="0">
                <a:solidFill>
                  <a:prstClr val="black"/>
                </a:solidFill>
                <a:latin typeface="Arial" panose="020B0604020202020204" pitchFamily="34" charset="0"/>
                <a:ea typeface="+mn-ea"/>
                <a:cs typeface="Arial" panose="020B0604020202020204" pitchFamily="34" charset="0"/>
              </a:rPr>
              <a:t>notice.</a:t>
            </a:r>
            <a:endParaRPr kumimoji="0" sz="800" dirty="0">
              <a:solidFill>
                <a:prstClr val="black"/>
              </a:solidFill>
              <a:latin typeface="Arial" panose="020B0604020202020204" pitchFamily="34" charset="0"/>
              <a:ea typeface="+mn-ea"/>
              <a:cs typeface="Arial" panose="020B0604020202020204" pitchFamily="34" charset="0"/>
            </a:endParaRPr>
          </a:p>
        </p:txBody>
      </p:sp>
      <p:sp>
        <p:nvSpPr>
          <p:cNvPr id="5" name="object 84">
            <a:extLst>
              <a:ext uri="{FF2B5EF4-FFF2-40B4-BE49-F238E27FC236}">
                <a16:creationId xmlns:a16="http://schemas.microsoft.com/office/drawing/2014/main" id="{05B0EF29-EB1C-24C9-9DF7-6B06F79163E7}"/>
              </a:ext>
            </a:extLst>
          </p:cNvPr>
          <p:cNvSpPr txBox="1"/>
          <p:nvPr/>
        </p:nvSpPr>
        <p:spPr>
          <a:xfrm>
            <a:off x="2298356" y="4755479"/>
            <a:ext cx="2308324" cy="138499"/>
          </a:xfrm>
          <a:prstGeom prst="rect">
            <a:avLst/>
          </a:prstGeom>
        </p:spPr>
        <p:txBody>
          <a:bodyPr vert="horz" wrap="none" lIns="0" tIns="0" rIns="0" bIns="0" rtlCol="0" anchor="ctr" anchorCtr="0">
            <a:spAutoFit/>
          </a:bodyPr>
          <a:lstStyle/>
          <a:p>
            <a:pPr marL="12700" defTabSz="839876" fontAlgn="auto">
              <a:spcBef>
                <a:spcPts val="120"/>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15.  Reflow Soldering information</a:t>
            </a:r>
          </a:p>
        </p:txBody>
      </p:sp>
      <p:graphicFrame>
        <p:nvGraphicFramePr>
          <p:cNvPr id="6" name="object 8">
            <a:extLst>
              <a:ext uri="{FF2B5EF4-FFF2-40B4-BE49-F238E27FC236}">
                <a16:creationId xmlns:a16="http://schemas.microsoft.com/office/drawing/2014/main" id="{2A649DA9-99CB-5D27-4462-CDD7727CF31C}"/>
              </a:ext>
            </a:extLst>
          </p:cNvPr>
          <p:cNvGraphicFramePr>
            <a:graphicFrameLocks noGrp="1"/>
          </p:cNvGraphicFramePr>
          <p:nvPr>
            <p:extLst>
              <p:ext uri="{D42A27DB-BD31-4B8C-83A1-F6EECF244321}">
                <p14:modId xmlns:p14="http://schemas.microsoft.com/office/powerpoint/2010/main" val="3377477659"/>
              </p:ext>
            </p:extLst>
          </p:nvPr>
        </p:nvGraphicFramePr>
        <p:xfrm>
          <a:off x="887435" y="5071762"/>
          <a:ext cx="5130165" cy="1692571"/>
        </p:xfrm>
        <a:graphic>
          <a:graphicData uri="http://schemas.openxmlformats.org/drawingml/2006/table">
            <a:tbl>
              <a:tblPr firstRow="1" bandRow="1"/>
              <a:tblGrid>
                <a:gridCol w="2615490">
                  <a:extLst>
                    <a:ext uri="{9D8B030D-6E8A-4147-A177-3AD203B41FA5}">
                      <a16:colId xmlns:a16="http://schemas.microsoft.com/office/drawing/2014/main" val="20000"/>
                    </a:ext>
                  </a:extLst>
                </a:gridCol>
                <a:gridCol w="2514675">
                  <a:extLst>
                    <a:ext uri="{9D8B030D-6E8A-4147-A177-3AD203B41FA5}">
                      <a16:colId xmlns:a16="http://schemas.microsoft.com/office/drawing/2014/main" val="20001"/>
                    </a:ext>
                  </a:extLst>
                </a:gridCol>
              </a:tblGrid>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sz="900" b="1" dirty="0">
                          <a:solidFill>
                            <a:schemeClr val="tx1"/>
                          </a:solidFill>
                          <a:latin typeface="Arial"/>
                          <a:ea typeface="+mn-ea"/>
                          <a:cs typeface="Arial"/>
                        </a:rPr>
                        <a:t>Parameter</a:t>
                      </a: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241935" algn="ctr">
                        <a:lnSpc>
                          <a:spcPct val="100000"/>
                        </a:lnSpc>
                        <a:spcBef>
                          <a:spcPts val="310"/>
                        </a:spcBef>
                      </a:pPr>
                      <a:r>
                        <a:rPr lang="en-US" sz="900" b="1" dirty="0">
                          <a:solidFill>
                            <a:schemeClr val="tx1"/>
                          </a:solidFill>
                          <a:latin typeface="Arial"/>
                          <a:ea typeface="+mn-ea"/>
                          <a:cs typeface="Arial"/>
                        </a:rPr>
                        <a:t>Pb</a:t>
                      </a:r>
                      <a:r>
                        <a:rPr sz="900" b="1" dirty="0">
                          <a:solidFill>
                            <a:schemeClr val="tx1"/>
                          </a:solidFill>
                          <a:latin typeface="Arial"/>
                          <a:ea typeface="+mn-ea"/>
                          <a:cs typeface="Arial"/>
                        </a:rPr>
                        <a:t>-free soldering conditions</a:t>
                      </a:r>
                    </a:p>
                  </a:txBody>
                  <a:tcPr marL="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lumMod val="95000"/>
                          <a:lumOff val="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0"/>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5" dirty="0">
                          <a:latin typeface="Arial" panose="020B0604020202020204" pitchFamily="34" charset="0"/>
                          <a:cs typeface="Arial" panose="020B0604020202020204" pitchFamily="34" charset="0"/>
                        </a:rPr>
                        <a:t>Average</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ramp-up</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rate</a:t>
                      </a:r>
                      <a:r>
                        <a:rPr lang="en-US" sz="800" spc="-1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26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Peak)</a:t>
                      </a:r>
                      <a:endParaRPr sz="800" dirty="0">
                        <a:latin typeface="Arial" panose="020B0604020202020204" pitchFamily="34" charset="0"/>
                        <a:cs typeface="Arial" panose="020B0604020202020204" pitchFamily="34" charset="0"/>
                      </a:endParaRPr>
                    </a:p>
                  </a:txBody>
                  <a:tcPr marL="0" marR="0" marT="4445"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5"/>
                        </a:spcBef>
                      </a:pPr>
                      <a:r>
                        <a:rPr sz="800" spc="-10" dirty="0">
                          <a:latin typeface="Arial" panose="020B0604020202020204" pitchFamily="34" charset="0"/>
                          <a:cs typeface="Arial" panose="020B0604020202020204" pitchFamily="34" charset="0"/>
                        </a:rPr>
                        <a:t>3℃/second</a:t>
                      </a:r>
                      <a:r>
                        <a:rPr sz="800" spc="-2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4445"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13092">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of</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P</a:t>
                      </a:r>
                      <a:r>
                        <a:rPr sz="800" spc="-15" dirty="0">
                          <a:latin typeface="Arial" panose="020B0604020202020204" pitchFamily="34" charset="0"/>
                          <a:cs typeface="Arial" panose="020B0604020202020204" pitchFamily="34" charset="0"/>
                        </a:rPr>
                        <a:t>r</a:t>
                      </a:r>
                      <a:r>
                        <a:rPr sz="800" spc="-5" dirty="0">
                          <a:latin typeface="Arial" panose="020B0604020202020204" pitchFamily="34" charset="0"/>
                          <a:cs typeface="Arial" panose="020B0604020202020204" pitchFamily="34" charset="0"/>
                        </a:rPr>
                        <a:t>e</a:t>
                      </a:r>
                      <a:r>
                        <a:rPr sz="800" spc="15" dirty="0">
                          <a:latin typeface="Arial" panose="020B0604020202020204" pitchFamily="34" charset="0"/>
                          <a:cs typeface="Arial" panose="020B0604020202020204" pitchFamily="34" charset="0"/>
                        </a:rPr>
                        <a:t>h</a:t>
                      </a:r>
                      <a:r>
                        <a:rPr sz="800" spc="-5" dirty="0">
                          <a:latin typeface="Arial" panose="020B0604020202020204" pitchFamily="34" charset="0"/>
                          <a:cs typeface="Arial" panose="020B0604020202020204" pitchFamily="34" charset="0"/>
                        </a:rPr>
                        <a:t>e</a:t>
                      </a:r>
                      <a:r>
                        <a:rPr sz="800" spc="-10" dirty="0">
                          <a:latin typeface="Arial" panose="020B0604020202020204" pitchFamily="34" charset="0"/>
                          <a:cs typeface="Arial" panose="020B0604020202020204" pitchFamily="34" charset="0"/>
                        </a:rPr>
                        <a:t>a</a:t>
                      </a:r>
                      <a:r>
                        <a:rPr sz="800" dirty="0">
                          <a:latin typeface="Arial" panose="020B0604020202020204" pitchFamily="34" charset="0"/>
                          <a:cs typeface="Arial" panose="020B0604020202020204" pitchFamily="34" charset="0"/>
                        </a:rPr>
                        <a:t>t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r>
                        <a:rPr lang="en-US"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sz="800" spc="-10" dirty="0">
                          <a:latin typeface="Arial" panose="020B0604020202020204" pitchFamily="34" charset="0"/>
                          <a:cs typeface="Arial" panose="020B0604020202020204" pitchFamily="34" charset="0"/>
                        </a:rPr>
                        <a:t>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a:t>
                      </a:r>
                      <a:r>
                        <a:rPr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1</a:t>
                      </a:r>
                      <a:r>
                        <a:rPr sz="800" dirty="0">
                          <a:latin typeface="Arial" panose="020B0604020202020204" pitchFamily="34" charset="0"/>
                          <a:cs typeface="Arial" panose="020B0604020202020204" pitchFamily="34" charset="0"/>
                        </a:rPr>
                        <a:t>50</a:t>
                      </a:r>
                      <a:r>
                        <a:rPr sz="800" spc="10"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lang="en-US"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200</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120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14173">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to</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be</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maintained</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above</a:t>
                      </a:r>
                      <a:r>
                        <a:rPr lang="en-US" sz="800" spc="-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217</a:t>
                      </a:r>
                      <a:r>
                        <a:rPr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60</a:t>
                      </a:r>
                      <a:r>
                        <a:rPr lang="en-US" sz="800" spc="-5" dirty="0">
                          <a:latin typeface="Arial" panose="020B0604020202020204" pitchFamily="34" charset="0"/>
                          <a:cs typeface="Arial" panose="020B0604020202020204" pitchFamily="34" charset="0"/>
                        </a:rPr>
                        <a:t> ~ </a:t>
                      </a:r>
                      <a:r>
                        <a:rPr sz="800" spc="-5" dirty="0">
                          <a:latin typeface="Arial" panose="020B0604020202020204" pitchFamily="34" charset="0"/>
                          <a:cs typeface="Arial" panose="020B0604020202020204" pitchFamily="34" charset="0"/>
                        </a:rPr>
                        <a:t>150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10" dirty="0">
                          <a:latin typeface="Arial" panose="020B0604020202020204" pitchFamily="34" charset="0"/>
                          <a:cs typeface="Arial" panose="020B0604020202020204" pitchFamily="34" charset="0"/>
                        </a:rPr>
                        <a:t>Peak</a:t>
                      </a:r>
                      <a:r>
                        <a:rPr sz="800" spc="-3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temperature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lang="en-US" sz="800" spc="-5" dirty="0">
                          <a:latin typeface="Arial" panose="020B0604020202020204" pitchFamily="34" charset="0"/>
                          <a:cs typeface="Arial" panose="020B0604020202020204" pitchFamily="34" charset="0"/>
                        </a:rPr>
                        <a:t> </a:t>
                      </a:r>
                      <a:r>
                        <a:rPr lang="en-US" sz="800" kern="1200" spc="-5" dirty="0">
                          <a:solidFill>
                            <a:schemeClr val="tx1"/>
                          </a:solidFill>
                          <a:latin typeface="Arial" panose="020B0604020202020204" pitchFamily="34" charset="0"/>
                          <a:ea typeface="+mn-ea"/>
                          <a:cs typeface="Arial" panose="020B0604020202020204" pitchFamily="34" charset="0"/>
                        </a:rPr>
                        <a:t>260 </a:t>
                      </a:r>
                      <a:r>
                        <a:rPr lang="ko-KR" altLang="en-US" sz="800" kern="1200" spc="-5" dirty="0">
                          <a:solidFill>
                            <a:schemeClr val="tx1"/>
                          </a:solidFill>
                          <a:latin typeface="Arial" panose="020B0604020202020204" pitchFamily="34" charset="0"/>
                          <a:ea typeface="+mn-ea"/>
                          <a:cs typeface="Arial" panose="020B0604020202020204" pitchFamily="34" charset="0"/>
                        </a:rPr>
                        <a:t>℃</a:t>
                      </a:r>
                      <a:endParaRPr sz="800" kern="1200" spc="-5" dirty="0">
                        <a:solidFill>
                          <a:schemeClr val="tx1"/>
                        </a:solidFill>
                        <a:latin typeface="Arial" panose="020B0604020202020204" pitchFamily="34" charset="0"/>
                        <a:ea typeface="+mn-ea"/>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Time</a:t>
                      </a:r>
                      <a:r>
                        <a:rPr sz="800" spc="-1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within 5</a:t>
                      </a:r>
                      <a:r>
                        <a:rPr sz="80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a:t>
                      </a:r>
                      <a:r>
                        <a:rPr lang="en-US" sz="800" spc="-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of</a:t>
                      </a:r>
                      <a:r>
                        <a:rPr sz="800" spc="-1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actual</a:t>
                      </a:r>
                      <a:r>
                        <a:rPr sz="800" spc="-5" dirty="0">
                          <a:latin typeface="Arial" panose="020B0604020202020204" pitchFamily="34" charset="0"/>
                          <a:cs typeface="Arial" panose="020B0604020202020204" pitchFamily="34" charset="0"/>
                        </a:rPr>
                        <a:t> peak </a:t>
                      </a:r>
                      <a:r>
                        <a:rPr sz="800" spc="-10" dirty="0">
                          <a:latin typeface="Arial" panose="020B0604020202020204" pitchFamily="34" charset="0"/>
                          <a:cs typeface="Arial" panose="020B0604020202020204" pitchFamily="34" charset="0"/>
                        </a:rPr>
                        <a:t>temp</a:t>
                      </a:r>
                      <a:endParaRPr sz="800" dirty="0">
                        <a:latin typeface="Arial" panose="020B0604020202020204" pitchFamily="34" charset="0"/>
                        <a:cs typeface="Arial" panose="020B0604020202020204" pitchFamily="34" charset="0"/>
                      </a:endParaRP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30</a:t>
                      </a:r>
                      <a:r>
                        <a:rPr sz="800" spc="-45"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second</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1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70"/>
                        </a:lnSpc>
                      </a:pPr>
                      <a:r>
                        <a:rPr sz="800" spc="-5" dirty="0">
                          <a:latin typeface="Arial" panose="020B0604020202020204" pitchFamily="34" charset="0"/>
                          <a:cs typeface="Arial" panose="020B0604020202020204" pitchFamily="34" charset="0"/>
                        </a:rPr>
                        <a:t>Ramp-down</a:t>
                      </a:r>
                      <a:r>
                        <a:rPr sz="800" spc="-25" dirty="0">
                          <a:latin typeface="Arial" panose="020B0604020202020204" pitchFamily="34" charset="0"/>
                          <a:cs typeface="Arial" panose="020B0604020202020204" pitchFamily="34" charset="0"/>
                        </a:rPr>
                        <a:t> </a:t>
                      </a:r>
                      <a:r>
                        <a:rPr sz="800" spc="-15" dirty="0">
                          <a:latin typeface="Arial" panose="020B0604020202020204" pitchFamily="34" charset="0"/>
                          <a:cs typeface="Arial" panose="020B0604020202020204" pitchFamily="34" charset="0"/>
                        </a:rPr>
                        <a:t>rate</a:t>
                      </a:r>
                      <a:endParaRPr sz="800" dirty="0">
                        <a:latin typeface="Arial" panose="020B0604020202020204" pitchFamily="34" charset="0"/>
                        <a:cs typeface="Arial" panose="020B0604020202020204" pitchFamily="34" charset="0"/>
                      </a:endParaRPr>
                    </a:p>
                  </a:txBody>
                  <a:tcPr marL="0" marR="0" marT="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5" dirty="0">
                          <a:latin typeface="Arial" panose="020B0604020202020204" pitchFamily="34" charset="0"/>
                          <a:cs typeface="Arial" panose="020B0604020202020204" pitchFamily="34" charset="0"/>
                        </a:rPr>
                        <a:t>6</a:t>
                      </a:r>
                      <a:r>
                        <a:rPr sz="800" spc="190"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℃/second</a:t>
                      </a:r>
                      <a:r>
                        <a:rPr sz="800" spc="-2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max.</a:t>
                      </a:r>
                      <a:endParaRPr sz="800" dirty="0">
                        <a:latin typeface="Arial" panose="020B0604020202020204" pitchFamily="34" charset="0"/>
                        <a:cs typeface="Arial" panose="020B0604020202020204" pitchFamily="34" charset="0"/>
                      </a:endParaRPr>
                    </a:p>
                  </a:txBody>
                  <a:tcPr marL="72000" marR="0" marT="381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02551">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ct val="100000"/>
                        </a:lnSpc>
                        <a:spcBef>
                          <a:spcPts val="30"/>
                        </a:spcBef>
                      </a:pP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i</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 f</a:t>
                      </a:r>
                      <a:r>
                        <a:rPr sz="800" spc="-15" dirty="0">
                          <a:latin typeface="Arial" panose="020B0604020202020204" pitchFamily="34" charset="0"/>
                          <a:cs typeface="Arial" panose="020B0604020202020204" pitchFamily="34" charset="0"/>
                        </a:rPr>
                        <a:t>r</a:t>
                      </a:r>
                      <a:r>
                        <a:rPr sz="800" dirty="0">
                          <a:latin typeface="Arial" panose="020B0604020202020204" pitchFamily="34" charset="0"/>
                          <a:cs typeface="Arial" panose="020B0604020202020204" pitchFamily="34" charset="0"/>
                        </a:rPr>
                        <a:t>om </a:t>
                      </a:r>
                      <a:r>
                        <a:rPr sz="800" spc="-5" dirty="0">
                          <a:latin typeface="Arial" panose="020B0604020202020204" pitchFamily="34" charset="0"/>
                          <a:cs typeface="Arial" panose="020B0604020202020204" pitchFamily="34" charset="0"/>
                        </a:rPr>
                        <a:t> </a:t>
                      </a:r>
                      <a:r>
                        <a:rPr sz="800" dirty="0">
                          <a:latin typeface="Arial" panose="020B0604020202020204" pitchFamily="34" charset="0"/>
                          <a:cs typeface="Arial" panose="020B0604020202020204" pitchFamily="34" charset="0"/>
                        </a:rPr>
                        <a:t>2</a:t>
                      </a:r>
                      <a:r>
                        <a:rPr sz="800" spc="15" dirty="0">
                          <a:latin typeface="Arial" panose="020B0604020202020204" pitchFamily="34" charset="0"/>
                          <a:cs typeface="Arial" panose="020B0604020202020204" pitchFamily="34" charset="0"/>
                        </a:rPr>
                        <a:t>5</a:t>
                      </a:r>
                      <a:r>
                        <a:rPr sz="800" dirty="0">
                          <a:latin typeface="Arial" panose="020B0604020202020204" pitchFamily="34" charset="0"/>
                          <a:cs typeface="Arial" panose="020B0604020202020204" pitchFamily="34" charset="0"/>
                        </a:rPr>
                        <a:t>℃</a:t>
                      </a:r>
                      <a:r>
                        <a:rPr lang="en-US" sz="800" dirty="0">
                          <a:latin typeface="Arial" panose="020B0604020202020204" pitchFamily="34" charset="0"/>
                          <a:cs typeface="Arial" panose="020B0604020202020204" pitchFamily="34" charset="0"/>
                        </a:rPr>
                        <a:t> </a:t>
                      </a:r>
                      <a:r>
                        <a:rPr sz="800" spc="-27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t</a:t>
                      </a:r>
                      <a:r>
                        <a:rPr sz="800" dirty="0">
                          <a:latin typeface="Arial" panose="020B0604020202020204" pitchFamily="34" charset="0"/>
                          <a:cs typeface="Arial" panose="020B0604020202020204" pitchFamily="34" charset="0"/>
                        </a:rPr>
                        <a:t>o </a:t>
                      </a:r>
                      <a:r>
                        <a:rPr sz="800" spc="5" dirty="0">
                          <a:latin typeface="Arial" panose="020B0604020202020204" pitchFamily="34" charset="0"/>
                          <a:cs typeface="Arial" panose="020B0604020202020204" pitchFamily="34" charset="0"/>
                        </a:rPr>
                        <a:t>p</a:t>
                      </a:r>
                      <a:r>
                        <a:rPr sz="800" spc="-5" dirty="0">
                          <a:latin typeface="Arial" panose="020B0604020202020204" pitchFamily="34" charset="0"/>
                          <a:cs typeface="Arial" panose="020B0604020202020204" pitchFamily="34" charset="0"/>
                        </a:rPr>
                        <a:t>e</a:t>
                      </a:r>
                      <a:r>
                        <a:rPr sz="800" dirty="0">
                          <a:latin typeface="Arial" panose="020B0604020202020204" pitchFamily="34" charset="0"/>
                          <a:cs typeface="Arial" panose="020B0604020202020204" pitchFamily="34" charset="0"/>
                        </a:rPr>
                        <a:t>ak </a:t>
                      </a:r>
                      <a:r>
                        <a:rPr sz="800" spc="-10" dirty="0">
                          <a:latin typeface="Arial" panose="020B0604020202020204" pitchFamily="34" charset="0"/>
                          <a:cs typeface="Arial" panose="020B0604020202020204" pitchFamily="34" charset="0"/>
                        </a:rPr>
                        <a:t>t</a:t>
                      </a:r>
                      <a:r>
                        <a:rPr sz="800" spc="-5" dirty="0">
                          <a:latin typeface="Arial" panose="020B0604020202020204" pitchFamily="34" charset="0"/>
                          <a:cs typeface="Arial" panose="020B0604020202020204" pitchFamily="34" charset="0"/>
                        </a:rPr>
                        <a:t>e</a:t>
                      </a:r>
                      <a:r>
                        <a:rPr sz="800" spc="5" dirty="0">
                          <a:latin typeface="Arial" panose="020B0604020202020204" pitchFamily="34" charset="0"/>
                          <a:cs typeface="Arial" panose="020B0604020202020204" pitchFamily="34" charset="0"/>
                        </a:rPr>
                        <a:t>m</a:t>
                      </a:r>
                      <a:r>
                        <a:rPr sz="800" dirty="0">
                          <a:latin typeface="Arial" panose="020B0604020202020204" pitchFamily="34" charset="0"/>
                          <a:cs typeface="Arial" panose="020B0604020202020204" pitchFamily="34" charset="0"/>
                        </a:rPr>
                        <a:t>p</a:t>
                      </a:r>
                    </a:p>
                  </a:txBody>
                  <a:tcPr marL="0" marR="0" marT="3810" marB="0" anchor="ctr">
                    <a:lnL w="3175"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895327" rtl="0" eaLnBrk="1" latinLnBrk="1" hangingPunct="1">
                        <a:defRPr sz="1763" kern="1200">
                          <a:solidFill>
                            <a:schemeClr val="tx1"/>
                          </a:solidFill>
                          <a:latin typeface="Calibri"/>
                        </a:defRPr>
                      </a:lvl1pPr>
                      <a:lvl2pPr marL="447663" algn="l" defTabSz="895327" rtl="0" eaLnBrk="1" latinLnBrk="1" hangingPunct="1">
                        <a:defRPr sz="1763" kern="1200">
                          <a:solidFill>
                            <a:schemeClr val="tx1"/>
                          </a:solidFill>
                          <a:latin typeface="Calibri"/>
                        </a:defRPr>
                      </a:lvl2pPr>
                      <a:lvl3pPr marL="895327" algn="l" defTabSz="895327" rtl="0" eaLnBrk="1" latinLnBrk="1" hangingPunct="1">
                        <a:defRPr sz="1763" kern="1200">
                          <a:solidFill>
                            <a:schemeClr val="tx1"/>
                          </a:solidFill>
                          <a:latin typeface="Calibri"/>
                        </a:defRPr>
                      </a:lvl3pPr>
                      <a:lvl4pPr marL="1342990" algn="l" defTabSz="895327" rtl="0" eaLnBrk="1" latinLnBrk="1" hangingPunct="1">
                        <a:defRPr sz="1763" kern="1200">
                          <a:solidFill>
                            <a:schemeClr val="tx1"/>
                          </a:solidFill>
                          <a:latin typeface="Calibri"/>
                        </a:defRPr>
                      </a:lvl4pPr>
                      <a:lvl5pPr marL="1790653" algn="l" defTabSz="895327" rtl="0" eaLnBrk="1" latinLnBrk="1" hangingPunct="1">
                        <a:defRPr sz="1763" kern="1200">
                          <a:solidFill>
                            <a:schemeClr val="tx1"/>
                          </a:solidFill>
                          <a:latin typeface="Calibri"/>
                        </a:defRPr>
                      </a:lvl5pPr>
                      <a:lvl6pPr marL="2238316" algn="l" defTabSz="895327" rtl="0" eaLnBrk="1" latinLnBrk="1" hangingPunct="1">
                        <a:defRPr sz="1763" kern="1200">
                          <a:solidFill>
                            <a:schemeClr val="tx1"/>
                          </a:solidFill>
                          <a:latin typeface="Calibri"/>
                        </a:defRPr>
                      </a:lvl6pPr>
                      <a:lvl7pPr marL="2685980" algn="l" defTabSz="895327" rtl="0" eaLnBrk="1" latinLnBrk="1" hangingPunct="1">
                        <a:defRPr sz="1763" kern="1200">
                          <a:solidFill>
                            <a:schemeClr val="tx1"/>
                          </a:solidFill>
                          <a:latin typeface="Calibri"/>
                        </a:defRPr>
                      </a:lvl7pPr>
                      <a:lvl8pPr marL="3133643" algn="l" defTabSz="895327" rtl="0" eaLnBrk="1" latinLnBrk="1" hangingPunct="1">
                        <a:defRPr sz="1763" kern="1200">
                          <a:solidFill>
                            <a:schemeClr val="tx1"/>
                          </a:solidFill>
                          <a:latin typeface="Calibri"/>
                        </a:defRPr>
                      </a:lvl8pPr>
                      <a:lvl9pPr marL="3581306" algn="l" defTabSz="895327" rtl="0" eaLnBrk="1" latinLnBrk="1" hangingPunct="1">
                        <a:defRPr sz="1763" kern="1200">
                          <a:solidFill>
                            <a:schemeClr val="tx1"/>
                          </a:solidFill>
                          <a:latin typeface="Calibri"/>
                        </a:defRPr>
                      </a:lvl9pPr>
                    </a:lstStyle>
                    <a:p>
                      <a:pPr marL="68580" algn="l">
                        <a:lnSpc>
                          <a:spcPts val="1185"/>
                        </a:lnSpc>
                      </a:pPr>
                      <a:r>
                        <a:rPr sz="800" spc="-5" dirty="0">
                          <a:latin typeface="Arial" panose="020B0604020202020204" pitchFamily="34" charset="0"/>
                          <a:cs typeface="Arial" panose="020B0604020202020204" pitchFamily="34" charset="0"/>
                        </a:rPr>
                        <a:t>8</a:t>
                      </a:r>
                      <a:r>
                        <a:rPr sz="800" spc="-30" dirty="0">
                          <a:latin typeface="Arial" panose="020B0604020202020204" pitchFamily="34" charset="0"/>
                          <a:cs typeface="Arial" panose="020B0604020202020204" pitchFamily="34" charset="0"/>
                        </a:rPr>
                        <a:t> </a:t>
                      </a:r>
                      <a:r>
                        <a:rPr sz="800" spc="-5" dirty="0">
                          <a:latin typeface="Arial" panose="020B0604020202020204" pitchFamily="34" charset="0"/>
                          <a:cs typeface="Arial" panose="020B0604020202020204" pitchFamily="34" charset="0"/>
                        </a:rPr>
                        <a:t>minutes</a:t>
                      </a:r>
                      <a:r>
                        <a:rPr sz="800" spc="-15" dirty="0">
                          <a:latin typeface="Arial" panose="020B0604020202020204" pitchFamily="34" charset="0"/>
                          <a:cs typeface="Arial" panose="020B0604020202020204" pitchFamily="34" charset="0"/>
                        </a:rPr>
                        <a:t> </a:t>
                      </a:r>
                      <a:r>
                        <a:rPr sz="800" spc="-10" dirty="0">
                          <a:latin typeface="Arial" panose="020B0604020202020204" pitchFamily="34" charset="0"/>
                          <a:cs typeface="Arial" panose="020B0604020202020204" pitchFamily="34" charset="0"/>
                        </a:rPr>
                        <a:t>max</a:t>
                      </a:r>
                      <a:r>
                        <a:rPr lang="en-US" sz="800" spc="-10" dirty="0">
                          <a:latin typeface="Arial" panose="020B0604020202020204" pitchFamily="34" charset="0"/>
                          <a:cs typeface="Arial" panose="020B0604020202020204" pitchFamily="34" charset="0"/>
                        </a:rPr>
                        <a:t>.</a:t>
                      </a:r>
                      <a:endParaRPr sz="800" dirty="0">
                        <a:latin typeface="Arial" panose="020B0604020202020204" pitchFamily="34" charset="0"/>
                        <a:cs typeface="Arial" panose="020B0604020202020204" pitchFamily="34" charset="0"/>
                      </a:endParaRPr>
                    </a:p>
                  </a:txBody>
                  <a:tcPr marL="72000" marR="0" marT="0" marB="0" anchor="ctr">
                    <a:lnL w="12700" cap="flat" cmpd="sng" algn="ctr">
                      <a:solidFill>
                        <a:schemeClr val="bg1">
                          <a:lumMod val="65000"/>
                        </a:schemeClr>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tx1">
                          <a:lumMod val="95000"/>
                          <a:lumOff val="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 name="object 11">
            <a:extLst>
              <a:ext uri="{FF2B5EF4-FFF2-40B4-BE49-F238E27FC236}">
                <a16:creationId xmlns:a16="http://schemas.microsoft.com/office/drawing/2014/main" id="{06E257B3-9A41-8CE5-63AA-10352626E5C4}"/>
              </a:ext>
            </a:extLst>
          </p:cNvPr>
          <p:cNvSpPr txBox="1"/>
          <p:nvPr/>
        </p:nvSpPr>
        <p:spPr>
          <a:xfrm>
            <a:off x="2354026" y="6878677"/>
            <a:ext cx="2149948" cy="132024"/>
          </a:xfrm>
          <a:prstGeom prst="rect">
            <a:avLst/>
          </a:prstGeom>
        </p:spPr>
        <p:txBody>
          <a:bodyPr vert="horz" wrap="none" lIns="0" tIns="0" rIns="0" bIns="0" rtlCol="0" anchor="ctr" anchorCtr="0">
            <a:spAutoFit/>
          </a:bodyPr>
          <a:lstStyle/>
          <a:p>
            <a:pPr marL="63500" defTabSz="839876" fontAlgn="auto">
              <a:lnSpc>
                <a:spcPts val="1065"/>
              </a:lnSpc>
              <a:spcBef>
                <a:spcPts val="100"/>
              </a:spcBef>
              <a:spcAft>
                <a:spcPts val="0"/>
              </a:spcAft>
              <a:tabLst>
                <a:tab pos="673100" algn="l"/>
              </a:tabLst>
            </a:pPr>
            <a:r>
              <a:rPr kumimoji="0" sz="900" b="1" spc="-65" dirty="0">
                <a:solidFill>
                  <a:prstClr val="black"/>
                </a:solidFill>
                <a:latin typeface="Arial" panose="020B0604020202020204" pitchFamily="34" charset="0"/>
                <a:ea typeface="+mn-ea"/>
                <a:cs typeface="Arial" panose="020B0604020202020204" pitchFamily="34" charset="0"/>
              </a:rPr>
              <a:t>T</a:t>
            </a:r>
            <a:r>
              <a:rPr kumimoji="0" sz="900" b="1" spc="-10" dirty="0">
                <a:solidFill>
                  <a:prstClr val="black"/>
                </a:solidFill>
                <a:latin typeface="Arial" panose="020B0604020202020204" pitchFamily="34" charset="0"/>
                <a:ea typeface="+mn-ea"/>
                <a:cs typeface="Arial" panose="020B0604020202020204" pitchFamily="34" charset="0"/>
              </a:rPr>
              <a:t>a</a:t>
            </a:r>
            <a:r>
              <a:rPr kumimoji="0" sz="900" b="1" spc="-5" dirty="0">
                <a:solidFill>
                  <a:prstClr val="black"/>
                </a:solidFill>
                <a:latin typeface="Arial" panose="020B0604020202020204" pitchFamily="34" charset="0"/>
                <a:ea typeface="+mn-ea"/>
                <a:cs typeface="Arial" panose="020B0604020202020204" pitchFamily="34" charset="0"/>
              </a:rPr>
              <a:t>bl</a:t>
            </a:r>
            <a:r>
              <a:rPr kumimoji="0" sz="900" b="1" dirty="0">
                <a:solidFill>
                  <a:prstClr val="black"/>
                </a:solidFill>
                <a:latin typeface="Arial" panose="020B0604020202020204" pitchFamily="34" charset="0"/>
                <a:ea typeface="+mn-ea"/>
                <a:cs typeface="Arial" panose="020B0604020202020204" pitchFamily="34" charset="0"/>
              </a:rPr>
              <a:t>e </a:t>
            </a:r>
            <a:r>
              <a:rPr kumimoji="0" lang="en-US" sz="900" b="1" dirty="0">
                <a:solidFill>
                  <a:prstClr val="black"/>
                </a:solidFill>
                <a:latin typeface="Arial" panose="020B0604020202020204" pitchFamily="34" charset="0"/>
                <a:ea typeface="+mn-ea"/>
                <a:cs typeface="Arial" panose="020B0604020202020204" pitchFamily="34" charset="0"/>
              </a:rPr>
              <a:t>8</a:t>
            </a:r>
            <a:r>
              <a:rPr kumimoji="0" sz="900" b="1" dirty="0">
                <a:solidFill>
                  <a:prstClr val="black"/>
                </a:solidFill>
                <a:latin typeface="Arial" panose="020B0604020202020204" pitchFamily="34" charset="0"/>
                <a:ea typeface="+mn-ea"/>
                <a:cs typeface="Arial" panose="020B0604020202020204" pitchFamily="34" charset="0"/>
              </a:rPr>
              <a:t>.</a:t>
            </a:r>
            <a:r>
              <a:rPr kumimoji="0" lang="en-US" sz="900" b="1" dirty="0">
                <a:solidFill>
                  <a:prstClr val="black"/>
                </a:solidFill>
                <a:latin typeface="Arial" panose="020B0604020202020204" pitchFamily="34" charset="0"/>
                <a:ea typeface="+mn-ea"/>
                <a:cs typeface="Arial" panose="020B0604020202020204" pitchFamily="34" charset="0"/>
              </a:rPr>
              <a:t>   Reflow Soldering Parameter </a:t>
            </a:r>
            <a:endParaRPr kumimoji="0" sz="900" dirty="0">
              <a:solidFill>
                <a:prstClr val="black"/>
              </a:solidFill>
              <a:latin typeface="Arial" panose="020B0604020202020204" pitchFamily="34" charset="0"/>
              <a:ea typeface="+mn-ea"/>
              <a:cs typeface="Arial" panose="020B0604020202020204" pitchFamily="34" charset="0"/>
            </a:endParaRPr>
          </a:p>
        </p:txBody>
      </p:sp>
      <p:sp>
        <p:nvSpPr>
          <p:cNvPr id="8" name="object 7">
            <a:extLst>
              <a:ext uri="{FF2B5EF4-FFF2-40B4-BE49-F238E27FC236}">
                <a16:creationId xmlns:a16="http://schemas.microsoft.com/office/drawing/2014/main" id="{A0C13D78-B121-E931-7EEB-8699D7C4FF1A}"/>
              </a:ext>
            </a:extLst>
          </p:cNvPr>
          <p:cNvSpPr txBox="1"/>
          <p:nvPr/>
        </p:nvSpPr>
        <p:spPr>
          <a:xfrm>
            <a:off x="404812" y="7106106"/>
            <a:ext cx="6048622" cy="1164421"/>
          </a:xfrm>
          <a:prstGeom prst="rect">
            <a:avLst/>
          </a:prstGeom>
        </p:spPr>
        <p:txBody>
          <a:bodyPr vert="horz" wrap="square" lIns="0" tIns="0" rIns="0" bIns="0" rtlCol="0" anchor="ctr" anchorCtr="0">
            <a:spAutoFit/>
          </a:bodyPr>
          <a:lstStyle/>
          <a:p>
            <a:pPr marL="11527" marR="4611">
              <a:spcBef>
                <a:spcPts val="159"/>
              </a:spcBef>
            </a:pPr>
            <a:r>
              <a:rPr sz="800" spc="-5" dirty="0">
                <a:latin typeface="Arial"/>
                <a:cs typeface="Arial"/>
              </a:rPr>
              <a:t>Note: </a:t>
            </a:r>
            <a:endParaRPr lang="en-US" sz="800" spc="-5" dirty="0">
              <a:latin typeface="Arial"/>
              <a:cs typeface="Arial"/>
            </a:endParaRPr>
          </a:p>
          <a:p>
            <a:pPr marL="11527" marR="4611">
              <a:spcBef>
                <a:spcPts val="159"/>
              </a:spcBef>
            </a:pPr>
            <a:r>
              <a:rPr lang="en-US" sz="800" spc="-5" dirty="0">
                <a:latin typeface="Arial"/>
                <a:cs typeface="Arial"/>
              </a:rPr>
              <a:t>1. </a:t>
            </a:r>
            <a:r>
              <a:rPr sz="800" spc="-5" dirty="0">
                <a:latin typeface="Arial"/>
                <a:cs typeface="Arial"/>
              </a:rPr>
              <a:t>The</a:t>
            </a:r>
            <a:r>
              <a:rPr sz="800" spc="14" dirty="0">
                <a:latin typeface="Arial"/>
                <a:cs typeface="Arial"/>
              </a:rPr>
              <a:t> </a:t>
            </a:r>
            <a:r>
              <a:rPr sz="800" spc="-5" dirty="0">
                <a:latin typeface="Arial"/>
                <a:cs typeface="Arial"/>
              </a:rPr>
              <a:t>reflow</a:t>
            </a:r>
            <a:r>
              <a:rPr sz="800" spc="5" dirty="0">
                <a:latin typeface="Arial"/>
                <a:cs typeface="Arial"/>
              </a:rPr>
              <a:t> </a:t>
            </a:r>
            <a:r>
              <a:rPr sz="800" spc="-5" dirty="0">
                <a:latin typeface="Arial"/>
                <a:cs typeface="Arial"/>
              </a:rPr>
              <a:t>peak</a:t>
            </a:r>
            <a:r>
              <a:rPr sz="800" spc="9" dirty="0">
                <a:latin typeface="Arial"/>
                <a:cs typeface="Arial"/>
              </a:rPr>
              <a:t> </a:t>
            </a:r>
            <a:r>
              <a:rPr sz="800" spc="-5" dirty="0">
                <a:latin typeface="Arial"/>
                <a:cs typeface="Arial"/>
              </a:rPr>
              <a:t>soldering</a:t>
            </a:r>
            <a:r>
              <a:rPr sz="800" spc="14" dirty="0">
                <a:latin typeface="Arial"/>
                <a:cs typeface="Arial"/>
              </a:rPr>
              <a:t> </a:t>
            </a:r>
            <a:r>
              <a:rPr sz="800" spc="-5" dirty="0">
                <a:latin typeface="Arial"/>
                <a:cs typeface="Arial"/>
              </a:rPr>
              <a:t>temperature</a:t>
            </a:r>
            <a:r>
              <a:rPr sz="800" spc="14" dirty="0">
                <a:latin typeface="Arial"/>
                <a:cs typeface="Arial"/>
              </a:rPr>
              <a:t> </a:t>
            </a:r>
            <a:r>
              <a:rPr sz="800" spc="-9" dirty="0">
                <a:latin typeface="Arial"/>
                <a:cs typeface="Arial"/>
              </a:rPr>
              <a:t>is</a:t>
            </a:r>
            <a:r>
              <a:rPr sz="800" spc="23" dirty="0">
                <a:latin typeface="Arial"/>
                <a:cs typeface="Arial"/>
              </a:rPr>
              <a:t> </a:t>
            </a:r>
            <a:r>
              <a:rPr sz="800" spc="-9" dirty="0">
                <a:latin typeface="Arial"/>
                <a:cs typeface="Arial"/>
              </a:rPr>
              <a:t>peak</a:t>
            </a:r>
            <a:r>
              <a:rPr sz="800" spc="27" dirty="0">
                <a:latin typeface="Arial"/>
                <a:cs typeface="Arial"/>
              </a:rPr>
              <a:t> </a:t>
            </a:r>
            <a:r>
              <a:rPr sz="800" spc="-5" dirty="0">
                <a:latin typeface="Arial"/>
                <a:cs typeface="Arial"/>
              </a:rPr>
              <a:t>260°C</a:t>
            </a:r>
            <a:r>
              <a:rPr sz="800" spc="18" dirty="0">
                <a:latin typeface="Arial"/>
                <a:cs typeface="Arial"/>
              </a:rPr>
              <a:t> </a:t>
            </a:r>
            <a:r>
              <a:rPr sz="800" spc="-5" dirty="0">
                <a:latin typeface="Arial"/>
                <a:cs typeface="Arial"/>
              </a:rPr>
              <a:t>and</a:t>
            </a:r>
            <a:r>
              <a:rPr sz="800" spc="14" dirty="0">
                <a:latin typeface="Arial"/>
                <a:cs typeface="Arial"/>
              </a:rPr>
              <a:t> </a:t>
            </a:r>
            <a:r>
              <a:rPr sz="800" spc="-9" dirty="0">
                <a:latin typeface="Arial"/>
                <a:cs typeface="Arial"/>
              </a:rPr>
              <a:t>it</a:t>
            </a:r>
            <a:r>
              <a:rPr sz="800" spc="18" dirty="0">
                <a:latin typeface="Arial"/>
                <a:cs typeface="Arial"/>
              </a:rPr>
              <a:t> </a:t>
            </a:r>
            <a:r>
              <a:rPr sz="800" spc="-9" dirty="0">
                <a:latin typeface="Arial"/>
                <a:cs typeface="Arial"/>
              </a:rPr>
              <a:t>is</a:t>
            </a:r>
            <a:r>
              <a:rPr sz="800" spc="9" dirty="0">
                <a:latin typeface="Arial"/>
                <a:cs typeface="Arial"/>
              </a:rPr>
              <a:t> </a:t>
            </a:r>
            <a:r>
              <a:rPr sz="800" spc="-5" dirty="0">
                <a:latin typeface="Arial"/>
                <a:cs typeface="Arial"/>
              </a:rPr>
              <a:t>specified</a:t>
            </a:r>
            <a:r>
              <a:rPr sz="800" spc="5" dirty="0">
                <a:latin typeface="Arial"/>
                <a:cs typeface="Arial"/>
              </a:rPr>
              <a:t> </a:t>
            </a:r>
            <a:r>
              <a:rPr sz="800" spc="-5" dirty="0">
                <a:latin typeface="Arial"/>
                <a:cs typeface="Arial"/>
              </a:rPr>
              <a:t>based</a:t>
            </a:r>
            <a:r>
              <a:rPr sz="800" spc="5" dirty="0">
                <a:latin typeface="Arial"/>
                <a:cs typeface="Arial"/>
              </a:rPr>
              <a:t> </a:t>
            </a:r>
            <a:r>
              <a:rPr sz="800" dirty="0">
                <a:latin typeface="Arial"/>
                <a:cs typeface="Arial"/>
              </a:rPr>
              <a:t>on</a:t>
            </a:r>
            <a:r>
              <a:rPr sz="800" spc="5" dirty="0">
                <a:latin typeface="Arial"/>
                <a:cs typeface="Arial"/>
              </a:rPr>
              <a:t> </a:t>
            </a:r>
            <a:r>
              <a:rPr sz="800" spc="-5" dirty="0">
                <a:latin typeface="Arial"/>
                <a:cs typeface="Arial"/>
              </a:rPr>
              <a:t>IPC/JEDEC</a:t>
            </a:r>
            <a:r>
              <a:rPr sz="800" spc="5" dirty="0">
                <a:latin typeface="Arial"/>
                <a:cs typeface="Arial"/>
              </a:rPr>
              <a:t> </a:t>
            </a:r>
            <a:r>
              <a:rPr sz="800" spc="-5" dirty="0">
                <a:latin typeface="Arial"/>
                <a:cs typeface="Arial"/>
              </a:rPr>
              <a:t>J-STD- </a:t>
            </a:r>
            <a:r>
              <a:rPr sz="800" spc="-236" dirty="0">
                <a:latin typeface="Arial"/>
                <a:cs typeface="Arial"/>
              </a:rPr>
              <a:t> </a:t>
            </a:r>
            <a:r>
              <a:rPr sz="800" spc="-9" dirty="0">
                <a:latin typeface="Arial"/>
                <a:cs typeface="Arial"/>
              </a:rPr>
              <a:t>020</a:t>
            </a:r>
            <a:r>
              <a:rPr sz="800" dirty="0">
                <a:latin typeface="Arial"/>
                <a:cs typeface="Arial"/>
              </a:rPr>
              <a:t> </a:t>
            </a:r>
            <a:r>
              <a:rPr sz="800" spc="-5" dirty="0">
                <a:latin typeface="Arial"/>
                <a:cs typeface="Arial"/>
              </a:rPr>
              <a:t>“</a:t>
            </a:r>
            <a:endParaRPr lang="en-US" sz="800" spc="-5" dirty="0">
              <a:latin typeface="Arial"/>
              <a:cs typeface="Arial"/>
            </a:endParaRPr>
          </a:p>
          <a:p>
            <a:pPr marL="11527" marR="4611">
              <a:spcBef>
                <a:spcPts val="159"/>
              </a:spcBef>
            </a:pPr>
            <a:r>
              <a:rPr lang="en-US" sz="800" spc="-5" dirty="0">
                <a:latin typeface="Arial"/>
                <a:cs typeface="Arial"/>
              </a:rPr>
              <a:t>     </a:t>
            </a:r>
            <a:r>
              <a:rPr sz="800" spc="-5" dirty="0">
                <a:latin typeface="Arial"/>
                <a:cs typeface="Arial"/>
              </a:rPr>
              <a:t>Moisture/Reflow</a:t>
            </a:r>
            <a:r>
              <a:rPr sz="800" spc="14" dirty="0">
                <a:latin typeface="Arial"/>
                <a:cs typeface="Arial"/>
              </a:rPr>
              <a:t> </a:t>
            </a:r>
            <a:r>
              <a:rPr sz="800" spc="-5" dirty="0">
                <a:latin typeface="Arial"/>
                <a:cs typeface="Arial"/>
              </a:rPr>
              <a:t>Sensitivity</a:t>
            </a:r>
            <a:r>
              <a:rPr sz="800" spc="5" dirty="0">
                <a:latin typeface="Arial"/>
                <a:cs typeface="Arial"/>
              </a:rPr>
              <a:t> </a:t>
            </a:r>
            <a:r>
              <a:rPr sz="800" spc="-5" dirty="0">
                <a:latin typeface="Arial"/>
                <a:cs typeface="Arial"/>
              </a:rPr>
              <a:t>Classification</a:t>
            </a:r>
            <a:r>
              <a:rPr sz="800" spc="5" dirty="0">
                <a:latin typeface="Arial"/>
                <a:cs typeface="Arial"/>
              </a:rPr>
              <a:t> </a:t>
            </a:r>
            <a:r>
              <a:rPr sz="800" spc="-5" dirty="0">
                <a:latin typeface="Arial"/>
                <a:cs typeface="Arial"/>
              </a:rPr>
              <a:t>for</a:t>
            </a:r>
            <a:r>
              <a:rPr sz="800" spc="14" dirty="0">
                <a:latin typeface="Arial"/>
                <a:cs typeface="Arial"/>
              </a:rPr>
              <a:t> </a:t>
            </a:r>
            <a:r>
              <a:rPr sz="800" spc="-5" dirty="0">
                <a:latin typeface="Arial"/>
                <a:cs typeface="Arial"/>
              </a:rPr>
              <a:t>Non-Hermetic</a:t>
            </a:r>
            <a:r>
              <a:rPr sz="800" spc="9" dirty="0">
                <a:latin typeface="Arial"/>
                <a:cs typeface="Arial"/>
              </a:rPr>
              <a:t> </a:t>
            </a:r>
            <a:r>
              <a:rPr sz="800" spc="-5" dirty="0">
                <a:latin typeface="Arial"/>
                <a:cs typeface="Arial"/>
              </a:rPr>
              <a:t>Solid</a:t>
            </a:r>
            <a:r>
              <a:rPr sz="800" spc="9" dirty="0">
                <a:latin typeface="Arial"/>
                <a:cs typeface="Arial"/>
              </a:rPr>
              <a:t> </a:t>
            </a:r>
            <a:r>
              <a:rPr sz="800" spc="-5" dirty="0">
                <a:latin typeface="Arial"/>
                <a:cs typeface="Arial"/>
              </a:rPr>
              <a:t>State</a:t>
            </a:r>
            <a:r>
              <a:rPr sz="800" spc="5" dirty="0">
                <a:latin typeface="Arial"/>
                <a:cs typeface="Arial"/>
              </a:rPr>
              <a:t> </a:t>
            </a:r>
            <a:r>
              <a:rPr sz="800" dirty="0">
                <a:latin typeface="Arial"/>
                <a:cs typeface="Arial"/>
              </a:rPr>
              <a:t>Surface </a:t>
            </a:r>
            <a:r>
              <a:rPr sz="800" spc="-5" dirty="0">
                <a:latin typeface="Arial"/>
                <a:cs typeface="Arial"/>
              </a:rPr>
              <a:t>Mount</a:t>
            </a:r>
            <a:r>
              <a:rPr sz="800" spc="5" dirty="0">
                <a:latin typeface="Arial"/>
                <a:cs typeface="Arial"/>
              </a:rPr>
              <a:t> </a:t>
            </a:r>
            <a:r>
              <a:rPr sz="800" dirty="0">
                <a:latin typeface="Arial"/>
                <a:cs typeface="Arial"/>
              </a:rPr>
              <a:t>Devices”</a:t>
            </a:r>
            <a:endParaRPr lang="en-US" sz="800" dirty="0">
              <a:latin typeface="Arial"/>
              <a:cs typeface="Arial"/>
            </a:endParaRPr>
          </a:p>
          <a:p>
            <a:pPr marL="11527" marR="4611">
              <a:spcBef>
                <a:spcPts val="159"/>
              </a:spcBef>
            </a:pPr>
            <a:r>
              <a:rPr lang="en-US" sz="800" dirty="0">
                <a:latin typeface="Arial"/>
                <a:cs typeface="Arial"/>
              </a:rPr>
              <a:t>2. Tolerance for peak proﬁle temperature (Tp) is deﬁned as a supplier minimum and a user maximum.</a:t>
            </a:r>
          </a:p>
          <a:p>
            <a:pPr marL="11527" marR="4611">
              <a:spcBef>
                <a:spcPts val="159"/>
              </a:spcBef>
            </a:pPr>
            <a:r>
              <a:rPr lang="en-US" sz="800" dirty="0">
                <a:latin typeface="Arial"/>
                <a:cs typeface="Arial"/>
              </a:rPr>
              <a:t>3. This document should serve as recommendation only. Other parameters may also affect soldering, so these profiles</a:t>
            </a:r>
          </a:p>
          <a:p>
            <a:pPr marL="11527" marR="4611">
              <a:spcBef>
                <a:spcPts val="159"/>
              </a:spcBef>
            </a:pPr>
            <a:r>
              <a:rPr lang="en-US" sz="800" dirty="0">
                <a:latin typeface="Arial"/>
                <a:cs typeface="Arial"/>
              </a:rPr>
              <a:t>     do not guarantee absolute success.</a:t>
            </a:r>
          </a:p>
          <a:p>
            <a:pPr marL="11527" marR="4611">
              <a:spcBef>
                <a:spcPts val="159"/>
              </a:spcBef>
            </a:pPr>
            <a:r>
              <a:rPr lang="en-US" sz="800" dirty="0">
                <a:latin typeface="Arial"/>
                <a:cs typeface="Arial"/>
              </a:rPr>
              <a:t>4. Soldering profile should be determined by the manufacturer of the solder paste, providing there is no contradiction          </a:t>
            </a:r>
          </a:p>
          <a:p>
            <a:pPr marL="11527" marR="4611">
              <a:spcBef>
                <a:spcPts val="159"/>
              </a:spcBef>
            </a:pPr>
            <a:r>
              <a:rPr lang="en-US" sz="800" dirty="0">
                <a:latin typeface="Arial"/>
                <a:cs typeface="Arial"/>
              </a:rPr>
              <a:t>      with the recommendations in this document.</a:t>
            </a:r>
            <a:endParaRPr sz="800" dirty="0">
              <a:latin typeface="Arial"/>
              <a:cs typeface="Arial"/>
            </a:endParaRPr>
          </a:p>
        </p:txBody>
      </p:sp>
      <p:pic>
        <p:nvPicPr>
          <p:cNvPr id="9" name="그림 8">
            <a:extLst>
              <a:ext uri="{FF2B5EF4-FFF2-40B4-BE49-F238E27FC236}">
                <a16:creationId xmlns:a16="http://schemas.microsoft.com/office/drawing/2014/main" id="{C0E285B1-B6CB-1626-B725-E8F932187911}"/>
              </a:ext>
            </a:extLst>
          </p:cNvPr>
          <p:cNvPicPr>
            <a:picLocks noChangeAspect="1"/>
          </p:cNvPicPr>
          <p:nvPr/>
        </p:nvPicPr>
        <p:blipFill>
          <a:blip r:embed="rId2"/>
          <a:stretch>
            <a:fillRect/>
          </a:stretch>
        </p:blipFill>
        <p:spPr>
          <a:xfrm>
            <a:off x="1164855" y="1131343"/>
            <a:ext cx="4483612" cy="3472798"/>
          </a:xfrm>
          <a:prstGeom prst="rect">
            <a:avLst/>
          </a:prstGeom>
        </p:spPr>
      </p:pic>
    </p:spTree>
    <p:extLst>
      <p:ext uri="{BB962C8B-B14F-4D97-AF65-F5344CB8AC3E}">
        <p14:creationId xmlns:p14="http://schemas.microsoft.com/office/powerpoint/2010/main" val="756617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04813" y="774866"/>
            <a:ext cx="6048621"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Package specification</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5FD10ED-8D61-313E-3D51-18422605D050}"/>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28" name="object 3">
            <a:extLst>
              <a:ext uri="{FF2B5EF4-FFF2-40B4-BE49-F238E27FC236}">
                <a16:creationId xmlns:a16="http://schemas.microsoft.com/office/drawing/2014/main" id="{21C39B93-B2F1-FB91-1EEE-E0B3D0A972CA}"/>
              </a:ext>
            </a:extLst>
          </p:cNvPr>
          <p:cNvSpPr txBox="1"/>
          <p:nvPr/>
        </p:nvSpPr>
        <p:spPr>
          <a:xfrm>
            <a:off x="2397979" y="1279904"/>
            <a:ext cx="2062039" cy="205629"/>
          </a:xfrm>
          <a:prstGeom prst="rect">
            <a:avLst/>
          </a:prstGeom>
        </p:spPr>
        <p:txBody>
          <a:bodyPr vert="horz" wrap="none" lIns="0" tIns="36000" rIns="0" bIns="0" rtlCol="0" anchor="ctr" anchorCtr="0">
            <a:spAutoFit/>
          </a:bodyPr>
          <a:lstStyle/>
          <a:p>
            <a:pPr algn="ctr" defTabSz="895327" fontAlgn="auto">
              <a:spcBef>
                <a:spcPts val="474"/>
              </a:spcBef>
              <a:spcAft>
                <a:spcPts val="0"/>
              </a:spcAft>
            </a:pPr>
            <a:r>
              <a:rPr lang="en-US" altLang="ko-KR" sz="1100" b="1" spc="-20" dirty="0">
                <a:solidFill>
                  <a:prstClr val="black"/>
                </a:solidFill>
                <a:latin typeface="Arial"/>
                <a:ea typeface="맑은 고딕" panose="020B0503020000020004" pitchFamily="50" charset="-127"/>
                <a:cs typeface="Arial"/>
              </a:rPr>
              <a:t>Q</a:t>
            </a:r>
            <a:r>
              <a:rPr kumimoji="0" lang="en-US" altLang="ko-KR" sz="1100" b="1" spc="-20" dirty="0">
                <a:solidFill>
                  <a:prstClr val="black"/>
                </a:solidFill>
                <a:latin typeface="Arial"/>
                <a:ea typeface="맑은 고딕" panose="020B0503020000020004" pitchFamily="50" charset="-127"/>
                <a:cs typeface="Arial"/>
              </a:rPr>
              <a:t>FN 3030-24L </a:t>
            </a:r>
            <a:r>
              <a:rPr kumimoji="0" lang="en-US" altLang="ko-KR" sz="1100" b="1" spc="-5" dirty="0">
                <a:solidFill>
                  <a:prstClr val="black"/>
                </a:solidFill>
                <a:latin typeface="Arial"/>
                <a:ea typeface="맑은 고딕" panose="020B0503020000020004" pitchFamily="50" charset="-127"/>
                <a:cs typeface="Arial"/>
              </a:rPr>
              <a:t> Package</a:t>
            </a:r>
            <a:r>
              <a:rPr kumimoji="0" lang="en-US" altLang="ko-KR" sz="1100" b="1" spc="-73" dirty="0">
                <a:solidFill>
                  <a:prstClr val="black"/>
                </a:solidFill>
                <a:latin typeface="Arial"/>
                <a:ea typeface="맑은 고딕" panose="020B0503020000020004" pitchFamily="50" charset="-127"/>
                <a:cs typeface="Arial"/>
              </a:rPr>
              <a:t> </a:t>
            </a:r>
            <a:r>
              <a:rPr kumimoji="0" lang="en-US" altLang="ko-KR" sz="1100" b="1" spc="-5" dirty="0">
                <a:solidFill>
                  <a:prstClr val="black"/>
                </a:solidFill>
                <a:latin typeface="Arial"/>
                <a:ea typeface="맑은 고딕" panose="020B0503020000020004" pitchFamily="50" charset="-127"/>
                <a:cs typeface="Arial"/>
              </a:rPr>
              <a:t>Outline</a:t>
            </a:r>
            <a:endParaRPr kumimoji="0" lang="en-US" altLang="ko-KR" sz="1100" b="1" dirty="0">
              <a:solidFill>
                <a:prstClr val="black"/>
              </a:solidFill>
              <a:latin typeface="Arial"/>
              <a:ea typeface="맑은 고딕" panose="020B0503020000020004" pitchFamily="50" charset="-127"/>
              <a:cs typeface="Arial"/>
            </a:endParaRPr>
          </a:p>
        </p:txBody>
      </p:sp>
      <p:sp>
        <p:nvSpPr>
          <p:cNvPr id="4" name="TextBox 3">
            <a:extLst>
              <a:ext uri="{FF2B5EF4-FFF2-40B4-BE49-F238E27FC236}">
                <a16:creationId xmlns:a16="http://schemas.microsoft.com/office/drawing/2014/main" id="{9E621096-62FF-F3FB-B214-0626BBC122F2}"/>
              </a:ext>
            </a:extLst>
          </p:cNvPr>
          <p:cNvSpPr txBox="1"/>
          <p:nvPr/>
        </p:nvSpPr>
        <p:spPr>
          <a:xfrm>
            <a:off x="1637426" y="1985330"/>
            <a:ext cx="625171"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TOP VIEW</a:t>
            </a:r>
            <a:endParaRPr lang="ko-KR" altLang="en-US" sz="1000" b="1"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424AB26A-2A4F-BA6C-ED63-EAD5D5067E09}"/>
              </a:ext>
            </a:extLst>
          </p:cNvPr>
          <p:cNvSpPr txBox="1"/>
          <p:nvPr/>
        </p:nvSpPr>
        <p:spPr>
          <a:xfrm>
            <a:off x="4292955" y="1985330"/>
            <a:ext cx="918521" cy="153888"/>
          </a:xfrm>
          <a:prstGeom prst="rect">
            <a:avLst/>
          </a:prstGeom>
          <a:noFill/>
        </p:spPr>
        <p:txBody>
          <a:bodyPr vert="horz" wrap="none" lIns="0" tIns="0" rIns="0" bIns="0" rtlCol="0" anchor="ctr" anchorCtr="0">
            <a:spAutoFit/>
          </a:bodyPr>
          <a:lstStyle>
            <a:defPPr>
              <a:defRPr lang="en-US"/>
            </a:defPPr>
            <a:lvl1pPr>
              <a:defRPr sz="1100">
                <a:latin typeface="Arial" panose="020B0604020202020204" pitchFamily="34" charset="0"/>
                <a:cs typeface="Arial" panose="020B0604020202020204" pitchFamily="34" charset="0"/>
              </a:defRPr>
            </a:lvl1pPr>
          </a:lstStyle>
          <a:p>
            <a:r>
              <a:rPr lang="en-US" altLang="ko-KR" sz="1000" b="1" dirty="0"/>
              <a:t>BOTTOM VIEW</a:t>
            </a:r>
            <a:endParaRPr lang="ko-KR" altLang="en-US" sz="1000" b="1" dirty="0"/>
          </a:p>
        </p:txBody>
      </p:sp>
      <p:sp>
        <p:nvSpPr>
          <p:cNvPr id="25" name="TextBox 24">
            <a:extLst>
              <a:ext uri="{FF2B5EF4-FFF2-40B4-BE49-F238E27FC236}">
                <a16:creationId xmlns:a16="http://schemas.microsoft.com/office/drawing/2014/main" id="{3F718B8D-5B0E-C219-4B20-1B9A6EE2DCAF}"/>
              </a:ext>
            </a:extLst>
          </p:cNvPr>
          <p:cNvSpPr txBox="1"/>
          <p:nvPr/>
        </p:nvSpPr>
        <p:spPr>
          <a:xfrm>
            <a:off x="1558118" y="4826657"/>
            <a:ext cx="660437" cy="153888"/>
          </a:xfrm>
          <a:prstGeom prst="rect">
            <a:avLst/>
          </a:prstGeom>
          <a:noFill/>
        </p:spPr>
        <p:txBody>
          <a:bodyPr vert="horz" wrap="none" lIns="0" tIns="0" rIns="0" bIns="0" rtlCol="0" anchor="ctr" anchorCtr="0">
            <a:spAutoFit/>
          </a:bodyPr>
          <a:lstStyle/>
          <a:p>
            <a:r>
              <a:rPr lang="en-US" altLang="ko-KR" sz="1000" b="1" dirty="0">
                <a:latin typeface="Arial" panose="020B0604020202020204" pitchFamily="34" charset="0"/>
                <a:cs typeface="Arial" panose="020B0604020202020204" pitchFamily="34" charset="0"/>
              </a:rPr>
              <a:t>SIDE VIEW</a:t>
            </a:r>
            <a:endParaRPr lang="ko-KR" altLang="en-US" sz="1000" b="1" dirty="0">
              <a:latin typeface="Arial" panose="020B0604020202020204" pitchFamily="34" charset="0"/>
              <a:cs typeface="Arial" panose="020B0604020202020204" pitchFamily="34" charset="0"/>
            </a:endParaRPr>
          </a:p>
        </p:txBody>
      </p:sp>
      <p:sp>
        <p:nvSpPr>
          <p:cNvPr id="30" name="object 84">
            <a:extLst>
              <a:ext uri="{FF2B5EF4-FFF2-40B4-BE49-F238E27FC236}">
                <a16:creationId xmlns:a16="http://schemas.microsoft.com/office/drawing/2014/main" id="{D3E2B387-5C0B-6B71-17F8-1605B9F32FAD}"/>
              </a:ext>
            </a:extLst>
          </p:cNvPr>
          <p:cNvSpPr txBox="1"/>
          <p:nvPr/>
        </p:nvSpPr>
        <p:spPr>
          <a:xfrm>
            <a:off x="2660199" y="8570396"/>
            <a:ext cx="1537600"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16. Package Outline</a:t>
            </a:r>
          </a:p>
        </p:txBody>
      </p:sp>
      <p:graphicFrame>
        <p:nvGraphicFramePr>
          <p:cNvPr id="31" name="object 2">
            <a:extLst>
              <a:ext uri="{FF2B5EF4-FFF2-40B4-BE49-F238E27FC236}">
                <a16:creationId xmlns:a16="http://schemas.microsoft.com/office/drawing/2014/main" id="{DE1D53D3-76EE-3C4C-856E-8D2DBBF63B94}"/>
              </a:ext>
            </a:extLst>
          </p:cNvPr>
          <p:cNvGraphicFramePr>
            <a:graphicFrameLocks noGrp="1"/>
          </p:cNvGraphicFramePr>
          <p:nvPr>
            <p:extLst>
              <p:ext uri="{D42A27DB-BD31-4B8C-83A1-F6EECF244321}">
                <p14:modId xmlns:p14="http://schemas.microsoft.com/office/powerpoint/2010/main" val="2715325607"/>
              </p:ext>
            </p:extLst>
          </p:nvPr>
        </p:nvGraphicFramePr>
        <p:xfrm>
          <a:off x="3772893" y="4863546"/>
          <a:ext cx="2089684" cy="3425188"/>
        </p:xfrm>
        <a:graphic>
          <a:graphicData uri="http://schemas.openxmlformats.org/drawingml/2006/table">
            <a:tbl>
              <a:tblPr firstRow="1" bandRow="1">
                <a:tableStyleId>{2D5ABB26-0587-4C30-8999-92F81FD0307C}</a:tableStyleId>
              </a:tblPr>
              <a:tblGrid>
                <a:gridCol w="614714">
                  <a:extLst>
                    <a:ext uri="{9D8B030D-6E8A-4147-A177-3AD203B41FA5}">
                      <a16:colId xmlns:a16="http://schemas.microsoft.com/office/drawing/2014/main" val="20000"/>
                    </a:ext>
                  </a:extLst>
                </a:gridCol>
                <a:gridCol w="492911">
                  <a:extLst>
                    <a:ext uri="{9D8B030D-6E8A-4147-A177-3AD203B41FA5}">
                      <a16:colId xmlns:a16="http://schemas.microsoft.com/office/drawing/2014/main" val="20001"/>
                    </a:ext>
                  </a:extLst>
                </a:gridCol>
                <a:gridCol w="483097">
                  <a:extLst>
                    <a:ext uri="{9D8B030D-6E8A-4147-A177-3AD203B41FA5}">
                      <a16:colId xmlns:a16="http://schemas.microsoft.com/office/drawing/2014/main" val="4065758931"/>
                    </a:ext>
                  </a:extLst>
                </a:gridCol>
                <a:gridCol w="498962">
                  <a:extLst>
                    <a:ext uri="{9D8B030D-6E8A-4147-A177-3AD203B41FA5}">
                      <a16:colId xmlns:a16="http://schemas.microsoft.com/office/drawing/2014/main" val="20002"/>
                    </a:ext>
                  </a:extLst>
                </a:gridCol>
              </a:tblGrid>
              <a:tr h="228236">
                <a:tc rowSpan="2">
                  <a:txBody>
                    <a:bodyPr/>
                    <a:lstStyle/>
                    <a:p>
                      <a:pPr marL="0" indent="0" algn="ctr">
                        <a:lnSpc>
                          <a:spcPct val="100000"/>
                        </a:lnSpc>
                        <a:spcBef>
                          <a:spcPts val="185"/>
                        </a:spcBef>
                      </a:pPr>
                      <a:r>
                        <a:rPr lang="en-US" sz="900" b="1"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3500" algn="ctr">
                        <a:lnSpc>
                          <a:spcPct val="100000"/>
                        </a:lnSpc>
                        <a:spcBef>
                          <a:spcPts val="185"/>
                        </a:spcBef>
                      </a:pPr>
                      <a:endParaRPr sz="1000" dirty="0">
                        <a:latin typeface="Calibri"/>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a:solidFill>
                        <a:srgbClr val="000000"/>
                      </a:solidFill>
                      <a:prstDash val="solid"/>
                    </a:lnT>
                    <a:lnB w="12700" cap="flat" cmpd="sng" algn="ctr">
                      <a:solidFill>
                        <a:srgbClr val="000000"/>
                      </a:solidFill>
                      <a:prstDash val="solid"/>
                      <a:round/>
                      <a:headEnd type="none" w="med" len="med"/>
                      <a:tailEnd type="none" w="med" len="med"/>
                    </a:lnB>
                  </a:tcPr>
                </a:tc>
                <a:tc hMerge="1">
                  <a:txBody>
                    <a:bodyPr/>
                    <a:lstStyle/>
                    <a:p>
                      <a:pPr marL="64135" algn="ctr">
                        <a:lnSpc>
                          <a:spcPct val="100000"/>
                        </a:lnSpc>
                        <a:spcBef>
                          <a:spcPts val="185"/>
                        </a:spcBef>
                      </a:pPr>
                      <a:endParaRPr sz="1000" dirty="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8236">
                <a:tc v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Min</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Typ</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685800" rtl="0" eaLnBrk="1" latinLnBrk="1" hangingPunct="1">
                        <a:lnSpc>
                          <a:spcPct val="100000"/>
                        </a:lnSpc>
                        <a:spcBef>
                          <a:spcPts val="185"/>
                        </a:spcBef>
                      </a:pPr>
                      <a:r>
                        <a:rPr lang="en-US" sz="900" b="1" kern="1200" spc="-10" dirty="0">
                          <a:solidFill>
                            <a:schemeClr val="tx1"/>
                          </a:solidFill>
                          <a:latin typeface="Arial" panose="020B0604020202020204" pitchFamily="34" charset="0"/>
                          <a:ea typeface="+mn-ea"/>
                          <a:cs typeface="Arial" panose="020B0604020202020204" pitchFamily="34" charset="0"/>
                        </a:rPr>
                        <a:t>Max</a:t>
                      </a:r>
                      <a:endParaRPr sz="900" b="1"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0.55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0.60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A2</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0.45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664519172"/>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A3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0.152 REF</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b1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0.08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0.13</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0.18</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D1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2.90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3.00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3.10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E1</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1.75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1.85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28236">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e </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gridSpan="3">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0.40 BSC</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cap="flat" cmpd="sng" algn="ctr">
                      <a:solidFill>
                        <a:srgbClr val="000000"/>
                      </a:solidFill>
                      <a:prstDash val="solid"/>
                      <a:round/>
                      <a:headEnd type="none" w="med" len="med"/>
                      <a:tailEnd type="none" w="med" len="med"/>
                    </a:lnL>
                    <a:lnR w="12700">
                      <a:solidFill>
                        <a:srgbClr val="000000"/>
                      </a:solidFill>
                      <a:prstDash val="soli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marL="0" indent="0" algn="ctr" defTabSz="685800" rtl="0" eaLnBrk="1" latinLnBrk="1" hangingPunct="1">
                        <a:lnSpc>
                          <a:spcPct val="100000"/>
                        </a:lnSpc>
                        <a:spcBef>
                          <a:spcPts val="185"/>
                        </a:spcBef>
                      </a:pPr>
                      <a:endParaRPr sz="1000" kern="1200" spc="-10" dirty="0">
                        <a:solidFill>
                          <a:schemeClr val="tx1"/>
                        </a:solidFill>
                        <a:latin typeface="Calibri"/>
                        <a:ea typeface="+mn-ea"/>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K</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29060">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L</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0.25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0.30</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0" indent="0" algn="ctr" defTabSz="685800" rtl="0" eaLnBrk="1" latinLnBrk="1" hangingPunct="1">
                        <a:lnSpc>
                          <a:spcPct val="100000"/>
                        </a:lnSpc>
                        <a:spcBef>
                          <a:spcPts val="185"/>
                        </a:spcBef>
                      </a:pPr>
                      <a:r>
                        <a:rPr lang="en-US" sz="900" kern="1200" spc="-10" dirty="0">
                          <a:solidFill>
                            <a:schemeClr val="tx1"/>
                          </a:solidFill>
                          <a:latin typeface="Arial" panose="020B0604020202020204" pitchFamily="34" charset="0"/>
                          <a:ea typeface="+mn-ea"/>
                          <a:cs typeface="Arial" panose="020B0604020202020204" pitchFamily="34" charset="0"/>
                        </a:rPr>
                        <a:t>0.35</a:t>
                      </a:r>
                      <a:endParaRPr sz="900" kern="1200" spc="-10" dirty="0">
                        <a:solidFill>
                          <a:schemeClr val="tx1"/>
                        </a:solidFill>
                        <a:latin typeface="Arial" panose="020B0604020202020204" pitchFamily="34" charset="0"/>
                        <a:ea typeface="+mn-ea"/>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32" name="그림 31">
            <a:extLst>
              <a:ext uri="{FF2B5EF4-FFF2-40B4-BE49-F238E27FC236}">
                <a16:creationId xmlns:a16="http://schemas.microsoft.com/office/drawing/2014/main" id="{B435EFBB-88BA-986A-A2BD-D2F1B5F99E01}"/>
              </a:ext>
            </a:extLst>
          </p:cNvPr>
          <p:cNvPicPr>
            <a:picLocks noChangeAspect="1"/>
          </p:cNvPicPr>
          <p:nvPr/>
        </p:nvPicPr>
        <p:blipFill>
          <a:blip r:embed="rId2"/>
          <a:stretch>
            <a:fillRect/>
          </a:stretch>
        </p:blipFill>
        <p:spPr>
          <a:xfrm>
            <a:off x="581913" y="2210454"/>
            <a:ext cx="2407920" cy="2300197"/>
          </a:xfrm>
          <a:prstGeom prst="rect">
            <a:avLst/>
          </a:prstGeom>
        </p:spPr>
      </p:pic>
      <p:pic>
        <p:nvPicPr>
          <p:cNvPr id="33" name="그림 32">
            <a:extLst>
              <a:ext uri="{FF2B5EF4-FFF2-40B4-BE49-F238E27FC236}">
                <a16:creationId xmlns:a16="http://schemas.microsoft.com/office/drawing/2014/main" id="{81912F96-0C5D-FF38-8B8D-D8AF51975D49}"/>
              </a:ext>
            </a:extLst>
          </p:cNvPr>
          <p:cNvPicPr>
            <a:picLocks noChangeAspect="1"/>
          </p:cNvPicPr>
          <p:nvPr/>
        </p:nvPicPr>
        <p:blipFill>
          <a:blip r:embed="rId3"/>
          <a:stretch>
            <a:fillRect/>
          </a:stretch>
        </p:blipFill>
        <p:spPr>
          <a:xfrm>
            <a:off x="3315903" y="2235525"/>
            <a:ext cx="3132000" cy="2399113"/>
          </a:xfrm>
          <a:prstGeom prst="rect">
            <a:avLst/>
          </a:prstGeom>
        </p:spPr>
      </p:pic>
      <p:pic>
        <p:nvPicPr>
          <p:cNvPr id="34" name="그림 33">
            <a:extLst>
              <a:ext uri="{FF2B5EF4-FFF2-40B4-BE49-F238E27FC236}">
                <a16:creationId xmlns:a16="http://schemas.microsoft.com/office/drawing/2014/main" id="{45D16A35-2C61-3BFD-7794-5C8CE2B2B001}"/>
              </a:ext>
            </a:extLst>
          </p:cNvPr>
          <p:cNvPicPr>
            <a:picLocks noChangeAspect="1"/>
          </p:cNvPicPr>
          <p:nvPr/>
        </p:nvPicPr>
        <p:blipFill>
          <a:blip r:embed="rId4"/>
          <a:stretch>
            <a:fillRect/>
          </a:stretch>
        </p:blipFill>
        <p:spPr>
          <a:xfrm>
            <a:off x="581273" y="5051997"/>
            <a:ext cx="2448000" cy="740842"/>
          </a:xfrm>
          <a:prstGeom prst="rect">
            <a:avLst/>
          </a:prstGeom>
        </p:spPr>
      </p:pic>
    </p:spTree>
    <p:extLst>
      <p:ext uri="{BB962C8B-B14F-4D97-AF65-F5344CB8AC3E}">
        <p14:creationId xmlns:p14="http://schemas.microsoft.com/office/powerpoint/2010/main" val="24319634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83968C52-2D17-46C0-A84D-B482DF945C71}"/>
              </a:ext>
            </a:extLst>
          </p:cNvPr>
          <p:cNvSpPr txBox="1"/>
          <p:nvPr/>
        </p:nvSpPr>
        <p:spPr>
          <a:xfrm>
            <a:off x="413545" y="774866"/>
            <a:ext cx="6039890" cy="307777"/>
          </a:xfrm>
          <a:prstGeom prst="rect">
            <a:avLst/>
          </a:prstGeom>
          <a:noFill/>
        </p:spPr>
        <p:txBody>
          <a:bodyPr wrap="square" lIns="0" rtlCol="0">
            <a:spAutoFit/>
          </a:bodyPr>
          <a:lstStyle/>
          <a:p>
            <a:r>
              <a:rPr lang="en-US" altLang="ko-KR" sz="1400" b="1" dirty="0">
                <a:latin typeface="Arial" panose="020B0604020202020204" pitchFamily="34" charset="0"/>
                <a:cs typeface="Arial" panose="020B0604020202020204" pitchFamily="34" charset="0"/>
              </a:rPr>
              <a:t>Recommended Footprint</a:t>
            </a:r>
          </a:p>
        </p:txBody>
      </p:sp>
      <p:cxnSp>
        <p:nvCxnSpPr>
          <p:cNvPr id="84" name="직선 연결선 83">
            <a:extLst>
              <a:ext uri="{FF2B5EF4-FFF2-40B4-BE49-F238E27FC236}">
                <a16:creationId xmlns:a16="http://schemas.microsoft.com/office/drawing/2014/main" id="{94FB9745-2B77-47D5-823A-34E94FDDB2D8}"/>
              </a:ext>
            </a:extLst>
          </p:cNvPr>
          <p:cNvCxnSpPr/>
          <p:nvPr/>
        </p:nvCxnSpPr>
        <p:spPr>
          <a:xfrm>
            <a:off x="404813" y="636695"/>
            <a:ext cx="604862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9591E58-643D-71CA-18A8-8C8A710F9288}"/>
              </a:ext>
            </a:extLst>
          </p:cNvPr>
          <p:cNvSpPr txBox="1"/>
          <p:nvPr/>
        </p:nvSpPr>
        <p:spPr>
          <a:xfrm>
            <a:off x="413545" y="274753"/>
            <a:ext cx="6077946" cy="369332"/>
          </a:xfrm>
          <a:prstGeom prst="rect">
            <a:avLst/>
          </a:prstGeom>
          <a:noFill/>
        </p:spPr>
        <p:txBody>
          <a:bodyPr wrap="square" lIns="0" rIns="0" rtlCol="0">
            <a:spAutoFit/>
          </a:bodyPr>
          <a:lstStyle/>
          <a:p>
            <a:r>
              <a:rPr lang="en-US" altLang="ko-KR" b="1" dirty="0">
                <a:latin typeface="Arial" panose="020B0604020202020204" pitchFamily="34" charset="0"/>
                <a:cs typeface="Arial" panose="020B0604020202020204" pitchFamily="34" charset="0"/>
              </a:rPr>
              <a:t>XD04</a:t>
            </a:r>
            <a:endParaRPr lang="ko-KR" altLang="en-US" b="1" dirty="0">
              <a:latin typeface="Arial" panose="020B0604020202020204" pitchFamily="34" charset="0"/>
              <a:cs typeface="Arial" panose="020B0604020202020204" pitchFamily="34" charset="0"/>
            </a:endParaRPr>
          </a:p>
        </p:txBody>
      </p:sp>
      <p:sp>
        <p:nvSpPr>
          <p:cNvPr id="16" name="object 7">
            <a:extLst>
              <a:ext uri="{FF2B5EF4-FFF2-40B4-BE49-F238E27FC236}">
                <a16:creationId xmlns:a16="http://schemas.microsoft.com/office/drawing/2014/main" id="{C3D957A8-A41B-4D1D-2A10-D63EDA8DD481}"/>
              </a:ext>
            </a:extLst>
          </p:cNvPr>
          <p:cNvSpPr txBox="1"/>
          <p:nvPr/>
        </p:nvSpPr>
        <p:spPr>
          <a:xfrm>
            <a:off x="404814" y="5412606"/>
            <a:ext cx="6048622" cy="322590"/>
          </a:xfrm>
          <a:prstGeom prst="rect">
            <a:avLst/>
          </a:prstGeom>
        </p:spPr>
        <p:txBody>
          <a:bodyPr vert="horz" wrap="square" lIns="0" tIns="19750" rIns="0" bIns="0" rtlCol="0">
            <a:spAutoFit/>
          </a:bodyPr>
          <a:lstStyle/>
          <a:p>
            <a:pPr marL="11286" marR="4515" defTabSz="895327" fontAlgn="auto">
              <a:spcBef>
                <a:spcPts val="156"/>
              </a:spcBef>
              <a:spcAft>
                <a:spcPts val="0"/>
              </a:spcAft>
            </a:pPr>
            <a:r>
              <a:rPr kumimoji="0" sz="900" spc="-5" dirty="0">
                <a:solidFill>
                  <a:prstClr val="black"/>
                </a:solidFill>
                <a:latin typeface="Arial"/>
                <a:ea typeface="+mn-ea"/>
                <a:cs typeface="Arial"/>
              </a:rPr>
              <a:t>Note</a:t>
            </a:r>
            <a:r>
              <a:rPr kumimoji="0" lang="en-US" sz="900" spc="-5" dirty="0">
                <a:solidFill>
                  <a:prstClr val="black"/>
                </a:solidFill>
                <a:latin typeface="Arial"/>
                <a:ea typeface="+mn-ea"/>
                <a:cs typeface="Arial"/>
              </a:rPr>
              <a:t> </a:t>
            </a:r>
            <a:r>
              <a:rPr kumimoji="0" sz="900" spc="-5" dirty="0">
                <a:solidFill>
                  <a:prstClr val="black"/>
                </a:solidFill>
                <a:latin typeface="Arial"/>
                <a:ea typeface="+mn-ea"/>
                <a:cs typeface="Arial"/>
              </a:rPr>
              <a:t>: The</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reflow</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peak</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soldering</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temperature</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23" dirty="0">
                <a:solidFill>
                  <a:prstClr val="black"/>
                </a:solidFill>
                <a:latin typeface="Arial"/>
                <a:ea typeface="+mn-ea"/>
                <a:cs typeface="Arial"/>
              </a:rPr>
              <a:t> </a:t>
            </a:r>
            <a:r>
              <a:rPr kumimoji="0" sz="900" spc="-9" dirty="0">
                <a:solidFill>
                  <a:prstClr val="black"/>
                </a:solidFill>
                <a:latin typeface="Arial"/>
                <a:ea typeface="+mn-ea"/>
                <a:cs typeface="Arial"/>
              </a:rPr>
              <a:t>peak</a:t>
            </a:r>
            <a:r>
              <a:rPr kumimoji="0" sz="900" spc="26" dirty="0">
                <a:solidFill>
                  <a:prstClr val="black"/>
                </a:solidFill>
                <a:latin typeface="Arial"/>
                <a:ea typeface="+mn-ea"/>
                <a:cs typeface="Arial"/>
              </a:rPr>
              <a:t> </a:t>
            </a:r>
            <a:r>
              <a:rPr kumimoji="0" sz="900" spc="-5" dirty="0">
                <a:solidFill>
                  <a:prstClr val="black"/>
                </a:solidFill>
                <a:latin typeface="Arial"/>
                <a:ea typeface="+mn-ea"/>
                <a:cs typeface="Arial"/>
              </a:rPr>
              <a:t>260°C</a:t>
            </a:r>
            <a:r>
              <a:rPr kumimoji="0" sz="900" spc="17" dirty="0">
                <a:solidFill>
                  <a:prstClr val="black"/>
                </a:solidFill>
                <a:latin typeface="Arial"/>
                <a:ea typeface="+mn-ea"/>
                <a:cs typeface="Arial"/>
              </a:rPr>
              <a:t> </a:t>
            </a:r>
            <a:r>
              <a:rPr kumimoji="0" sz="900" spc="-5" dirty="0">
                <a:solidFill>
                  <a:prstClr val="black"/>
                </a:solidFill>
                <a:latin typeface="Arial"/>
                <a:ea typeface="+mn-ea"/>
                <a:cs typeface="Arial"/>
              </a:rPr>
              <a:t>and</a:t>
            </a:r>
            <a:r>
              <a:rPr kumimoji="0" sz="900" spc="14" dirty="0">
                <a:solidFill>
                  <a:prstClr val="black"/>
                </a:solidFill>
                <a:latin typeface="Arial"/>
                <a:ea typeface="+mn-ea"/>
                <a:cs typeface="Arial"/>
              </a:rPr>
              <a:t> </a:t>
            </a:r>
            <a:r>
              <a:rPr kumimoji="0" sz="900" spc="-9" dirty="0">
                <a:solidFill>
                  <a:prstClr val="black"/>
                </a:solidFill>
                <a:latin typeface="Arial"/>
                <a:ea typeface="+mn-ea"/>
                <a:cs typeface="Arial"/>
              </a:rPr>
              <a:t>it</a:t>
            </a:r>
            <a:r>
              <a:rPr kumimoji="0" sz="900" spc="17" dirty="0">
                <a:solidFill>
                  <a:prstClr val="black"/>
                </a:solidFill>
                <a:latin typeface="Arial"/>
                <a:ea typeface="+mn-ea"/>
                <a:cs typeface="Arial"/>
              </a:rPr>
              <a:t> </a:t>
            </a:r>
            <a:r>
              <a:rPr kumimoji="0" sz="900" spc="-9" dirty="0">
                <a:solidFill>
                  <a:prstClr val="black"/>
                </a:solidFill>
                <a:latin typeface="Arial"/>
                <a:ea typeface="+mn-ea"/>
                <a:cs typeface="Arial"/>
              </a:rPr>
              <a:t>is</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specified</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based</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IPC/JEDEC</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J-STD- </a:t>
            </a:r>
            <a:r>
              <a:rPr kumimoji="0" sz="900" spc="-231" dirty="0">
                <a:solidFill>
                  <a:prstClr val="black"/>
                </a:solidFill>
                <a:latin typeface="Arial"/>
                <a:ea typeface="+mn-ea"/>
                <a:cs typeface="Arial"/>
              </a:rPr>
              <a:t> </a:t>
            </a:r>
            <a:r>
              <a:rPr kumimoji="0" sz="900" spc="-9" dirty="0">
                <a:solidFill>
                  <a:prstClr val="black"/>
                </a:solidFill>
                <a:latin typeface="Arial"/>
                <a:ea typeface="+mn-ea"/>
                <a:cs typeface="Arial"/>
              </a:rPr>
              <a:t>020</a:t>
            </a:r>
            <a:r>
              <a:rPr kumimoji="0" sz="900" dirty="0">
                <a:solidFill>
                  <a:prstClr val="black"/>
                </a:solidFill>
                <a:latin typeface="Arial"/>
                <a:ea typeface="+mn-ea"/>
                <a:cs typeface="Arial"/>
              </a:rPr>
              <a:t> </a:t>
            </a:r>
            <a:r>
              <a:rPr kumimoji="0" lang="en-US" sz="900" dirty="0">
                <a:solidFill>
                  <a:prstClr val="black"/>
                </a:solidFill>
                <a:latin typeface="Arial"/>
                <a:ea typeface="+mn-ea"/>
                <a:cs typeface="Arial"/>
              </a:rPr>
              <a:t>  </a:t>
            </a:r>
          </a:p>
          <a:p>
            <a:pPr marL="11286" marR="4515" defTabSz="895327" fontAlgn="auto">
              <a:spcBef>
                <a:spcPts val="156"/>
              </a:spcBef>
              <a:spcAft>
                <a:spcPts val="0"/>
              </a:spcAft>
            </a:pPr>
            <a:r>
              <a:rPr lang="en-US" sz="900" spc="-5" dirty="0">
                <a:solidFill>
                  <a:prstClr val="black"/>
                </a:solidFill>
                <a:latin typeface="Arial"/>
                <a:cs typeface="Arial"/>
              </a:rPr>
              <a:t>           </a:t>
            </a:r>
            <a:r>
              <a:rPr kumimoji="0" sz="900" spc="-5" dirty="0">
                <a:solidFill>
                  <a:prstClr val="black"/>
                </a:solidFill>
                <a:latin typeface="Arial"/>
                <a:ea typeface="+mn-ea"/>
                <a:cs typeface="Arial"/>
              </a:rPr>
              <a:t>“Moisture/Reflow</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Sensitivity</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Classification</a:t>
            </a:r>
            <a:r>
              <a:rPr kumimoji="0" sz="900" spc="5" dirty="0">
                <a:solidFill>
                  <a:prstClr val="black"/>
                </a:solidFill>
                <a:latin typeface="Arial"/>
                <a:ea typeface="+mn-ea"/>
                <a:cs typeface="Arial"/>
              </a:rPr>
              <a:t> </a:t>
            </a:r>
            <a:r>
              <a:rPr kumimoji="0" sz="900" spc="-5" dirty="0">
                <a:solidFill>
                  <a:prstClr val="black"/>
                </a:solidFill>
                <a:latin typeface="Arial"/>
                <a:ea typeface="+mn-ea"/>
                <a:cs typeface="Arial"/>
              </a:rPr>
              <a:t>for</a:t>
            </a:r>
            <a:r>
              <a:rPr kumimoji="0" sz="900" spc="14" dirty="0">
                <a:solidFill>
                  <a:prstClr val="black"/>
                </a:solidFill>
                <a:latin typeface="Arial"/>
                <a:ea typeface="+mn-ea"/>
                <a:cs typeface="Arial"/>
              </a:rPr>
              <a:t> </a:t>
            </a:r>
            <a:r>
              <a:rPr kumimoji="0" sz="900" spc="-5" dirty="0">
                <a:solidFill>
                  <a:prstClr val="black"/>
                </a:solidFill>
                <a:latin typeface="Arial"/>
                <a:ea typeface="+mn-ea"/>
                <a:cs typeface="Arial"/>
              </a:rPr>
              <a:t>Non-Hermetic</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Solid</a:t>
            </a:r>
            <a:r>
              <a:rPr kumimoji="0" sz="900" spc="9" dirty="0">
                <a:solidFill>
                  <a:prstClr val="black"/>
                </a:solidFill>
                <a:latin typeface="Arial"/>
                <a:ea typeface="+mn-ea"/>
                <a:cs typeface="Arial"/>
              </a:rPr>
              <a:t> </a:t>
            </a:r>
            <a:r>
              <a:rPr kumimoji="0" sz="900" spc="-5" dirty="0">
                <a:solidFill>
                  <a:prstClr val="black"/>
                </a:solidFill>
                <a:latin typeface="Arial"/>
                <a:ea typeface="+mn-ea"/>
                <a:cs typeface="Arial"/>
              </a:rPr>
              <a:t>State</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Surface </a:t>
            </a:r>
            <a:r>
              <a:rPr kumimoji="0" sz="900" spc="-5" dirty="0">
                <a:solidFill>
                  <a:prstClr val="black"/>
                </a:solidFill>
                <a:latin typeface="Arial"/>
                <a:ea typeface="+mn-ea"/>
                <a:cs typeface="Arial"/>
              </a:rPr>
              <a:t>Mount</a:t>
            </a:r>
            <a:r>
              <a:rPr kumimoji="0" sz="900" spc="5" dirty="0">
                <a:solidFill>
                  <a:prstClr val="black"/>
                </a:solidFill>
                <a:latin typeface="Arial"/>
                <a:ea typeface="+mn-ea"/>
                <a:cs typeface="Arial"/>
              </a:rPr>
              <a:t> </a:t>
            </a:r>
            <a:r>
              <a:rPr kumimoji="0" sz="900" dirty="0">
                <a:solidFill>
                  <a:prstClr val="black"/>
                </a:solidFill>
                <a:latin typeface="Arial"/>
                <a:ea typeface="+mn-ea"/>
                <a:cs typeface="Arial"/>
              </a:rPr>
              <a:t>Devices”</a:t>
            </a:r>
          </a:p>
        </p:txBody>
      </p:sp>
      <p:grpSp>
        <p:nvGrpSpPr>
          <p:cNvPr id="8" name="그룹 7">
            <a:extLst>
              <a:ext uri="{FF2B5EF4-FFF2-40B4-BE49-F238E27FC236}">
                <a16:creationId xmlns:a16="http://schemas.microsoft.com/office/drawing/2014/main" id="{A9CE776E-CB36-B248-D1B1-A30593837341}"/>
              </a:ext>
            </a:extLst>
          </p:cNvPr>
          <p:cNvGrpSpPr/>
          <p:nvPr/>
        </p:nvGrpSpPr>
        <p:grpSpPr>
          <a:xfrm>
            <a:off x="404813" y="6827172"/>
            <a:ext cx="6048622" cy="2068425"/>
            <a:chOff x="404813" y="6381344"/>
            <a:chExt cx="6048622" cy="2068425"/>
          </a:xfrm>
        </p:grpSpPr>
        <p:grpSp>
          <p:nvGrpSpPr>
            <p:cNvPr id="6" name="그룹 5">
              <a:extLst>
                <a:ext uri="{FF2B5EF4-FFF2-40B4-BE49-F238E27FC236}">
                  <a16:creationId xmlns:a16="http://schemas.microsoft.com/office/drawing/2014/main" id="{E95B7B78-5DCD-AF37-3B54-687369CF6C5A}"/>
                </a:ext>
              </a:extLst>
            </p:cNvPr>
            <p:cNvGrpSpPr/>
            <p:nvPr/>
          </p:nvGrpSpPr>
          <p:grpSpPr>
            <a:xfrm>
              <a:off x="404813" y="6381344"/>
              <a:ext cx="6048622" cy="553998"/>
              <a:chOff x="404813" y="5895833"/>
              <a:chExt cx="6048622" cy="553998"/>
            </a:xfrm>
          </p:grpSpPr>
          <p:sp>
            <p:nvSpPr>
              <p:cNvPr id="19" name="Rectangle 12">
                <a:extLst>
                  <a:ext uri="{FF2B5EF4-FFF2-40B4-BE49-F238E27FC236}">
                    <a16:creationId xmlns:a16="http://schemas.microsoft.com/office/drawing/2014/main" id="{CAB9EA06-9F5E-A8E6-C597-9CEDEC02B40B}"/>
                  </a:ext>
                </a:extLst>
              </p:cNvPr>
              <p:cNvSpPr>
                <a:spLocks noChangeArrowheads="1"/>
              </p:cNvSpPr>
              <p:nvPr/>
            </p:nvSpPr>
            <p:spPr bwMode="auto">
              <a:xfrm>
                <a:off x="404813" y="5895833"/>
                <a:ext cx="6048622"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The products of Global Technologies reserve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Global Technologies does not convey any license under its patent rights nor the rights of others.</a:t>
                </a:r>
                <a:endParaRPr lang="en-US" altLang="ko-KR" sz="600" dirty="0">
                  <a:latin typeface="Arial" panose="020B0604020202020204" pitchFamily="34" charset="0"/>
                  <a:cs typeface="Arial" panose="020B0604020202020204" pitchFamily="34" charset="0"/>
                </a:endParaRPr>
              </a:p>
            </p:txBody>
          </p:sp>
          <p:pic>
            <p:nvPicPr>
              <p:cNvPr id="20" name="그림 1">
                <a:extLst>
                  <a:ext uri="{FF2B5EF4-FFF2-40B4-BE49-F238E27FC236}">
                    <a16:creationId xmlns:a16="http://schemas.microsoft.com/office/drawing/2014/main" id="{CCCB890F-DD9B-4996-F42F-B558231B872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79" y="5922392"/>
                <a:ext cx="100553" cy="14696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 name="그룹 6">
              <a:extLst>
                <a:ext uri="{FF2B5EF4-FFF2-40B4-BE49-F238E27FC236}">
                  <a16:creationId xmlns:a16="http://schemas.microsoft.com/office/drawing/2014/main" id="{A5C49DFA-BF97-C36E-906D-2B21FBB49451}"/>
                </a:ext>
              </a:extLst>
            </p:cNvPr>
            <p:cNvGrpSpPr/>
            <p:nvPr/>
          </p:nvGrpSpPr>
          <p:grpSpPr>
            <a:xfrm>
              <a:off x="404813" y="6972441"/>
              <a:ext cx="6048622" cy="1477328"/>
              <a:chOff x="404813" y="6972441"/>
              <a:chExt cx="6048622" cy="1477328"/>
            </a:xfrm>
          </p:grpSpPr>
          <p:sp>
            <p:nvSpPr>
              <p:cNvPr id="15" name="Rectangle 15">
                <a:extLst>
                  <a:ext uri="{FF2B5EF4-FFF2-40B4-BE49-F238E27FC236}">
                    <a16:creationId xmlns:a16="http://schemas.microsoft.com/office/drawing/2014/main" id="{BADF6EB7-0F86-9D65-A832-BF023FAA6649}"/>
                  </a:ext>
                </a:extLst>
              </p:cNvPr>
              <p:cNvSpPr>
                <a:spLocks noChangeArrowheads="1"/>
              </p:cNvSpPr>
              <p:nvPr/>
            </p:nvSpPr>
            <p:spPr bwMode="auto">
              <a:xfrm>
                <a:off x="404813" y="6972441"/>
                <a:ext cx="6048622" cy="14773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defTabSz="914400" eaLnBrk="0" fontAlgn="base" hangingPunct="0">
                  <a:spcBef>
                    <a:spcPct val="0"/>
                  </a:spcBef>
                  <a:spcAft>
                    <a:spcPct val="0"/>
                  </a:spcAft>
                </a:pPr>
                <a:r>
                  <a:rPr lang="en-US" altLang="ko-KR" sz="600" dirty="0">
                    <a:latin typeface="Arial" panose="020B0604020202020204" pitchFamily="34" charset="0"/>
                    <a:ea typeface="맑은 고딕" panose="020B0503020000020004" pitchFamily="50" charset="-127"/>
                    <a:cs typeface="Arial" panose="020B0604020202020204" pitchFamily="34" charset="0"/>
                  </a:rPr>
                  <a:t>    is the trademark of Global Technologies Co., Ltd. or its subsidiaries in the Republic of Korea and/or other countries. Global Technologies owns the rights to a number of patents, trademarks, copyrights, trade secrets, and other intellectual property.  Global Technologies reserves the right to make changes without further notice to any products herein. Global Technologies makes no warranty, representation or guarantee regarding the suitability of its products for any particular purpose, nor does Global Technologies assume any liability arising out of the application or use of any product or circuit, and specifically disclaims any and all liability, including without limitation special, consequential or incidental damages. Buyer is responsible for its products and applications using Global Technologies products, including compliance with all laws, regulations and safety requirements or standards, regardless of any support or applications information provided by Global Technologies. “Typical” parameters which may be provided in Global Technologies data sheets and/or specifications can and do vary in different applications and actual performance may vary over time. All operating parameters, including “Typical” must be validated for each customer application by customer’s technical experts. Global Technologies does not convey any license under its patent rights nor the rights of others. Global Technologies products are not designed, intended, or authorized for use as a critical component in life support systems or any FDA Class 3 medical devices or medical devices with a same or similar classification in a foreign jurisdiction or any devices intended for implantation in the human body. Should Buyer purchase or use Global Technologies products for any such unintended or unauthorized application, Buyer shall indemnify and hold Global Technologies and its officers, employees, subsidiaries, affiliates, and distributors harmless against all claims, costs, damages, and expenses, and reasonable attorney fees arising out of, directly or indirectly, any claim of personal injury or death associated with such unintended or unauthorized use, even if such claim alleges that Global Technologies was negligent regarding the design or manufacture of the part. Global Technologies is an Equal Opportunity/Affirmative Action Employer. This literature is subject to all applicable copyright laws and is not for resale in any manner.</a:t>
                </a:r>
                <a:endParaRPr lang="en-US" altLang="ko-KR" sz="600" dirty="0">
                  <a:latin typeface="Arial" panose="020B0604020202020204" pitchFamily="34" charset="0"/>
                  <a:cs typeface="Arial" panose="020B0604020202020204" pitchFamily="34" charset="0"/>
                </a:endParaRPr>
              </a:p>
            </p:txBody>
          </p:sp>
          <p:pic>
            <p:nvPicPr>
              <p:cNvPr id="17" name="그림 1">
                <a:extLst>
                  <a:ext uri="{FF2B5EF4-FFF2-40B4-BE49-F238E27FC236}">
                    <a16:creationId xmlns:a16="http://schemas.microsoft.com/office/drawing/2014/main" id="{A8D26599-48F4-2BE6-CF8C-0DB7A156A4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8780" y="7003594"/>
                <a:ext cx="91652" cy="13395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22" name="object 84">
            <a:extLst>
              <a:ext uri="{FF2B5EF4-FFF2-40B4-BE49-F238E27FC236}">
                <a16:creationId xmlns:a16="http://schemas.microsoft.com/office/drawing/2014/main" id="{41BAB755-FB36-1F06-C7E7-A42C7DDC284B}"/>
              </a:ext>
            </a:extLst>
          </p:cNvPr>
          <p:cNvSpPr txBox="1"/>
          <p:nvPr/>
        </p:nvSpPr>
        <p:spPr>
          <a:xfrm>
            <a:off x="2420390" y="4962675"/>
            <a:ext cx="2017219" cy="138499"/>
          </a:xfrm>
          <a:prstGeom prst="rect">
            <a:avLst/>
          </a:prstGeom>
        </p:spPr>
        <p:txBody>
          <a:bodyPr vert="horz" wrap="none" lIns="0" tIns="0" rIns="0" bIns="0" rtlCol="0" anchor="ctr" anchorCtr="0">
            <a:spAutoFit/>
          </a:bodyPr>
          <a:lstStyle/>
          <a:p>
            <a:pPr marL="12435" defTabSz="895327" fontAlgn="auto">
              <a:spcBef>
                <a:spcPts val="118"/>
              </a:spcBef>
              <a:spcAft>
                <a:spcPts val="0"/>
              </a:spcAft>
            </a:pPr>
            <a:r>
              <a:rPr kumimoji="0" lang="en-US" sz="900" b="1" spc="15" dirty="0">
                <a:solidFill>
                  <a:prstClr val="black"/>
                </a:solidFill>
                <a:latin typeface="Arial" panose="020B0604020202020204" pitchFamily="34" charset="0"/>
                <a:ea typeface="+mn-ea"/>
                <a:cs typeface="Arial" panose="020B0604020202020204" pitchFamily="34" charset="0"/>
              </a:rPr>
              <a:t>Figure 17. Recommended Footprint</a:t>
            </a:r>
          </a:p>
        </p:txBody>
      </p:sp>
      <p:graphicFrame>
        <p:nvGraphicFramePr>
          <p:cNvPr id="23" name="object 2">
            <a:extLst>
              <a:ext uri="{FF2B5EF4-FFF2-40B4-BE49-F238E27FC236}">
                <a16:creationId xmlns:a16="http://schemas.microsoft.com/office/drawing/2014/main" id="{B9CF25C7-F775-8066-5C74-40841BBF6B50}"/>
              </a:ext>
            </a:extLst>
          </p:cNvPr>
          <p:cNvGraphicFramePr>
            <a:graphicFrameLocks noGrp="1"/>
          </p:cNvGraphicFramePr>
          <p:nvPr>
            <p:extLst>
              <p:ext uri="{D42A27DB-BD31-4B8C-83A1-F6EECF244321}">
                <p14:modId xmlns:p14="http://schemas.microsoft.com/office/powerpoint/2010/main" val="2340910296"/>
              </p:ext>
            </p:extLst>
          </p:nvPr>
        </p:nvGraphicFramePr>
        <p:xfrm>
          <a:off x="4577189" y="1295500"/>
          <a:ext cx="1875998" cy="3204043"/>
        </p:xfrm>
        <a:graphic>
          <a:graphicData uri="http://schemas.openxmlformats.org/drawingml/2006/table">
            <a:tbl>
              <a:tblPr firstRow="1" bandRow="1">
                <a:tableStyleId>{2D5ABB26-0587-4C30-8999-92F81FD0307C}</a:tableStyleId>
              </a:tblPr>
              <a:tblGrid>
                <a:gridCol w="548639">
                  <a:extLst>
                    <a:ext uri="{9D8B030D-6E8A-4147-A177-3AD203B41FA5}">
                      <a16:colId xmlns:a16="http://schemas.microsoft.com/office/drawing/2014/main" val="20000"/>
                    </a:ext>
                  </a:extLst>
                </a:gridCol>
                <a:gridCol w="666132">
                  <a:extLst>
                    <a:ext uri="{9D8B030D-6E8A-4147-A177-3AD203B41FA5}">
                      <a16:colId xmlns:a16="http://schemas.microsoft.com/office/drawing/2014/main" val="20001"/>
                    </a:ext>
                  </a:extLst>
                </a:gridCol>
                <a:gridCol w="661227">
                  <a:extLst>
                    <a:ext uri="{9D8B030D-6E8A-4147-A177-3AD203B41FA5}">
                      <a16:colId xmlns:a16="http://schemas.microsoft.com/office/drawing/2014/main" val="20002"/>
                    </a:ext>
                  </a:extLst>
                </a:gridCol>
              </a:tblGrid>
              <a:tr h="169226">
                <a:tc rowSpan="2">
                  <a:txBody>
                    <a:bodyPr/>
                    <a:lstStyle/>
                    <a:p>
                      <a:pPr marL="63500" algn="ctr">
                        <a:lnSpc>
                          <a:spcPct val="100000"/>
                        </a:lnSpc>
                        <a:spcBef>
                          <a:spcPts val="185"/>
                        </a:spcBef>
                      </a:pPr>
                      <a:r>
                        <a:rPr lang="en-US" sz="900" b="1" spc="-10" dirty="0">
                          <a:latin typeface="Arial" panose="020B0604020202020204" pitchFamily="34" charset="0"/>
                          <a:cs typeface="Arial" panose="020B0604020202020204" pitchFamily="34" charset="0"/>
                        </a:rPr>
                        <a:t>Symbol</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gridSpan="2">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Dimensions in mm</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hMerge="1">
                  <a:txBody>
                    <a:bodyPr/>
                    <a:lstStyle/>
                    <a:p>
                      <a:pPr marL="64135"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nchor="ctr">
                    <a:lnL w="6350" cap="flat" cmpd="sng" algn="ctr">
                      <a:solidFill>
                        <a:schemeClr val="bg1">
                          <a:lumMod val="50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097993598"/>
                  </a:ext>
                </a:extLst>
              </a:tr>
              <a:tr h="169226">
                <a:tc vMerge="1">
                  <a:txBody>
                    <a:bodyPr/>
                    <a:lstStyle/>
                    <a:p>
                      <a:pPr marL="63500" algn="ctr">
                        <a:lnSpc>
                          <a:spcPct val="100000"/>
                        </a:lnSpc>
                        <a:spcBef>
                          <a:spcPts val="185"/>
                        </a:spcBef>
                      </a:pPr>
                      <a:endParaRPr sz="900" b="0" dirty="0">
                        <a:latin typeface="Arial" panose="020B0604020202020204" pitchFamily="34" charset="0"/>
                        <a:cs typeface="Arial" panose="020B0604020202020204" pitchFamily="34" charset="0"/>
                      </a:endParaRPr>
                    </a:p>
                  </a:txBody>
                  <a:tcPr marL="0" marR="0" marT="23005" marB="0">
                    <a:lnL w="1270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solidFill>
                      <a:schemeClr val="accent5">
                        <a:lumMod val="20000"/>
                        <a:lumOff val="80000"/>
                      </a:schemeClr>
                    </a:solidFill>
                  </a:tcPr>
                </a:tc>
                <a:tc>
                  <a:txBody>
                    <a:bodyPr/>
                    <a:lstStyle/>
                    <a:p>
                      <a:pPr marL="63500" algn="ctr">
                        <a:lnSpc>
                          <a:spcPct val="100000"/>
                        </a:lnSpc>
                        <a:spcBef>
                          <a:spcPts val="185"/>
                        </a:spcBef>
                      </a:pPr>
                      <a:r>
                        <a:rPr lang="en-US" sz="900" b="1" dirty="0">
                          <a:latin typeface="Arial" panose="020B0604020202020204" pitchFamily="34" charset="0"/>
                          <a:cs typeface="Arial" panose="020B0604020202020204" pitchFamily="34" charset="0"/>
                        </a:rPr>
                        <a:t>Value</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tc>
                  <a:txBody>
                    <a:bodyPr/>
                    <a:lstStyle/>
                    <a:p>
                      <a:pPr marL="64135" algn="ctr">
                        <a:lnSpc>
                          <a:spcPct val="100000"/>
                        </a:lnSpc>
                        <a:spcBef>
                          <a:spcPts val="185"/>
                        </a:spcBef>
                      </a:pPr>
                      <a:r>
                        <a:rPr lang="en-US" sz="900" b="1" dirty="0">
                          <a:latin typeface="Arial" panose="020B0604020202020204" pitchFamily="34" charset="0"/>
                          <a:cs typeface="Arial" panose="020B0604020202020204" pitchFamily="34" charset="0"/>
                        </a:rPr>
                        <a:t>Margin</a:t>
                      </a:r>
                    </a:p>
                    <a:p>
                      <a:pPr marL="64135" algn="ctr">
                        <a:lnSpc>
                          <a:spcPct val="100000"/>
                        </a:lnSpc>
                        <a:spcBef>
                          <a:spcPts val="185"/>
                        </a:spcBef>
                      </a:pPr>
                      <a:r>
                        <a:rPr lang="en-US" sz="900" b="1" dirty="0">
                          <a:latin typeface="Arial" panose="020B0604020202020204" pitchFamily="34" charset="0"/>
                          <a:cs typeface="Arial" panose="020B0604020202020204" pitchFamily="34" charset="0"/>
                        </a:rPr>
                        <a:t>(Typ+)</a:t>
                      </a:r>
                      <a:endParaRPr sz="900" b="1" dirty="0">
                        <a:latin typeface="Arial" panose="020B0604020202020204" pitchFamily="34" charset="0"/>
                        <a:cs typeface="Arial" panose="020B0604020202020204" pitchFamily="34" charset="0"/>
                      </a:endParaRPr>
                    </a:p>
                  </a:txBody>
                  <a:tcPr marL="0" marR="0" marT="2300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X</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indent="-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Y</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C</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0.5</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1.9</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1.6</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169353">
                <a:tc>
                  <a:txBody>
                    <a:bodyPr/>
                    <a:lstStyle/>
                    <a:p>
                      <a:pPr marL="63500" algn="ctr">
                        <a:lnSpc>
                          <a:spcPct val="100000"/>
                        </a:lnSpc>
                        <a:spcBef>
                          <a:spcPts val="185"/>
                        </a:spcBef>
                      </a:pPr>
                      <a:r>
                        <a:rPr sz="900" spc="-10" dirty="0">
                          <a:latin typeface="Arial" panose="020B0604020202020204" pitchFamily="34" charset="0"/>
                          <a:cs typeface="Arial" panose="020B0604020202020204" pitchFamily="34" charset="0"/>
                        </a:rPr>
                        <a:t>X4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0"/>
                  </a:ext>
                </a:extLst>
              </a:tr>
              <a:tr h="169353">
                <a:tc>
                  <a:txBody>
                    <a:bodyPr/>
                    <a:lstStyle/>
                    <a:p>
                      <a:pPr marL="63500" algn="ctr">
                        <a:lnSpc>
                          <a:spcPct val="100000"/>
                        </a:lnSpc>
                        <a:spcBef>
                          <a:spcPts val="185"/>
                        </a:spcBef>
                      </a:pPr>
                      <a:r>
                        <a:rPr sz="900" spc="-15" dirty="0">
                          <a:latin typeface="Arial" panose="020B0604020202020204" pitchFamily="34" charset="0"/>
                          <a:cs typeface="Arial" panose="020B0604020202020204" pitchFamily="34" charset="0"/>
                        </a:rPr>
                        <a:t>Y4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3.4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1"/>
                  </a:ext>
                </a:extLst>
              </a:tr>
              <a:tr h="169353">
                <a:tc>
                  <a:txBody>
                    <a:bodyPr/>
                    <a:lstStyle/>
                    <a:p>
                      <a:pPr marL="63500" algn="ctr">
                        <a:lnSpc>
                          <a:spcPct val="100000"/>
                        </a:lnSpc>
                        <a:spcBef>
                          <a:spcPts val="185"/>
                        </a:spcBef>
                      </a:pPr>
                      <a:r>
                        <a:rPr sz="900" dirty="0">
                          <a:latin typeface="Arial" panose="020B0604020202020204" pitchFamily="34" charset="0"/>
                          <a:cs typeface="Arial" panose="020B0604020202020204" pitchFamily="34" charset="0"/>
                        </a:rPr>
                        <a:t>G</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85"/>
                        </a:spcBef>
                      </a:pPr>
                      <a:r>
                        <a:rPr lang="en-US" sz="900" dirty="0">
                          <a:latin typeface="Arial" panose="020B0604020202020204" pitchFamily="34" charset="0"/>
                          <a:cs typeface="Arial" panose="020B0604020202020204" pitchFamily="34" charset="0"/>
                        </a:rPr>
                        <a:t>0.2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85"/>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4"/>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5"/>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G2</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6"/>
                  </a:ext>
                </a:extLst>
              </a:tr>
              <a:tr h="169964">
                <a:tc>
                  <a:txBody>
                    <a:bodyPr/>
                    <a:lstStyle/>
                    <a:p>
                      <a:pPr marL="63500" algn="ctr">
                        <a:lnSpc>
                          <a:spcPct val="100000"/>
                        </a:lnSpc>
                        <a:spcBef>
                          <a:spcPts val="190"/>
                        </a:spcBef>
                      </a:pPr>
                      <a:r>
                        <a:rPr sz="900" spc="-10" dirty="0">
                          <a:latin typeface="Arial" panose="020B0604020202020204" pitchFamily="34" charset="0"/>
                          <a:cs typeface="Arial" panose="020B0604020202020204" pitchFamily="34" charset="0"/>
                        </a:rPr>
                        <a:t>G3</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7"/>
                  </a:ext>
                </a:extLst>
              </a:tr>
              <a:tr h="169964">
                <a:tc>
                  <a:txBody>
                    <a:bodyPr/>
                    <a:lstStyle/>
                    <a:p>
                      <a:pPr marL="63500" algn="ctr">
                        <a:lnSpc>
                          <a:spcPct val="100000"/>
                        </a:lnSpc>
                        <a:spcBef>
                          <a:spcPts val="190"/>
                        </a:spcBef>
                      </a:pPr>
                      <a:r>
                        <a:rPr sz="900" spc="-15" dirty="0">
                          <a:latin typeface="Arial" panose="020B0604020202020204" pitchFamily="34" charset="0"/>
                          <a:cs typeface="Arial" panose="020B0604020202020204" pitchFamily="34" charset="0"/>
                        </a:rPr>
                        <a:t>G4</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3500" algn="ctr">
                        <a:lnSpc>
                          <a:spcPct val="100000"/>
                        </a:lnSpc>
                        <a:spcBef>
                          <a:spcPts val="190"/>
                        </a:spcBef>
                      </a:pPr>
                      <a:r>
                        <a:rPr lang="en-US" sz="900" dirty="0">
                          <a:latin typeface="Arial" panose="020B0604020202020204" pitchFamily="34" charset="0"/>
                          <a:cs typeface="Arial" panose="020B0604020202020204" pitchFamily="34" charset="0"/>
                        </a:rPr>
                        <a:t>0.1</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64135" algn="ctr">
                        <a:lnSpc>
                          <a:spcPct val="100000"/>
                        </a:lnSpc>
                        <a:spcBef>
                          <a:spcPts val="190"/>
                        </a:spcBef>
                      </a:pPr>
                      <a:r>
                        <a:rPr lang="en-US" sz="900" dirty="0">
                          <a:latin typeface="Arial" panose="020B0604020202020204" pitchFamily="34" charset="0"/>
                          <a:cs typeface="Arial" panose="020B0604020202020204" pitchFamily="34" charset="0"/>
                        </a:rPr>
                        <a:t>0</a:t>
                      </a:r>
                      <a:endParaRPr sz="900" dirty="0">
                        <a:latin typeface="Arial" panose="020B0604020202020204" pitchFamily="34" charset="0"/>
                        <a:cs typeface="Arial" panose="020B060402020202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18"/>
                  </a:ext>
                </a:extLst>
              </a:tr>
            </a:tbl>
          </a:graphicData>
        </a:graphic>
      </p:graphicFrame>
      <p:grpSp>
        <p:nvGrpSpPr>
          <p:cNvPr id="9" name="그룹 8">
            <a:extLst>
              <a:ext uri="{FF2B5EF4-FFF2-40B4-BE49-F238E27FC236}">
                <a16:creationId xmlns:a16="http://schemas.microsoft.com/office/drawing/2014/main" id="{BD6EAE01-2AB9-7687-205A-667090C29085}"/>
              </a:ext>
            </a:extLst>
          </p:cNvPr>
          <p:cNvGrpSpPr/>
          <p:nvPr/>
        </p:nvGrpSpPr>
        <p:grpSpPr>
          <a:xfrm>
            <a:off x="413545" y="1321176"/>
            <a:ext cx="4099680" cy="3336424"/>
            <a:chOff x="413545" y="1321176"/>
            <a:chExt cx="4099680" cy="3336424"/>
          </a:xfrm>
        </p:grpSpPr>
        <p:grpSp>
          <p:nvGrpSpPr>
            <p:cNvPr id="2" name="그룹 1">
              <a:extLst>
                <a:ext uri="{FF2B5EF4-FFF2-40B4-BE49-F238E27FC236}">
                  <a16:creationId xmlns:a16="http://schemas.microsoft.com/office/drawing/2014/main" id="{9B9650FC-A5F8-7DF0-91BE-75BD2ED8D154}"/>
                </a:ext>
              </a:extLst>
            </p:cNvPr>
            <p:cNvGrpSpPr/>
            <p:nvPr/>
          </p:nvGrpSpPr>
          <p:grpSpPr>
            <a:xfrm>
              <a:off x="413545" y="1321176"/>
              <a:ext cx="4099680" cy="3336424"/>
              <a:chOff x="391389" y="1213424"/>
              <a:chExt cx="4099680" cy="3336424"/>
            </a:xfrm>
          </p:grpSpPr>
          <p:pic>
            <p:nvPicPr>
              <p:cNvPr id="21" name="그림 20">
                <a:extLst>
                  <a:ext uri="{FF2B5EF4-FFF2-40B4-BE49-F238E27FC236}">
                    <a16:creationId xmlns:a16="http://schemas.microsoft.com/office/drawing/2014/main" id="{43EC3C2B-2B0E-F495-F57A-11983C36EEAE}"/>
                  </a:ext>
                </a:extLst>
              </p:cNvPr>
              <p:cNvPicPr>
                <a:picLocks noChangeAspect="1"/>
              </p:cNvPicPr>
              <p:nvPr/>
            </p:nvPicPr>
            <p:blipFill>
              <a:blip r:embed="rId3"/>
              <a:stretch>
                <a:fillRect/>
              </a:stretch>
            </p:blipFill>
            <p:spPr>
              <a:xfrm>
                <a:off x="391389" y="1213424"/>
                <a:ext cx="4099680" cy="3336424"/>
              </a:xfrm>
              <a:prstGeom prst="rect">
                <a:avLst/>
              </a:prstGeom>
            </p:spPr>
          </p:pic>
          <p:pic>
            <p:nvPicPr>
              <p:cNvPr id="24" name="그림 23">
                <a:extLst>
                  <a:ext uri="{FF2B5EF4-FFF2-40B4-BE49-F238E27FC236}">
                    <a16:creationId xmlns:a16="http://schemas.microsoft.com/office/drawing/2014/main" id="{52E54746-623C-D339-34B9-D9D0203FB829}"/>
                  </a:ext>
                </a:extLst>
              </p:cNvPr>
              <p:cNvPicPr>
                <a:picLocks noChangeAspect="1"/>
              </p:cNvPicPr>
              <p:nvPr/>
            </p:nvPicPr>
            <p:blipFill>
              <a:blip r:embed="rId4"/>
              <a:stretch>
                <a:fillRect/>
              </a:stretch>
            </p:blipFill>
            <p:spPr>
              <a:xfrm>
                <a:off x="1595664" y="2121237"/>
                <a:ext cx="1425563" cy="1493973"/>
              </a:xfrm>
              <a:prstGeom prst="rect">
                <a:avLst/>
              </a:prstGeom>
            </p:spPr>
          </p:pic>
        </p:grpSp>
        <p:grpSp>
          <p:nvGrpSpPr>
            <p:cNvPr id="25" name="그룹 24">
              <a:extLst>
                <a:ext uri="{FF2B5EF4-FFF2-40B4-BE49-F238E27FC236}">
                  <a16:creationId xmlns:a16="http://schemas.microsoft.com/office/drawing/2014/main" id="{2BBCC28A-E7B2-FA3A-E2C8-C61FD6BC6E0E}"/>
                </a:ext>
              </a:extLst>
            </p:cNvPr>
            <p:cNvGrpSpPr/>
            <p:nvPr/>
          </p:nvGrpSpPr>
          <p:grpSpPr>
            <a:xfrm>
              <a:off x="1617820" y="2334717"/>
              <a:ext cx="1308858" cy="1237043"/>
              <a:chOff x="1243842" y="4325498"/>
              <a:chExt cx="1308858" cy="1237043"/>
            </a:xfrm>
          </p:grpSpPr>
          <p:grpSp>
            <p:nvGrpSpPr>
              <p:cNvPr id="26" name="그룹 25">
                <a:extLst>
                  <a:ext uri="{FF2B5EF4-FFF2-40B4-BE49-F238E27FC236}">
                    <a16:creationId xmlns:a16="http://schemas.microsoft.com/office/drawing/2014/main" id="{22CA1B63-0309-A1DF-4B8C-B7B99460A7C8}"/>
                  </a:ext>
                </a:extLst>
              </p:cNvPr>
              <p:cNvGrpSpPr/>
              <p:nvPr/>
            </p:nvGrpSpPr>
            <p:grpSpPr>
              <a:xfrm>
                <a:off x="1243842" y="4325498"/>
                <a:ext cx="1308858" cy="1237043"/>
                <a:chOff x="1320042" y="3820066"/>
                <a:chExt cx="1308858" cy="1237043"/>
              </a:xfrm>
            </p:grpSpPr>
            <p:grpSp>
              <p:nvGrpSpPr>
                <p:cNvPr id="31" name="그룹 30">
                  <a:extLst>
                    <a:ext uri="{FF2B5EF4-FFF2-40B4-BE49-F238E27FC236}">
                      <a16:creationId xmlns:a16="http://schemas.microsoft.com/office/drawing/2014/main" id="{C7E03382-4682-D3DA-3151-D78E3EFD5EAE}"/>
                    </a:ext>
                  </a:extLst>
                </p:cNvPr>
                <p:cNvGrpSpPr/>
                <p:nvPr/>
              </p:nvGrpSpPr>
              <p:grpSpPr>
                <a:xfrm>
                  <a:off x="1320042" y="3820066"/>
                  <a:ext cx="1308858" cy="1237043"/>
                  <a:chOff x="1777242" y="3077349"/>
                  <a:chExt cx="1308858" cy="1237043"/>
                </a:xfrm>
              </p:grpSpPr>
              <p:sp>
                <p:nvSpPr>
                  <p:cNvPr id="40" name="직사각형 39">
                    <a:extLst>
                      <a:ext uri="{FF2B5EF4-FFF2-40B4-BE49-F238E27FC236}">
                        <a16:creationId xmlns:a16="http://schemas.microsoft.com/office/drawing/2014/main" id="{84863748-C023-EE31-6BCF-1DAC27D2F3F5}"/>
                      </a:ext>
                    </a:extLst>
                  </p:cNvPr>
                  <p:cNvSpPr/>
                  <p:nvPr/>
                </p:nvSpPr>
                <p:spPr>
                  <a:xfrm>
                    <a:off x="1885950" y="3077349"/>
                    <a:ext cx="1200150" cy="1226343"/>
                  </a:xfrm>
                  <a:prstGeom prst="rect">
                    <a:avLst/>
                  </a:prstGeom>
                  <a:noFill/>
                  <a:ln w="6350">
                    <a:solidFill>
                      <a:srgbClr val="2E51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41" name="그림 40">
                    <a:extLst>
                      <a:ext uri="{FF2B5EF4-FFF2-40B4-BE49-F238E27FC236}">
                        <a16:creationId xmlns:a16="http://schemas.microsoft.com/office/drawing/2014/main" id="{FDC40B3D-2C88-50BB-9252-C171235317EF}"/>
                      </a:ext>
                    </a:extLst>
                  </p:cNvPr>
                  <p:cNvPicPr>
                    <a:picLocks noChangeAspect="1"/>
                  </p:cNvPicPr>
                  <p:nvPr/>
                </p:nvPicPr>
                <p:blipFill>
                  <a:blip r:embed="rId4"/>
                  <a:stretch>
                    <a:fillRect/>
                  </a:stretch>
                </p:blipFill>
                <p:spPr>
                  <a:xfrm>
                    <a:off x="1777242" y="4063186"/>
                    <a:ext cx="296827" cy="251206"/>
                  </a:xfrm>
                  <a:prstGeom prst="rect">
                    <a:avLst/>
                  </a:prstGeom>
                </p:spPr>
              </p:pic>
              <p:cxnSp>
                <p:nvCxnSpPr>
                  <p:cNvPr id="42" name="직선 연결선 41">
                    <a:extLst>
                      <a:ext uri="{FF2B5EF4-FFF2-40B4-BE49-F238E27FC236}">
                        <a16:creationId xmlns:a16="http://schemas.microsoft.com/office/drawing/2014/main" id="{E64C7FD9-2636-52A7-A156-AD60166EE2D0}"/>
                      </a:ext>
                    </a:extLst>
                  </p:cNvPr>
                  <p:cNvCxnSpPr/>
                  <p:nvPr/>
                </p:nvCxnSpPr>
                <p:spPr>
                  <a:xfrm>
                    <a:off x="1885950" y="4063186"/>
                    <a:ext cx="188119" cy="240506"/>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32" name="직선 화살표 연결선 31">
                  <a:extLst>
                    <a:ext uri="{FF2B5EF4-FFF2-40B4-BE49-F238E27FC236}">
                      <a16:creationId xmlns:a16="http://schemas.microsoft.com/office/drawing/2014/main" id="{68A11BD6-16B2-29F1-ECF1-4AD2930329C7}"/>
                    </a:ext>
                  </a:extLst>
                </p:cNvPr>
                <p:cNvCxnSpPr>
                  <a:cxnSpLocks/>
                </p:cNvCxnSpPr>
                <p:nvPr/>
              </p:nvCxnSpPr>
              <p:spPr>
                <a:xfrm>
                  <a:off x="1443038" y="4052847"/>
                  <a:ext cx="1185862"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3" name="직선 화살표 연결선 32">
                  <a:extLst>
                    <a:ext uri="{FF2B5EF4-FFF2-40B4-BE49-F238E27FC236}">
                      <a16:creationId xmlns:a16="http://schemas.microsoft.com/office/drawing/2014/main" id="{5225DDC5-CD35-6CED-D397-E003875CDB8D}"/>
                    </a:ext>
                  </a:extLst>
                </p:cNvPr>
                <p:cNvCxnSpPr>
                  <a:cxnSpLocks/>
                </p:cNvCxnSpPr>
                <p:nvPr/>
              </p:nvCxnSpPr>
              <p:spPr>
                <a:xfrm flipV="1">
                  <a:off x="2336624" y="3821117"/>
                  <a:ext cx="0" cy="1225292"/>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4" name="직선 연결선 33">
                  <a:extLst>
                    <a:ext uri="{FF2B5EF4-FFF2-40B4-BE49-F238E27FC236}">
                      <a16:creationId xmlns:a16="http://schemas.microsoft.com/office/drawing/2014/main" id="{D1DF1B81-106B-B1A1-3A2F-4C13E5F750DE}"/>
                    </a:ext>
                  </a:extLst>
                </p:cNvPr>
                <p:cNvCxnSpPr>
                  <a:cxnSpLocks/>
                </p:cNvCxnSpPr>
                <p:nvPr/>
              </p:nvCxnSpPr>
              <p:spPr>
                <a:xfrm>
                  <a:off x="1866900" y="4427173"/>
                  <a:ext cx="375356" cy="0"/>
                </a:xfrm>
                <a:prstGeom prst="line">
                  <a:avLst/>
                </a:prstGeom>
              </p:spPr>
              <p:style>
                <a:lnRef idx="1">
                  <a:schemeClr val="dk1"/>
                </a:lnRef>
                <a:fillRef idx="0">
                  <a:schemeClr val="dk1"/>
                </a:fillRef>
                <a:effectRef idx="0">
                  <a:schemeClr val="dk1"/>
                </a:effectRef>
                <a:fontRef idx="minor">
                  <a:schemeClr val="tx1"/>
                </a:fontRef>
              </p:style>
            </p:cxnSp>
            <p:cxnSp>
              <p:nvCxnSpPr>
                <p:cNvPr id="35" name="직선 연결선 34">
                  <a:extLst>
                    <a:ext uri="{FF2B5EF4-FFF2-40B4-BE49-F238E27FC236}">
                      <a16:creationId xmlns:a16="http://schemas.microsoft.com/office/drawing/2014/main" id="{5C2309B4-B875-86DC-3DE3-D287A722CD14}"/>
                    </a:ext>
                  </a:extLst>
                </p:cNvPr>
                <p:cNvCxnSpPr>
                  <a:cxnSpLocks/>
                </p:cNvCxnSpPr>
                <p:nvPr/>
              </p:nvCxnSpPr>
              <p:spPr>
                <a:xfrm>
                  <a:off x="2051447" y="4243388"/>
                  <a:ext cx="0" cy="379187"/>
                </a:xfrm>
                <a:prstGeom prst="line">
                  <a:avLst/>
                </a:prstGeom>
              </p:spPr>
              <p:style>
                <a:lnRef idx="1">
                  <a:schemeClr val="dk1"/>
                </a:lnRef>
                <a:fillRef idx="0">
                  <a:schemeClr val="dk1"/>
                </a:fillRef>
                <a:effectRef idx="0">
                  <a:schemeClr val="dk1"/>
                </a:effectRef>
                <a:fontRef idx="minor">
                  <a:schemeClr val="tx1"/>
                </a:fontRef>
              </p:style>
            </p:cxnSp>
            <p:cxnSp>
              <p:nvCxnSpPr>
                <p:cNvPr id="36" name="직선 연결선 35">
                  <a:extLst>
                    <a:ext uri="{FF2B5EF4-FFF2-40B4-BE49-F238E27FC236}">
                      <a16:creationId xmlns:a16="http://schemas.microsoft.com/office/drawing/2014/main" id="{FEAFB6C1-5A9C-BA67-81BA-7A06965CB577}"/>
                    </a:ext>
                  </a:extLst>
                </p:cNvPr>
                <p:cNvCxnSpPr>
                  <a:cxnSpLocks/>
                </p:cNvCxnSpPr>
                <p:nvPr/>
              </p:nvCxnSpPr>
              <p:spPr>
                <a:xfrm>
                  <a:off x="1436688" y="4799553"/>
                  <a:ext cx="173831" cy="0"/>
                </a:xfrm>
                <a:prstGeom prst="line">
                  <a:avLst/>
                </a:prstGeom>
              </p:spPr>
              <p:style>
                <a:lnRef idx="1">
                  <a:schemeClr val="dk1"/>
                </a:lnRef>
                <a:fillRef idx="0">
                  <a:schemeClr val="dk1"/>
                </a:fillRef>
                <a:effectRef idx="0">
                  <a:schemeClr val="dk1"/>
                </a:effectRef>
                <a:fontRef idx="minor">
                  <a:schemeClr val="tx1"/>
                </a:fontRef>
              </p:style>
            </p:cxnSp>
            <p:cxnSp>
              <p:nvCxnSpPr>
                <p:cNvPr id="37" name="직선 연결선 36">
                  <a:extLst>
                    <a:ext uri="{FF2B5EF4-FFF2-40B4-BE49-F238E27FC236}">
                      <a16:creationId xmlns:a16="http://schemas.microsoft.com/office/drawing/2014/main" id="{63F9FD75-8B50-C745-89FB-8CCA3E59AA5E}"/>
                    </a:ext>
                  </a:extLst>
                </p:cNvPr>
                <p:cNvCxnSpPr>
                  <a:cxnSpLocks/>
                </p:cNvCxnSpPr>
                <p:nvPr/>
              </p:nvCxnSpPr>
              <p:spPr>
                <a:xfrm flipH="1">
                  <a:off x="1619250" y="4799553"/>
                  <a:ext cx="1588" cy="232822"/>
                </a:xfrm>
                <a:prstGeom prst="line">
                  <a:avLst/>
                </a:prstGeom>
              </p:spPr>
              <p:style>
                <a:lnRef idx="1">
                  <a:schemeClr val="dk1"/>
                </a:lnRef>
                <a:fillRef idx="0">
                  <a:schemeClr val="dk1"/>
                </a:fillRef>
                <a:effectRef idx="0">
                  <a:schemeClr val="dk1"/>
                </a:effectRef>
                <a:fontRef idx="minor">
                  <a:schemeClr val="tx1"/>
                </a:fontRef>
              </p:style>
            </p:cxnSp>
            <p:cxnSp>
              <p:nvCxnSpPr>
                <p:cNvPr id="38" name="직선 화살표 연결선 37">
                  <a:extLst>
                    <a:ext uri="{FF2B5EF4-FFF2-40B4-BE49-F238E27FC236}">
                      <a16:creationId xmlns:a16="http://schemas.microsoft.com/office/drawing/2014/main" id="{710F9B0B-A187-39CD-E2D8-8B0B8F5C17C4}"/>
                    </a:ext>
                  </a:extLst>
                </p:cNvPr>
                <p:cNvCxnSpPr>
                  <a:cxnSpLocks/>
                </p:cNvCxnSpPr>
                <p:nvPr/>
              </p:nvCxnSpPr>
              <p:spPr>
                <a:xfrm>
                  <a:off x="1616869" y="4899877"/>
                  <a:ext cx="1012031" cy="0"/>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cxnSp>
              <p:nvCxnSpPr>
                <p:cNvPr id="39" name="직선 화살표 연결선 38">
                  <a:extLst>
                    <a:ext uri="{FF2B5EF4-FFF2-40B4-BE49-F238E27FC236}">
                      <a16:creationId xmlns:a16="http://schemas.microsoft.com/office/drawing/2014/main" id="{597DA011-0321-338E-B11C-732B6F9C8D8D}"/>
                    </a:ext>
                  </a:extLst>
                </p:cNvPr>
                <p:cNvCxnSpPr>
                  <a:cxnSpLocks/>
                </p:cNvCxnSpPr>
                <p:nvPr/>
              </p:nvCxnSpPr>
              <p:spPr>
                <a:xfrm flipV="1">
                  <a:off x="1560336" y="3821117"/>
                  <a:ext cx="0" cy="978436"/>
                </a:xfrm>
                <a:prstGeom prst="straightConnector1">
                  <a:avLst/>
                </a:prstGeom>
                <a:ln>
                  <a:headEnd type="triangle" w="med" len="sm"/>
                  <a:tailEnd type="triangle" w="med" len="sm"/>
                </a:ln>
              </p:spPr>
              <p:style>
                <a:lnRef idx="1">
                  <a:schemeClr val="dk1"/>
                </a:lnRef>
                <a:fillRef idx="0">
                  <a:schemeClr val="dk1"/>
                </a:fillRef>
                <a:effectRef idx="0">
                  <a:schemeClr val="dk1"/>
                </a:effectRef>
                <a:fontRef idx="minor">
                  <a:schemeClr val="tx1"/>
                </a:fontRef>
              </p:style>
            </p:cxnSp>
          </p:grpSp>
          <p:sp>
            <p:nvSpPr>
              <p:cNvPr id="27" name="TextBox 26">
                <a:extLst>
                  <a:ext uri="{FF2B5EF4-FFF2-40B4-BE49-F238E27FC236}">
                    <a16:creationId xmlns:a16="http://schemas.microsoft.com/office/drawing/2014/main" id="{BD4280C6-CF8E-470C-E707-D823A9AB2CFE}"/>
                  </a:ext>
                </a:extLst>
              </p:cNvPr>
              <p:cNvSpPr txBox="1"/>
              <p:nvPr/>
            </p:nvSpPr>
            <p:spPr>
              <a:xfrm>
                <a:off x="1897833" y="4492185"/>
                <a:ext cx="154828" cy="123111"/>
              </a:xfrm>
              <a:prstGeom prst="rect">
                <a:avLst/>
              </a:prstGeom>
              <a:solidFill>
                <a:schemeClr val="bg1"/>
              </a:solidFill>
            </p:spPr>
            <p:txBody>
              <a:bodyPr wrap="square" lIns="0" tIns="0" rIns="0" bIns="0" rtlCol="0">
                <a:spAutoFit/>
              </a:bodyPr>
              <a:lstStyle/>
              <a:p>
                <a:pPr algn="ctr"/>
                <a:r>
                  <a:rPr lang="en-US" altLang="ko-KR" sz="800" dirty="0"/>
                  <a:t>X2</a:t>
                </a:r>
                <a:endParaRPr lang="ko-KR" altLang="en-US" sz="800" dirty="0"/>
              </a:p>
            </p:txBody>
          </p:sp>
          <p:sp>
            <p:nvSpPr>
              <p:cNvPr id="28" name="TextBox 27">
                <a:extLst>
                  <a:ext uri="{FF2B5EF4-FFF2-40B4-BE49-F238E27FC236}">
                    <a16:creationId xmlns:a16="http://schemas.microsoft.com/office/drawing/2014/main" id="{0A6389B1-A6B1-6899-E925-A9131812851C}"/>
                  </a:ext>
                </a:extLst>
              </p:cNvPr>
              <p:cNvSpPr txBox="1"/>
              <p:nvPr/>
            </p:nvSpPr>
            <p:spPr>
              <a:xfrm>
                <a:off x="2203124" y="4876857"/>
                <a:ext cx="154828" cy="123111"/>
              </a:xfrm>
              <a:prstGeom prst="rect">
                <a:avLst/>
              </a:prstGeom>
              <a:solidFill>
                <a:schemeClr val="bg1"/>
              </a:solidFill>
            </p:spPr>
            <p:txBody>
              <a:bodyPr wrap="square" lIns="0" tIns="0" rIns="0" bIns="0" rtlCol="0">
                <a:spAutoFit/>
              </a:bodyPr>
              <a:lstStyle/>
              <a:p>
                <a:pPr algn="ctr"/>
                <a:r>
                  <a:rPr lang="en-US" altLang="ko-KR" sz="800" dirty="0"/>
                  <a:t>Y2</a:t>
                </a:r>
                <a:endParaRPr lang="ko-KR" altLang="en-US" sz="800" dirty="0"/>
              </a:p>
            </p:txBody>
          </p:sp>
          <p:sp>
            <p:nvSpPr>
              <p:cNvPr id="29" name="TextBox 28">
                <a:extLst>
                  <a:ext uri="{FF2B5EF4-FFF2-40B4-BE49-F238E27FC236}">
                    <a16:creationId xmlns:a16="http://schemas.microsoft.com/office/drawing/2014/main" id="{E3396937-33C3-12C6-9E71-41735E6A4678}"/>
                  </a:ext>
                </a:extLst>
              </p:cNvPr>
              <p:cNvSpPr txBox="1"/>
              <p:nvPr/>
            </p:nvSpPr>
            <p:spPr>
              <a:xfrm>
                <a:off x="1959769" y="5346185"/>
                <a:ext cx="154828" cy="123111"/>
              </a:xfrm>
              <a:prstGeom prst="rect">
                <a:avLst/>
              </a:prstGeom>
              <a:solidFill>
                <a:schemeClr val="bg1"/>
              </a:solidFill>
            </p:spPr>
            <p:txBody>
              <a:bodyPr wrap="square" lIns="0" tIns="0" rIns="0" bIns="0" rtlCol="0">
                <a:spAutoFit/>
              </a:bodyPr>
              <a:lstStyle/>
              <a:p>
                <a:pPr algn="ctr"/>
                <a:r>
                  <a:rPr lang="en-US" altLang="ko-KR" sz="800" dirty="0"/>
                  <a:t>X3</a:t>
                </a:r>
                <a:endParaRPr lang="ko-KR" altLang="en-US" sz="800" dirty="0"/>
              </a:p>
            </p:txBody>
          </p:sp>
          <p:sp>
            <p:nvSpPr>
              <p:cNvPr id="30" name="TextBox 29">
                <a:extLst>
                  <a:ext uri="{FF2B5EF4-FFF2-40B4-BE49-F238E27FC236}">
                    <a16:creationId xmlns:a16="http://schemas.microsoft.com/office/drawing/2014/main" id="{4620F793-215A-56B5-393D-5DC2E6E99326}"/>
                  </a:ext>
                </a:extLst>
              </p:cNvPr>
              <p:cNvSpPr txBox="1"/>
              <p:nvPr/>
            </p:nvSpPr>
            <p:spPr>
              <a:xfrm>
                <a:off x="1415870" y="4790876"/>
                <a:ext cx="154828" cy="123111"/>
              </a:xfrm>
              <a:prstGeom prst="rect">
                <a:avLst/>
              </a:prstGeom>
              <a:solidFill>
                <a:schemeClr val="bg1"/>
              </a:solidFill>
            </p:spPr>
            <p:txBody>
              <a:bodyPr wrap="square" lIns="0" tIns="0" rIns="0" bIns="0" rtlCol="0">
                <a:spAutoFit/>
              </a:bodyPr>
              <a:lstStyle/>
              <a:p>
                <a:pPr algn="ctr"/>
                <a:r>
                  <a:rPr lang="en-US" altLang="ko-KR" sz="800" dirty="0"/>
                  <a:t>Y3</a:t>
                </a:r>
                <a:endParaRPr lang="ko-KR" altLang="en-US" sz="800" dirty="0"/>
              </a:p>
            </p:txBody>
          </p:sp>
        </p:grpSp>
        <p:cxnSp>
          <p:nvCxnSpPr>
            <p:cNvPr id="4" name="직선 화살표 연결선 3">
              <a:extLst>
                <a:ext uri="{FF2B5EF4-FFF2-40B4-BE49-F238E27FC236}">
                  <a16:creationId xmlns:a16="http://schemas.microsoft.com/office/drawing/2014/main" id="{87F6A94B-6934-F5E0-8CA0-B075246E0BFD}"/>
                </a:ext>
              </a:extLst>
            </p:cNvPr>
            <p:cNvCxnSpPr>
              <a:cxnSpLocks/>
            </p:cNvCxnSpPr>
            <p:nvPr/>
          </p:nvCxnSpPr>
          <p:spPr>
            <a:xfrm flipV="1">
              <a:off x="1617820" y="3449130"/>
              <a:ext cx="211499" cy="163865"/>
            </a:xfrm>
            <a:prstGeom prst="straightConnector1">
              <a:avLst/>
            </a:prstGeom>
            <a:ln>
              <a:headEnd w="med" len="sm"/>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970544529"/>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문서" ma:contentTypeID="0x010100AFC4A675C1E113449D0248043CD1C0F7" ma:contentTypeVersion="4" ma:contentTypeDescription="새 문서를 만듭니다." ma:contentTypeScope="" ma:versionID="b5bb315d749e6b00b177ef1d11898eef">
  <xsd:schema xmlns:xsd="http://www.w3.org/2001/XMLSchema" xmlns:xs="http://www.w3.org/2001/XMLSchema" xmlns:p="http://schemas.microsoft.com/office/2006/metadata/properties" xmlns:ns3="b68af7c0-9cef-4e12-8243-523fceba86ee" targetNamespace="http://schemas.microsoft.com/office/2006/metadata/properties" ma:root="true" ma:fieldsID="3390cc5023201d4da9fc1987b8c9f5b3" ns3:_="">
    <xsd:import namespace="b68af7c0-9cef-4e12-8243-523fceba86e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8af7c0-9cef-4e12-8243-523fceba86e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6F863B-59A5-4DCE-B63F-FE618623F17F}">
  <ds:schemaRefs>
    <ds:schemaRef ds:uri="http://purl.org/dc/terms/"/>
    <ds:schemaRef ds:uri="http://schemas.openxmlformats.org/package/2006/metadata/core-properties"/>
    <ds:schemaRef ds:uri="http://www.w3.org/XML/1998/namespace"/>
    <ds:schemaRef ds:uri="http://schemas.microsoft.com/office/2006/metadata/properties"/>
    <ds:schemaRef ds:uri="http://purl.org/dc/elements/1.1/"/>
    <ds:schemaRef ds:uri="http://purl.org/dc/dcmitype/"/>
    <ds:schemaRef ds:uri="b68af7c0-9cef-4e12-8243-523fceba86ee"/>
    <ds:schemaRef ds:uri="http://schemas.microsoft.com/office/2006/documentManagement/types"/>
    <ds:schemaRef ds:uri="http://schemas.microsoft.com/office/infopath/2007/PartnerControls"/>
  </ds:schemaRefs>
</ds:datastoreItem>
</file>

<file path=customXml/itemProps2.xml><?xml version="1.0" encoding="utf-8"?>
<ds:datastoreItem xmlns:ds="http://schemas.openxmlformats.org/officeDocument/2006/customXml" ds:itemID="{198F8765-65A5-4E5A-8F42-35C584A4DA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8af7c0-9cef-4e12-8243-523fceba86e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4F76A09-908A-4E45-A9CC-081CB8515A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48354</TotalTime>
  <Words>8918</Words>
  <Application>Microsoft Office PowerPoint</Application>
  <PresentationFormat>A4 용지(210x297mm)</PresentationFormat>
  <Paragraphs>2629</Paragraphs>
  <Slides>30</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30</vt:i4>
      </vt:variant>
    </vt:vector>
  </HeadingPairs>
  <TitlesOfParts>
    <vt:vector size="37" baseType="lpstr">
      <vt:lpstr>Microsoft GothicNeo</vt:lpstr>
      <vt:lpstr>굴림</vt:lpstr>
      <vt:lpstr>맑은 고딕</vt:lpstr>
      <vt:lpstr>Arial</vt:lpstr>
      <vt:lpstr>Calibri</vt:lpstr>
      <vt:lpstr>Times New Roman</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엄윤섭</dc:creator>
  <cp:lastModifiedBy>윤 진수</cp:lastModifiedBy>
  <cp:revision>1842</cp:revision>
  <cp:lastPrinted>2023-08-01T07:21:23Z</cp:lastPrinted>
  <dcterms:created xsi:type="dcterms:W3CDTF">2020-06-17T04:27:48Z</dcterms:created>
  <dcterms:modified xsi:type="dcterms:W3CDTF">2025-04-29T06:10:30Z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0x010100AFC4A675C1E113449D0248043CD1C0F7</vt:lpwstr>
  </property>
</Properties>
</file>