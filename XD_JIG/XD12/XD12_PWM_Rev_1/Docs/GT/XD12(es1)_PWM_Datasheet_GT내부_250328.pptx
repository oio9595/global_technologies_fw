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7"/>
  </p:notesMasterIdLst>
  <p:handoutMasterIdLst>
    <p:handoutMasterId r:id="rId38"/>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431" r:id="rId18"/>
    <p:sldId id="428" r:id="rId19"/>
    <p:sldId id="432" r:id="rId20"/>
    <p:sldId id="293" r:id="rId21"/>
    <p:sldId id="427" r:id="rId22"/>
    <p:sldId id="330" r:id="rId23"/>
    <p:sldId id="412" r:id="rId24"/>
    <p:sldId id="414" r:id="rId25"/>
    <p:sldId id="407" r:id="rId26"/>
    <p:sldId id="353" r:id="rId27"/>
    <p:sldId id="409" r:id="rId28"/>
    <p:sldId id="422" r:id="rId29"/>
    <p:sldId id="415" r:id="rId30"/>
    <p:sldId id="410" r:id="rId31"/>
    <p:sldId id="425" r:id="rId32"/>
    <p:sldId id="426" r:id="rId33"/>
    <p:sldId id="413" r:id="rId34"/>
    <p:sldId id="421" r:id="rId35"/>
    <p:sldId id="348" r:id="rId36"/>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EF"/>
    <a:srgbClr val="EBEBEB"/>
    <a:srgbClr val="E6E6E6"/>
    <a:srgbClr val="FFFFEB"/>
    <a:srgbClr val="FFFFD9"/>
    <a:srgbClr val="EFF5FB"/>
    <a:srgbClr val="E5EDFB"/>
    <a:srgbClr val="FFFFB3"/>
    <a:srgbClr val="ECF3FA"/>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7202" autoAdjust="0"/>
  </p:normalViewPr>
  <p:slideViewPr>
    <p:cSldViewPr snapToGrid="0">
      <p:cViewPr>
        <p:scale>
          <a:sx n="196" d="100"/>
          <a:sy n="196" d="100"/>
        </p:scale>
        <p:origin x="1536" y="-1904"/>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4" d="100"/>
          <a:sy n="104" d="100"/>
        </p:scale>
        <p:origin x="338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2025-03-27</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2025-03-27</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2025-03-27</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2025-03-27</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2025-03-27</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2025-03-27</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2025-03-27</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2025-03-27</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2025-03-27</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2025-03-27</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2025-03-27</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2025-03-27</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04. APR. 2025  Rev. 02</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25922"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692771"/>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driver for mini-LED Backlight display applications in AM direct driving methodology. It supports max 64mA and 40V at each channel output pin rating. This device can support max 14-bit PWM dimming resolution and a 12-bit DAC global brightness resolution.</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The self-protections features, LED open/short detection and thermal shutdown, are embedded. In addition, a Feedback control for adjusting a VLED power is included.</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It is used with a XC24 controller as a companion chip. A lot of the  XD12 can be daisied to a XC24 channels and controlled through a serial interface by a XC24 controller.</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6061666"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4551952"/>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(4/8/12/16/24/32/46/64mA)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brightness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14-bit PWM dimming</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±1% (@ configured max current * 1)</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detection level and open detection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generating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over-</a:t>
            </a:r>
            <a:r>
              <a:rPr lang="en-US" altLang="ko-KR" sz="1000" dirty="0">
                <a:latin typeface="Arial" panose="020B0604020202020204" pitchFamily="34" charset="0"/>
                <a:ea typeface="Arial" panose="020B0604020202020204" pitchFamily="34" charset="0"/>
                <a:cs typeface="굴림" panose="020B0600000101010101" pitchFamily="50" charset="-127"/>
              </a:rPr>
              <a:t>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844118" y="4964441"/>
            <a:ext cx="1471350"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679849" y="8320192"/>
            <a:ext cx="1697344"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6" name="그림 5">
            <a:extLst>
              <a:ext uri="{FF2B5EF4-FFF2-40B4-BE49-F238E27FC236}">
                <a16:creationId xmlns:a16="http://schemas.microsoft.com/office/drawing/2014/main" id="{CC198E1B-AF49-249D-7209-6739D22B7BDF}"/>
              </a:ext>
            </a:extLst>
          </p:cNvPr>
          <p:cNvPicPr>
            <a:picLocks noChangeAspect="1"/>
          </p:cNvPicPr>
          <p:nvPr/>
        </p:nvPicPr>
        <p:blipFill>
          <a:blip r:embed="rId2"/>
          <a:stretch>
            <a:fillRect/>
          </a:stretch>
        </p:blipFill>
        <p:spPr>
          <a:xfrm>
            <a:off x="1539000" y="1297867"/>
            <a:ext cx="3780000" cy="3520305"/>
          </a:xfrm>
          <a:prstGeom prst="rect">
            <a:avLst/>
          </a:prstGeom>
        </p:spPr>
      </p:pic>
      <p:pic>
        <p:nvPicPr>
          <p:cNvPr id="11" name="그림 10">
            <a:extLst>
              <a:ext uri="{FF2B5EF4-FFF2-40B4-BE49-F238E27FC236}">
                <a16:creationId xmlns:a16="http://schemas.microsoft.com/office/drawing/2014/main" id="{809F881A-768A-D32A-01AC-69AF0BCB882B}"/>
              </a:ext>
            </a:extLst>
          </p:cNvPr>
          <p:cNvPicPr>
            <a:picLocks noChangeAspect="1"/>
          </p:cNvPicPr>
          <p:nvPr/>
        </p:nvPicPr>
        <p:blipFill>
          <a:blip r:embed="rId3"/>
          <a:stretch>
            <a:fillRect/>
          </a:stretch>
        </p:blipFill>
        <p:spPr>
          <a:xfrm>
            <a:off x="441000" y="5978526"/>
            <a:ext cx="5976000" cy="2197425"/>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47337675"/>
              </p:ext>
            </p:extLst>
          </p:nvPr>
        </p:nvGraphicFramePr>
        <p:xfrm>
          <a:off x="404813" y="4627395"/>
          <a:ext cx="6042618" cy="4086562"/>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82434">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58794">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376154">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FBO is Open-drain output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5879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311179">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25173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861486" y="3885487"/>
            <a:ext cx="1429294"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3.  Pin diagram </a:t>
            </a:r>
          </a:p>
        </p:txBody>
      </p:sp>
      <p:sp>
        <p:nvSpPr>
          <p:cNvPr id="8" name="object 11">
            <a:extLst>
              <a:ext uri="{FF2B5EF4-FFF2-40B4-BE49-F238E27FC236}">
                <a16:creationId xmlns:a16="http://schemas.microsoft.com/office/drawing/2014/main" id="{77924AB2-D427-3E11-9D10-6C2E350D7DF3}"/>
              </a:ext>
            </a:extLst>
          </p:cNvPr>
          <p:cNvSpPr txBox="1"/>
          <p:nvPr/>
        </p:nvSpPr>
        <p:spPr>
          <a:xfrm>
            <a:off x="2822878" y="8754963"/>
            <a:ext cx="1470827" cy="146234"/>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1</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Pin Description </a:t>
            </a:r>
            <a:endParaRPr kumimoji="0" sz="881" dirty="0">
              <a:solidFill>
                <a:prstClr val="black"/>
              </a:solidFill>
              <a:latin typeface="Arial" panose="020B0604020202020204" pitchFamily="34" charset="0"/>
              <a:ea typeface="+mn-ea"/>
              <a:cs typeface="Arial" panose="020B0604020202020204" pitchFamily="34" charset="0"/>
            </a:endParaRPr>
          </a:p>
        </p:txBody>
      </p:sp>
      <p:grpSp>
        <p:nvGrpSpPr>
          <p:cNvPr id="79" name="그룹 78">
            <a:extLst>
              <a:ext uri="{FF2B5EF4-FFF2-40B4-BE49-F238E27FC236}">
                <a16:creationId xmlns:a16="http://schemas.microsoft.com/office/drawing/2014/main" id="{2DA48ED1-F843-8B87-3961-01F598A7B270}"/>
              </a:ext>
            </a:extLst>
          </p:cNvPr>
          <p:cNvGrpSpPr/>
          <p:nvPr/>
        </p:nvGrpSpPr>
        <p:grpSpPr>
          <a:xfrm>
            <a:off x="2212806" y="1353654"/>
            <a:ext cx="2467939" cy="2434200"/>
            <a:chOff x="2212806" y="1353654"/>
            <a:chExt cx="2467939" cy="2434200"/>
          </a:xfrm>
        </p:grpSpPr>
        <p:sp>
          <p:nvSpPr>
            <p:cNvPr id="4" name="직사각형 3">
              <a:extLst>
                <a:ext uri="{FF2B5EF4-FFF2-40B4-BE49-F238E27FC236}">
                  <a16:creationId xmlns:a16="http://schemas.microsoft.com/office/drawing/2014/main" id="{10BEFC6D-2279-90DD-5D1C-DDD376E75550}"/>
                </a:ext>
              </a:extLst>
            </p:cNvPr>
            <p:cNvSpPr/>
            <p:nvPr/>
          </p:nvSpPr>
          <p:spPr>
            <a:xfrm>
              <a:off x="2212806" y="1353654"/>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a:off x="2917292"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a:off x="3207249"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a:off x="3497206"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a:off x="3787163"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rot="16200000">
              <a:off x="2959459" y="208531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346018" y="2413330"/>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664884" y="33274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943038"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3520104"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4148697" y="183537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4148697" y="2072183"/>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4198943" y="236268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4199879" y="293732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53492" y="320298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557218" y="294330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2564329" y="266187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2557278" y="209498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2649903"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2928057"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3532522"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70063" y="1671055"/>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2564329" y="2373220"/>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2553492" y="185511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3225807"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4198943" y="264838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4202645" y="316612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3227001"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4075029" y="333856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38" name="그룹 37">
              <a:extLst>
                <a:ext uri="{FF2B5EF4-FFF2-40B4-BE49-F238E27FC236}">
                  <a16:creationId xmlns:a16="http://schemas.microsoft.com/office/drawing/2014/main" id="{BA1BF045-C8C9-3383-DEF7-5B16D7BDD4B4}"/>
                </a:ext>
              </a:extLst>
            </p:cNvPr>
            <p:cNvGrpSpPr/>
            <p:nvPr/>
          </p:nvGrpSpPr>
          <p:grpSpPr>
            <a:xfrm>
              <a:off x="2608988" y="3480251"/>
              <a:ext cx="1665977" cy="307603"/>
              <a:chOff x="2608988" y="3515561"/>
              <a:chExt cx="1665977" cy="307603"/>
            </a:xfrm>
          </p:grpSpPr>
          <p:sp>
            <p:nvSpPr>
              <p:cNvPr id="39" name="직사각형 38">
                <a:extLst>
                  <a:ext uri="{FF2B5EF4-FFF2-40B4-BE49-F238E27FC236}">
                    <a16:creationId xmlns:a16="http://schemas.microsoft.com/office/drawing/2014/main" id="{FA051048-6E56-1C06-FA00-88E848077C4D}"/>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43" name="그룹 42">
                <a:extLst>
                  <a:ext uri="{FF2B5EF4-FFF2-40B4-BE49-F238E27FC236}">
                    <a16:creationId xmlns:a16="http://schemas.microsoft.com/office/drawing/2014/main" id="{BBD879E9-BBB0-8DAC-D116-BC57C6664CCF}"/>
                  </a:ext>
                </a:extLst>
              </p:cNvPr>
              <p:cNvGrpSpPr/>
              <p:nvPr/>
            </p:nvGrpSpPr>
            <p:grpSpPr>
              <a:xfrm>
                <a:off x="2608988" y="3515561"/>
                <a:ext cx="223838" cy="306640"/>
                <a:chOff x="2608988" y="3515561"/>
                <a:chExt cx="223838" cy="306640"/>
              </a:xfrm>
            </p:grpSpPr>
            <p:sp>
              <p:nvSpPr>
                <p:cNvPr id="47" name="사각형: 잘린 한쪽 모서리 46">
                  <a:extLst>
                    <a:ext uri="{FF2B5EF4-FFF2-40B4-BE49-F238E27FC236}">
                      <a16:creationId xmlns:a16="http://schemas.microsoft.com/office/drawing/2014/main" id="{BCD106BC-541B-5315-F1D4-4DF46DE22057}"/>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44" name="그룹 43">
                <a:extLst>
                  <a:ext uri="{FF2B5EF4-FFF2-40B4-BE49-F238E27FC236}">
                    <a16:creationId xmlns:a16="http://schemas.microsoft.com/office/drawing/2014/main" id="{279519CF-4071-B73F-CF91-8FF2939686D8}"/>
                  </a:ext>
                </a:extLst>
              </p:cNvPr>
              <p:cNvGrpSpPr/>
              <p:nvPr/>
            </p:nvGrpSpPr>
            <p:grpSpPr>
              <a:xfrm>
                <a:off x="4051127" y="3515563"/>
                <a:ext cx="223838" cy="307601"/>
                <a:chOff x="4051127" y="3515563"/>
                <a:chExt cx="223838" cy="307601"/>
              </a:xfrm>
            </p:grpSpPr>
            <p:sp>
              <p:nvSpPr>
                <p:cNvPr id="45" name="사각형: 잘린 한쪽 모서리 44">
                  <a:extLst>
                    <a:ext uri="{FF2B5EF4-FFF2-40B4-BE49-F238E27FC236}">
                      <a16:creationId xmlns:a16="http://schemas.microsoft.com/office/drawing/2014/main" id="{D77BD9FB-05F1-DC04-B60E-6173FDA0DB97}"/>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9" name="그룹 48">
              <a:extLst>
                <a:ext uri="{FF2B5EF4-FFF2-40B4-BE49-F238E27FC236}">
                  <a16:creationId xmlns:a16="http://schemas.microsoft.com/office/drawing/2014/main" id="{39E6921C-EF45-1866-D841-0C1BD954D8AB}"/>
                </a:ext>
              </a:extLst>
            </p:cNvPr>
            <p:cNvGrpSpPr/>
            <p:nvPr/>
          </p:nvGrpSpPr>
          <p:grpSpPr>
            <a:xfrm rot="16200000">
              <a:off x="3693955" y="2412975"/>
              <a:ext cx="1665977" cy="307603"/>
              <a:chOff x="2608988" y="3515561"/>
              <a:chExt cx="1665977" cy="307603"/>
            </a:xfrm>
          </p:grpSpPr>
          <p:sp>
            <p:nvSpPr>
              <p:cNvPr id="50" name="직사각형 49">
                <a:extLst>
                  <a:ext uri="{FF2B5EF4-FFF2-40B4-BE49-F238E27FC236}">
                    <a16:creationId xmlns:a16="http://schemas.microsoft.com/office/drawing/2014/main" id="{962093A6-89CE-FC42-EA15-EC74914A138F}"/>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608988" y="3515561"/>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51127" y="3515563"/>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60" name="그룹 59">
              <a:extLst>
                <a:ext uri="{FF2B5EF4-FFF2-40B4-BE49-F238E27FC236}">
                  <a16:creationId xmlns:a16="http://schemas.microsoft.com/office/drawing/2014/main" id="{9ACE47E8-2981-FC27-8469-2A8DF09E211D}"/>
                </a:ext>
              </a:extLst>
            </p:cNvPr>
            <p:cNvGrpSpPr/>
            <p:nvPr/>
          </p:nvGrpSpPr>
          <p:grpSpPr>
            <a:xfrm rot="5400000">
              <a:off x="1535989" y="2428593"/>
              <a:ext cx="1665977" cy="307603"/>
              <a:chOff x="2608988" y="3515561"/>
              <a:chExt cx="1665977" cy="307603"/>
            </a:xfrm>
          </p:grpSpPr>
          <p:sp>
            <p:nvSpPr>
              <p:cNvPr id="61" name="직사각형 60">
                <a:extLst>
                  <a:ext uri="{FF2B5EF4-FFF2-40B4-BE49-F238E27FC236}">
                    <a16:creationId xmlns:a16="http://schemas.microsoft.com/office/drawing/2014/main" id="{C6513BF3-3B8D-1A5B-8878-3E81D2C5241E}"/>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65" name="그룹 64">
                <a:extLst>
                  <a:ext uri="{FF2B5EF4-FFF2-40B4-BE49-F238E27FC236}">
                    <a16:creationId xmlns:a16="http://schemas.microsoft.com/office/drawing/2014/main" id="{C2432D1C-E4EC-8B4A-0B3F-1A6229C1D65A}"/>
                  </a:ext>
                </a:extLst>
              </p:cNvPr>
              <p:cNvGrpSpPr/>
              <p:nvPr/>
            </p:nvGrpSpPr>
            <p:grpSpPr>
              <a:xfrm>
                <a:off x="2608988" y="3515561"/>
                <a:ext cx="223838" cy="306640"/>
                <a:chOff x="2608988" y="3515561"/>
                <a:chExt cx="223838" cy="306640"/>
              </a:xfrm>
            </p:grpSpPr>
            <p:sp>
              <p:nvSpPr>
                <p:cNvPr id="69" name="사각형: 잘린 한쪽 모서리 68">
                  <a:extLst>
                    <a:ext uri="{FF2B5EF4-FFF2-40B4-BE49-F238E27FC236}">
                      <a16:creationId xmlns:a16="http://schemas.microsoft.com/office/drawing/2014/main" id="{47BF5BD8-3BA4-5976-3128-182D9136BD46}"/>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66" name="그룹 65">
                <a:extLst>
                  <a:ext uri="{FF2B5EF4-FFF2-40B4-BE49-F238E27FC236}">
                    <a16:creationId xmlns:a16="http://schemas.microsoft.com/office/drawing/2014/main" id="{225E1801-DE7C-54A4-5702-FA0815512FE9}"/>
                  </a:ext>
                </a:extLst>
              </p:cNvPr>
              <p:cNvGrpSpPr/>
              <p:nvPr/>
            </p:nvGrpSpPr>
            <p:grpSpPr>
              <a:xfrm>
                <a:off x="4051127" y="3515563"/>
                <a:ext cx="223838" cy="307601"/>
                <a:chOff x="4051127" y="3515563"/>
                <a:chExt cx="223838" cy="307601"/>
              </a:xfrm>
            </p:grpSpPr>
            <p:sp>
              <p:nvSpPr>
                <p:cNvPr id="67" name="사각형: 잘린 한쪽 모서리 66">
                  <a:extLst>
                    <a:ext uri="{FF2B5EF4-FFF2-40B4-BE49-F238E27FC236}">
                      <a16:creationId xmlns:a16="http://schemas.microsoft.com/office/drawing/2014/main" id="{66327C7A-2876-6B74-AFD1-FCA8E35994B3}"/>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71" name="그룹 70">
              <a:extLst>
                <a:ext uri="{FF2B5EF4-FFF2-40B4-BE49-F238E27FC236}">
                  <a16:creationId xmlns:a16="http://schemas.microsoft.com/office/drawing/2014/main" id="{FA5153BD-7577-9B0C-4AB0-636CA4061C6C}"/>
                </a:ext>
              </a:extLst>
            </p:cNvPr>
            <p:cNvGrpSpPr/>
            <p:nvPr/>
          </p:nvGrpSpPr>
          <p:grpSpPr>
            <a:xfrm>
              <a:off x="2608988" y="1357613"/>
              <a:ext cx="223838" cy="307601"/>
              <a:chOff x="2608988" y="1395304"/>
              <a:chExt cx="223838" cy="307601"/>
            </a:xfrm>
          </p:grpSpPr>
          <p:sp>
            <p:nvSpPr>
              <p:cNvPr id="72" name="사각형: 잘린 한쪽 모서리 71">
                <a:extLst>
                  <a:ext uri="{FF2B5EF4-FFF2-40B4-BE49-F238E27FC236}">
                    <a16:creationId xmlns:a16="http://schemas.microsoft.com/office/drawing/2014/main" id="{344D9631-1509-6F9F-7501-BD3CA9C18B20}"/>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4" name="그룹 73">
              <a:extLst>
                <a:ext uri="{FF2B5EF4-FFF2-40B4-BE49-F238E27FC236}">
                  <a16:creationId xmlns:a16="http://schemas.microsoft.com/office/drawing/2014/main" id="{1BE63099-508E-8E6C-3220-C505DEB66FD9}"/>
                </a:ext>
              </a:extLst>
            </p:cNvPr>
            <p:cNvGrpSpPr/>
            <p:nvPr/>
          </p:nvGrpSpPr>
          <p:grpSpPr>
            <a:xfrm>
              <a:off x="4051127" y="1354141"/>
              <a:ext cx="223838" cy="307601"/>
              <a:chOff x="4051127" y="1389451"/>
              <a:chExt cx="223838" cy="307601"/>
            </a:xfrm>
          </p:grpSpPr>
          <p:sp>
            <p:nvSpPr>
              <p:cNvPr id="75" name="사각형: 잘린 한쪽 모서리 74">
                <a:extLst>
                  <a:ext uri="{FF2B5EF4-FFF2-40B4-BE49-F238E27FC236}">
                    <a16:creationId xmlns:a16="http://schemas.microsoft.com/office/drawing/2014/main" id="{D02F29FC-05DF-7B55-A3F7-5FA06294CC4C}"/>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77" name="TextBox 76">
              <a:extLst>
                <a:ext uri="{FF2B5EF4-FFF2-40B4-BE49-F238E27FC236}">
                  <a16:creationId xmlns:a16="http://schemas.microsoft.com/office/drawing/2014/main" id="{D8539796-98D7-4CFC-6D78-EEE30F169D38}"/>
                </a:ext>
              </a:extLst>
            </p:cNvPr>
            <p:cNvSpPr txBox="1"/>
            <p:nvPr/>
          </p:nvSpPr>
          <p:spPr>
            <a:xfrm>
              <a:off x="3783224" y="1686612"/>
              <a:ext cx="209994"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FBI</a:t>
              </a:r>
              <a:r>
                <a:rPr lang="en-US" altLang="ko-KR" sz="700" dirty="0">
                  <a:latin typeface="+mn-ea"/>
                </a:rPr>
                <a:t>/</a:t>
              </a:r>
            </a:p>
            <a:p>
              <a:pPr algn="ctr" latinLnBrk="1">
                <a:lnSpc>
                  <a:spcPts val="700"/>
                </a:lnSpc>
                <a:defRPr/>
              </a:pPr>
              <a:r>
                <a:rPr lang="en-US" altLang="ko-KR" sz="700" dirty="0">
                  <a:solidFill>
                    <a:srgbClr val="FF00FF"/>
                  </a:solidFill>
                  <a:latin typeface="+mn-ea"/>
                </a:rPr>
                <a:t>VSO</a:t>
              </a:r>
              <a:r>
                <a:rPr lang="en-US" altLang="ko-KR" sz="700" dirty="0">
                  <a:latin typeface="+mn-ea"/>
                </a:rPr>
                <a:t>/</a:t>
              </a:r>
            </a:p>
            <a:p>
              <a:pPr algn="ctr" latinLnBrk="1">
                <a:lnSpc>
                  <a:spcPts val="700"/>
                </a:lnSpc>
                <a:defRPr/>
              </a:pPr>
              <a:r>
                <a:rPr lang="en-US" altLang="ko-KR" sz="700" dirty="0">
                  <a:solidFill>
                    <a:srgbClr val="00CC00"/>
                  </a:solidFill>
                  <a:latin typeface="+mn-ea"/>
                </a:rPr>
                <a:t>VSI</a:t>
              </a:r>
            </a:p>
          </p:txBody>
        </p:sp>
        <p:sp>
          <p:nvSpPr>
            <p:cNvPr id="78" name="TextBox 77">
              <a:extLst>
                <a:ext uri="{FF2B5EF4-FFF2-40B4-BE49-F238E27FC236}">
                  <a16:creationId xmlns:a16="http://schemas.microsoft.com/office/drawing/2014/main" id="{A3F06153-51CF-A070-1E79-384524A9E328}"/>
                </a:ext>
              </a:extLst>
            </p:cNvPr>
            <p:cNvSpPr txBox="1"/>
            <p:nvPr/>
          </p:nvSpPr>
          <p:spPr>
            <a:xfrm>
              <a:off x="3779745" y="3212665"/>
              <a:ext cx="201978"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FBO</a:t>
              </a:r>
              <a:r>
                <a:rPr lang="en-US" altLang="ko-KR" sz="700" dirty="0">
                  <a:latin typeface="+mn-ea"/>
                </a:rPr>
                <a:t>/</a:t>
              </a:r>
            </a:p>
            <a:p>
              <a:pPr algn="ctr" latinLnBrk="1">
                <a:lnSpc>
                  <a:spcPts val="700"/>
                </a:lnSpc>
                <a:defRPr/>
              </a:pPr>
              <a:r>
                <a:rPr lang="en-US" altLang="ko-KR" sz="700" dirty="0">
                  <a:solidFill>
                    <a:srgbClr val="FF00FF"/>
                  </a:solidFill>
                  <a:latin typeface="+mn-ea"/>
                </a:rPr>
                <a:t>VSI</a:t>
              </a:r>
              <a:r>
                <a:rPr lang="en-US" altLang="ko-KR" sz="700" dirty="0">
                  <a:latin typeface="+mn-ea"/>
                </a:rPr>
                <a:t>/</a:t>
              </a:r>
              <a:endParaRPr lang="en-US" altLang="ko-KR" sz="700" dirty="0">
                <a:solidFill>
                  <a:srgbClr val="00CC00"/>
                </a:solidFill>
                <a:latin typeface="+mn-ea"/>
              </a:endParaRPr>
            </a:p>
            <a:p>
              <a:pPr algn="ctr" latinLnBrk="1">
                <a:lnSpc>
                  <a:spcPts val="700"/>
                </a:lnSpc>
                <a:defRPr/>
              </a:pPr>
              <a:r>
                <a:rPr lang="en-US" altLang="ko-KR" sz="700" dirty="0">
                  <a:solidFill>
                    <a:srgbClr val="00CC00"/>
                  </a:solidFill>
                  <a:latin typeface="+mn-ea"/>
                </a:rPr>
                <a:t>FBO</a:t>
              </a: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3126677930"/>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6" name="TextBox 5">
            <a:extLst>
              <a:ext uri="{FF2B5EF4-FFF2-40B4-BE49-F238E27FC236}">
                <a16:creationId xmlns:a16="http://schemas.microsoft.com/office/drawing/2014/main" id="{10BE8C07-EBF0-B93D-0AEC-2636AE0A4B9D}"/>
              </a:ext>
            </a:extLst>
          </p:cNvPr>
          <p:cNvSpPr txBox="1"/>
          <p:nvPr/>
        </p:nvSpPr>
        <p:spPr>
          <a:xfrm>
            <a:off x="404812" y="4978325"/>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35EC179E-1569-1DC9-5F68-28F488A74D01}"/>
              </a:ext>
            </a:extLst>
          </p:cNvPr>
          <p:cNvGraphicFramePr>
            <a:graphicFrameLocks noGrp="1"/>
          </p:cNvGraphicFramePr>
          <p:nvPr>
            <p:extLst>
              <p:ext uri="{D42A27DB-BD31-4B8C-83A1-F6EECF244321}">
                <p14:modId xmlns:p14="http://schemas.microsoft.com/office/powerpoint/2010/main" val="708915177"/>
              </p:ext>
            </p:extLst>
          </p:nvPr>
        </p:nvGraphicFramePr>
        <p:xfrm>
          <a:off x="404812" y="5384165"/>
          <a:ext cx="6048623" cy="3473591"/>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19372">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pic>
        <p:nvPicPr>
          <p:cNvPr id="7" name="그림 6">
            <a:extLst>
              <a:ext uri="{FF2B5EF4-FFF2-40B4-BE49-F238E27FC236}">
                <a16:creationId xmlns:a16="http://schemas.microsoft.com/office/drawing/2014/main" id="{7062CBB8-04BF-AA3E-EEB8-0AA84F83BF5B}"/>
              </a:ext>
            </a:extLst>
          </p:cNvPr>
          <p:cNvPicPr>
            <a:picLocks noChangeAspect="1"/>
          </p:cNvPicPr>
          <p:nvPr/>
        </p:nvPicPr>
        <p:blipFill>
          <a:blip r:embed="rId2"/>
          <a:stretch>
            <a:fillRect/>
          </a:stretch>
        </p:blipFill>
        <p:spPr>
          <a:xfrm>
            <a:off x="2635433" y="5819995"/>
            <a:ext cx="1185328" cy="772701"/>
          </a:xfrm>
          <a:prstGeom prst="rect">
            <a:avLst/>
          </a:prstGeom>
        </p:spPr>
      </p:pic>
      <p:grpSp>
        <p:nvGrpSpPr>
          <p:cNvPr id="4" name="그룹 3">
            <a:extLst>
              <a:ext uri="{FF2B5EF4-FFF2-40B4-BE49-F238E27FC236}">
                <a16:creationId xmlns:a16="http://schemas.microsoft.com/office/drawing/2014/main" id="{658195D5-DB43-DACF-88E9-0CE03095A781}"/>
              </a:ext>
            </a:extLst>
          </p:cNvPr>
          <p:cNvGrpSpPr/>
          <p:nvPr/>
        </p:nvGrpSpPr>
        <p:grpSpPr>
          <a:xfrm>
            <a:off x="2794443" y="6850431"/>
            <a:ext cx="1026319" cy="836432"/>
            <a:chOff x="2838451" y="6667968"/>
            <a:chExt cx="1026319" cy="836432"/>
          </a:xfrm>
        </p:grpSpPr>
        <p:pic>
          <p:nvPicPr>
            <p:cNvPr id="9" name="그림 8">
              <a:extLst>
                <a:ext uri="{FF2B5EF4-FFF2-40B4-BE49-F238E27FC236}">
                  <a16:creationId xmlns:a16="http://schemas.microsoft.com/office/drawing/2014/main" id="{574075B9-C935-5575-84A6-ECA041933979}"/>
                </a:ext>
              </a:extLst>
            </p:cNvPr>
            <p:cNvPicPr>
              <a:picLocks noChangeAspect="1"/>
            </p:cNvPicPr>
            <p:nvPr/>
          </p:nvPicPr>
          <p:blipFill>
            <a:blip r:embed="rId3"/>
            <a:stretch>
              <a:fillRect/>
            </a:stretch>
          </p:blipFill>
          <p:spPr>
            <a:xfrm>
              <a:off x="3495285" y="7019209"/>
              <a:ext cx="176479" cy="400184"/>
            </a:xfrm>
            <a:prstGeom prst="rect">
              <a:avLst/>
            </a:prstGeom>
            <a:ln>
              <a:noFill/>
            </a:ln>
          </p:spPr>
        </p:pic>
        <p:sp>
          <p:nvSpPr>
            <p:cNvPr id="11" name="타원 10">
              <a:extLst>
                <a:ext uri="{FF2B5EF4-FFF2-40B4-BE49-F238E27FC236}">
                  <a16:creationId xmlns:a16="http://schemas.microsoft.com/office/drawing/2014/main" id="{775678A3-A634-1CB6-D56F-1B579ABFE45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A4767450-7398-CA58-57F0-D5C38B4476EB}"/>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6" name="연결선: 꺾임 15">
              <a:extLst>
                <a:ext uri="{FF2B5EF4-FFF2-40B4-BE49-F238E27FC236}">
                  <a16:creationId xmlns:a16="http://schemas.microsoft.com/office/drawing/2014/main" id="{2A00BA58-2BE6-D7EB-2FDA-690B4A8C821E}"/>
                </a:ext>
              </a:extLst>
            </p:cNvPr>
            <p:cNvCxnSpPr>
              <a:cxnSpLocks/>
              <a:endCxn id="11"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9" name="직선 연결선 18">
              <a:extLst>
                <a:ext uri="{FF2B5EF4-FFF2-40B4-BE49-F238E27FC236}">
                  <a16:creationId xmlns:a16="http://schemas.microsoft.com/office/drawing/2014/main" id="{DC76A3E1-5D5A-B71D-618C-D2AB203FB1DE}"/>
                </a:ext>
              </a:extLst>
            </p:cNvPr>
            <p:cNvCxnSpPr>
              <a:cxnSpLocks/>
              <a:endCxn id="12"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0" name="이등변 삼각형 19">
              <a:extLst>
                <a:ext uri="{FF2B5EF4-FFF2-40B4-BE49-F238E27FC236}">
                  <a16:creationId xmlns:a16="http://schemas.microsoft.com/office/drawing/2014/main" id="{A58776CF-1A41-8972-17F3-3234401B2BA0}"/>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 name="연결선: 꺾임 20">
              <a:extLst>
                <a:ext uri="{FF2B5EF4-FFF2-40B4-BE49-F238E27FC236}">
                  <a16:creationId xmlns:a16="http://schemas.microsoft.com/office/drawing/2014/main" id="{B1DE2CBC-4226-E451-A364-C4C32ACBF175}"/>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2" name="이등변 삼각형 21">
              <a:extLst>
                <a:ext uri="{FF2B5EF4-FFF2-40B4-BE49-F238E27FC236}">
                  <a16:creationId xmlns:a16="http://schemas.microsoft.com/office/drawing/2014/main" id="{CE2435CE-DA62-ED70-F25F-6A4DE682B304}"/>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3" name="직선 연결선 22">
              <a:extLst>
                <a:ext uri="{FF2B5EF4-FFF2-40B4-BE49-F238E27FC236}">
                  <a16:creationId xmlns:a16="http://schemas.microsoft.com/office/drawing/2014/main" id="{47C79E6B-780C-0EE9-1E8F-4C0B37F7F994}"/>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D5575CE9-3FFA-E478-A4D3-FE508F5E2DD1}"/>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10" name="그룹 9">
            <a:extLst>
              <a:ext uri="{FF2B5EF4-FFF2-40B4-BE49-F238E27FC236}">
                <a16:creationId xmlns:a16="http://schemas.microsoft.com/office/drawing/2014/main" id="{49EFA08A-B124-87AD-9C0B-0DA1E16EEBDB}"/>
              </a:ext>
            </a:extLst>
          </p:cNvPr>
          <p:cNvGrpSpPr/>
          <p:nvPr/>
        </p:nvGrpSpPr>
        <p:grpSpPr>
          <a:xfrm>
            <a:off x="2846114" y="7906348"/>
            <a:ext cx="1026319" cy="836432"/>
            <a:chOff x="2838451" y="6667968"/>
            <a:chExt cx="1026319" cy="836432"/>
          </a:xfrm>
        </p:grpSpPr>
        <p:pic>
          <p:nvPicPr>
            <p:cNvPr id="14" name="그림 13">
              <a:extLst>
                <a:ext uri="{FF2B5EF4-FFF2-40B4-BE49-F238E27FC236}">
                  <a16:creationId xmlns:a16="http://schemas.microsoft.com/office/drawing/2014/main" id="{F96B0115-6C6D-EAC5-CDC0-279CC40E2CB0}"/>
                </a:ext>
              </a:extLst>
            </p:cNvPr>
            <p:cNvPicPr>
              <a:picLocks noChangeAspect="1"/>
            </p:cNvPicPr>
            <p:nvPr/>
          </p:nvPicPr>
          <p:blipFill>
            <a:blip r:embed="rId3"/>
            <a:stretch>
              <a:fillRect/>
            </a:stretch>
          </p:blipFill>
          <p:spPr>
            <a:xfrm>
              <a:off x="3495285" y="7019209"/>
              <a:ext cx="176479" cy="400184"/>
            </a:xfrm>
            <a:prstGeom prst="rect">
              <a:avLst/>
            </a:prstGeom>
            <a:ln>
              <a:noFill/>
            </a:ln>
          </p:spPr>
        </p:pic>
        <p:sp>
          <p:nvSpPr>
            <p:cNvPr id="17" name="타원 16">
              <a:extLst>
                <a:ext uri="{FF2B5EF4-FFF2-40B4-BE49-F238E27FC236}">
                  <a16:creationId xmlns:a16="http://schemas.microsoft.com/office/drawing/2014/main" id="{8BECC99A-03EA-9D33-7EFD-B0FF54CCE9AE}"/>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 name="직사각형 24">
              <a:extLst>
                <a:ext uri="{FF2B5EF4-FFF2-40B4-BE49-F238E27FC236}">
                  <a16:creationId xmlns:a16="http://schemas.microsoft.com/office/drawing/2014/main" id="{48FB055A-67C0-856D-F9B2-876364E3A4D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6" name="연결선: 꺾임 25">
              <a:extLst>
                <a:ext uri="{FF2B5EF4-FFF2-40B4-BE49-F238E27FC236}">
                  <a16:creationId xmlns:a16="http://schemas.microsoft.com/office/drawing/2014/main" id="{3F07452C-B43A-27D8-9AD4-CC743A65C281}"/>
                </a:ext>
              </a:extLst>
            </p:cNvPr>
            <p:cNvCxnSpPr>
              <a:cxnSpLocks/>
              <a:endCxn id="1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7" name="직선 연결선 26">
              <a:extLst>
                <a:ext uri="{FF2B5EF4-FFF2-40B4-BE49-F238E27FC236}">
                  <a16:creationId xmlns:a16="http://schemas.microsoft.com/office/drawing/2014/main" id="{7768FA02-73E2-F241-4C1F-A21A788202BD}"/>
                </a:ext>
              </a:extLst>
            </p:cNvPr>
            <p:cNvCxnSpPr>
              <a:cxnSpLocks/>
              <a:endCxn id="25"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8" name="이등변 삼각형 27">
              <a:extLst>
                <a:ext uri="{FF2B5EF4-FFF2-40B4-BE49-F238E27FC236}">
                  <a16:creationId xmlns:a16="http://schemas.microsoft.com/office/drawing/2014/main" id="{81784060-6F78-FC3C-8F6A-0185E384E276}"/>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9" name="연결선: 꺾임 28">
              <a:extLst>
                <a:ext uri="{FF2B5EF4-FFF2-40B4-BE49-F238E27FC236}">
                  <a16:creationId xmlns:a16="http://schemas.microsoft.com/office/drawing/2014/main" id="{FF3B820D-3317-6DCC-6469-8FAC591E2BD1}"/>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0" name="이등변 삼각형 29">
              <a:extLst>
                <a:ext uri="{FF2B5EF4-FFF2-40B4-BE49-F238E27FC236}">
                  <a16:creationId xmlns:a16="http://schemas.microsoft.com/office/drawing/2014/main" id="{B77FB760-48F7-E982-8469-067E19C010A7}"/>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1" name="직선 연결선 30">
              <a:extLst>
                <a:ext uri="{FF2B5EF4-FFF2-40B4-BE49-F238E27FC236}">
                  <a16:creationId xmlns:a16="http://schemas.microsoft.com/office/drawing/2014/main" id="{E5988E6C-9D83-8375-47FF-100ED7C5EFDB}"/>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2" name="직선 연결선 31">
              <a:extLst>
                <a:ext uri="{FF2B5EF4-FFF2-40B4-BE49-F238E27FC236}">
                  <a16:creationId xmlns:a16="http://schemas.microsoft.com/office/drawing/2014/main" id="{237BDB21-1719-368F-4B2F-65EA1107B96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13" name="object 16">
            <a:extLst>
              <a:ext uri="{FF2B5EF4-FFF2-40B4-BE49-F238E27FC236}">
                <a16:creationId xmlns:a16="http://schemas.microsoft.com/office/drawing/2014/main" id="{1B9588A1-C9D4-BAE9-8BAB-3EE9754B6949}"/>
              </a:ext>
            </a:extLst>
          </p:cNvPr>
          <p:cNvSpPr txBox="1"/>
          <p:nvPr/>
        </p:nvSpPr>
        <p:spPr>
          <a:xfrm>
            <a:off x="404812" y="4379446"/>
            <a:ext cx="6048623" cy="302647"/>
          </a:xfrm>
          <a:prstGeom prst="rect">
            <a:avLst/>
          </a:prstGeom>
        </p:spPr>
        <p:txBody>
          <a:bodyPr vert="horz" wrap="square" lIns="0" tIns="12700" rIns="0" bIns="0" rtlCol="0">
            <a:spAutoFit/>
          </a:bodyPr>
          <a:lstStyle/>
          <a:p>
            <a:pPr marL="38100">
              <a:lnSpc>
                <a:spcPct val="100000"/>
              </a:lnSpc>
              <a:spcBef>
                <a:spcPts val="100"/>
              </a:spcBef>
            </a:pPr>
            <a:r>
              <a:rPr lang="en-US" altLang="ko-KR" sz="900" dirty="0">
                <a:latin typeface="Arial" panose="020B0604020202020204" pitchFamily="34" charset="0"/>
                <a:cs typeface="Arial" panose="020B0604020202020204" pitchFamily="34" charset="0"/>
              </a:rPr>
              <a:t>Note :  1) The pin function can be configured through the IO_MODE register bits.  If the pin will be used as the FBO,</a:t>
            </a:r>
          </a:p>
          <a:p>
            <a:pPr marL="38100">
              <a:lnSpc>
                <a:spcPct val="100000"/>
              </a:lnSpc>
              <a:spcBef>
                <a:spcPts val="100"/>
              </a:spcBef>
            </a:pPr>
            <a:r>
              <a:rPr lang="en-US" altLang="ko-KR" sz="900" dirty="0">
                <a:latin typeface="Arial" panose="020B0604020202020204" pitchFamily="34" charset="0"/>
                <a:cs typeface="Arial" panose="020B0604020202020204" pitchFamily="34" charset="0"/>
              </a:rPr>
              <a:t>                then the pin acts as an Open-drain output. (external PU resistor should be attached)</a:t>
            </a:r>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89C711B5-4C68-5105-3565-ACBE444CBD69}"/>
              </a:ext>
            </a:extLst>
          </p:cNvPr>
          <p:cNvGraphicFramePr>
            <a:graphicFrameLocks noGrp="1"/>
          </p:cNvGraphicFramePr>
          <p:nvPr>
            <p:extLst>
              <p:ext uri="{D42A27DB-BD31-4B8C-83A1-F6EECF244321}">
                <p14:modId xmlns:p14="http://schemas.microsoft.com/office/powerpoint/2010/main" val="2321942947"/>
              </p:ext>
            </p:extLst>
          </p:nvPr>
        </p:nvGraphicFramePr>
        <p:xfrm>
          <a:off x="411754" y="1341152"/>
          <a:ext cx="6119828" cy="7199807"/>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1199541810"/>
                    </a:ext>
                  </a:extLst>
                </a:gridCol>
                <a:gridCol w="557587">
                  <a:extLst>
                    <a:ext uri="{9D8B030D-6E8A-4147-A177-3AD203B41FA5}">
                      <a16:colId xmlns:a16="http://schemas.microsoft.com/office/drawing/2014/main" val="112759525"/>
                    </a:ext>
                  </a:extLst>
                </a:gridCol>
                <a:gridCol w="3232666">
                  <a:extLst>
                    <a:ext uri="{9D8B030D-6E8A-4147-A177-3AD203B41FA5}">
                      <a16:colId xmlns:a16="http://schemas.microsoft.com/office/drawing/2014/main" val="3900317923"/>
                    </a:ext>
                  </a:extLst>
                </a:gridCol>
                <a:gridCol w="1504075">
                  <a:extLst>
                    <a:ext uri="{9D8B030D-6E8A-4147-A177-3AD203B41FA5}">
                      <a16:colId xmlns:a16="http://schemas.microsoft.com/office/drawing/2014/main" val="3382103366"/>
                    </a:ext>
                  </a:extLst>
                </a:gridCol>
              </a:tblGrid>
              <a:tr h="344525">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80397">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Input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Output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 (daisied) Output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(daisied) Input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8962828"/>
                  </a:ext>
                </a:extLst>
              </a:tr>
              <a:tr h="1154977">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Output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Output</a:t>
                      </a:r>
                    </a:p>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(if not 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7" name="그림 6">
            <a:extLst>
              <a:ext uri="{FF2B5EF4-FFF2-40B4-BE49-F238E27FC236}">
                <a16:creationId xmlns:a16="http://schemas.microsoft.com/office/drawing/2014/main" id="{4AE97057-DCB7-C569-D3EB-4D0846DFD8A1}"/>
              </a:ext>
            </a:extLst>
          </p:cNvPr>
          <p:cNvPicPr>
            <a:picLocks noChangeAspect="1"/>
          </p:cNvPicPr>
          <p:nvPr/>
        </p:nvPicPr>
        <p:blipFill>
          <a:blip r:embed="rId2"/>
          <a:stretch>
            <a:fillRect/>
          </a:stretch>
        </p:blipFill>
        <p:spPr>
          <a:xfrm>
            <a:off x="2721895" y="1834325"/>
            <a:ext cx="1123747" cy="765191"/>
          </a:xfrm>
          <a:prstGeom prst="rect">
            <a:avLst/>
          </a:prstGeom>
        </p:spPr>
      </p:pic>
      <p:grpSp>
        <p:nvGrpSpPr>
          <p:cNvPr id="2" name="그룹 1">
            <a:extLst>
              <a:ext uri="{FF2B5EF4-FFF2-40B4-BE49-F238E27FC236}">
                <a16:creationId xmlns:a16="http://schemas.microsoft.com/office/drawing/2014/main" id="{FDF14C69-041A-DAEC-CFB9-B1E0BD8FF95C}"/>
              </a:ext>
            </a:extLst>
          </p:cNvPr>
          <p:cNvGrpSpPr/>
          <p:nvPr/>
        </p:nvGrpSpPr>
        <p:grpSpPr>
          <a:xfrm>
            <a:off x="2782280" y="2830695"/>
            <a:ext cx="1038538" cy="974255"/>
            <a:chOff x="2687819" y="3003631"/>
            <a:chExt cx="1094210" cy="1114062"/>
          </a:xfrm>
        </p:grpSpPr>
        <p:pic>
          <p:nvPicPr>
            <p:cNvPr id="16" name="그림 15">
              <a:extLst>
                <a:ext uri="{FF2B5EF4-FFF2-40B4-BE49-F238E27FC236}">
                  <a16:creationId xmlns:a16="http://schemas.microsoft.com/office/drawing/2014/main" id="{814367FD-FD52-0506-80EC-5C696F01D8FC}"/>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9" name="TextBox 152">
              <a:extLst>
                <a:ext uri="{FF2B5EF4-FFF2-40B4-BE49-F238E27FC236}">
                  <a16:creationId xmlns:a16="http://schemas.microsoft.com/office/drawing/2014/main" id="{81BB5FB2-743E-175F-E2CA-2AD0325A8909}"/>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sp>
        <p:nvSpPr>
          <p:cNvPr id="11" name="object 84">
            <a:extLst>
              <a:ext uri="{FF2B5EF4-FFF2-40B4-BE49-F238E27FC236}">
                <a16:creationId xmlns:a16="http://schemas.microsoft.com/office/drawing/2014/main" id="{41F1943B-FA41-8E46-47DD-53AE9101465C}"/>
              </a:ext>
            </a:extLst>
          </p:cNvPr>
          <p:cNvSpPr txBox="1"/>
          <p:nvPr/>
        </p:nvSpPr>
        <p:spPr>
          <a:xfrm>
            <a:off x="2183261" y="8667223"/>
            <a:ext cx="2647156"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pSp>
        <p:nvGrpSpPr>
          <p:cNvPr id="4" name="그룹 3">
            <a:extLst>
              <a:ext uri="{FF2B5EF4-FFF2-40B4-BE49-F238E27FC236}">
                <a16:creationId xmlns:a16="http://schemas.microsoft.com/office/drawing/2014/main" id="{50AF96E9-0A56-10F3-1C77-BC618B07C59C}"/>
              </a:ext>
            </a:extLst>
          </p:cNvPr>
          <p:cNvGrpSpPr/>
          <p:nvPr/>
        </p:nvGrpSpPr>
        <p:grpSpPr>
          <a:xfrm>
            <a:off x="2851895" y="5262037"/>
            <a:ext cx="1026319" cy="836432"/>
            <a:chOff x="2838451" y="6667968"/>
            <a:chExt cx="1026319" cy="836432"/>
          </a:xfrm>
        </p:grpSpPr>
        <p:pic>
          <p:nvPicPr>
            <p:cNvPr id="6" name="그림 5">
              <a:extLst>
                <a:ext uri="{FF2B5EF4-FFF2-40B4-BE49-F238E27FC236}">
                  <a16:creationId xmlns:a16="http://schemas.microsoft.com/office/drawing/2014/main" id="{8988E274-95A5-A750-187D-0E7741948AC9}"/>
                </a:ext>
              </a:extLst>
            </p:cNvPr>
            <p:cNvPicPr>
              <a:picLocks noChangeAspect="1"/>
            </p:cNvPicPr>
            <p:nvPr/>
          </p:nvPicPr>
          <p:blipFill>
            <a:blip r:embed="rId4"/>
            <a:stretch>
              <a:fillRect/>
            </a:stretch>
          </p:blipFill>
          <p:spPr>
            <a:xfrm>
              <a:off x="3495285" y="7019209"/>
              <a:ext cx="176479" cy="400184"/>
            </a:xfrm>
            <a:prstGeom prst="rect">
              <a:avLst/>
            </a:prstGeom>
            <a:ln>
              <a:noFill/>
            </a:ln>
          </p:spPr>
        </p:pic>
        <p:sp>
          <p:nvSpPr>
            <p:cNvPr id="9" name="타원 8">
              <a:extLst>
                <a:ext uri="{FF2B5EF4-FFF2-40B4-BE49-F238E27FC236}">
                  <a16:creationId xmlns:a16="http://schemas.microsoft.com/office/drawing/2014/main" id="{581C8968-5D84-ECAB-A192-1ECB761E3E2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0" name="직사각형 9">
              <a:extLst>
                <a:ext uri="{FF2B5EF4-FFF2-40B4-BE49-F238E27FC236}">
                  <a16:creationId xmlns:a16="http://schemas.microsoft.com/office/drawing/2014/main" id="{BBACBE69-38C1-8199-2B97-81A52B80DA7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2" name="연결선: 꺾임 11">
              <a:extLst>
                <a:ext uri="{FF2B5EF4-FFF2-40B4-BE49-F238E27FC236}">
                  <a16:creationId xmlns:a16="http://schemas.microsoft.com/office/drawing/2014/main" id="{0E22D9D0-231A-757A-105F-39F72C0C34B3}"/>
                </a:ext>
              </a:extLst>
            </p:cNvPr>
            <p:cNvCxnSpPr>
              <a:cxnSpLocks/>
              <a:endCxn id="9"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3" name="직선 연결선 12">
              <a:extLst>
                <a:ext uri="{FF2B5EF4-FFF2-40B4-BE49-F238E27FC236}">
                  <a16:creationId xmlns:a16="http://schemas.microsoft.com/office/drawing/2014/main" id="{4303BC78-2CB6-F06B-10A7-956E58F690E5}"/>
                </a:ext>
              </a:extLst>
            </p:cNvPr>
            <p:cNvCxnSpPr>
              <a:cxnSpLocks/>
              <a:endCxn id="10"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14" name="이등변 삼각형 13">
              <a:extLst>
                <a:ext uri="{FF2B5EF4-FFF2-40B4-BE49-F238E27FC236}">
                  <a16:creationId xmlns:a16="http://schemas.microsoft.com/office/drawing/2014/main" id="{5FFC0AA7-4FDF-C52F-1047-6A9F5C82F02A}"/>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5" name="연결선: 꺾임 14">
              <a:extLst>
                <a:ext uri="{FF2B5EF4-FFF2-40B4-BE49-F238E27FC236}">
                  <a16:creationId xmlns:a16="http://schemas.microsoft.com/office/drawing/2014/main" id="{AD950CD0-03C1-A62A-0C75-DC99FE786569}"/>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17" name="이등변 삼각형 16">
              <a:extLst>
                <a:ext uri="{FF2B5EF4-FFF2-40B4-BE49-F238E27FC236}">
                  <a16:creationId xmlns:a16="http://schemas.microsoft.com/office/drawing/2014/main" id="{279EE206-ABD8-8B0D-F7E7-B839DD01D5E6}"/>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8" name="직선 연결선 17">
              <a:extLst>
                <a:ext uri="{FF2B5EF4-FFF2-40B4-BE49-F238E27FC236}">
                  <a16:creationId xmlns:a16="http://schemas.microsoft.com/office/drawing/2014/main" id="{F7272D55-3C4B-7170-7AB1-24F4C709B90F}"/>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0" name="직선 연결선 19">
              <a:extLst>
                <a:ext uri="{FF2B5EF4-FFF2-40B4-BE49-F238E27FC236}">
                  <a16:creationId xmlns:a16="http://schemas.microsoft.com/office/drawing/2014/main" id="{21B67113-2054-7F9A-6882-D884417F0440}"/>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21" name="그룹 20">
            <a:extLst>
              <a:ext uri="{FF2B5EF4-FFF2-40B4-BE49-F238E27FC236}">
                <a16:creationId xmlns:a16="http://schemas.microsoft.com/office/drawing/2014/main" id="{A9C3A163-339A-FF43-8EE5-1AF17447D794}"/>
              </a:ext>
            </a:extLst>
          </p:cNvPr>
          <p:cNvGrpSpPr/>
          <p:nvPr/>
        </p:nvGrpSpPr>
        <p:grpSpPr>
          <a:xfrm>
            <a:off x="2851895" y="4204928"/>
            <a:ext cx="1027337" cy="589050"/>
            <a:chOff x="4168118" y="4273347"/>
            <a:chExt cx="1027337" cy="589050"/>
          </a:xfrm>
        </p:grpSpPr>
        <p:sp>
          <p:nvSpPr>
            <p:cNvPr id="22" name="직사각형 21">
              <a:extLst>
                <a:ext uri="{FF2B5EF4-FFF2-40B4-BE49-F238E27FC236}">
                  <a16:creationId xmlns:a16="http://schemas.microsoft.com/office/drawing/2014/main" id="{24286E64-A786-412A-6FC0-BF2C148EB741}"/>
                </a:ext>
              </a:extLst>
            </p:cNvPr>
            <p:cNvSpPr/>
            <p:nvPr/>
          </p:nvSpPr>
          <p:spPr>
            <a:xfrm>
              <a:off x="4168118" y="4379664"/>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3" name="직선 연결선 22">
              <a:extLst>
                <a:ext uri="{FF2B5EF4-FFF2-40B4-BE49-F238E27FC236}">
                  <a16:creationId xmlns:a16="http://schemas.microsoft.com/office/drawing/2014/main" id="{F04D3FA2-87D5-3A9B-3D4A-4528FCCBCED6}"/>
                </a:ext>
              </a:extLst>
            </p:cNvPr>
            <p:cNvCxnSpPr>
              <a:cxnSpLocks/>
            </p:cNvCxnSpPr>
            <p:nvPr/>
          </p:nvCxnSpPr>
          <p:spPr>
            <a:xfrm>
              <a:off x="4168118" y="4377983"/>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5958DF1F-FF35-1610-CB1D-E960CB20E4BD}"/>
                </a:ext>
              </a:extLst>
            </p:cNvPr>
            <p:cNvCxnSpPr>
              <a:cxnSpLocks/>
            </p:cNvCxnSpPr>
            <p:nvPr/>
          </p:nvCxnSpPr>
          <p:spPr>
            <a:xfrm flipH="1">
              <a:off x="4171362" y="4382045"/>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5" name="직선 연결선 24">
              <a:extLst>
                <a:ext uri="{FF2B5EF4-FFF2-40B4-BE49-F238E27FC236}">
                  <a16:creationId xmlns:a16="http://schemas.microsoft.com/office/drawing/2014/main" id="{913C30D6-2B4B-8D09-EBB3-D8367BE04162}"/>
                </a:ext>
              </a:extLst>
            </p:cNvPr>
            <p:cNvCxnSpPr>
              <a:cxnSpLocks/>
            </p:cNvCxnSpPr>
            <p:nvPr/>
          </p:nvCxnSpPr>
          <p:spPr>
            <a:xfrm>
              <a:off x="4329544" y="4453894"/>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6" name="이등변 삼각형 25">
              <a:extLst>
                <a:ext uri="{FF2B5EF4-FFF2-40B4-BE49-F238E27FC236}">
                  <a16:creationId xmlns:a16="http://schemas.microsoft.com/office/drawing/2014/main" id="{D1DDBC20-8232-A7EB-2DFA-ADEE5C8E39C9}"/>
                </a:ext>
              </a:extLst>
            </p:cNvPr>
            <p:cNvSpPr/>
            <p:nvPr/>
          </p:nvSpPr>
          <p:spPr>
            <a:xfrm rot="5400000">
              <a:off x="4636983" y="432131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7" name="그림 26">
              <a:extLst>
                <a:ext uri="{FF2B5EF4-FFF2-40B4-BE49-F238E27FC236}">
                  <a16:creationId xmlns:a16="http://schemas.microsoft.com/office/drawing/2014/main" id="{40804962-F2D2-4D73-9E5C-26CD18FFB185}"/>
                </a:ext>
              </a:extLst>
            </p:cNvPr>
            <p:cNvPicPr>
              <a:picLocks noChangeAspect="1"/>
            </p:cNvPicPr>
            <p:nvPr/>
          </p:nvPicPr>
          <p:blipFill>
            <a:blip r:embed="rId4"/>
            <a:stretch>
              <a:fillRect/>
            </a:stretch>
          </p:blipFill>
          <p:spPr>
            <a:xfrm>
              <a:off x="4403702" y="4462213"/>
              <a:ext cx="176479" cy="400184"/>
            </a:xfrm>
            <a:prstGeom prst="rect">
              <a:avLst/>
            </a:prstGeom>
            <a:ln>
              <a:noFill/>
            </a:ln>
          </p:spPr>
        </p:pic>
      </p:grpSp>
      <p:grpSp>
        <p:nvGrpSpPr>
          <p:cNvPr id="28" name="그룹 27">
            <a:extLst>
              <a:ext uri="{FF2B5EF4-FFF2-40B4-BE49-F238E27FC236}">
                <a16:creationId xmlns:a16="http://schemas.microsoft.com/office/drawing/2014/main" id="{65375F51-B09A-8312-E337-500FC66DCBB0}"/>
              </a:ext>
            </a:extLst>
          </p:cNvPr>
          <p:cNvGrpSpPr/>
          <p:nvPr/>
        </p:nvGrpSpPr>
        <p:grpSpPr>
          <a:xfrm>
            <a:off x="2857099" y="7527347"/>
            <a:ext cx="1026319" cy="836432"/>
            <a:chOff x="2838451" y="6667968"/>
            <a:chExt cx="1026319" cy="836432"/>
          </a:xfrm>
        </p:grpSpPr>
        <p:pic>
          <p:nvPicPr>
            <p:cNvPr id="29" name="그림 28">
              <a:extLst>
                <a:ext uri="{FF2B5EF4-FFF2-40B4-BE49-F238E27FC236}">
                  <a16:creationId xmlns:a16="http://schemas.microsoft.com/office/drawing/2014/main" id="{822F3ACA-F0D1-86E1-6CDA-31AC028C842B}"/>
                </a:ext>
              </a:extLst>
            </p:cNvPr>
            <p:cNvPicPr>
              <a:picLocks noChangeAspect="1"/>
            </p:cNvPicPr>
            <p:nvPr/>
          </p:nvPicPr>
          <p:blipFill>
            <a:blip r:embed="rId4"/>
            <a:stretch>
              <a:fillRect/>
            </a:stretch>
          </p:blipFill>
          <p:spPr>
            <a:xfrm>
              <a:off x="3495285" y="7019209"/>
              <a:ext cx="176479" cy="400184"/>
            </a:xfrm>
            <a:prstGeom prst="rect">
              <a:avLst/>
            </a:prstGeom>
            <a:ln>
              <a:noFill/>
            </a:ln>
          </p:spPr>
        </p:pic>
        <p:sp>
          <p:nvSpPr>
            <p:cNvPr id="30" name="타원 29">
              <a:extLst>
                <a:ext uri="{FF2B5EF4-FFF2-40B4-BE49-F238E27FC236}">
                  <a16:creationId xmlns:a16="http://schemas.microsoft.com/office/drawing/2014/main" id="{86F028B4-79C6-4386-3E65-EA43F6A2660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1" name="직사각형 30">
              <a:extLst>
                <a:ext uri="{FF2B5EF4-FFF2-40B4-BE49-F238E27FC236}">
                  <a16:creationId xmlns:a16="http://schemas.microsoft.com/office/drawing/2014/main" id="{38151D64-1B3F-A51F-F5CF-57F0521A58D9}"/>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2" name="연결선: 꺾임 31">
              <a:extLst>
                <a:ext uri="{FF2B5EF4-FFF2-40B4-BE49-F238E27FC236}">
                  <a16:creationId xmlns:a16="http://schemas.microsoft.com/office/drawing/2014/main" id="{0C0934E6-30B8-178F-AE4A-1BD43EA3B09E}"/>
                </a:ext>
              </a:extLst>
            </p:cNvPr>
            <p:cNvCxnSpPr>
              <a:cxnSpLocks/>
              <a:endCxn id="30"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3" name="직선 연결선 32">
              <a:extLst>
                <a:ext uri="{FF2B5EF4-FFF2-40B4-BE49-F238E27FC236}">
                  <a16:creationId xmlns:a16="http://schemas.microsoft.com/office/drawing/2014/main" id="{FF3A7AAA-9CD7-F5F8-2E50-F69A0EB562FB}"/>
                </a:ext>
              </a:extLst>
            </p:cNvPr>
            <p:cNvCxnSpPr>
              <a:cxnSpLocks/>
              <a:endCxn id="31"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4" name="이등변 삼각형 33">
              <a:extLst>
                <a:ext uri="{FF2B5EF4-FFF2-40B4-BE49-F238E27FC236}">
                  <a16:creationId xmlns:a16="http://schemas.microsoft.com/office/drawing/2014/main" id="{F194DF03-38DA-8407-124E-8249E1A3B438}"/>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5" name="연결선: 꺾임 34">
              <a:extLst>
                <a:ext uri="{FF2B5EF4-FFF2-40B4-BE49-F238E27FC236}">
                  <a16:creationId xmlns:a16="http://schemas.microsoft.com/office/drawing/2014/main" id="{0F1BA19B-34AC-CE11-EEC2-9D87A41D43EF}"/>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6" name="이등변 삼각형 35">
              <a:extLst>
                <a:ext uri="{FF2B5EF4-FFF2-40B4-BE49-F238E27FC236}">
                  <a16:creationId xmlns:a16="http://schemas.microsoft.com/office/drawing/2014/main" id="{40BAE5BD-CEA7-1D04-9D98-31EAE8FB455C}"/>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7" name="직선 연결선 36">
              <a:extLst>
                <a:ext uri="{FF2B5EF4-FFF2-40B4-BE49-F238E27FC236}">
                  <a16:creationId xmlns:a16="http://schemas.microsoft.com/office/drawing/2014/main" id="{EE93DBB2-CED6-CAFF-B017-C7D07D6AB97C}"/>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8" name="직선 연결선 37">
              <a:extLst>
                <a:ext uri="{FF2B5EF4-FFF2-40B4-BE49-F238E27FC236}">
                  <a16:creationId xmlns:a16="http://schemas.microsoft.com/office/drawing/2014/main" id="{22C5A4EF-1AEF-E593-CB03-036366585373}"/>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39" name="그룹 38">
            <a:extLst>
              <a:ext uri="{FF2B5EF4-FFF2-40B4-BE49-F238E27FC236}">
                <a16:creationId xmlns:a16="http://schemas.microsoft.com/office/drawing/2014/main" id="{4CC8B35E-F9E6-AC3A-7927-F9159FB43936}"/>
              </a:ext>
            </a:extLst>
          </p:cNvPr>
          <p:cNvGrpSpPr/>
          <p:nvPr/>
        </p:nvGrpSpPr>
        <p:grpSpPr>
          <a:xfrm>
            <a:off x="2859290" y="6341178"/>
            <a:ext cx="1123686" cy="898089"/>
            <a:chOff x="4171198" y="5049968"/>
            <a:chExt cx="1123686" cy="898089"/>
          </a:xfrm>
        </p:grpSpPr>
        <p:sp>
          <p:nvSpPr>
            <p:cNvPr id="40" name="타원 39">
              <a:extLst>
                <a:ext uri="{FF2B5EF4-FFF2-40B4-BE49-F238E27FC236}">
                  <a16:creationId xmlns:a16="http://schemas.microsoft.com/office/drawing/2014/main" id="{ED902A66-39AE-9A37-4B4F-B14E1094CCAC}"/>
                </a:ext>
              </a:extLst>
            </p:cNvPr>
            <p:cNvSpPr/>
            <p:nvPr/>
          </p:nvSpPr>
          <p:spPr>
            <a:xfrm>
              <a:off x="4421897" y="5226041"/>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1" name="직사각형 40">
              <a:extLst>
                <a:ext uri="{FF2B5EF4-FFF2-40B4-BE49-F238E27FC236}">
                  <a16:creationId xmlns:a16="http://schemas.microsoft.com/office/drawing/2014/main" id="{18F3A431-F289-4D97-9223-5759B5701384}"/>
                </a:ext>
              </a:extLst>
            </p:cNvPr>
            <p:cNvSpPr/>
            <p:nvPr/>
          </p:nvSpPr>
          <p:spPr>
            <a:xfrm>
              <a:off x="5134476" y="5377857"/>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2" name="연결선: 꺾임 41">
              <a:extLst>
                <a:ext uri="{FF2B5EF4-FFF2-40B4-BE49-F238E27FC236}">
                  <a16:creationId xmlns:a16="http://schemas.microsoft.com/office/drawing/2014/main" id="{D8F3960E-F228-7BDF-CDAC-95B738CF13B8}"/>
                </a:ext>
              </a:extLst>
            </p:cNvPr>
            <p:cNvCxnSpPr>
              <a:cxnSpLocks/>
              <a:endCxn id="40" idx="0"/>
            </p:cNvCxnSpPr>
            <p:nvPr/>
          </p:nvCxnSpPr>
          <p:spPr>
            <a:xfrm>
              <a:off x="4171198" y="5111625"/>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3" name="직선 연결선 42">
              <a:extLst>
                <a:ext uri="{FF2B5EF4-FFF2-40B4-BE49-F238E27FC236}">
                  <a16:creationId xmlns:a16="http://schemas.microsoft.com/office/drawing/2014/main" id="{01904893-C5F7-C43E-9A85-F083650D19C3}"/>
                </a:ext>
              </a:extLst>
            </p:cNvPr>
            <p:cNvCxnSpPr>
              <a:cxnSpLocks/>
              <a:endCxn id="41" idx="1"/>
            </p:cNvCxnSpPr>
            <p:nvPr/>
          </p:nvCxnSpPr>
          <p:spPr>
            <a:xfrm>
              <a:off x="4176184" y="5454057"/>
              <a:ext cx="958292"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4" name="이등변 삼각형 43">
              <a:extLst>
                <a:ext uri="{FF2B5EF4-FFF2-40B4-BE49-F238E27FC236}">
                  <a16:creationId xmlns:a16="http://schemas.microsoft.com/office/drawing/2014/main" id="{3A96BA8D-BFD8-21DD-4BFA-4A5DB488D943}"/>
                </a:ext>
              </a:extLst>
            </p:cNvPr>
            <p:cNvSpPr/>
            <p:nvPr/>
          </p:nvSpPr>
          <p:spPr>
            <a:xfrm rot="5400000">
              <a:off x="4285009" y="5321729"/>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5" name="연결선: 꺾임 44">
              <a:extLst>
                <a:ext uri="{FF2B5EF4-FFF2-40B4-BE49-F238E27FC236}">
                  <a16:creationId xmlns:a16="http://schemas.microsoft.com/office/drawing/2014/main" id="{27EDA2AF-3B1C-D8AB-1927-D002184A8237}"/>
                </a:ext>
              </a:extLst>
            </p:cNvPr>
            <p:cNvCxnSpPr>
              <a:cxnSpLocks/>
            </p:cNvCxnSpPr>
            <p:nvPr/>
          </p:nvCxnSpPr>
          <p:spPr>
            <a:xfrm rot="10800000" flipV="1">
              <a:off x="4171199" y="5453785"/>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6" name="이등변 삼각형 45">
              <a:extLst>
                <a:ext uri="{FF2B5EF4-FFF2-40B4-BE49-F238E27FC236}">
                  <a16:creationId xmlns:a16="http://schemas.microsoft.com/office/drawing/2014/main" id="{51A470BB-88C7-ACC3-6A16-96328DDA5772}"/>
                </a:ext>
              </a:extLst>
            </p:cNvPr>
            <p:cNvSpPr/>
            <p:nvPr/>
          </p:nvSpPr>
          <p:spPr>
            <a:xfrm rot="16200000">
              <a:off x="4375148" y="5753062"/>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7" name="직선 연결선 46">
              <a:extLst>
                <a:ext uri="{FF2B5EF4-FFF2-40B4-BE49-F238E27FC236}">
                  <a16:creationId xmlns:a16="http://schemas.microsoft.com/office/drawing/2014/main" id="{D62CC94C-0857-7879-4E55-994380457CED}"/>
                </a:ext>
              </a:extLst>
            </p:cNvPr>
            <p:cNvCxnSpPr>
              <a:cxnSpLocks/>
            </p:cNvCxnSpPr>
            <p:nvPr/>
          </p:nvCxnSpPr>
          <p:spPr>
            <a:xfrm>
              <a:off x="5134476" y="5376176"/>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8" name="직선 연결선 47">
              <a:extLst>
                <a:ext uri="{FF2B5EF4-FFF2-40B4-BE49-F238E27FC236}">
                  <a16:creationId xmlns:a16="http://schemas.microsoft.com/office/drawing/2014/main" id="{7867BB4B-AD34-E32B-2389-276095D7A08A}"/>
                </a:ext>
              </a:extLst>
            </p:cNvPr>
            <p:cNvCxnSpPr>
              <a:cxnSpLocks/>
            </p:cNvCxnSpPr>
            <p:nvPr/>
          </p:nvCxnSpPr>
          <p:spPr>
            <a:xfrm flipH="1">
              <a:off x="5137720" y="5380238"/>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9" name="직선 연결선 48">
              <a:extLst>
                <a:ext uri="{FF2B5EF4-FFF2-40B4-BE49-F238E27FC236}">
                  <a16:creationId xmlns:a16="http://schemas.microsoft.com/office/drawing/2014/main" id="{19987AA5-8667-5175-0ED7-1B0087486ED1}"/>
                </a:ext>
              </a:extLst>
            </p:cNvPr>
            <p:cNvCxnSpPr>
              <a:cxnSpLocks/>
            </p:cNvCxnSpPr>
            <p:nvPr/>
          </p:nvCxnSpPr>
          <p:spPr>
            <a:xfrm>
              <a:off x="4919048" y="5049968"/>
              <a:ext cx="193591" cy="0"/>
            </a:xfrm>
            <a:prstGeom prst="line">
              <a:avLst/>
            </a:prstGeom>
            <a:ln w="25400">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pic>
          <p:nvPicPr>
            <p:cNvPr id="50" name="그림 49">
              <a:extLst>
                <a:ext uri="{FF2B5EF4-FFF2-40B4-BE49-F238E27FC236}">
                  <a16:creationId xmlns:a16="http://schemas.microsoft.com/office/drawing/2014/main" id="{15123501-5249-40A4-A0E5-DAB1F0F4E961}"/>
                </a:ext>
              </a:extLst>
            </p:cNvPr>
            <p:cNvPicPr>
              <a:picLocks noChangeAspect="1"/>
            </p:cNvPicPr>
            <p:nvPr/>
          </p:nvPicPr>
          <p:blipFill>
            <a:blip r:embed="rId4"/>
            <a:srcRect l="1" r="-1" b="44400"/>
            <a:stretch/>
          </p:blipFill>
          <p:spPr>
            <a:xfrm>
              <a:off x="4926023" y="5223407"/>
              <a:ext cx="176479" cy="222501"/>
            </a:xfrm>
            <a:prstGeom prst="rect">
              <a:avLst/>
            </a:prstGeom>
            <a:ln>
              <a:noFill/>
            </a:ln>
          </p:spPr>
        </p:pic>
        <p:pic>
          <p:nvPicPr>
            <p:cNvPr id="51" name="그림 50">
              <a:extLst>
                <a:ext uri="{FF2B5EF4-FFF2-40B4-BE49-F238E27FC236}">
                  <a16:creationId xmlns:a16="http://schemas.microsoft.com/office/drawing/2014/main" id="{6612EB21-9662-1122-8DA3-42D5D9A60D92}"/>
                </a:ext>
              </a:extLst>
            </p:cNvPr>
            <p:cNvPicPr>
              <a:picLocks noChangeAspect="1"/>
            </p:cNvPicPr>
            <p:nvPr/>
          </p:nvPicPr>
          <p:blipFill>
            <a:blip r:embed="rId4"/>
            <a:srcRect l="1" t="63005" r="-1"/>
            <a:stretch/>
          </p:blipFill>
          <p:spPr>
            <a:xfrm>
              <a:off x="4925399" y="5792891"/>
              <a:ext cx="176479" cy="148050"/>
            </a:xfrm>
            <a:prstGeom prst="rect">
              <a:avLst/>
            </a:prstGeom>
            <a:ln>
              <a:noFill/>
            </a:ln>
          </p:spPr>
        </p:pic>
        <p:pic>
          <p:nvPicPr>
            <p:cNvPr id="52" name="그림 51">
              <a:extLst>
                <a:ext uri="{FF2B5EF4-FFF2-40B4-BE49-F238E27FC236}">
                  <a16:creationId xmlns:a16="http://schemas.microsoft.com/office/drawing/2014/main" id="{5374D318-7667-24FE-881B-3F18EDB1591D}"/>
                </a:ext>
              </a:extLst>
            </p:cNvPr>
            <p:cNvPicPr>
              <a:picLocks noChangeAspect="1"/>
            </p:cNvPicPr>
            <p:nvPr/>
          </p:nvPicPr>
          <p:blipFill>
            <a:blip r:embed="rId4"/>
            <a:srcRect l="1" r="-1" b="44400"/>
            <a:stretch/>
          </p:blipFill>
          <p:spPr>
            <a:xfrm>
              <a:off x="4925399" y="5462207"/>
              <a:ext cx="176479" cy="222501"/>
            </a:xfrm>
            <a:prstGeom prst="rect">
              <a:avLst/>
            </a:prstGeom>
            <a:ln>
              <a:noFill/>
            </a:ln>
          </p:spPr>
        </p:pic>
        <p:cxnSp>
          <p:nvCxnSpPr>
            <p:cNvPr id="53" name="직선 연결선 52">
              <a:extLst>
                <a:ext uri="{FF2B5EF4-FFF2-40B4-BE49-F238E27FC236}">
                  <a16:creationId xmlns:a16="http://schemas.microsoft.com/office/drawing/2014/main" id="{CA1F2512-4D23-F22F-70CA-DFB5E67F30B3}"/>
                </a:ext>
              </a:extLst>
            </p:cNvPr>
            <p:cNvCxnSpPr>
              <a:cxnSpLocks/>
            </p:cNvCxnSpPr>
            <p:nvPr/>
          </p:nvCxnSpPr>
          <p:spPr>
            <a:xfrm flipV="1">
              <a:off x="5005171" y="5684708"/>
              <a:ext cx="86114" cy="108183"/>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직선 연결선 53">
              <a:extLst>
                <a:ext uri="{FF2B5EF4-FFF2-40B4-BE49-F238E27FC236}">
                  <a16:creationId xmlns:a16="http://schemas.microsoft.com/office/drawing/2014/main" id="{241EBA4A-C51F-4CEC-9B3C-52D7D2E3FFBD}"/>
                </a:ext>
              </a:extLst>
            </p:cNvPr>
            <p:cNvCxnSpPr>
              <a:cxnSpLocks/>
            </p:cNvCxnSpPr>
            <p:nvPr/>
          </p:nvCxnSpPr>
          <p:spPr>
            <a:xfrm flipV="1">
              <a:off x="5005171" y="5121787"/>
              <a:ext cx="86114" cy="108183"/>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직선 연결선 54">
              <a:extLst>
                <a:ext uri="{FF2B5EF4-FFF2-40B4-BE49-F238E27FC236}">
                  <a16:creationId xmlns:a16="http://schemas.microsoft.com/office/drawing/2014/main" id="{FC19465F-3F09-410F-A6A9-A9BD06667D77}"/>
                </a:ext>
              </a:extLst>
            </p:cNvPr>
            <p:cNvCxnSpPr>
              <a:cxnSpLocks/>
            </p:cNvCxnSpPr>
            <p:nvPr/>
          </p:nvCxnSpPr>
          <p:spPr>
            <a:xfrm flipV="1">
              <a:off x="5010200" y="5059857"/>
              <a:ext cx="0" cy="75051"/>
            </a:xfrm>
            <a:prstGeom prst="line">
              <a:avLst/>
            </a:prstGeom>
            <a:ln w="1016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sp>
        <p:nvSpPr>
          <p:cNvPr id="6" name="object 16">
            <a:extLst>
              <a:ext uri="{FF2B5EF4-FFF2-40B4-BE49-F238E27FC236}">
                <a16:creationId xmlns:a16="http://schemas.microsoft.com/office/drawing/2014/main" id="{7B7FCC82-2F9E-7D37-5116-5224E65F6F31}"/>
              </a:ext>
            </a:extLst>
          </p:cNvPr>
          <p:cNvSpPr txBox="1"/>
          <p:nvPr/>
        </p:nvSpPr>
        <p:spPr>
          <a:xfrm>
            <a:off x="404813" y="5553014"/>
            <a:ext cx="604466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45750171"/>
              </p:ext>
            </p:extLst>
          </p:nvPr>
        </p:nvGraphicFramePr>
        <p:xfrm>
          <a:off x="400854" y="1151755"/>
          <a:ext cx="6048620" cy="3996861"/>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64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graphicFrame>
        <p:nvGraphicFramePr>
          <p:cNvPr id="8" name="표 7">
            <a:extLst>
              <a:ext uri="{FF2B5EF4-FFF2-40B4-BE49-F238E27FC236}">
                <a16:creationId xmlns:a16="http://schemas.microsoft.com/office/drawing/2014/main" id="{C3EF9BE5-1E4E-2F6A-37AF-6CEBE8787AD4}"/>
              </a:ext>
            </a:extLst>
          </p:cNvPr>
          <p:cNvGraphicFramePr>
            <a:graphicFrameLocks noGrp="1"/>
          </p:cNvGraphicFramePr>
          <p:nvPr>
            <p:extLst>
              <p:ext uri="{D42A27DB-BD31-4B8C-83A1-F6EECF244321}">
                <p14:modId xmlns:p14="http://schemas.microsoft.com/office/powerpoint/2010/main" val="2762377940"/>
              </p:ext>
            </p:extLst>
          </p:nvPr>
        </p:nvGraphicFramePr>
        <p:xfrm>
          <a:off x="400853" y="6689567"/>
          <a:ext cx="6048621" cy="1158313"/>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0" name="TextBox 9">
            <a:extLst>
              <a:ext uri="{FF2B5EF4-FFF2-40B4-BE49-F238E27FC236}">
                <a16:creationId xmlns:a16="http://schemas.microsoft.com/office/drawing/2014/main" id="{C281DE0B-6349-0D52-F0D5-BEF3206C79CF}"/>
              </a:ext>
            </a:extLst>
          </p:cNvPr>
          <p:cNvSpPr txBox="1"/>
          <p:nvPr/>
        </p:nvSpPr>
        <p:spPr>
          <a:xfrm>
            <a:off x="400853" y="6358397"/>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
        <p:nvSpPr>
          <p:cNvPr id="2" name="object 11">
            <a:extLst>
              <a:ext uri="{FF2B5EF4-FFF2-40B4-BE49-F238E27FC236}">
                <a16:creationId xmlns:a16="http://schemas.microsoft.com/office/drawing/2014/main" id="{7D294AED-B5D7-76A7-B0FD-51B132C26ACB}"/>
              </a:ext>
            </a:extLst>
          </p:cNvPr>
          <p:cNvSpPr txBox="1"/>
          <p:nvPr/>
        </p:nvSpPr>
        <p:spPr>
          <a:xfrm>
            <a:off x="2647949" y="7971907"/>
            <a:ext cx="1808757"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3</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Electrostatic Discharge</a:t>
            </a:r>
          </a:p>
        </p:txBody>
      </p:sp>
      <p:sp>
        <p:nvSpPr>
          <p:cNvPr id="11" name="object 11">
            <a:extLst>
              <a:ext uri="{FF2B5EF4-FFF2-40B4-BE49-F238E27FC236}">
                <a16:creationId xmlns:a16="http://schemas.microsoft.com/office/drawing/2014/main" id="{55B9BB63-ABDA-30DF-1ADD-245600E5B925}"/>
              </a:ext>
            </a:extLst>
          </p:cNvPr>
          <p:cNvSpPr txBox="1"/>
          <p:nvPr/>
        </p:nvSpPr>
        <p:spPr>
          <a:xfrm>
            <a:off x="2647950" y="5258725"/>
            <a:ext cx="2007539" cy="140211"/>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lang="en-US" sz="881" b="1" dirty="0">
                <a:solidFill>
                  <a:prstClr val="black"/>
                </a:solidFill>
                <a:latin typeface="Arial" panose="020B0604020202020204" pitchFamily="34" charset="0"/>
                <a:cs typeface="Arial" panose="020B0604020202020204" pitchFamily="34" charset="0"/>
              </a:rPr>
              <a:t>2</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Maximum Absolute ratings </a:t>
            </a:r>
            <a:endParaRPr kumimoji="0" sz="881"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731056449"/>
              </p:ext>
            </p:extLst>
          </p:nvPr>
        </p:nvGraphicFramePr>
        <p:xfrm>
          <a:off x="404814" y="1146144"/>
          <a:ext cx="6048621" cy="6432895"/>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198471">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9847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198471">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98471">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198471">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198471">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198471">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198471">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198471">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198471">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198471">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198471">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875707">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2" y="7951422"/>
            <a:ext cx="6086677" cy="821315"/>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lnSpc>
                <a:spcPts val="1200"/>
              </a:lnSpc>
            </a:pPr>
            <a:r>
              <a:rPr lang="en-US" altLang="ko-KR" dirty="0"/>
              <a:t>Note :  1) The operation below V</a:t>
            </a:r>
            <a:r>
              <a:rPr lang="en-US" altLang="ko-KR" baseline="-25000" dirty="0"/>
              <a:t>DD</a:t>
            </a:r>
            <a:r>
              <a:rPr lang="en-US" altLang="ko-KR" dirty="0"/>
              <a:t>, 5V will limit a maximum LED sinking current and affect a current variation.</a:t>
            </a:r>
          </a:p>
          <a:p>
            <a:pPr>
              <a:lnSpc>
                <a:spcPts val="1200"/>
              </a:lnSpc>
            </a:pPr>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pPr>
              <a:lnSpc>
                <a:spcPts val="1200"/>
              </a:lnSpc>
            </a:pPr>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p>
          <a:p>
            <a:pPr>
              <a:lnSpc>
                <a:spcPts val="12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a:t>
            </a:r>
          </a:p>
          <a:p>
            <a:pPr>
              <a:lnSpc>
                <a:spcPts val="1200"/>
              </a:lnSpc>
            </a:pP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691537" y="6881386"/>
            <a:ext cx="3315424" cy="584770"/>
            <a:chOff x="1920695" y="7478240"/>
            <a:chExt cx="3333652" cy="728140"/>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04556"/>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894955"/>
              <a:ext cx="229797"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7" name="object 11">
            <a:extLst>
              <a:ext uri="{FF2B5EF4-FFF2-40B4-BE49-F238E27FC236}">
                <a16:creationId xmlns:a16="http://schemas.microsoft.com/office/drawing/2014/main" id="{87CABEE8-CF49-D17C-32A0-7F84F639B856}"/>
              </a:ext>
            </a:extLst>
          </p:cNvPr>
          <p:cNvSpPr txBox="1"/>
          <p:nvPr/>
        </p:nvSpPr>
        <p:spPr>
          <a:xfrm>
            <a:off x="2591388" y="7704943"/>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1236751394"/>
              </p:ext>
            </p:extLst>
          </p:nvPr>
        </p:nvGraphicFramePr>
        <p:xfrm>
          <a:off x="411753" y="1136650"/>
          <a:ext cx="6041678" cy="6602262"/>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68829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900" b="0" spc="-5" dirty="0">
                          <a:solidFill>
                            <a:schemeClr val="tx1"/>
                          </a:solidFill>
                          <a:latin typeface="Arial"/>
                          <a:cs typeface="Arial"/>
                        </a:rPr>
                        <a:t>0.55V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4mA,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0.60V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95" baseline="-18518" dirty="0">
                          <a:solidFill>
                            <a:schemeClr val="tx1"/>
                          </a:solidFill>
                          <a:latin typeface="Arial"/>
                          <a:cs typeface="Arial"/>
                        </a:rPr>
                        <a:t> </a:t>
                      </a:r>
                      <a:r>
                        <a:rPr lang="it-IT" altLang="ko-KR" sz="900" b="0" dirty="0">
                          <a:solidFill>
                            <a:schemeClr val="tx1"/>
                          </a:solidFill>
                          <a:latin typeface="Arial"/>
                          <a:cs typeface="Arial"/>
                        </a:rPr>
                        <a:t>8mA</a:t>
                      </a:r>
                    </a:p>
                    <a:p>
                      <a:pPr marL="54610">
                        <a:lnSpc>
                          <a:spcPct val="100000"/>
                        </a:lnSpc>
                      </a:pPr>
                      <a:r>
                        <a:rPr lang="it-IT" altLang="ko-KR" sz="900" b="0" spc="-5" dirty="0">
                          <a:solidFill>
                            <a:schemeClr val="tx1"/>
                          </a:solidFill>
                          <a:latin typeface="Arial"/>
                          <a:cs typeface="Arial"/>
                        </a:rPr>
                        <a:t>0.65V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12mA,</a:t>
                      </a:r>
                      <a:r>
                        <a:rPr lang="it-IT" altLang="ko-KR" sz="900" b="0" spc="-40" dirty="0">
                          <a:solidFill>
                            <a:schemeClr val="tx1"/>
                          </a:solidFill>
                          <a:latin typeface="Arial"/>
                          <a:cs typeface="Arial"/>
                        </a:rPr>
                        <a:t> 0.70V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16mA</a:t>
                      </a:r>
                    </a:p>
                    <a:p>
                      <a:pPr marL="54610">
                        <a:lnSpc>
                          <a:spcPct val="100000"/>
                        </a:lnSpc>
                      </a:pPr>
                      <a:r>
                        <a:rPr lang="it-IT" altLang="ko-KR" sz="900" b="0" spc="-5" dirty="0">
                          <a:solidFill>
                            <a:schemeClr val="tx1"/>
                          </a:solidFill>
                          <a:latin typeface="Arial"/>
                          <a:cs typeface="Arial"/>
                        </a:rPr>
                        <a:t>0.75V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0.80V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p>
                      <a:pPr marL="54610">
                        <a:lnSpc>
                          <a:spcPct val="100000"/>
                        </a:lnSpc>
                      </a:pPr>
                      <a:r>
                        <a:rPr lang="it-IT" altLang="ko-KR" sz="900" b="0" spc="-5" dirty="0">
                          <a:solidFill>
                            <a:schemeClr val="tx1"/>
                          </a:solidFill>
                          <a:latin typeface="Arial"/>
                          <a:cs typeface="Arial"/>
                        </a:rPr>
                        <a:t>0.85V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46mA,</a:t>
                      </a:r>
                      <a:r>
                        <a:rPr lang="it-IT" altLang="ko-KR" sz="900" b="0" spc="-25" dirty="0">
                          <a:solidFill>
                            <a:schemeClr val="tx1"/>
                          </a:solidFill>
                          <a:latin typeface="Arial"/>
                          <a:cs typeface="Arial"/>
                        </a:rPr>
                        <a:t> </a:t>
                      </a:r>
                      <a:r>
                        <a:rPr lang="it-IT" altLang="ko-KR" sz="900" b="0" spc="-5" dirty="0">
                          <a:solidFill>
                            <a:schemeClr val="tx1"/>
                          </a:solidFill>
                          <a:latin typeface="Arial"/>
                          <a:cs typeface="Arial"/>
                        </a:rPr>
                        <a:t>0.90V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64mA</a:t>
                      </a:r>
                    </a:p>
                  </a:txBody>
                  <a:tcPr marL="0" marR="0" marT="10795"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9770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3b’000=3V,</a:t>
                      </a:r>
                      <a:r>
                        <a:rPr sz="900" spc="16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4</a:t>
                      </a:r>
                      <a:r>
                        <a:rPr sz="900" dirty="0">
                          <a:solidFill>
                            <a:schemeClr val="tx1"/>
                          </a:solidFill>
                          <a:latin typeface="Arial"/>
                          <a:cs typeface="Arial"/>
                        </a:rPr>
                        <a:t>V</a:t>
                      </a:r>
                    </a:p>
                    <a:p>
                      <a:pPr marL="275590">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6</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8</a:t>
                      </a:r>
                      <a:r>
                        <a:rPr sz="900" dirty="0">
                          <a:solidFill>
                            <a:schemeClr val="tx1"/>
                          </a:solidFill>
                          <a:latin typeface="Arial"/>
                          <a:cs typeface="Arial"/>
                        </a:rPr>
                        <a:t>V</a:t>
                      </a:r>
                    </a:p>
                    <a:p>
                      <a:pPr marL="275590">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12</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16</a:t>
                      </a:r>
                      <a:r>
                        <a:rPr sz="900" spc="-5" dirty="0">
                          <a:solidFill>
                            <a:schemeClr val="tx1"/>
                          </a:solidFill>
                          <a:latin typeface="Arial"/>
                          <a:cs typeface="Arial"/>
                        </a:rPr>
                        <a:t>V</a:t>
                      </a:r>
                      <a:endParaRPr sz="900" dirty="0">
                        <a:solidFill>
                          <a:schemeClr val="tx1"/>
                        </a:solidFill>
                        <a:latin typeface="Arial"/>
                        <a:cs typeface="Arial"/>
                      </a:endParaRPr>
                    </a:p>
                    <a:p>
                      <a:pPr marL="275590">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24</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3b’111=36V</a:t>
                      </a:r>
                    </a:p>
                  </a:txBody>
                  <a:tcPr marL="0" marR="0" marT="2032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677624">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12mA, 3’b011 = 16mA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24mA, 3’b101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46mA, 3’b111 = 64mA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538930">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sz="1050" spc="-7" baseline="3968" dirty="0">
                          <a:latin typeface="Arial"/>
                          <a:cs typeface="Arial"/>
                        </a:rPr>
                        <a:t>@ </a:t>
                      </a:r>
                      <a:r>
                        <a:rPr sz="900" dirty="0">
                          <a:latin typeface="Arial"/>
                          <a:cs typeface="Arial"/>
                        </a:rPr>
                        <a:t>I</a:t>
                      </a:r>
                      <a:r>
                        <a:rPr sz="900" baseline="-9259" dirty="0">
                          <a:latin typeface="Arial"/>
                          <a:cs typeface="Arial"/>
                        </a:rPr>
                        <a:t>O </a:t>
                      </a:r>
                      <a:r>
                        <a:rPr sz="900" dirty="0">
                          <a:latin typeface="Arial"/>
                          <a:cs typeface="Arial"/>
                        </a:rPr>
                        <a:t>=</a:t>
                      </a:r>
                      <a:r>
                        <a:rPr lang="en-US" sz="900" dirty="0">
                          <a:latin typeface="Arial"/>
                          <a:cs typeface="Arial"/>
                        </a:rPr>
                        <a:t>Imax(32</a:t>
                      </a:r>
                      <a:r>
                        <a:rPr lang="en-US" altLang="ko-KR" sz="900" dirty="0">
                          <a:latin typeface="Arial"/>
                          <a:cs typeface="Arial"/>
                        </a:rPr>
                        <a:t>mA)*0.03</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74063">
                <a:tc vMerge="1">
                  <a:txBody>
                    <a:bodyPr/>
                    <a:lstStyle/>
                    <a:p>
                      <a:pPr latinLnBrk="1"/>
                      <a:endParaRPr lang="ko-KR" altLang="en-US"/>
                    </a:p>
                  </a:txBody>
                  <a:tcPr/>
                </a:tc>
                <a:tc vMerge="1">
                  <a:txBody>
                    <a:bodyPr/>
                    <a:lstStyle/>
                    <a:p>
                      <a:pPr latinLnBrk="1"/>
                      <a:endParaRPr lang="ko-KR" altLang="en-US"/>
                    </a:p>
                  </a:txBody>
                  <a:tcPr/>
                </a:tc>
                <a:tc>
                  <a:txBody>
                    <a:bodyPr/>
                    <a:lstStyle/>
                    <a:p>
                      <a:pPr marL="0" marR="318770" indent="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=Imax(32mA)*0.</a:t>
                      </a:r>
                      <a:r>
                        <a:rPr lang="en-US" altLang="ko-KR" sz="900" spc="5" dirty="0">
                          <a:latin typeface="Arial"/>
                          <a:cs typeface="Arial"/>
                        </a:rPr>
                        <a:t>1</a:t>
                      </a:r>
                      <a:endParaRPr lang="en-US" altLang="ko-K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7406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Imax(32mA)*1</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40V</a:t>
                      </a:r>
                      <a:endParaRPr sz="900" dirty="0">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68703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0.50V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0.60V,  3’b011 = 0.70V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0.85V,  3’b101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1.15V,  3’b111 = 1.30V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00494">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473464">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20"/>
                        </a:spcBef>
                      </a:pPr>
                      <a:endParaRPr sz="1350" dirty="0">
                        <a:latin typeface="Times New Roman"/>
                        <a:cs typeface="Times New Roman"/>
                      </a:endParaRPr>
                    </a:p>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254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8097806"/>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
        <p:nvSpPr>
          <p:cNvPr id="3" name="object 11">
            <a:extLst>
              <a:ext uri="{FF2B5EF4-FFF2-40B4-BE49-F238E27FC236}">
                <a16:creationId xmlns:a16="http://schemas.microsoft.com/office/drawing/2014/main" id="{67E3E77C-C881-5301-041D-8B6C077E4E3D}"/>
              </a:ext>
            </a:extLst>
          </p:cNvPr>
          <p:cNvSpPr txBox="1"/>
          <p:nvPr/>
        </p:nvSpPr>
        <p:spPr>
          <a:xfrm>
            <a:off x="2495752" y="7847960"/>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2413936976"/>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32,768</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latin typeface="Arial" panose="020B0604020202020204" pitchFamily="34" charset="0"/>
                          <a:cs typeface="Arial" panose="020B0604020202020204" pitchFamily="34" charset="0"/>
                        </a:rPr>
                        <a:t>  VSYNC daisy out @ EXT_VS_E = 1</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762505"/>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27073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314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1384" y="4505610"/>
            <a:ext cx="1866495" cy="140797"/>
          </a:xfrm>
          <a:prstGeom prst="rect">
            <a:avLst/>
          </a:prstGeom>
        </p:spPr>
        <p:txBody>
          <a:bodyPr vert="horz" wrap="square" lIns="0" tIns="12435" rIns="0" bIns="0" rtlCol="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kumimoji="0" lang="en-US" sz="881" b="1" dirty="0">
                <a:solidFill>
                  <a:prstClr val="black"/>
                </a:solidFill>
                <a:latin typeface="Arial" panose="020B0604020202020204" pitchFamily="34" charset="0"/>
                <a:ea typeface="+mn-ea"/>
                <a:cs typeface="Arial" panose="020B0604020202020204" pitchFamily="34" charset="0"/>
              </a:rPr>
              <a:t>4</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251539" y="8230855"/>
            <a:ext cx="2607952" cy="150618"/>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881" b="1" spc="15" dirty="0">
                <a:solidFill>
                  <a:prstClr val="black"/>
                </a:solidFill>
                <a:latin typeface="Arial" panose="020B0604020202020204" pitchFamily="34" charset="0"/>
                <a:ea typeface="+mn-ea"/>
                <a:cs typeface="Arial" panose="020B0604020202020204" pitchFamily="34" charset="0"/>
              </a:rPr>
              <a:t>Fig. 5 Power up sequence </a:t>
            </a:r>
            <a:r>
              <a:rPr lang="en-US" sz="881" b="1" spc="15" dirty="0">
                <a:solidFill>
                  <a:prstClr val="black"/>
                </a:solidFill>
                <a:latin typeface="Arial" panose="020B0604020202020204" pitchFamily="34" charset="0"/>
                <a:cs typeface="Arial" panose="020B0604020202020204" pitchFamily="34" charset="0"/>
              </a:rPr>
              <a:t>and Ramp-up time</a:t>
            </a:r>
            <a:endParaRPr kumimoji="0" lang="en-US" sz="881"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70560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DCF4DE-CFB3-5366-D892-071ABF42F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pic>
        <p:nvPicPr>
          <p:cNvPr id="8" name="그림 7">
            <a:extLst>
              <a:ext uri="{FF2B5EF4-FFF2-40B4-BE49-F238E27FC236}">
                <a16:creationId xmlns:a16="http://schemas.microsoft.com/office/drawing/2014/main" id="{4E065577-D95F-609B-A7E3-24CA916E3EAD}"/>
              </a:ext>
            </a:extLst>
          </p:cNvPr>
          <p:cNvPicPr>
            <a:picLocks noChangeAspect="1"/>
          </p:cNvPicPr>
          <p:nvPr/>
        </p:nvPicPr>
        <p:blipFill>
          <a:blip r:embed="rId2"/>
          <a:stretch>
            <a:fillRect/>
          </a:stretch>
        </p:blipFill>
        <p:spPr>
          <a:xfrm>
            <a:off x="404811" y="1973456"/>
            <a:ext cx="6039641" cy="1716056"/>
          </a:xfrm>
          <a:prstGeom prst="rect">
            <a:avLst/>
          </a:prstGeom>
        </p:spPr>
      </p:pic>
      <p:sp>
        <p:nvSpPr>
          <p:cNvPr id="9" name="TextBox 8">
            <a:extLst>
              <a:ext uri="{FF2B5EF4-FFF2-40B4-BE49-F238E27FC236}">
                <a16:creationId xmlns:a16="http://schemas.microsoft.com/office/drawing/2014/main" id="{5228E66B-49BF-A516-78A2-5D69EA4D91D2}"/>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18 and 17 as possible in below.</a:t>
            </a:r>
          </a:p>
        </p:txBody>
      </p:sp>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BCF5272D-FF66-E8C9-9243-D4162770C3AF}"/>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19" name="TextBox 18">
            <a:extLst>
              <a:ext uri="{FF2B5EF4-FFF2-40B4-BE49-F238E27FC236}">
                <a16:creationId xmlns:a16="http://schemas.microsoft.com/office/drawing/2014/main" id="{75F425CB-5628-5D1A-3BC5-598F6E17844F}"/>
              </a:ext>
            </a:extLst>
          </p:cNvPr>
          <p:cNvSpPr txBox="1"/>
          <p:nvPr/>
        </p:nvSpPr>
        <p:spPr>
          <a:xfrm>
            <a:off x="2383877" y="4389043"/>
            <a:ext cx="2286508"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pic>
        <p:nvPicPr>
          <p:cNvPr id="9" name="그림 8">
            <a:extLst>
              <a:ext uri="{FF2B5EF4-FFF2-40B4-BE49-F238E27FC236}">
                <a16:creationId xmlns:a16="http://schemas.microsoft.com/office/drawing/2014/main" id="{5471DFC7-63B0-6A42-A606-EB94940CE673}"/>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0" name="그림 9">
            <a:extLst>
              <a:ext uri="{FF2B5EF4-FFF2-40B4-BE49-F238E27FC236}">
                <a16:creationId xmlns:a16="http://schemas.microsoft.com/office/drawing/2014/main" id="{14568C1D-9930-2A2C-3785-E4B64061DAFD}"/>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14" name="TextBox 13">
            <a:extLst>
              <a:ext uri="{FF2B5EF4-FFF2-40B4-BE49-F238E27FC236}">
                <a16:creationId xmlns:a16="http://schemas.microsoft.com/office/drawing/2014/main" id="{7A77BCF1-3073-B721-BD09-2662B2DAC098}"/>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graphicFrame>
        <p:nvGraphicFramePr>
          <p:cNvPr id="26" name="표 25">
            <a:extLst>
              <a:ext uri="{FF2B5EF4-FFF2-40B4-BE49-F238E27FC236}">
                <a16:creationId xmlns:a16="http://schemas.microsoft.com/office/drawing/2014/main" id="{27ECB6B5-D65C-4459-8075-2F59C8364001}"/>
              </a:ext>
            </a:extLst>
          </p:cNvPr>
          <p:cNvGraphicFramePr>
            <a:graphicFrameLocks noGrp="1"/>
          </p:cNvGraphicFramePr>
          <p:nvPr>
            <p:extLst>
              <p:ext uri="{D42A27DB-BD31-4B8C-83A1-F6EECF244321}">
                <p14:modId xmlns:p14="http://schemas.microsoft.com/office/powerpoint/2010/main" val="1394001717"/>
              </p:ext>
            </p:extLst>
          </p:nvPr>
        </p:nvGraphicFramePr>
        <p:xfrm>
          <a:off x="396993" y="2230413"/>
          <a:ext cx="5914907" cy="2344063"/>
        </p:xfrm>
        <a:graphic>
          <a:graphicData uri="http://schemas.openxmlformats.org/drawingml/2006/table">
            <a:tbl>
              <a:tblPr firstRow="1" bandRow="1">
                <a:tableStyleId>{5C22544A-7EE6-4342-B048-85BDC9FD1C3A}</a:tableStyleId>
              </a:tblPr>
              <a:tblGrid>
                <a:gridCol w="627797">
                  <a:extLst>
                    <a:ext uri="{9D8B030D-6E8A-4147-A177-3AD203B41FA5}">
                      <a16:colId xmlns:a16="http://schemas.microsoft.com/office/drawing/2014/main" val="2861869108"/>
                    </a:ext>
                  </a:extLst>
                </a:gridCol>
                <a:gridCol w="571177">
                  <a:extLst>
                    <a:ext uri="{9D8B030D-6E8A-4147-A177-3AD203B41FA5}">
                      <a16:colId xmlns:a16="http://schemas.microsoft.com/office/drawing/2014/main" val="1481624012"/>
                    </a:ext>
                  </a:extLst>
                </a:gridCol>
                <a:gridCol w="428617">
                  <a:extLst>
                    <a:ext uri="{9D8B030D-6E8A-4147-A177-3AD203B41FA5}">
                      <a16:colId xmlns:a16="http://schemas.microsoft.com/office/drawing/2014/main" val="3471461862"/>
                    </a:ext>
                  </a:extLst>
                </a:gridCol>
                <a:gridCol w="199850">
                  <a:extLst>
                    <a:ext uri="{9D8B030D-6E8A-4147-A177-3AD203B41FA5}">
                      <a16:colId xmlns:a16="http://schemas.microsoft.com/office/drawing/2014/main" val="203027085"/>
                    </a:ext>
                  </a:extLst>
                </a:gridCol>
                <a:gridCol w="199850">
                  <a:extLst>
                    <a:ext uri="{9D8B030D-6E8A-4147-A177-3AD203B41FA5}">
                      <a16:colId xmlns:a16="http://schemas.microsoft.com/office/drawing/2014/main" val="222123653"/>
                    </a:ext>
                  </a:extLst>
                </a:gridCol>
                <a:gridCol w="199845">
                  <a:extLst>
                    <a:ext uri="{9D8B030D-6E8A-4147-A177-3AD203B41FA5}">
                      <a16:colId xmlns:a16="http://schemas.microsoft.com/office/drawing/2014/main" val="3458704818"/>
                    </a:ext>
                  </a:extLst>
                </a:gridCol>
                <a:gridCol w="199850">
                  <a:extLst>
                    <a:ext uri="{9D8B030D-6E8A-4147-A177-3AD203B41FA5}">
                      <a16:colId xmlns:a16="http://schemas.microsoft.com/office/drawing/2014/main" val="914505469"/>
                    </a:ext>
                  </a:extLst>
                </a:gridCol>
                <a:gridCol w="199850">
                  <a:extLst>
                    <a:ext uri="{9D8B030D-6E8A-4147-A177-3AD203B41FA5}">
                      <a16:colId xmlns:a16="http://schemas.microsoft.com/office/drawing/2014/main" val="351773172"/>
                    </a:ext>
                  </a:extLst>
                </a:gridCol>
                <a:gridCol w="199850">
                  <a:extLst>
                    <a:ext uri="{9D8B030D-6E8A-4147-A177-3AD203B41FA5}">
                      <a16:colId xmlns:a16="http://schemas.microsoft.com/office/drawing/2014/main" val="4231085326"/>
                    </a:ext>
                  </a:extLst>
                </a:gridCol>
                <a:gridCol w="199850">
                  <a:extLst>
                    <a:ext uri="{9D8B030D-6E8A-4147-A177-3AD203B41FA5}">
                      <a16:colId xmlns:a16="http://schemas.microsoft.com/office/drawing/2014/main" val="4204203412"/>
                    </a:ext>
                  </a:extLst>
                </a:gridCol>
                <a:gridCol w="199850">
                  <a:extLst>
                    <a:ext uri="{9D8B030D-6E8A-4147-A177-3AD203B41FA5}">
                      <a16:colId xmlns:a16="http://schemas.microsoft.com/office/drawing/2014/main" val="683054979"/>
                    </a:ext>
                  </a:extLst>
                </a:gridCol>
                <a:gridCol w="199850">
                  <a:extLst>
                    <a:ext uri="{9D8B030D-6E8A-4147-A177-3AD203B41FA5}">
                      <a16:colId xmlns:a16="http://schemas.microsoft.com/office/drawing/2014/main" val="1775171962"/>
                    </a:ext>
                  </a:extLst>
                </a:gridCol>
                <a:gridCol w="199850">
                  <a:extLst>
                    <a:ext uri="{9D8B030D-6E8A-4147-A177-3AD203B41FA5}">
                      <a16:colId xmlns:a16="http://schemas.microsoft.com/office/drawing/2014/main" val="658555535"/>
                    </a:ext>
                  </a:extLst>
                </a:gridCol>
                <a:gridCol w="199850">
                  <a:extLst>
                    <a:ext uri="{9D8B030D-6E8A-4147-A177-3AD203B41FA5}">
                      <a16:colId xmlns:a16="http://schemas.microsoft.com/office/drawing/2014/main" val="1269055983"/>
                    </a:ext>
                  </a:extLst>
                </a:gridCol>
                <a:gridCol w="199850">
                  <a:extLst>
                    <a:ext uri="{9D8B030D-6E8A-4147-A177-3AD203B41FA5}">
                      <a16:colId xmlns:a16="http://schemas.microsoft.com/office/drawing/2014/main" val="1932052668"/>
                    </a:ext>
                  </a:extLst>
                </a:gridCol>
                <a:gridCol w="199850">
                  <a:extLst>
                    <a:ext uri="{9D8B030D-6E8A-4147-A177-3AD203B41FA5}">
                      <a16:colId xmlns:a16="http://schemas.microsoft.com/office/drawing/2014/main" val="1672148784"/>
                    </a:ext>
                  </a:extLst>
                </a:gridCol>
                <a:gridCol w="199845">
                  <a:extLst>
                    <a:ext uri="{9D8B030D-6E8A-4147-A177-3AD203B41FA5}">
                      <a16:colId xmlns:a16="http://schemas.microsoft.com/office/drawing/2014/main" val="2952904231"/>
                    </a:ext>
                  </a:extLst>
                </a:gridCol>
                <a:gridCol w="199850">
                  <a:extLst>
                    <a:ext uri="{9D8B030D-6E8A-4147-A177-3AD203B41FA5}">
                      <a16:colId xmlns:a16="http://schemas.microsoft.com/office/drawing/2014/main" val="2106188717"/>
                    </a:ext>
                  </a:extLst>
                </a:gridCol>
                <a:gridCol w="199850">
                  <a:extLst>
                    <a:ext uri="{9D8B030D-6E8A-4147-A177-3AD203B41FA5}">
                      <a16:colId xmlns:a16="http://schemas.microsoft.com/office/drawing/2014/main" val="3804327615"/>
                    </a:ext>
                  </a:extLst>
                </a:gridCol>
                <a:gridCol w="585959">
                  <a:extLst>
                    <a:ext uri="{9D8B030D-6E8A-4147-A177-3AD203B41FA5}">
                      <a16:colId xmlns:a16="http://schemas.microsoft.com/office/drawing/2014/main" val="1213780966"/>
                    </a:ext>
                  </a:extLst>
                </a:gridCol>
                <a:gridCol w="503767">
                  <a:extLst>
                    <a:ext uri="{9D8B030D-6E8A-4147-A177-3AD203B41FA5}">
                      <a16:colId xmlns:a16="http://schemas.microsoft.com/office/drawing/2014/main" val="4000803811"/>
                    </a:ext>
                  </a:extLst>
                </a:gridCol>
              </a:tblGrid>
              <a:tr h="219954">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PWM_RES</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SCAN_NO</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frame #</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gridSpan="16">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LD Data [15:0]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step #</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/sub-frame</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 freq</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hz@120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63393">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835977831"/>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p>
                    <a:p>
                      <a:pPr algn="ctr" latinLnBrk="1"/>
                      <a:r>
                        <a:rPr lang="en-US" altLang="ko-KR" sz="800" dirty="0">
                          <a:solidFill>
                            <a:schemeClr val="tx1"/>
                          </a:solidFill>
                          <a:latin typeface="Arial" panose="020B0604020202020204" pitchFamily="34" charset="0"/>
                          <a:cs typeface="Arial" panose="020B0604020202020204" pitchFamily="34" charset="0"/>
                        </a:rPr>
                        <a:t>(12-bit)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25489603"/>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746677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8471616"/>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255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1802839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2540743"/>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p>
                    <a:p>
                      <a:pPr algn="ctr" latinLnBrk="1"/>
                      <a:r>
                        <a:rPr lang="en-US" altLang="ko-KR" sz="800" dirty="0">
                          <a:solidFill>
                            <a:schemeClr val="tx1"/>
                          </a:solidFill>
                          <a:latin typeface="Arial" panose="020B0604020202020204" pitchFamily="34" charset="0"/>
                          <a:cs typeface="Arial" panose="020B0604020202020204" pitchFamily="34" charset="0"/>
                        </a:rPr>
                        <a:t>(14-bit)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16,383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4396062"/>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8,191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921559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00653304"/>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40292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0532711"/>
                  </a:ext>
                </a:extLst>
              </a:tr>
            </a:tbl>
          </a:graphicData>
        </a:graphic>
      </p:graphicFrame>
      <p:sp>
        <p:nvSpPr>
          <p:cNvPr id="27" name="TextBox 26">
            <a:extLst>
              <a:ext uri="{FF2B5EF4-FFF2-40B4-BE49-F238E27FC236}">
                <a16:creationId xmlns:a16="http://schemas.microsoft.com/office/drawing/2014/main" id="{EC4EB98B-9AD1-3C74-EDD4-668FEA5F57EA}"/>
              </a:ext>
            </a:extLst>
          </p:cNvPr>
          <p:cNvSpPr txBox="1"/>
          <p:nvPr/>
        </p:nvSpPr>
        <p:spPr>
          <a:xfrm>
            <a:off x="2737390" y="4673768"/>
            <a:ext cx="1682210"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SCAN_NO [2:0] </a:t>
            </a:r>
            <a:r>
              <a:rPr lang="en-US" altLang="ko-KR" sz="1000" b="0" i="0" dirty="0">
                <a:solidFill>
                  <a:srgbClr val="000000"/>
                </a:solidFill>
                <a:effectLst/>
                <a:latin typeface="Arial" panose="020B0604020202020204" pitchFamily="34" charset="0"/>
                <a:cs typeface="Arial" panose="020B0604020202020204" pitchFamily="34" charset="0"/>
              </a:rPr>
              <a:t>as shown in the Table 6.</a:t>
            </a:r>
            <a:endParaRPr lang="en-US" altLang="ko-KR" sz="1000" dirty="0">
              <a:latin typeface="Arial" panose="020B0604020202020204" pitchFamily="34" charset="0"/>
              <a:cs typeface="Arial" panose="020B0604020202020204" pitchFamily="34" charset="0"/>
            </a:endParaRPr>
          </a:p>
        </p:txBody>
      </p:sp>
      <p:grpSp>
        <p:nvGrpSpPr>
          <p:cNvPr id="29" name="그룹 28">
            <a:extLst>
              <a:ext uri="{FF2B5EF4-FFF2-40B4-BE49-F238E27FC236}">
                <a16:creationId xmlns:a16="http://schemas.microsoft.com/office/drawing/2014/main" id="{3EF029D1-8974-2AFB-4190-5AB7BE671A9D}"/>
              </a:ext>
            </a:extLst>
          </p:cNvPr>
          <p:cNvGrpSpPr/>
          <p:nvPr/>
        </p:nvGrpSpPr>
        <p:grpSpPr>
          <a:xfrm>
            <a:off x="4989784" y="1999581"/>
            <a:ext cx="1332255" cy="230832"/>
            <a:chOff x="4989784" y="5674847"/>
            <a:chExt cx="1332255" cy="230832"/>
          </a:xfrm>
        </p:grpSpPr>
        <p:sp>
          <p:nvSpPr>
            <p:cNvPr id="30" name="TextBox 29">
              <a:extLst>
                <a:ext uri="{FF2B5EF4-FFF2-40B4-BE49-F238E27FC236}">
                  <a16:creationId xmlns:a16="http://schemas.microsoft.com/office/drawing/2014/main" id="{B1741DE8-4988-2A5B-D396-15D9314EDF97}"/>
                </a:ext>
              </a:extLst>
            </p:cNvPr>
            <p:cNvSpPr txBox="1"/>
            <p:nvPr/>
          </p:nvSpPr>
          <p:spPr>
            <a:xfrm>
              <a:off x="5044308" y="5674847"/>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31" name="직사각형 30">
              <a:extLst>
                <a:ext uri="{FF2B5EF4-FFF2-40B4-BE49-F238E27FC236}">
                  <a16:creationId xmlns:a16="http://schemas.microsoft.com/office/drawing/2014/main" id="{521FA51C-743C-2E95-B8B8-B7BF5BABAB4C}"/>
                </a:ext>
              </a:extLst>
            </p:cNvPr>
            <p:cNvSpPr/>
            <p:nvPr/>
          </p:nvSpPr>
          <p:spPr>
            <a:xfrm>
              <a:off x="4989784" y="5736263"/>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32" name="직사각형 31">
              <a:extLst>
                <a:ext uri="{FF2B5EF4-FFF2-40B4-BE49-F238E27FC236}">
                  <a16:creationId xmlns:a16="http://schemas.microsoft.com/office/drawing/2014/main" id="{AA271FD9-B1E1-A297-4469-3BABB8CA947B}"/>
                </a:ext>
              </a:extLst>
            </p:cNvPr>
            <p:cNvSpPr/>
            <p:nvPr/>
          </p:nvSpPr>
          <p:spPr>
            <a:xfrm>
              <a:off x="5713997" y="5736263"/>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33" name="TextBox 32">
              <a:extLst>
                <a:ext uri="{FF2B5EF4-FFF2-40B4-BE49-F238E27FC236}">
                  <a16:creationId xmlns:a16="http://schemas.microsoft.com/office/drawing/2014/main" id="{3620F059-6CBA-93F4-979B-3BB964E28E95}"/>
                </a:ext>
              </a:extLst>
            </p:cNvPr>
            <p:cNvSpPr txBox="1"/>
            <p:nvPr/>
          </p:nvSpPr>
          <p:spPr>
            <a:xfrm>
              <a:off x="5762270" y="5674847"/>
              <a:ext cx="559769" cy="230832"/>
            </a:xfrm>
            <a:prstGeom prst="rect">
              <a:avLst/>
            </a:prstGeom>
            <a:noFill/>
          </p:spPr>
          <p:txBody>
            <a:bodyPr wrap="none" rtlCol="0">
              <a:spAutoFit/>
            </a:bodyPr>
            <a:lstStyle/>
            <a:p>
              <a:r>
                <a:rPr lang="en-US" altLang="ko-KR" sz="900" dirty="0"/>
                <a:t>valid bit</a:t>
              </a:r>
              <a:endParaRPr lang="ko-KR" altLang="en-US" sz="900" dirty="0"/>
            </a:p>
          </p:txBody>
        </p:sp>
      </p:grpSp>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DD624044-0ED2-243C-6A89-C77130EB706F}"/>
              </a:ext>
            </a:extLst>
          </p:cNvPr>
          <p:cNvSpPr txBox="1"/>
          <p:nvPr/>
        </p:nvSpPr>
        <p:spPr>
          <a:xfrm>
            <a:off x="1728005" y="3459229"/>
            <a:ext cx="3636861"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6  Head Shift Lighting @ PWM_RES=0, SCAN_NO[2:0]=0</a:t>
            </a:r>
          </a:p>
        </p:txBody>
      </p:sp>
      <p:pic>
        <p:nvPicPr>
          <p:cNvPr id="5" name="그림 4">
            <a:extLst>
              <a:ext uri="{FF2B5EF4-FFF2-40B4-BE49-F238E27FC236}">
                <a16:creationId xmlns:a16="http://schemas.microsoft.com/office/drawing/2014/main" id="{D17AF23E-3ACF-410B-BC43-8918C694D563}"/>
              </a:ext>
            </a:extLst>
          </p:cNvPr>
          <p:cNvPicPr>
            <a:picLocks noChangeAspect="1"/>
          </p:cNvPicPr>
          <p:nvPr/>
        </p:nvPicPr>
        <p:blipFill>
          <a:blip r:embed="rId2"/>
          <a:stretch>
            <a:fillRect/>
          </a:stretch>
        </p:blipFill>
        <p:spPr>
          <a:xfrm>
            <a:off x="399457" y="2228438"/>
            <a:ext cx="6048000" cy="1130422"/>
          </a:xfrm>
          <a:prstGeom prst="rect">
            <a:avLst/>
          </a:prstGeom>
        </p:spPr>
      </p:pic>
      <p:pic>
        <p:nvPicPr>
          <p:cNvPr id="6" name="그림 5">
            <a:extLst>
              <a:ext uri="{FF2B5EF4-FFF2-40B4-BE49-F238E27FC236}">
                <a16:creationId xmlns:a16="http://schemas.microsoft.com/office/drawing/2014/main" id="{0B45051D-4C09-423F-FC2E-C1AED8B4AFB8}"/>
              </a:ext>
            </a:extLst>
          </p:cNvPr>
          <p:cNvPicPr>
            <a:picLocks noChangeAspect="1"/>
          </p:cNvPicPr>
          <p:nvPr/>
        </p:nvPicPr>
        <p:blipFill>
          <a:blip r:embed="rId3"/>
          <a:stretch>
            <a:fillRect/>
          </a:stretch>
        </p:blipFill>
        <p:spPr>
          <a:xfrm>
            <a:off x="399457" y="3826326"/>
            <a:ext cx="6048000" cy="1219766"/>
          </a:xfrm>
          <a:prstGeom prst="rect">
            <a:avLst/>
          </a:prstGeom>
        </p:spPr>
      </p:pic>
      <p:pic>
        <p:nvPicPr>
          <p:cNvPr id="9" name="그림 8">
            <a:extLst>
              <a:ext uri="{FF2B5EF4-FFF2-40B4-BE49-F238E27FC236}">
                <a16:creationId xmlns:a16="http://schemas.microsoft.com/office/drawing/2014/main" id="{767AF5CB-3E00-BE03-71F9-C738BCD5E273}"/>
              </a:ext>
            </a:extLst>
          </p:cNvPr>
          <p:cNvPicPr>
            <a:picLocks noChangeAspect="1"/>
          </p:cNvPicPr>
          <p:nvPr/>
        </p:nvPicPr>
        <p:blipFill>
          <a:blip r:embed="rId4"/>
          <a:stretch>
            <a:fillRect/>
          </a:stretch>
        </p:blipFill>
        <p:spPr>
          <a:xfrm>
            <a:off x="430044" y="5501311"/>
            <a:ext cx="6048000" cy="1117009"/>
          </a:xfrm>
          <a:prstGeom prst="rect">
            <a:avLst/>
          </a:prstGeom>
        </p:spPr>
      </p:pic>
      <p:pic>
        <p:nvPicPr>
          <p:cNvPr id="10" name="그림 9">
            <a:extLst>
              <a:ext uri="{FF2B5EF4-FFF2-40B4-BE49-F238E27FC236}">
                <a16:creationId xmlns:a16="http://schemas.microsoft.com/office/drawing/2014/main" id="{AAFECD3B-5EFA-AA0A-E0C9-D225A675FD20}"/>
              </a:ext>
            </a:extLst>
          </p:cNvPr>
          <p:cNvPicPr>
            <a:picLocks noChangeAspect="1"/>
          </p:cNvPicPr>
          <p:nvPr/>
        </p:nvPicPr>
        <p:blipFill>
          <a:blip r:embed="rId5"/>
          <a:stretch>
            <a:fillRect/>
          </a:stretch>
        </p:blipFill>
        <p:spPr>
          <a:xfrm>
            <a:off x="443491" y="7093950"/>
            <a:ext cx="6048000" cy="1206632"/>
          </a:xfrm>
          <a:prstGeom prst="rect">
            <a:avLst/>
          </a:prstGeom>
        </p:spPr>
      </p:pic>
      <p:sp>
        <p:nvSpPr>
          <p:cNvPr id="12" name="TextBox 11">
            <a:extLst>
              <a:ext uri="{FF2B5EF4-FFF2-40B4-BE49-F238E27FC236}">
                <a16:creationId xmlns:a16="http://schemas.microsoft.com/office/drawing/2014/main" id="{96E5B17C-2287-B7A2-1EA3-B23A696B6BEF}"/>
              </a:ext>
            </a:extLst>
          </p:cNvPr>
          <p:cNvSpPr txBox="1"/>
          <p:nvPr/>
        </p:nvSpPr>
        <p:spPr>
          <a:xfrm>
            <a:off x="1728005" y="5108879"/>
            <a:ext cx="3636861"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7  Head Shift Lighting @ PWM_RES=0, SCAN_NO[2:0]=3</a:t>
            </a:r>
          </a:p>
        </p:txBody>
      </p:sp>
      <p:sp>
        <p:nvSpPr>
          <p:cNvPr id="13" name="TextBox 12">
            <a:extLst>
              <a:ext uri="{FF2B5EF4-FFF2-40B4-BE49-F238E27FC236}">
                <a16:creationId xmlns:a16="http://schemas.microsoft.com/office/drawing/2014/main" id="{5C178813-85E5-9CBF-D5CF-004E8640FBE0}"/>
              </a:ext>
            </a:extLst>
          </p:cNvPr>
          <p:cNvSpPr txBox="1"/>
          <p:nvPr/>
        </p:nvSpPr>
        <p:spPr>
          <a:xfrm>
            <a:off x="1728005" y="6689735"/>
            <a:ext cx="3636861"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8  Tail Shift Lighting @ PWM_RES=0, SCAN_NO[2:0]=0</a:t>
            </a:r>
          </a:p>
        </p:txBody>
      </p:sp>
      <p:sp>
        <p:nvSpPr>
          <p:cNvPr id="14" name="TextBox 13">
            <a:extLst>
              <a:ext uri="{FF2B5EF4-FFF2-40B4-BE49-F238E27FC236}">
                <a16:creationId xmlns:a16="http://schemas.microsoft.com/office/drawing/2014/main" id="{67BC0D3A-3D30-547F-095B-8DB2A35EF8AF}"/>
              </a:ext>
            </a:extLst>
          </p:cNvPr>
          <p:cNvSpPr txBox="1"/>
          <p:nvPr/>
        </p:nvSpPr>
        <p:spPr>
          <a:xfrm>
            <a:off x="1728005" y="8359729"/>
            <a:ext cx="3636861"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9  Tail Shift Lighting @ PWM_RES=0, SCAN_NO[2:0]=3</a:t>
            </a:r>
          </a:p>
        </p:txBody>
      </p:sp>
      <p:sp>
        <p:nvSpPr>
          <p:cNvPr id="15" name="자유형: 도형 14">
            <a:extLst>
              <a:ext uri="{FF2B5EF4-FFF2-40B4-BE49-F238E27FC236}">
                <a16:creationId xmlns:a16="http://schemas.microsoft.com/office/drawing/2014/main" id="{12879F31-A42B-31D7-1E18-1649AAB58132}"/>
              </a:ext>
            </a:extLst>
          </p:cNvPr>
          <p:cNvSpPr/>
          <p:nvPr/>
        </p:nvSpPr>
        <p:spPr>
          <a:xfrm>
            <a:off x="1611963" y="2290090"/>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FBC3A62E-2AD6-54EC-76AE-3AD397A5E932}"/>
              </a:ext>
            </a:extLst>
          </p:cNvPr>
          <p:cNvSpPr/>
          <p:nvPr/>
        </p:nvSpPr>
        <p:spPr>
          <a:xfrm>
            <a:off x="1611963" y="3871324"/>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BBED99A1-27F9-47CF-2930-C31966904772}"/>
              </a:ext>
            </a:extLst>
          </p:cNvPr>
          <p:cNvSpPr/>
          <p:nvPr/>
        </p:nvSpPr>
        <p:spPr>
          <a:xfrm>
            <a:off x="1659803" y="555422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자유형: 도형 22">
            <a:extLst>
              <a:ext uri="{FF2B5EF4-FFF2-40B4-BE49-F238E27FC236}">
                <a16:creationId xmlns:a16="http://schemas.microsoft.com/office/drawing/2014/main" id="{5B3E9724-E100-9F4D-7602-35CB51DCE572}"/>
              </a:ext>
            </a:extLst>
          </p:cNvPr>
          <p:cNvSpPr/>
          <p:nvPr/>
        </p:nvSpPr>
        <p:spPr>
          <a:xfrm>
            <a:off x="1659803" y="713478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770FDC9A-D218-EAC4-FE67-CE72D4F9E3F8}"/>
              </a:ext>
            </a:extLst>
          </p:cNvPr>
          <p:cNvSpPr txBox="1"/>
          <p:nvPr/>
        </p:nvSpPr>
        <p:spPr>
          <a:xfrm>
            <a:off x="407554" y="1556966"/>
            <a:ext cx="6047999"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Local dimming sequences according to the PWM configuration are shown as follows below, and  has two dimming out directions, Head Shift Lighting and Tail Shift Lighting. The set of </a:t>
            </a:r>
            <a:r>
              <a:rPr lang="en-US" altLang="ko-KR" sz="1000" b="0" i="0" dirty="0">
                <a:solidFill>
                  <a:srgbClr val="000000"/>
                </a:solidFill>
                <a:effectLst/>
                <a:latin typeface="Arial" panose="020B0604020202020204" pitchFamily="34" charset="0"/>
                <a:cs typeface="Arial" panose="020B0604020202020204" pitchFamily="34" charset="0"/>
              </a:rPr>
              <a:t>PWM frequency (pwmclk) according to the Frame frequency can be shown in the Table 7.</a:t>
            </a:r>
            <a:r>
              <a:rPr lang="en-US" altLang="ko-KR"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0734070-C148-833E-CEFC-E548FD9687D5}"/>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Local dimming</a:t>
            </a:r>
          </a:p>
        </p:txBody>
      </p:sp>
    </p:spTree>
    <p:extLst>
      <p:ext uri="{BB962C8B-B14F-4D97-AF65-F5344CB8AC3E}">
        <p14:creationId xmlns:p14="http://schemas.microsoft.com/office/powerpoint/2010/main" val="151190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9F2B81C-E411-C77D-3D6F-1C42FB5F61E3}"/>
              </a:ext>
            </a:extLst>
          </p:cNvPr>
          <p:cNvSpPr txBox="1"/>
          <p:nvPr/>
        </p:nvSpPr>
        <p:spPr>
          <a:xfrm>
            <a:off x="2150751" y="4920864"/>
            <a:ext cx="2777440"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10.  External VSYNC In and Out Scheme</a:t>
            </a:r>
          </a:p>
        </p:txBody>
      </p:sp>
      <p:sp>
        <p:nvSpPr>
          <p:cNvPr id="2" name="TextBox 1">
            <a:extLst>
              <a:ext uri="{FF2B5EF4-FFF2-40B4-BE49-F238E27FC236}">
                <a16:creationId xmlns:a16="http://schemas.microsoft.com/office/drawing/2014/main" id="{3EB5725B-D9B2-254B-0679-92FEC480E6A8}"/>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F03C1F18-97EA-1755-0882-73232A883E41}"/>
              </a:ext>
            </a:extLst>
          </p:cNvPr>
          <p:cNvSpPr txBox="1"/>
          <p:nvPr/>
        </p:nvSpPr>
        <p:spPr>
          <a:xfrm>
            <a:off x="2304455" y="6805797"/>
            <a:ext cx="2449233"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11.  External FBI and FBO Scheme</a:t>
            </a:r>
          </a:p>
        </p:txBody>
      </p:sp>
      <p:grpSp>
        <p:nvGrpSpPr>
          <p:cNvPr id="105" name="그룹 104">
            <a:extLst>
              <a:ext uri="{FF2B5EF4-FFF2-40B4-BE49-F238E27FC236}">
                <a16:creationId xmlns:a16="http://schemas.microsoft.com/office/drawing/2014/main" id="{6B7C0134-75EF-6A07-0C11-9EFA5BF695CB}"/>
              </a:ext>
            </a:extLst>
          </p:cNvPr>
          <p:cNvGrpSpPr/>
          <p:nvPr/>
        </p:nvGrpSpPr>
        <p:grpSpPr>
          <a:xfrm>
            <a:off x="1710249" y="3656012"/>
            <a:ext cx="1260000" cy="1116000"/>
            <a:chOff x="1016681" y="4339884"/>
            <a:chExt cx="1427516" cy="1242000"/>
          </a:xfrm>
        </p:grpSpPr>
        <p:sp>
          <p:nvSpPr>
            <p:cNvPr id="104" name="직사각형 103">
              <a:extLst>
                <a:ext uri="{FF2B5EF4-FFF2-40B4-BE49-F238E27FC236}">
                  <a16:creationId xmlns:a16="http://schemas.microsoft.com/office/drawing/2014/main" id="{24BD01FE-EB84-2692-C655-C93CCEE71B1F}"/>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0" name="그림 89">
              <a:extLst>
                <a:ext uri="{FF2B5EF4-FFF2-40B4-BE49-F238E27FC236}">
                  <a16:creationId xmlns:a16="http://schemas.microsoft.com/office/drawing/2014/main" id="{FD42BDC1-DB99-5018-A955-8B23CCB1B5AD}"/>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85" name="직선 연결선 84">
              <a:extLst>
                <a:ext uri="{FF2B5EF4-FFF2-40B4-BE49-F238E27FC236}">
                  <a16:creationId xmlns:a16="http://schemas.microsoft.com/office/drawing/2014/main" id="{318F25E0-50E9-469D-BCCC-C02B4622B626}"/>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직사각형 14">
              <a:extLst>
                <a:ext uri="{FF2B5EF4-FFF2-40B4-BE49-F238E27FC236}">
                  <a16:creationId xmlns:a16="http://schemas.microsoft.com/office/drawing/2014/main" id="{9B20B68F-6A13-E388-39CD-F8771FE268A6}"/>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91" name="직선 연결선 90">
              <a:extLst>
                <a:ext uri="{FF2B5EF4-FFF2-40B4-BE49-F238E27FC236}">
                  <a16:creationId xmlns:a16="http://schemas.microsoft.com/office/drawing/2014/main" id="{4EC35294-2007-95E0-C36A-0BE4AE92CBF3}"/>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70F46267-2C02-3C4C-C8F2-C3163E1361F8}"/>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93" name="직선 연결선 92">
              <a:extLst>
                <a:ext uri="{FF2B5EF4-FFF2-40B4-BE49-F238E27FC236}">
                  <a16:creationId xmlns:a16="http://schemas.microsoft.com/office/drawing/2014/main" id="{E14199E4-DF57-5DF3-1041-DE31A091A56E}"/>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직선 연결선 94">
              <a:extLst>
                <a:ext uri="{FF2B5EF4-FFF2-40B4-BE49-F238E27FC236}">
                  <a16:creationId xmlns:a16="http://schemas.microsoft.com/office/drawing/2014/main" id="{362CFD5B-42A4-3D3C-417C-52E47BA8A51E}"/>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직사각형 96">
              <a:extLst>
                <a:ext uri="{FF2B5EF4-FFF2-40B4-BE49-F238E27FC236}">
                  <a16:creationId xmlns:a16="http://schemas.microsoft.com/office/drawing/2014/main" id="{45E2CBD2-4DCA-F386-526E-D80792EF31B9}"/>
                </a:ext>
              </a:extLst>
            </p:cNvPr>
            <p:cNvSpPr/>
            <p:nvPr/>
          </p:nvSpPr>
          <p:spPr>
            <a:xfrm>
              <a:off x="1597370" y="4755959"/>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48" name="TextBox 147">
            <a:extLst>
              <a:ext uri="{FF2B5EF4-FFF2-40B4-BE49-F238E27FC236}">
                <a16:creationId xmlns:a16="http://schemas.microsoft.com/office/drawing/2014/main" id="{DED1BA9E-B725-DEF1-C90B-2869F85D7646}"/>
              </a:ext>
            </a:extLst>
          </p:cNvPr>
          <p:cNvSpPr txBox="1"/>
          <p:nvPr/>
        </p:nvSpPr>
        <p:spPr>
          <a:xfrm>
            <a:off x="2133097" y="3656262"/>
            <a:ext cx="458780" cy="230832"/>
          </a:xfrm>
          <a:prstGeom prst="rect">
            <a:avLst/>
          </a:prstGeom>
          <a:noFill/>
        </p:spPr>
        <p:txBody>
          <a:bodyPr wrap="none" rtlCol="0">
            <a:spAutoFit/>
          </a:bodyPr>
          <a:lstStyle/>
          <a:p>
            <a:r>
              <a:rPr lang="en-US" altLang="ko-KR" sz="900" dirty="0"/>
              <a:t>XD #n</a:t>
            </a:r>
            <a:endParaRPr lang="ko-KR" altLang="en-US" sz="900" dirty="0"/>
          </a:p>
        </p:txBody>
      </p:sp>
      <p:cxnSp>
        <p:nvCxnSpPr>
          <p:cNvPr id="10" name="직선 연결선 9">
            <a:extLst>
              <a:ext uri="{FF2B5EF4-FFF2-40B4-BE49-F238E27FC236}">
                <a16:creationId xmlns:a16="http://schemas.microsoft.com/office/drawing/2014/main" id="{80CD4C89-9B2C-728B-D204-56B8BFA4C3CF}"/>
              </a:ext>
            </a:extLst>
          </p:cNvPr>
          <p:cNvCxnSpPr/>
          <p:nvPr/>
        </p:nvCxnSpPr>
        <p:spPr>
          <a:xfrm>
            <a:off x="5052215" y="422083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D3CF82D5-B8F3-AFB6-3BCE-A0EB51756AF0}"/>
              </a:ext>
            </a:extLst>
          </p:cNvPr>
          <p:cNvCxnSpPr/>
          <p:nvPr/>
        </p:nvCxnSpPr>
        <p:spPr>
          <a:xfrm>
            <a:off x="1456919" y="4211251"/>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68DE03FA-4065-FB93-420E-692781CDB4A4}"/>
              </a:ext>
            </a:extLst>
          </p:cNvPr>
          <p:cNvCxnSpPr/>
          <p:nvPr/>
        </p:nvCxnSpPr>
        <p:spPr>
          <a:xfrm>
            <a:off x="2969446" y="4211251"/>
            <a:ext cx="828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E48848F8-82EC-6D71-C3B4-A15A50872B79}"/>
              </a:ext>
            </a:extLst>
          </p:cNvPr>
          <p:cNvSpPr txBox="1"/>
          <p:nvPr/>
        </p:nvSpPr>
        <p:spPr>
          <a:xfrm>
            <a:off x="1002362" y="4094192"/>
            <a:ext cx="476412" cy="230832"/>
          </a:xfrm>
          <a:prstGeom prst="rect">
            <a:avLst/>
          </a:prstGeom>
          <a:noFill/>
        </p:spPr>
        <p:txBody>
          <a:bodyPr wrap="none" rtlCol="0">
            <a:spAutoFit/>
          </a:bodyPr>
          <a:lstStyle/>
          <a:p>
            <a:r>
              <a:rPr lang="en-US" altLang="ko-KR" sz="900" dirty="0"/>
              <a:t>#n VSI</a:t>
            </a:r>
            <a:endParaRPr lang="ko-KR" altLang="en-US" sz="900" dirty="0"/>
          </a:p>
        </p:txBody>
      </p:sp>
      <p:sp>
        <p:nvSpPr>
          <p:cNvPr id="42" name="TextBox 41">
            <a:extLst>
              <a:ext uri="{FF2B5EF4-FFF2-40B4-BE49-F238E27FC236}">
                <a16:creationId xmlns:a16="http://schemas.microsoft.com/office/drawing/2014/main" id="{5A8AAE4C-E6F2-188E-1E44-CC5C7DC25B6D}"/>
              </a:ext>
            </a:extLst>
          </p:cNvPr>
          <p:cNvSpPr txBox="1"/>
          <p:nvPr/>
        </p:nvSpPr>
        <p:spPr>
          <a:xfrm>
            <a:off x="5246169" y="4094192"/>
            <a:ext cx="710451" cy="230832"/>
          </a:xfrm>
          <a:prstGeom prst="rect">
            <a:avLst/>
          </a:prstGeom>
          <a:noFill/>
        </p:spPr>
        <p:txBody>
          <a:bodyPr wrap="none" rtlCol="0">
            <a:spAutoFit/>
          </a:bodyPr>
          <a:lstStyle/>
          <a:p>
            <a:r>
              <a:rPr lang="en-US" altLang="ko-KR" sz="900" dirty="0"/>
              <a:t>#(n+1) VSO</a:t>
            </a:r>
            <a:endParaRPr lang="ko-KR" altLang="en-US" sz="900" dirty="0"/>
          </a:p>
        </p:txBody>
      </p:sp>
      <p:cxnSp>
        <p:nvCxnSpPr>
          <p:cNvPr id="17" name="직선 연결선 16">
            <a:extLst>
              <a:ext uri="{FF2B5EF4-FFF2-40B4-BE49-F238E27FC236}">
                <a16:creationId xmlns:a16="http://schemas.microsoft.com/office/drawing/2014/main" id="{683C090C-882A-6FBE-B9F1-45E257677205}"/>
              </a:ext>
            </a:extLst>
          </p:cNvPr>
          <p:cNvCxnSpPr/>
          <p:nvPr/>
        </p:nvCxnSpPr>
        <p:spPr>
          <a:xfrm>
            <a:off x="5064731" y="6092621"/>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A16E8596-3662-1D3D-2554-817F8DC846E2}"/>
              </a:ext>
            </a:extLst>
          </p:cNvPr>
          <p:cNvCxnSpPr/>
          <p:nvPr/>
        </p:nvCxnSpPr>
        <p:spPr>
          <a:xfrm>
            <a:off x="1454581" y="6079459"/>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21D6BA9C-317B-A98C-4080-A690CD551148}"/>
              </a:ext>
            </a:extLst>
          </p:cNvPr>
          <p:cNvCxnSpPr/>
          <p:nvPr/>
        </p:nvCxnSpPr>
        <p:spPr>
          <a:xfrm>
            <a:off x="2969446" y="6079459"/>
            <a:ext cx="86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174" name="그룹 173">
            <a:extLst>
              <a:ext uri="{FF2B5EF4-FFF2-40B4-BE49-F238E27FC236}">
                <a16:creationId xmlns:a16="http://schemas.microsoft.com/office/drawing/2014/main" id="{E5314328-BCD0-ECCD-2974-8BDFD234178D}"/>
              </a:ext>
            </a:extLst>
          </p:cNvPr>
          <p:cNvGrpSpPr/>
          <p:nvPr/>
        </p:nvGrpSpPr>
        <p:grpSpPr>
          <a:xfrm>
            <a:off x="1707309" y="5520720"/>
            <a:ext cx="1260000" cy="1116000"/>
            <a:chOff x="1710249" y="5520720"/>
            <a:chExt cx="1425650" cy="1242000"/>
          </a:xfrm>
        </p:grpSpPr>
        <p:sp>
          <p:nvSpPr>
            <p:cNvPr id="98" name="직사각형 97">
              <a:extLst>
                <a:ext uri="{FF2B5EF4-FFF2-40B4-BE49-F238E27FC236}">
                  <a16:creationId xmlns:a16="http://schemas.microsoft.com/office/drawing/2014/main" id="{D6F64604-7F94-92C9-E9EF-494E2AE7F39E}"/>
                </a:ext>
              </a:extLst>
            </p:cNvPr>
            <p:cNvSpPr/>
            <p:nvPr/>
          </p:nvSpPr>
          <p:spPr>
            <a:xfrm>
              <a:off x="1805772" y="552072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75" name="그림 74">
              <a:extLst>
                <a:ext uri="{FF2B5EF4-FFF2-40B4-BE49-F238E27FC236}">
                  <a16:creationId xmlns:a16="http://schemas.microsoft.com/office/drawing/2014/main" id="{EE43CFCF-8488-3E3F-6203-A36CB0F5FD32}"/>
                </a:ext>
              </a:extLst>
            </p:cNvPr>
            <p:cNvPicPr>
              <a:picLocks noChangeAspect="1"/>
            </p:cNvPicPr>
            <p:nvPr/>
          </p:nvPicPr>
          <p:blipFill>
            <a:blip r:embed="rId3"/>
            <a:stretch>
              <a:fillRect/>
            </a:stretch>
          </p:blipFill>
          <p:spPr>
            <a:xfrm flipH="1">
              <a:off x="2182938" y="6279640"/>
              <a:ext cx="216000" cy="115821"/>
            </a:xfrm>
            <a:prstGeom prst="rect">
              <a:avLst/>
            </a:prstGeom>
          </p:spPr>
        </p:pic>
        <p:sp>
          <p:nvSpPr>
            <p:cNvPr id="20" name="직사각형 19">
              <a:extLst>
                <a:ext uri="{FF2B5EF4-FFF2-40B4-BE49-F238E27FC236}">
                  <a16:creationId xmlns:a16="http://schemas.microsoft.com/office/drawing/2014/main" id="{0E06E022-38E5-16B8-2AFB-DDCE3BC63ADB}"/>
                </a:ext>
              </a:extLst>
            </p:cNvPr>
            <p:cNvSpPr/>
            <p:nvPr/>
          </p:nvSpPr>
          <p:spPr>
            <a:xfrm>
              <a:off x="2280598" y="608602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52" name="그룹 51">
              <a:extLst>
                <a:ext uri="{FF2B5EF4-FFF2-40B4-BE49-F238E27FC236}">
                  <a16:creationId xmlns:a16="http://schemas.microsoft.com/office/drawing/2014/main" id="{38F2F5BC-3B90-7FE0-3D0E-0082D8877A75}"/>
                </a:ext>
              </a:extLst>
            </p:cNvPr>
            <p:cNvGrpSpPr/>
            <p:nvPr/>
          </p:nvGrpSpPr>
          <p:grpSpPr>
            <a:xfrm>
              <a:off x="2727037" y="5877564"/>
              <a:ext cx="108000" cy="252000"/>
              <a:chOff x="4029465" y="4076226"/>
              <a:chExt cx="108000" cy="252000"/>
            </a:xfrm>
          </p:grpSpPr>
          <p:pic>
            <p:nvPicPr>
              <p:cNvPr id="49" name="그림 48">
                <a:extLst>
                  <a:ext uri="{FF2B5EF4-FFF2-40B4-BE49-F238E27FC236}">
                    <a16:creationId xmlns:a16="http://schemas.microsoft.com/office/drawing/2014/main" id="{F1A4600E-D3F9-2B0B-BA3F-987C6AB04E9C}"/>
                  </a:ext>
                </a:extLst>
              </p:cNvPr>
              <p:cNvPicPr>
                <a:picLocks noChangeAspect="1"/>
              </p:cNvPicPr>
              <p:nvPr/>
            </p:nvPicPr>
            <p:blipFill>
              <a:blip r:embed="rId4"/>
              <a:stretch>
                <a:fillRect/>
              </a:stretch>
            </p:blipFill>
            <p:spPr>
              <a:xfrm>
                <a:off x="4048886" y="4076226"/>
                <a:ext cx="65825" cy="252000"/>
              </a:xfrm>
              <a:prstGeom prst="rect">
                <a:avLst/>
              </a:prstGeom>
            </p:spPr>
          </p:pic>
          <p:cxnSp>
            <p:nvCxnSpPr>
              <p:cNvPr id="51" name="직선 연결선 50">
                <a:extLst>
                  <a:ext uri="{FF2B5EF4-FFF2-40B4-BE49-F238E27FC236}">
                    <a16:creationId xmlns:a16="http://schemas.microsoft.com/office/drawing/2014/main" id="{2E29811A-FA9A-89E0-37F5-B6F495CE2223}"/>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그룹 62">
              <a:extLst>
                <a:ext uri="{FF2B5EF4-FFF2-40B4-BE49-F238E27FC236}">
                  <a16:creationId xmlns:a16="http://schemas.microsoft.com/office/drawing/2014/main" id="{E8869AF3-949E-2FDD-CAC6-6F0832FF0142}"/>
                </a:ext>
              </a:extLst>
            </p:cNvPr>
            <p:cNvGrpSpPr/>
            <p:nvPr/>
          </p:nvGrpSpPr>
          <p:grpSpPr>
            <a:xfrm>
              <a:off x="1978383" y="6217989"/>
              <a:ext cx="234000" cy="399680"/>
              <a:chOff x="2505005" y="3797258"/>
              <a:chExt cx="234000" cy="399680"/>
            </a:xfrm>
          </p:grpSpPr>
          <p:pic>
            <p:nvPicPr>
              <p:cNvPr id="56" name="그림 55">
                <a:extLst>
                  <a:ext uri="{FF2B5EF4-FFF2-40B4-BE49-F238E27FC236}">
                    <a16:creationId xmlns:a16="http://schemas.microsoft.com/office/drawing/2014/main" id="{861CAD46-8C07-A3D7-E317-83D0AF1FD18C}"/>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60" name="그림 59">
                <a:extLst>
                  <a:ext uri="{FF2B5EF4-FFF2-40B4-BE49-F238E27FC236}">
                    <a16:creationId xmlns:a16="http://schemas.microsoft.com/office/drawing/2014/main" id="{C75471D8-39F1-ABB4-0576-A5348412944E}"/>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61" name="직선 연결선 60">
                <a:extLst>
                  <a:ext uri="{FF2B5EF4-FFF2-40B4-BE49-F238E27FC236}">
                    <a16:creationId xmlns:a16="http://schemas.microsoft.com/office/drawing/2014/main" id="{2A92F9F8-A697-A3E4-AC06-B781182E3A3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4" name="직선 연결선 63">
              <a:extLst>
                <a:ext uri="{FF2B5EF4-FFF2-40B4-BE49-F238E27FC236}">
                  <a16:creationId xmlns:a16="http://schemas.microsoft.com/office/drawing/2014/main" id="{9C9BC404-5DB4-338C-418F-B1B8650DD987}"/>
                </a:ext>
              </a:extLst>
            </p:cNvPr>
            <p:cNvCxnSpPr>
              <a:cxnSpLocks/>
            </p:cNvCxnSpPr>
            <p:nvPr/>
          </p:nvCxnSpPr>
          <p:spPr>
            <a:xfrm flipV="1">
              <a:off x="2050077" y="613720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1D04687C-FD5C-2C76-B16A-D0C2CDA5A899}"/>
                </a:ext>
              </a:extLst>
            </p:cNvPr>
            <p:cNvCxnSpPr>
              <a:cxnSpLocks/>
            </p:cNvCxnSpPr>
            <p:nvPr/>
          </p:nvCxnSpPr>
          <p:spPr>
            <a:xfrm>
              <a:off x="1772175" y="613925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3216CB7D-2539-045F-02C5-26A3F9BEF24D}"/>
                </a:ext>
              </a:extLst>
            </p:cNvPr>
            <p:cNvSpPr/>
            <p:nvPr/>
          </p:nvSpPr>
          <p:spPr>
            <a:xfrm>
              <a:off x="1710249" y="608491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71" name="직선 연결선 70">
              <a:extLst>
                <a:ext uri="{FF2B5EF4-FFF2-40B4-BE49-F238E27FC236}">
                  <a16:creationId xmlns:a16="http://schemas.microsoft.com/office/drawing/2014/main" id="{3D3461EF-6FF9-A957-EE59-790124AB67A2}"/>
                </a:ext>
              </a:extLst>
            </p:cNvPr>
            <p:cNvCxnSpPr>
              <a:cxnSpLocks/>
            </p:cNvCxnSpPr>
            <p:nvPr/>
          </p:nvCxnSpPr>
          <p:spPr>
            <a:xfrm>
              <a:off x="2144800" y="633845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직사각형 71">
              <a:extLst>
                <a:ext uri="{FF2B5EF4-FFF2-40B4-BE49-F238E27FC236}">
                  <a16:creationId xmlns:a16="http://schemas.microsoft.com/office/drawing/2014/main" id="{A96CF508-328C-95C0-75AF-7060EC6E0B01}"/>
                </a:ext>
              </a:extLst>
            </p:cNvPr>
            <p:cNvSpPr/>
            <p:nvPr/>
          </p:nvSpPr>
          <p:spPr>
            <a:xfrm>
              <a:off x="2144800" y="638676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6" name="직선 연결선 75">
              <a:extLst>
                <a:ext uri="{FF2B5EF4-FFF2-40B4-BE49-F238E27FC236}">
                  <a16:creationId xmlns:a16="http://schemas.microsoft.com/office/drawing/2014/main" id="{79B869D2-B5B6-C2F0-2A46-2F3BE661591E}"/>
                </a:ext>
              </a:extLst>
            </p:cNvPr>
            <p:cNvCxnSpPr>
              <a:cxnSpLocks/>
            </p:cNvCxnSpPr>
            <p:nvPr/>
          </p:nvCxnSpPr>
          <p:spPr>
            <a:xfrm>
              <a:off x="2353255" y="631158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직선 연결선 76">
              <a:extLst>
                <a:ext uri="{FF2B5EF4-FFF2-40B4-BE49-F238E27FC236}">
                  <a16:creationId xmlns:a16="http://schemas.microsoft.com/office/drawing/2014/main" id="{4F6CDA65-E584-6842-4C08-727AB972B2A1}"/>
                </a:ext>
              </a:extLst>
            </p:cNvPr>
            <p:cNvCxnSpPr>
              <a:cxnSpLocks/>
            </p:cNvCxnSpPr>
            <p:nvPr/>
          </p:nvCxnSpPr>
          <p:spPr>
            <a:xfrm flipV="1">
              <a:off x="2457294" y="618284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타원 78">
              <a:extLst>
                <a:ext uri="{FF2B5EF4-FFF2-40B4-BE49-F238E27FC236}">
                  <a16:creationId xmlns:a16="http://schemas.microsoft.com/office/drawing/2014/main" id="{B46683F5-41F0-D5EA-44A7-9E8EFD936D6B}"/>
                </a:ext>
              </a:extLst>
            </p:cNvPr>
            <p:cNvSpPr/>
            <p:nvPr/>
          </p:nvSpPr>
          <p:spPr>
            <a:xfrm>
              <a:off x="2351712" y="629718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0" name="직선 연결선 79">
              <a:extLst>
                <a:ext uri="{FF2B5EF4-FFF2-40B4-BE49-F238E27FC236}">
                  <a16:creationId xmlns:a16="http://schemas.microsoft.com/office/drawing/2014/main" id="{8E1DAADE-2B3E-135A-EDF2-261F61E87D7E}"/>
                </a:ext>
              </a:extLst>
            </p:cNvPr>
            <p:cNvCxnSpPr>
              <a:cxnSpLocks/>
            </p:cNvCxnSpPr>
            <p:nvPr/>
          </p:nvCxnSpPr>
          <p:spPr>
            <a:xfrm flipH="1" flipV="1">
              <a:off x="2783339" y="608583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a:extLst>
                <a:ext uri="{FF2B5EF4-FFF2-40B4-BE49-F238E27FC236}">
                  <a16:creationId xmlns:a16="http://schemas.microsoft.com/office/drawing/2014/main" id="{EBD0F59A-803F-646A-8161-0C23E867FDB8}"/>
                </a:ext>
              </a:extLst>
            </p:cNvPr>
            <p:cNvCxnSpPr>
              <a:cxnSpLocks/>
            </p:cNvCxnSpPr>
            <p:nvPr/>
          </p:nvCxnSpPr>
          <p:spPr>
            <a:xfrm>
              <a:off x="2781852" y="614520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5CA44D3C-0387-1F01-38B8-41A66301F3BA}"/>
                </a:ext>
              </a:extLst>
            </p:cNvPr>
            <p:cNvSpPr/>
            <p:nvPr/>
          </p:nvSpPr>
          <p:spPr>
            <a:xfrm>
              <a:off x="2955899" y="609037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46" name="TextBox 145">
              <a:extLst>
                <a:ext uri="{FF2B5EF4-FFF2-40B4-BE49-F238E27FC236}">
                  <a16:creationId xmlns:a16="http://schemas.microsoft.com/office/drawing/2014/main" id="{E1499ED9-711B-96A9-982D-E1CD236CC39A}"/>
                </a:ext>
              </a:extLst>
            </p:cNvPr>
            <p:cNvSpPr txBox="1"/>
            <p:nvPr/>
          </p:nvSpPr>
          <p:spPr>
            <a:xfrm>
              <a:off x="2150379" y="5521637"/>
              <a:ext cx="458780" cy="230832"/>
            </a:xfrm>
            <a:prstGeom prst="rect">
              <a:avLst/>
            </a:prstGeom>
            <a:noFill/>
          </p:spPr>
          <p:txBody>
            <a:bodyPr wrap="none" rtlCol="0">
              <a:spAutoFit/>
            </a:bodyPr>
            <a:lstStyle/>
            <a:p>
              <a:r>
                <a:rPr lang="en-US" altLang="ko-KR" sz="900" dirty="0"/>
                <a:t>XD #n</a:t>
              </a:r>
              <a:endParaRPr lang="ko-KR" altLang="en-US" sz="900" dirty="0"/>
            </a:p>
          </p:txBody>
        </p:sp>
        <p:sp>
          <p:nvSpPr>
            <p:cNvPr id="25" name="직사각형 24">
              <a:extLst>
                <a:ext uri="{FF2B5EF4-FFF2-40B4-BE49-F238E27FC236}">
                  <a16:creationId xmlns:a16="http://schemas.microsoft.com/office/drawing/2014/main" id="{BC8FC5B2-878D-FF34-4A1A-CD26B23AA901}"/>
                </a:ext>
              </a:extLst>
            </p:cNvPr>
            <p:cNvSpPr/>
            <p:nvPr/>
          </p:nvSpPr>
          <p:spPr>
            <a:xfrm>
              <a:off x="2354178" y="633107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3" name="직선 연결선 72">
              <a:extLst>
                <a:ext uri="{FF2B5EF4-FFF2-40B4-BE49-F238E27FC236}">
                  <a16:creationId xmlns:a16="http://schemas.microsoft.com/office/drawing/2014/main" id="{CC6B615C-F841-40DD-309E-D53F7D023E6F}"/>
                </a:ext>
              </a:extLst>
            </p:cNvPr>
            <p:cNvCxnSpPr>
              <a:cxnSpLocks/>
            </p:cNvCxnSpPr>
            <p:nvPr/>
          </p:nvCxnSpPr>
          <p:spPr>
            <a:xfrm>
              <a:off x="2354571" y="634361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FEE0D397-02B1-D44A-791E-3487EE4163F2}"/>
                </a:ext>
              </a:extLst>
            </p:cNvPr>
            <p:cNvCxnSpPr>
              <a:cxnSpLocks/>
            </p:cNvCxnSpPr>
            <p:nvPr/>
          </p:nvCxnSpPr>
          <p:spPr>
            <a:xfrm>
              <a:off x="2350443" y="637482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3F3F9B8D-55A1-351D-C227-DD2B1AE18D77}"/>
                </a:ext>
              </a:extLst>
            </p:cNvPr>
            <p:cNvCxnSpPr>
              <a:cxnSpLocks/>
            </p:cNvCxnSpPr>
            <p:nvPr/>
          </p:nvCxnSpPr>
          <p:spPr>
            <a:xfrm flipV="1">
              <a:off x="2777552" y="637816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직사각형 26">
              <a:extLst>
                <a:ext uri="{FF2B5EF4-FFF2-40B4-BE49-F238E27FC236}">
                  <a16:creationId xmlns:a16="http://schemas.microsoft.com/office/drawing/2014/main" id="{B5C0495D-5443-E124-0C7F-D689A34A9BF5}"/>
                </a:ext>
              </a:extLst>
            </p:cNvPr>
            <p:cNvSpPr/>
            <p:nvPr/>
          </p:nvSpPr>
          <p:spPr>
            <a:xfrm>
              <a:off x="2581395" y="648459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grpSp>
        <p:nvGrpSpPr>
          <p:cNvPr id="173" name="그룹 172">
            <a:extLst>
              <a:ext uri="{FF2B5EF4-FFF2-40B4-BE49-F238E27FC236}">
                <a16:creationId xmlns:a16="http://schemas.microsoft.com/office/drawing/2014/main" id="{1329F42C-EFA9-C9A2-224A-D8DDEB0BE702}"/>
              </a:ext>
            </a:extLst>
          </p:cNvPr>
          <p:cNvGrpSpPr/>
          <p:nvPr/>
        </p:nvGrpSpPr>
        <p:grpSpPr>
          <a:xfrm>
            <a:off x="3803983" y="5536434"/>
            <a:ext cx="1260000" cy="1116000"/>
            <a:chOff x="3851023" y="5521734"/>
            <a:chExt cx="1425650" cy="1243428"/>
          </a:xfrm>
        </p:grpSpPr>
        <p:sp>
          <p:nvSpPr>
            <p:cNvPr id="108" name="직사각형 107">
              <a:extLst>
                <a:ext uri="{FF2B5EF4-FFF2-40B4-BE49-F238E27FC236}">
                  <a16:creationId xmlns:a16="http://schemas.microsoft.com/office/drawing/2014/main" id="{475780EC-D250-1D65-E22D-59EA312C0A95}"/>
                </a:ext>
              </a:extLst>
            </p:cNvPr>
            <p:cNvSpPr/>
            <p:nvPr/>
          </p:nvSpPr>
          <p:spPr>
            <a:xfrm>
              <a:off x="3946546" y="552316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10" name="그림 109">
              <a:extLst>
                <a:ext uri="{FF2B5EF4-FFF2-40B4-BE49-F238E27FC236}">
                  <a16:creationId xmlns:a16="http://schemas.microsoft.com/office/drawing/2014/main" id="{FC201D7C-5381-95EE-3314-D090E0921A05}"/>
                </a:ext>
              </a:extLst>
            </p:cNvPr>
            <p:cNvPicPr>
              <a:picLocks noChangeAspect="1"/>
            </p:cNvPicPr>
            <p:nvPr/>
          </p:nvPicPr>
          <p:blipFill>
            <a:blip r:embed="rId3"/>
            <a:stretch>
              <a:fillRect/>
            </a:stretch>
          </p:blipFill>
          <p:spPr>
            <a:xfrm flipH="1">
              <a:off x="4323712" y="6282082"/>
              <a:ext cx="216000" cy="115821"/>
            </a:xfrm>
            <a:prstGeom prst="rect">
              <a:avLst/>
            </a:prstGeom>
          </p:spPr>
        </p:pic>
        <p:sp>
          <p:nvSpPr>
            <p:cNvPr id="111" name="직사각형 110">
              <a:extLst>
                <a:ext uri="{FF2B5EF4-FFF2-40B4-BE49-F238E27FC236}">
                  <a16:creationId xmlns:a16="http://schemas.microsoft.com/office/drawing/2014/main" id="{C431DCA6-AA5C-285E-C939-8967680F454F}"/>
                </a:ext>
              </a:extLst>
            </p:cNvPr>
            <p:cNvSpPr/>
            <p:nvPr/>
          </p:nvSpPr>
          <p:spPr>
            <a:xfrm>
              <a:off x="4421372" y="608846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12" name="그룹 111">
              <a:extLst>
                <a:ext uri="{FF2B5EF4-FFF2-40B4-BE49-F238E27FC236}">
                  <a16:creationId xmlns:a16="http://schemas.microsoft.com/office/drawing/2014/main" id="{BF927B6E-4C80-00F8-9C9E-EFADD810BA9C}"/>
                </a:ext>
              </a:extLst>
            </p:cNvPr>
            <p:cNvGrpSpPr/>
            <p:nvPr/>
          </p:nvGrpSpPr>
          <p:grpSpPr>
            <a:xfrm>
              <a:off x="4867811" y="5880006"/>
              <a:ext cx="108000" cy="252000"/>
              <a:chOff x="4029465" y="4076226"/>
              <a:chExt cx="108000" cy="252000"/>
            </a:xfrm>
          </p:grpSpPr>
          <p:pic>
            <p:nvPicPr>
              <p:cNvPr id="129" name="그림 128">
                <a:extLst>
                  <a:ext uri="{FF2B5EF4-FFF2-40B4-BE49-F238E27FC236}">
                    <a16:creationId xmlns:a16="http://schemas.microsoft.com/office/drawing/2014/main" id="{59C304B6-EEB1-B4EA-DDFD-EE66AACDB8E8}"/>
                  </a:ext>
                </a:extLst>
              </p:cNvPr>
              <p:cNvPicPr>
                <a:picLocks noChangeAspect="1"/>
              </p:cNvPicPr>
              <p:nvPr/>
            </p:nvPicPr>
            <p:blipFill>
              <a:blip r:embed="rId4"/>
              <a:stretch>
                <a:fillRect/>
              </a:stretch>
            </p:blipFill>
            <p:spPr>
              <a:xfrm>
                <a:off x="4045946" y="4076226"/>
                <a:ext cx="65825" cy="252000"/>
              </a:xfrm>
              <a:prstGeom prst="rect">
                <a:avLst/>
              </a:prstGeom>
            </p:spPr>
          </p:pic>
          <p:cxnSp>
            <p:nvCxnSpPr>
              <p:cNvPr id="130" name="직선 연결선 129">
                <a:extLst>
                  <a:ext uri="{FF2B5EF4-FFF2-40B4-BE49-F238E27FC236}">
                    <a16:creationId xmlns:a16="http://schemas.microsoft.com/office/drawing/2014/main" id="{6F4709E7-8B21-BFCB-977D-9E6EEA7C233A}"/>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3" name="그룹 112">
              <a:extLst>
                <a:ext uri="{FF2B5EF4-FFF2-40B4-BE49-F238E27FC236}">
                  <a16:creationId xmlns:a16="http://schemas.microsoft.com/office/drawing/2014/main" id="{C7636A11-C790-B7EE-7BBD-7AE6882D8E77}"/>
                </a:ext>
              </a:extLst>
            </p:cNvPr>
            <p:cNvGrpSpPr/>
            <p:nvPr/>
          </p:nvGrpSpPr>
          <p:grpSpPr>
            <a:xfrm>
              <a:off x="4119157" y="6220431"/>
              <a:ext cx="234000" cy="399680"/>
              <a:chOff x="2505005" y="3797258"/>
              <a:chExt cx="234000" cy="399680"/>
            </a:xfrm>
          </p:grpSpPr>
          <p:pic>
            <p:nvPicPr>
              <p:cNvPr id="126" name="그림 125">
                <a:extLst>
                  <a:ext uri="{FF2B5EF4-FFF2-40B4-BE49-F238E27FC236}">
                    <a16:creationId xmlns:a16="http://schemas.microsoft.com/office/drawing/2014/main" id="{5D07EA64-D3B7-1C7F-5B7F-F3462AB7C19A}"/>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27" name="그림 126">
                <a:extLst>
                  <a:ext uri="{FF2B5EF4-FFF2-40B4-BE49-F238E27FC236}">
                    <a16:creationId xmlns:a16="http://schemas.microsoft.com/office/drawing/2014/main" id="{36B84F5C-4315-8790-3E8A-0494E1497F66}"/>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28" name="직선 연결선 127">
                <a:extLst>
                  <a:ext uri="{FF2B5EF4-FFF2-40B4-BE49-F238E27FC236}">
                    <a16:creationId xmlns:a16="http://schemas.microsoft.com/office/drawing/2014/main" id="{998DDF72-8CAF-0038-3790-07A8D3338F9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4" name="직선 연결선 113">
              <a:extLst>
                <a:ext uri="{FF2B5EF4-FFF2-40B4-BE49-F238E27FC236}">
                  <a16:creationId xmlns:a16="http://schemas.microsoft.com/office/drawing/2014/main" id="{824B8915-EB75-9F42-8F3C-43420C88A50B}"/>
                </a:ext>
              </a:extLst>
            </p:cNvPr>
            <p:cNvCxnSpPr>
              <a:cxnSpLocks/>
            </p:cNvCxnSpPr>
            <p:nvPr/>
          </p:nvCxnSpPr>
          <p:spPr>
            <a:xfrm flipV="1">
              <a:off x="4190851" y="613964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직선 연결선 114">
              <a:extLst>
                <a:ext uri="{FF2B5EF4-FFF2-40B4-BE49-F238E27FC236}">
                  <a16:creationId xmlns:a16="http://schemas.microsoft.com/office/drawing/2014/main" id="{8E0AA50A-42A0-F338-41DC-CFE89BBA9E38}"/>
                </a:ext>
              </a:extLst>
            </p:cNvPr>
            <p:cNvCxnSpPr>
              <a:cxnSpLocks/>
            </p:cNvCxnSpPr>
            <p:nvPr/>
          </p:nvCxnSpPr>
          <p:spPr>
            <a:xfrm>
              <a:off x="3912949" y="614169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직사각형 115">
              <a:extLst>
                <a:ext uri="{FF2B5EF4-FFF2-40B4-BE49-F238E27FC236}">
                  <a16:creationId xmlns:a16="http://schemas.microsoft.com/office/drawing/2014/main" id="{98FECBB5-81A3-C877-89F4-95D217AAF38C}"/>
                </a:ext>
              </a:extLst>
            </p:cNvPr>
            <p:cNvSpPr/>
            <p:nvPr/>
          </p:nvSpPr>
          <p:spPr>
            <a:xfrm>
              <a:off x="3851023" y="608735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17" name="직선 연결선 116">
              <a:extLst>
                <a:ext uri="{FF2B5EF4-FFF2-40B4-BE49-F238E27FC236}">
                  <a16:creationId xmlns:a16="http://schemas.microsoft.com/office/drawing/2014/main" id="{EF61AD18-B84E-4269-D366-AE8B3064EC15}"/>
                </a:ext>
              </a:extLst>
            </p:cNvPr>
            <p:cNvCxnSpPr>
              <a:cxnSpLocks/>
            </p:cNvCxnSpPr>
            <p:nvPr/>
          </p:nvCxnSpPr>
          <p:spPr>
            <a:xfrm>
              <a:off x="4285574" y="634089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직사각형 117">
              <a:extLst>
                <a:ext uri="{FF2B5EF4-FFF2-40B4-BE49-F238E27FC236}">
                  <a16:creationId xmlns:a16="http://schemas.microsoft.com/office/drawing/2014/main" id="{37666E98-A1B8-DCE3-3A3F-9D115DDEA22C}"/>
                </a:ext>
              </a:extLst>
            </p:cNvPr>
            <p:cNvSpPr/>
            <p:nvPr/>
          </p:nvSpPr>
          <p:spPr>
            <a:xfrm>
              <a:off x="4285574" y="638920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0" name="직선 연결선 119">
              <a:extLst>
                <a:ext uri="{FF2B5EF4-FFF2-40B4-BE49-F238E27FC236}">
                  <a16:creationId xmlns:a16="http://schemas.microsoft.com/office/drawing/2014/main" id="{8C8C376D-7F1C-B241-4AA1-E041BE1098BE}"/>
                </a:ext>
              </a:extLst>
            </p:cNvPr>
            <p:cNvCxnSpPr>
              <a:cxnSpLocks/>
            </p:cNvCxnSpPr>
            <p:nvPr/>
          </p:nvCxnSpPr>
          <p:spPr>
            <a:xfrm>
              <a:off x="4494029" y="631402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a:extLst>
                <a:ext uri="{FF2B5EF4-FFF2-40B4-BE49-F238E27FC236}">
                  <a16:creationId xmlns:a16="http://schemas.microsoft.com/office/drawing/2014/main" id="{F8450C28-D52B-BB97-838E-F5C667398969}"/>
                </a:ext>
              </a:extLst>
            </p:cNvPr>
            <p:cNvCxnSpPr>
              <a:cxnSpLocks/>
            </p:cNvCxnSpPr>
            <p:nvPr/>
          </p:nvCxnSpPr>
          <p:spPr>
            <a:xfrm flipV="1">
              <a:off x="4598068" y="618529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타원 121">
              <a:extLst>
                <a:ext uri="{FF2B5EF4-FFF2-40B4-BE49-F238E27FC236}">
                  <a16:creationId xmlns:a16="http://schemas.microsoft.com/office/drawing/2014/main" id="{F1551375-8B65-B9CD-B101-627D6017DE2E}"/>
                </a:ext>
              </a:extLst>
            </p:cNvPr>
            <p:cNvSpPr/>
            <p:nvPr/>
          </p:nvSpPr>
          <p:spPr>
            <a:xfrm>
              <a:off x="4492486" y="629962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23" name="직선 연결선 122">
              <a:extLst>
                <a:ext uri="{FF2B5EF4-FFF2-40B4-BE49-F238E27FC236}">
                  <a16:creationId xmlns:a16="http://schemas.microsoft.com/office/drawing/2014/main" id="{428C953F-DD07-5E70-3CD5-5DA36F7E7CDE}"/>
                </a:ext>
              </a:extLst>
            </p:cNvPr>
            <p:cNvCxnSpPr>
              <a:cxnSpLocks/>
            </p:cNvCxnSpPr>
            <p:nvPr/>
          </p:nvCxnSpPr>
          <p:spPr>
            <a:xfrm flipH="1" flipV="1">
              <a:off x="4924113" y="609240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a:extLst>
                <a:ext uri="{FF2B5EF4-FFF2-40B4-BE49-F238E27FC236}">
                  <a16:creationId xmlns:a16="http://schemas.microsoft.com/office/drawing/2014/main" id="{F92F9E1A-0B74-68DA-CF5B-7F293353D737}"/>
                </a:ext>
              </a:extLst>
            </p:cNvPr>
            <p:cNvCxnSpPr>
              <a:cxnSpLocks/>
            </p:cNvCxnSpPr>
            <p:nvPr/>
          </p:nvCxnSpPr>
          <p:spPr>
            <a:xfrm>
              <a:off x="4922626" y="614764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직사각형 124">
              <a:extLst>
                <a:ext uri="{FF2B5EF4-FFF2-40B4-BE49-F238E27FC236}">
                  <a16:creationId xmlns:a16="http://schemas.microsoft.com/office/drawing/2014/main" id="{706FAA1A-E6D4-6436-52F2-87F34516F1B0}"/>
                </a:ext>
              </a:extLst>
            </p:cNvPr>
            <p:cNvSpPr/>
            <p:nvPr/>
          </p:nvSpPr>
          <p:spPr>
            <a:xfrm>
              <a:off x="5096673" y="60928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47" name="TextBox 146">
              <a:extLst>
                <a:ext uri="{FF2B5EF4-FFF2-40B4-BE49-F238E27FC236}">
                  <a16:creationId xmlns:a16="http://schemas.microsoft.com/office/drawing/2014/main" id="{71C3F13E-DEA3-C1A0-C23E-7311AF2EC9E4}"/>
                </a:ext>
              </a:extLst>
            </p:cNvPr>
            <p:cNvSpPr txBox="1"/>
            <p:nvPr/>
          </p:nvSpPr>
          <p:spPr>
            <a:xfrm>
              <a:off x="4260402" y="5521734"/>
              <a:ext cx="670376" cy="230832"/>
            </a:xfrm>
            <a:prstGeom prst="rect">
              <a:avLst/>
            </a:prstGeom>
            <a:noFill/>
          </p:spPr>
          <p:txBody>
            <a:bodyPr wrap="none" rtlCol="0">
              <a:spAutoFit/>
            </a:bodyPr>
            <a:lstStyle/>
            <a:p>
              <a:r>
                <a:rPr lang="en-US" altLang="ko-KR" sz="900" dirty="0"/>
                <a:t>XD #(n+1)</a:t>
              </a:r>
              <a:endParaRPr lang="ko-KR" altLang="en-US" sz="900" dirty="0"/>
            </a:p>
          </p:txBody>
        </p:sp>
        <p:sp>
          <p:nvSpPr>
            <p:cNvPr id="35" name="직사각형 34">
              <a:extLst>
                <a:ext uri="{FF2B5EF4-FFF2-40B4-BE49-F238E27FC236}">
                  <a16:creationId xmlns:a16="http://schemas.microsoft.com/office/drawing/2014/main" id="{F0222C0C-AE68-F969-79CD-A97603DCE174}"/>
                </a:ext>
              </a:extLst>
            </p:cNvPr>
            <p:cNvSpPr/>
            <p:nvPr/>
          </p:nvSpPr>
          <p:spPr>
            <a:xfrm>
              <a:off x="4496237" y="633210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6" name="직선 연결선 35">
              <a:extLst>
                <a:ext uri="{FF2B5EF4-FFF2-40B4-BE49-F238E27FC236}">
                  <a16:creationId xmlns:a16="http://schemas.microsoft.com/office/drawing/2014/main" id="{1F5CDDF2-5DFB-B6DB-1516-8A9499819E8E}"/>
                </a:ext>
              </a:extLst>
            </p:cNvPr>
            <p:cNvCxnSpPr>
              <a:cxnSpLocks/>
            </p:cNvCxnSpPr>
            <p:nvPr/>
          </p:nvCxnSpPr>
          <p:spPr>
            <a:xfrm>
              <a:off x="4496630" y="634463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42BF846-FD4C-A522-8BD7-A63BFADF585C}"/>
                </a:ext>
              </a:extLst>
            </p:cNvPr>
            <p:cNvCxnSpPr>
              <a:cxnSpLocks/>
            </p:cNvCxnSpPr>
            <p:nvPr/>
          </p:nvCxnSpPr>
          <p:spPr>
            <a:xfrm>
              <a:off x="4492502" y="637584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B7636E77-7707-F5D7-C491-B9F349FC2AB4}"/>
                </a:ext>
              </a:extLst>
            </p:cNvPr>
            <p:cNvCxnSpPr>
              <a:cxnSpLocks/>
            </p:cNvCxnSpPr>
            <p:nvPr/>
          </p:nvCxnSpPr>
          <p:spPr>
            <a:xfrm flipV="1">
              <a:off x="4919611" y="637918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C7B20246-F822-679F-FA45-7EA4946DA889}"/>
                </a:ext>
              </a:extLst>
            </p:cNvPr>
            <p:cNvSpPr/>
            <p:nvPr/>
          </p:nvSpPr>
          <p:spPr>
            <a:xfrm>
              <a:off x="4723454" y="648562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43" name="TextBox 42">
            <a:extLst>
              <a:ext uri="{FF2B5EF4-FFF2-40B4-BE49-F238E27FC236}">
                <a16:creationId xmlns:a16="http://schemas.microsoft.com/office/drawing/2014/main" id="{9F15203F-A4BA-F2E0-D88B-10564F1B0C8C}"/>
              </a:ext>
            </a:extLst>
          </p:cNvPr>
          <p:cNvSpPr txBox="1"/>
          <p:nvPr/>
        </p:nvSpPr>
        <p:spPr>
          <a:xfrm>
            <a:off x="986068" y="5965243"/>
            <a:ext cx="521297" cy="230832"/>
          </a:xfrm>
          <a:prstGeom prst="rect">
            <a:avLst/>
          </a:prstGeom>
          <a:noFill/>
        </p:spPr>
        <p:txBody>
          <a:bodyPr wrap="none" rtlCol="0">
            <a:spAutoFit/>
          </a:bodyPr>
          <a:lstStyle/>
          <a:p>
            <a:r>
              <a:rPr lang="en-US" altLang="ko-KR" sz="900" dirty="0"/>
              <a:t>#n FBO</a:t>
            </a:r>
            <a:endParaRPr lang="ko-KR" altLang="en-US" sz="900" dirty="0"/>
          </a:p>
        </p:txBody>
      </p:sp>
      <p:sp>
        <p:nvSpPr>
          <p:cNvPr id="50" name="TextBox 49">
            <a:extLst>
              <a:ext uri="{FF2B5EF4-FFF2-40B4-BE49-F238E27FC236}">
                <a16:creationId xmlns:a16="http://schemas.microsoft.com/office/drawing/2014/main" id="{985D93EF-905C-3376-AB97-3EDFE6B4C63C}"/>
              </a:ext>
            </a:extLst>
          </p:cNvPr>
          <p:cNvSpPr txBox="1"/>
          <p:nvPr/>
        </p:nvSpPr>
        <p:spPr>
          <a:xfrm>
            <a:off x="5264675" y="5964383"/>
            <a:ext cx="659155" cy="230832"/>
          </a:xfrm>
          <a:prstGeom prst="rect">
            <a:avLst/>
          </a:prstGeom>
          <a:noFill/>
        </p:spPr>
        <p:txBody>
          <a:bodyPr wrap="none" rtlCol="0">
            <a:spAutoFit/>
          </a:bodyPr>
          <a:lstStyle/>
          <a:p>
            <a:r>
              <a:rPr lang="en-US" altLang="ko-KR" sz="900" dirty="0"/>
              <a:t>#(n+1) FBI</a:t>
            </a:r>
            <a:endParaRPr lang="ko-KR" altLang="en-US" sz="900" dirty="0"/>
          </a:p>
        </p:txBody>
      </p:sp>
      <p:sp>
        <p:nvSpPr>
          <p:cNvPr id="11" name="TextBox 10">
            <a:extLst>
              <a:ext uri="{FF2B5EF4-FFF2-40B4-BE49-F238E27FC236}">
                <a16:creationId xmlns:a16="http://schemas.microsoft.com/office/drawing/2014/main" id="{08C599C7-D666-6DDE-33AA-75E80E619A28}"/>
              </a:ext>
            </a:extLst>
          </p:cNvPr>
          <p:cNvSpPr txBox="1"/>
          <p:nvPr/>
        </p:nvSpPr>
        <p:spPr>
          <a:xfrm>
            <a:off x="407554" y="1556966"/>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3 external signal IO modes which can be configured through the IO_MODE bits in the LD CONTROL register. This function of each mode and the connection scheme is shown as follows.</a:t>
            </a:r>
          </a:p>
        </p:txBody>
      </p:sp>
      <p:sp>
        <p:nvSpPr>
          <p:cNvPr id="23" name="TextBox 22">
            <a:extLst>
              <a:ext uri="{FF2B5EF4-FFF2-40B4-BE49-F238E27FC236}">
                <a16:creationId xmlns:a16="http://schemas.microsoft.com/office/drawing/2014/main" id="{096E7D0C-FE5C-695F-4EA9-45B59C7AB0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external VSYNC and FB</a:t>
            </a:r>
          </a:p>
        </p:txBody>
      </p:sp>
      <p:sp>
        <p:nvSpPr>
          <p:cNvPr id="4" name="TextBox 3">
            <a:extLst>
              <a:ext uri="{FF2B5EF4-FFF2-40B4-BE49-F238E27FC236}">
                <a16:creationId xmlns:a16="http://schemas.microsoft.com/office/drawing/2014/main" id="{DEB6CB90-56D7-C8FA-E770-0283CC630E2F}"/>
              </a:ext>
            </a:extLst>
          </p:cNvPr>
          <p:cNvSpPr txBox="1"/>
          <p:nvPr/>
        </p:nvSpPr>
        <p:spPr>
          <a:xfrm>
            <a:off x="2904664" y="4010564"/>
            <a:ext cx="524503" cy="230832"/>
          </a:xfrm>
          <a:prstGeom prst="rect">
            <a:avLst/>
          </a:prstGeom>
          <a:noFill/>
        </p:spPr>
        <p:txBody>
          <a:bodyPr wrap="none" rtlCol="0">
            <a:spAutoFit/>
          </a:bodyPr>
          <a:lstStyle/>
          <a:p>
            <a:r>
              <a:rPr lang="en-US" altLang="ko-KR" sz="900" dirty="0"/>
              <a:t>#n VSO</a:t>
            </a:r>
            <a:endParaRPr lang="ko-KR" altLang="en-US" sz="900" dirty="0"/>
          </a:p>
        </p:txBody>
      </p:sp>
      <p:graphicFrame>
        <p:nvGraphicFramePr>
          <p:cNvPr id="5" name="표 4">
            <a:extLst>
              <a:ext uri="{FF2B5EF4-FFF2-40B4-BE49-F238E27FC236}">
                <a16:creationId xmlns:a16="http://schemas.microsoft.com/office/drawing/2014/main" id="{A65EC091-4560-B766-C668-15706F9E224E}"/>
              </a:ext>
            </a:extLst>
          </p:cNvPr>
          <p:cNvGraphicFramePr>
            <a:graphicFrameLocks noGrp="1"/>
          </p:cNvGraphicFramePr>
          <p:nvPr>
            <p:extLst>
              <p:ext uri="{D42A27DB-BD31-4B8C-83A1-F6EECF244321}">
                <p14:modId xmlns:p14="http://schemas.microsoft.com/office/powerpoint/2010/main" val="2525202062"/>
              </p:ext>
            </p:extLst>
          </p:nvPr>
        </p:nvGraphicFramePr>
        <p:xfrm>
          <a:off x="407553" y="1955313"/>
          <a:ext cx="6048000" cy="1377120"/>
        </p:xfrm>
        <a:graphic>
          <a:graphicData uri="http://schemas.openxmlformats.org/drawingml/2006/table">
            <a:tbl>
              <a:tblPr firstRow="1" bandRow="1">
                <a:tableStyleId>{5C22544A-7EE6-4342-B048-85BDC9FD1C3A}</a:tableStyleId>
              </a:tblPr>
              <a:tblGrid>
                <a:gridCol w="578453">
                  <a:extLst>
                    <a:ext uri="{9D8B030D-6E8A-4147-A177-3AD203B41FA5}">
                      <a16:colId xmlns:a16="http://schemas.microsoft.com/office/drawing/2014/main" val="2861869108"/>
                    </a:ext>
                  </a:extLst>
                </a:gridCol>
                <a:gridCol w="1071671">
                  <a:extLst>
                    <a:ext uri="{9D8B030D-6E8A-4147-A177-3AD203B41FA5}">
                      <a16:colId xmlns:a16="http://schemas.microsoft.com/office/drawing/2014/main" val="3471461862"/>
                    </a:ext>
                  </a:extLst>
                </a:gridCol>
                <a:gridCol w="487597">
                  <a:extLst>
                    <a:ext uri="{9D8B030D-6E8A-4147-A177-3AD203B41FA5}">
                      <a16:colId xmlns:a16="http://schemas.microsoft.com/office/drawing/2014/main" val="4138367841"/>
                    </a:ext>
                  </a:extLst>
                </a:gridCol>
                <a:gridCol w="487597">
                  <a:extLst>
                    <a:ext uri="{9D8B030D-6E8A-4147-A177-3AD203B41FA5}">
                      <a16:colId xmlns:a16="http://schemas.microsoft.com/office/drawing/2014/main" val="3589866634"/>
                    </a:ext>
                  </a:extLst>
                </a:gridCol>
                <a:gridCol w="487597">
                  <a:extLst>
                    <a:ext uri="{9D8B030D-6E8A-4147-A177-3AD203B41FA5}">
                      <a16:colId xmlns:a16="http://schemas.microsoft.com/office/drawing/2014/main" val="203027085"/>
                    </a:ext>
                  </a:extLst>
                </a:gridCol>
                <a:gridCol w="487597">
                  <a:extLst>
                    <a:ext uri="{9D8B030D-6E8A-4147-A177-3AD203B41FA5}">
                      <a16:colId xmlns:a16="http://schemas.microsoft.com/office/drawing/2014/main" val="1213780966"/>
                    </a:ext>
                  </a:extLst>
                </a:gridCol>
                <a:gridCol w="2447488">
                  <a:extLst>
                    <a:ext uri="{9D8B030D-6E8A-4147-A177-3AD203B41FA5}">
                      <a16:colId xmlns:a16="http://schemas.microsoft.com/office/drawing/2014/main" val="4000803811"/>
                    </a:ext>
                  </a:extLst>
                </a:gridCol>
              </a:tblGrid>
              <a:tr h="193193">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IO_MODE</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287019">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pins, 5 and 14, can be connected to GND.</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The FB and VSYNC signal can be replaced by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 the communication method.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non-daisy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and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grpSp>
        <p:nvGrpSpPr>
          <p:cNvPr id="176" name="그룹 175">
            <a:extLst>
              <a:ext uri="{FF2B5EF4-FFF2-40B4-BE49-F238E27FC236}">
                <a16:creationId xmlns:a16="http://schemas.microsoft.com/office/drawing/2014/main" id="{CD8CA671-253F-DFEE-FA0A-7EEB5DF0E928}"/>
              </a:ext>
            </a:extLst>
          </p:cNvPr>
          <p:cNvGrpSpPr/>
          <p:nvPr/>
        </p:nvGrpSpPr>
        <p:grpSpPr>
          <a:xfrm>
            <a:off x="3803795" y="3669248"/>
            <a:ext cx="1260000" cy="1116000"/>
            <a:chOff x="3803795" y="3654548"/>
            <a:chExt cx="1260000" cy="1116000"/>
          </a:xfrm>
        </p:grpSpPr>
        <p:grpSp>
          <p:nvGrpSpPr>
            <p:cNvPr id="131" name="그룹 130">
              <a:extLst>
                <a:ext uri="{FF2B5EF4-FFF2-40B4-BE49-F238E27FC236}">
                  <a16:creationId xmlns:a16="http://schemas.microsoft.com/office/drawing/2014/main" id="{07D34400-D341-090C-C8D5-2EA3BBC6A5F8}"/>
                </a:ext>
              </a:extLst>
            </p:cNvPr>
            <p:cNvGrpSpPr/>
            <p:nvPr/>
          </p:nvGrpSpPr>
          <p:grpSpPr>
            <a:xfrm>
              <a:off x="3803795" y="3654548"/>
              <a:ext cx="1260000" cy="1116000"/>
              <a:chOff x="1016681" y="4339884"/>
              <a:chExt cx="1427516" cy="1242000"/>
            </a:xfrm>
          </p:grpSpPr>
          <p:sp>
            <p:nvSpPr>
              <p:cNvPr id="132" name="직사각형 131">
                <a:extLst>
                  <a:ext uri="{FF2B5EF4-FFF2-40B4-BE49-F238E27FC236}">
                    <a16:creationId xmlns:a16="http://schemas.microsoft.com/office/drawing/2014/main" id="{F039BA20-8264-29D5-D374-B6BF79CC8FBD}"/>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33" name="그림 132">
                <a:extLst>
                  <a:ext uri="{FF2B5EF4-FFF2-40B4-BE49-F238E27FC236}">
                    <a16:creationId xmlns:a16="http://schemas.microsoft.com/office/drawing/2014/main" id="{E53308E9-B991-70E2-97F3-6CAF803ECCA6}"/>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35" name="직선 연결선 134">
                <a:extLst>
                  <a:ext uri="{FF2B5EF4-FFF2-40B4-BE49-F238E27FC236}">
                    <a16:creationId xmlns:a16="http://schemas.microsoft.com/office/drawing/2014/main" id="{4E90BC8F-E2B1-4C22-24C1-D356AF79388B}"/>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6" name="직사각형 135">
                <a:extLst>
                  <a:ext uri="{FF2B5EF4-FFF2-40B4-BE49-F238E27FC236}">
                    <a16:creationId xmlns:a16="http://schemas.microsoft.com/office/drawing/2014/main" id="{04C90F35-3ECC-6F19-4D08-5AA057F1F3DC}"/>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37" name="직선 연결선 136">
                <a:extLst>
                  <a:ext uri="{FF2B5EF4-FFF2-40B4-BE49-F238E27FC236}">
                    <a16:creationId xmlns:a16="http://schemas.microsoft.com/office/drawing/2014/main" id="{83465FCB-8FEC-A01D-E4D9-7EC380BEB6A7}"/>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703FBE9E-5E92-2061-5F2A-BA024C81D64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39" name="직선 연결선 138">
                <a:extLst>
                  <a:ext uri="{FF2B5EF4-FFF2-40B4-BE49-F238E27FC236}">
                    <a16:creationId xmlns:a16="http://schemas.microsoft.com/office/drawing/2014/main" id="{56B960A5-4BDF-52D6-A7C9-BB7F697D6BEC}"/>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a:extLst>
                  <a:ext uri="{FF2B5EF4-FFF2-40B4-BE49-F238E27FC236}">
                    <a16:creationId xmlns:a16="http://schemas.microsoft.com/office/drawing/2014/main" id="{D4B07702-10C8-E52E-2631-655377081F6C}"/>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9" name="TextBox 148">
              <a:extLst>
                <a:ext uri="{FF2B5EF4-FFF2-40B4-BE49-F238E27FC236}">
                  <a16:creationId xmlns:a16="http://schemas.microsoft.com/office/drawing/2014/main" id="{3F6B0F1D-FED5-0482-2333-AEFF6FCE2C58}"/>
                </a:ext>
              </a:extLst>
            </p:cNvPr>
            <p:cNvSpPr txBox="1"/>
            <p:nvPr/>
          </p:nvSpPr>
          <p:spPr>
            <a:xfrm>
              <a:off x="4087587" y="3664558"/>
              <a:ext cx="644728" cy="230832"/>
            </a:xfrm>
            <a:prstGeom prst="rect">
              <a:avLst/>
            </a:prstGeom>
            <a:noFill/>
          </p:spPr>
          <p:txBody>
            <a:bodyPr wrap="none" rtlCol="0">
              <a:spAutoFit/>
            </a:bodyPr>
            <a:lstStyle/>
            <a:p>
              <a:r>
                <a:rPr lang="en-US" altLang="ko-KR" sz="900" dirty="0"/>
                <a:t>XD #(n+1)</a:t>
              </a:r>
              <a:endParaRPr lang="ko-KR" altLang="en-US" sz="900" dirty="0"/>
            </a:p>
          </p:txBody>
        </p:sp>
        <p:sp>
          <p:nvSpPr>
            <p:cNvPr id="6" name="직사각형 5">
              <a:extLst>
                <a:ext uri="{FF2B5EF4-FFF2-40B4-BE49-F238E27FC236}">
                  <a16:creationId xmlns:a16="http://schemas.microsoft.com/office/drawing/2014/main" id="{7FA68A16-C39C-E51B-1339-FCB6D7E2D6FD}"/>
                </a:ext>
              </a:extLst>
            </p:cNvPr>
            <p:cNvSpPr/>
            <p:nvPr/>
          </p:nvSpPr>
          <p:spPr>
            <a:xfrm>
              <a:off x="4278404" y="402031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8" name="TextBox 7">
            <a:extLst>
              <a:ext uri="{FF2B5EF4-FFF2-40B4-BE49-F238E27FC236}">
                <a16:creationId xmlns:a16="http://schemas.microsoft.com/office/drawing/2014/main" id="{65CFF9B5-BC72-3F69-CFE8-FD27103407CC}"/>
              </a:ext>
            </a:extLst>
          </p:cNvPr>
          <p:cNvSpPr txBox="1"/>
          <p:nvPr/>
        </p:nvSpPr>
        <p:spPr>
          <a:xfrm>
            <a:off x="2958347" y="5886001"/>
            <a:ext cx="473206" cy="230832"/>
          </a:xfrm>
          <a:prstGeom prst="rect">
            <a:avLst/>
          </a:prstGeom>
          <a:noFill/>
        </p:spPr>
        <p:txBody>
          <a:bodyPr wrap="none" rtlCol="0">
            <a:spAutoFit/>
          </a:bodyPr>
          <a:lstStyle/>
          <a:p>
            <a:r>
              <a:rPr lang="en-US" altLang="ko-KR" sz="900" dirty="0"/>
              <a:t>#n FBI</a:t>
            </a:r>
            <a:endParaRPr lang="ko-KR" altLang="en-US" sz="900" dirty="0"/>
          </a:p>
        </p:txBody>
      </p:sp>
      <p:sp>
        <p:nvSpPr>
          <p:cNvPr id="9" name="TextBox 8">
            <a:extLst>
              <a:ext uri="{FF2B5EF4-FFF2-40B4-BE49-F238E27FC236}">
                <a16:creationId xmlns:a16="http://schemas.microsoft.com/office/drawing/2014/main" id="{A3667EF6-E80D-FF1F-BB42-0E57FED04FDA}"/>
              </a:ext>
            </a:extLst>
          </p:cNvPr>
          <p:cNvSpPr txBox="1"/>
          <p:nvPr/>
        </p:nvSpPr>
        <p:spPr>
          <a:xfrm>
            <a:off x="2454649" y="8652830"/>
            <a:ext cx="2465534"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12.  External FBO and VSI Scheme</a:t>
            </a:r>
          </a:p>
        </p:txBody>
      </p:sp>
      <p:cxnSp>
        <p:nvCxnSpPr>
          <p:cNvPr id="154" name="직선 연결선 153">
            <a:extLst>
              <a:ext uri="{FF2B5EF4-FFF2-40B4-BE49-F238E27FC236}">
                <a16:creationId xmlns:a16="http://schemas.microsoft.com/office/drawing/2014/main" id="{FE45BE1A-658F-9D91-9750-0E8E850FC0CD}"/>
              </a:ext>
            </a:extLst>
          </p:cNvPr>
          <p:cNvCxnSpPr/>
          <p:nvPr/>
        </p:nvCxnSpPr>
        <p:spPr>
          <a:xfrm>
            <a:off x="2733086" y="7924725"/>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02D735AA-6191-CA3E-A7E7-5FA51D21C364}"/>
              </a:ext>
            </a:extLst>
          </p:cNvPr>
          <p:cNvSpPr txBox="1"/>
          <p:nvPr/>
        </p:nvSpPr>
        <p:spPr>
          <a:xfrm>
            <a:off x="2384416" y="7804491"/>
            <a:ext cx="377026" cy="230832"/>
          </a:xfrm>
          <a:prstGeom prst="rect">
            <a:avLst/>
          </a:prstGeom>
          <a:noFill/>
        </p:spPr>
        <p:txBody>
          <a:bodyPr wrap="none" rtlCol="0">
            <a:spAutoFit/>
          </a:bodyPr>
          <a:lstStyle/>
          <a:p>
            <a:r>
              <a:rPr lang="en-US" altLang="ko-KR" sz="900" dirty="0"/>
              <a:t>FBO</a:t>
            </a:r>
            <a:endParaRPr lang="ko-KR" altLang="en-US" sz="900" dirty="0"/>
          </a:p>
        </p:txBody>
      </p:sp>
      <p:cxnSp>
        <p:nvCxnSpPr>
          <p:cNvPr id="169" name="직선 연결선 168">
            <a:extLst>
              <a:ext uri="{FF2B5EF4-FFF2-40B4-BE49-F238E27FC236}">
                <a16:creationId xmlns:a16="http://schemas.microsoft.com/office/drawing/2014/main" id="{8D240104-0FC3-2358-2F02-CDFD863E6E45}"/>
              </a:ext>
            </a:extLst>
          </p:cNvPr>
          <p:cNvCxnSpPr>
            <a:cxnSpLocks/>
          </p:cNvCxnSpPr>
          <p:nvPr/>
        </p:nvCxnSpPr>
        <p:spPr>
          <a:xfrm flipH="1">
            <a:off x="4256130" y="7921905"/>
            <a:ext cx="252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70" name="TextBox 169">
            <a:extLst>
              <a:ext uri="{FF2B5EF4-FFF2-40B4-BE49-F238E27FC236}">
                <a16:creationId xmlns:a16="http://schemas.microsoft.com/office/drawing/2014/main" id="{2CDCB947-AFD9-1ED4-A859-0726A55EAF0C}"/>
              </a:ext>
            </a:extLst>
          </p:cNvPr>
          <p:cNvSpPr txBox="1"/>
          <p:nvPr/>
        </p:nvSpPr>
        <p:spPr>
          <a:xfrm>
            <a:off x="4463829" y="7807431"/>
            <a:ext cx="332142" cy="230832"/>
          </a:xfrm>
          <a:prstGeom prst="rect">
            <a:avLst/>
          </a:prstGeom>
          <a:noFill/>
        </p:spPr>
        <p:txBody>
          <a:bodyPr wrap="none" rtlCol="0">
            <a:spAutoFit/>
          </a:bodyPr>
          <a:lstStyle/>
          <a:p>
            <a:r>
              <a:rPr lang="en-US" altLang="ko-KR" sz="900" dirty="0"/>
              <a:t>VSI</a:t>
            </a:r>
            <a:endParaRPr lang="ko-KR" altLang="en-US" sz="900" dirty="0"/>
          </a:p>
        </p:txBody>
      </p:sp>
      <p:grpSp>
        <p:nvGrpSpPr>
          <p:cNvPr id="175" name="그룹 174">
            <a:extLst>
              <a:ext uri="{FF2B5EF4-FFF2-40B4-BE49-F238E27FC236}">
                <a16:creationId xmlns:a16="http://schemas.microsoft.com/office/drawing/2014/main" id="{317073E5-6ADB-10DD-60F1-BF59827E7544}"/>
              </a:ext>
            </a:extLst>
          </p:cNvPr>
          <p:cNvGrpSpPr/>
          <p:nvPr/>
        </p:nvGrpSpPr>
        <p:grpSpPr>
          <a:xfrm>
            <a:off x="2988890" y="7363609"/>
            <a:ext cx="1260000" cy="1116000"/>
            <a:chOff x="2988890" y="7363609"/>
            <a:chExt cx="1425650" cy="1242622"/>
          </a:xfrm>
        </p:grpSpPr>
        <p:sp>
          <p:nvSpPr>
            <p:cNvPr id="28" name="직사각형 27">
              <a:extLst>
                <a:ext uri="{FF2B5EF4-FFF2-40B4-BE49-F238E27FC236}">
                  <a16:creationId xmlns:a16="http://schemas.microsoft.com/office/drawing/2014/main" id="{65AAC109-8AEC-FB49-C50F-9C5FC3C4DF20}"/>
                </a:ext>
              </a:extLst>
            </p:cNvPr>
            <p:cNvSpPr/>
            <p:nvPr/>
          </p:nvSpPr>
          <p:spPr>
            <a:xfrm>
              <a:off x="3084413" y="7364231"/>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9" name="그림 28">
              <a:extLst>
                <a:ext uri="{FF2B5EF4-FFF2-40B4-BE49-F238E27FC236}">
                  <a16:creationId xmlns:a16="http://schemas.microsoft.com/office/drawing/2014/main" id="{91D52BBF-7B80-B7D8-903A-C0DBAD61C37F}"/>
                </a:ext>
              </a:extLst>
            </p:cNvPr>
            <p:cNvPicPr>
              <a:picLocks noChangeAspect="1"/>
            </p:cNvPicPr>
            <p:nvPr/>
          </p:nvPicPr>
          <p:blipFill>
            <a:blip r:embed="rId3"/>
            <a:stretch>
              <a:fillRect/>
            </a:stretch>
          </p:blipFill>
          <p:spPr>
            <a:xfrm flipH="1">
              <a:off x="3461579" y="8123151"/>
              <a:ext cx="216000" cy="115821"/>
            </a:xfrm>
            <a:prstGeom prst="rect">
              <a:avLst/>
            </a:prstGeom>
          </p:spPr>
        </p:pic>
        <p:sp>
          <p:nvSpPr>
            <p:cNvPr id="31" name="직사각형 30">
              <a:extLst>
                <a:ext uri="{FF2B5EF4-FFF2-40B4-BE49-F238E27FC236}">
                  <a16:creationId xmlns:a16="http://schemas.microsoft.com/office/drawing/2014/main" id="{DA171BAC-63BA-E23F-033E-F08172B12502}"/>
                </a:ext>
              </a:extLst>
            </p:cNvPr>
            <p:cNvSpPr/>
            <p:nvPr/>
          </p:nvSpPr>
          <p:spPr>
            <a:xfrm>
              <a:off x="3559239" y="7929532"/>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45" name="그룹 44">
              <a:extLst>
                <a:ext uri="{FF2B5EF4-FFF2-40B4-BE49-F238E27FC236}">
                  <a16:creationId xmlns:a16="http://schemas.microsoft.com/office/drawing/2014/main" id="{4E2977FD-0498-4BC3-82E5-313DCF7CBC6D}"/>
                </a:ext>
              </a:extLst>
            </p:cNvPr>
            <p:cNvGrpSpPr/>
            <p:nvPr/>
          </p:nvGrpSpPr>
          <p:grpSpPr>
            <a:xfrm>
              <a:off x="3257024" y="8061500"/>
              <a:ext cx="234000" cy="399680"/>
              <a:chOff x="2505005" y="3797258"/>
              <a:chExt cx="234000" cy="399680"/>
            </a:xfrm>
          </p:grpSpPr>
          <p:pic>
            <p:nvPicPr>
              <p:cNvPr id="46" name="그림 45">
                <a:extLst>
                  <a:ext uri="{FF2B5EF4-FFF2-40B4-BE49-F238E27FC236}">
                    <a16:creationId xmlns:a16="http://schemas.microsoft.com/office/drawing/2014/main" id="{C7CD7081-2079-4A71-E312-8552A790EF01}"/>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47" name="그림 46">
                <a:extLst>
                  <a:ext uri="{FF2B5EF4-FFF2-40B4-BE49-F238E27FC236}">
                    <a16:creationId xmlns:a16="http://schemas.microsoft.com/office/drawing/2014/main" id="{97D696A2-680C-F211-ACC8-6DD2388C6B5C}"/>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55" name="직선 연결선 54">
                <a:extLst>
                  <a:ext uri="{FF2B5EF4-FFF2-40B4-BE49-F238E27FC236}">
                    <a16:creationId xmlns:a16="http://schemas.microsoft.com/office/drawing/2014/main" id="{905C21AB-205C-5C94-2C32-247111858C4D}"/>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직선 연결선 56">
              <a:extLst>
                <a:ext uri="{FF2B5EF4-FFF2-40B4-BE49-F238E27FC236}">
                  <a16:creationId xmlns:a16="http://schemas.microsoft.com/office/drawing/2014/main" id="{B032E8A7-38CA-A23D-2E07-70FFF2DC48A4}"/>
                </a:ext>
              </a:extLst>
            </p:cNvPr>
            <p:cNvCxnSpPr>
              <a:cxnSpLocks/>
            </p:cNvCxnSpPr>
            <p:nvPr/>
          </p:nvCxnSpPr>
          <p:spPr>
            <a:xfrm flipV="1">
              <a:off x="3328718" y="7980712"/>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직선 연결선 57">
              <a:extLst>
                <a:ext uri="{FF2B5EF4-FFF2-40B4-BE49-F238E27FC236}">
                  <a16:creationId xmlns:a16="http://schemas.microsoft.com/office/drawing/2014/main" id="{8053D4F7-ED0D-04C5-FCD8-68C49BC2F047}"/>
                </a:ext>
              </a:extLst>
            </p:cNvPr>
            <p:cNvCxnSpPr>
              <a:cxnSpLocks/>
            </p:cNvCxnSpPr>
            <p:nvPr/>
          </p:nvCxnSpPr>
          <p:spPr>
            <a:xfrm>
              <a:off x="3050816" y="7982761"/>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직사각형 58">
              <a:extLst>
                <a:ext uri="{FF2B5EF4-FFF2-40B4-BE49-F238E27FC236}">
                  <a16:creationId xmlns:a16="http://schemas.microsoft.com/office/drawing/2014/main" id="{DFA0393D-26CB-5A03-C69C-CC2B42718447}"/>
                </a:ext>
              </a:extLst>
            </p:cNvPr>
            <p:cNvSpPr/>
            <p:nvPr/>
          </p:nvSpPr>
          <p:spPr>
            <a:xfrm>
              <a:off x="2988890" y="79284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62" name="직선 연결선 61">
              <a:extLst>
                <a:ext uri="{FF2B5EF4-FFF2-40B4-BE49-F238E27FC236}">
                  <a16:creationId xmlns:a16="http://schemas.microsoft.com/office/drawing/2014/main" id="{91F1AC6E-C7F1-E2C7-A324-8275282C9E19}"/>
                </a:ext>
              </a:extLst>
            </p:cNvPr>
            <p:cNvCxnSpPr>
              <a:cxnSpLocks/>
            </p:cNvCxnSpPr>
            <p:nvPr/>
          </p:nvCxnSpPr>
          <p:spPr>
            <a:xfrm>
              <a:off x="3423441" y="8181966"/>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직사각형 65">
              <a:extLst>
                <a:ext uri="{FF2B5EF4-FFF2-40B4-BE49-F238E27FC236}">
                  <a16:creationId xmlns:a16="http://schemas.microsoft.com/office/drawing/2014/main" id="{4FE550E2-2BA1-6C42-6F66-07CBA3643AD4}"/>
                </a:ext>
              </a:extLst>
            </p:cNvPr>
            <p:cNvSpPr/>
            <p:nvPr/>
          </p:nvSpPr>
          <p:spPr>
            <a:xfrm>
              <a:off x="3423441" y="8230276"/>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67" name="직선 연결선 66">
              <a:extLst>
                <a:ext uri="{FF2B5EF4-FFF2-40B4-BE49-F238E27FC236}">
                  <a16:creationId xmlns:a16="http://schemas.microsoft.com/office/drawing/2014/main" id="{DD788258-44F0-803A-3600-3D20A36D6ED0}"/>
                </a:ext>
              </a:extLst>
            </p:cNvPr>
            <p:cNvCxnSpPr>
              <a:cxnSpLocks/>
            </p:cNvCxnSpPr>
            <p:nvPr/>
          </p:nvCxnSpPr>
          <p:spPr>
            <a:xfrm>
              <a:off x="3631896" y="8155094"/>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FA5AC51D-9E0C-5098-159A-7BF1015E224F}"/>
                </a:ext>
              </a:extLst>
            </p:cNvPr>
            <p:cNvCxnSpPr>
              <a:cxnSpLocks/>
            </p:cNvCxnSpPr>
            <p:nvPr/>
          </p:nvCxnSpPr>
          <p:spPr>
            <a:xfrm flipV="1">
              <a:off x="3735935" y="802635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타원 68">
              <a:extLst>
                <a:ext uri="{FF2B5EF4-FFF2-40B4-BE49-F238E27FC236}">
                  <a16:creationId xmlns:a16="http://schemas.microsoft.com/office/drawing/2014/main" id="{9E8C5A7E-9E0F-1593-02A7-27576EB151EF}"/>
                </a:ext>
              </a:extLst>
            </p:cNvPr>
            <p:cNvSpPr/>
            <p:nvPr/>
          </p:nvSpPr>
          <p:spPr>
            <a:xfrm>
              <a:off x="3630353" y="8140694"/>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2A8CDE41-E474-985E-5BF8-0F76BB0F1CDA}"/>
                </a:ext>
              </a:extLst>
            </p:cNvPr>
            <p:cNvSpPr/>
            <p:nvPr/>
          </p:nvSpPr>
          <p:spPr>
            <a:xfrm>
              <a:off x="4234540" y="793389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51" name="TextBox 150">
              <a:extLst>
                <a:ext uri="{FF2B5EF4-FFF2-40B4-BE49-F238E27FC236}">
                  <a16:creationId xmlns:a16="http://schemas.microsoft.com/office/drawing/2014/main" id="{2878F8E7-4A92-8359-B7EF-488C483EEB94}"/>
                </a:ext>
              </a:extLst>
            </p:cNvPr>
            <p:cNvSpPr txBox="1"/>
            <p:nvPr/>
          </p:nvSpPr>
          <p:spPr>
            <a:xfrm>
              <a:off x="3546556" y="7363609"/>
              <a:ext cx="314510" cy="230832"/>
            </a:xfrm>
            <a:prstGeom prst="rect">
              <a:avLst/>
            </a:prstGeom>
            <a:noFill/>
          </p:spPr>
          <p:txBody>
            <a:bodyPr wrap="none" rtlCol="0">
              <a:spAutoFit/>
            </a:bodyPr>
            <a:lstStyle/>
            <a:p>
              <a:r>
                <a:rPr lang="en-US" altLang="ko-KR" sz="900" dirty="0"/>
                <a:t>XD</a:t>
              </a:r>
              <a:endParaRPr lang="ko-KR" altLang="en-US" sz="900" dirty="0"/>
            </a:p>
          </p:txBody>
        </p:sp>
        <p:sp>
          <p:nvSpPr>
            <p:cNvPr id="156" name="직사각형 155">
              <a:extLst>
                <a:ext uri="{FF2B5EF4-FFF2-40B4-BE49-F238E27FC236}">
                  <a16:creationId xmlns:a16="http://schemas.microsoft.com/office/drawing/2014/main" id="{8F5B2E39-FAAA-1980-2740-FA775113071F}"/>
                </a:ext>
              </a:extLst>
            </p:cNvPr>
            <p:cNvSpPr/>
            <p:nvPr/>
          </p:nvSpPr>
          <p:spPr>
            <a:xfrm>
              <a:off x="3632819" y="8174583"/>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58" name="직선 연결선 157">
              <a:extLst>
                <a:ext uri="{FF2B5EF4-FFF2-40B4-BE49-F238E27FC236}">
                  <a16:creationId xmlns:a16="http://schemas.microsoft.com/office/drawing/2014/main" id="{EA6E1023-934E-7A68-9F11-E2C804BA7870}"/>
                </a:ext>
              </a:extLst>
            </p:cNvPr>
            <p:cNvCxnSpPr>
              <a:cxnSpLocks/>
            </p:cNvCxnSpPr>
            <p:nvPr/>
          </p:nvCxnSpPr>
          <p:spPr>
            <a:xfrm>
              <a:off x="3629084" y="8218332"/>
              <a:ext cx="50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직선 연결선 158">
              <a:extLst>
                <a:ext uri="{FF2B5EF4-FFF2-40B4-BE49-F238E27FC236}">
                  <a16:creationId xmlns:a16="http://schemas.microsoft.com/office/drawing/2014/main" id="{798B48D2-BA49-3306-F49E-FCB3E5E4B761}"/>
                </a:ext>
              </a:extLst>
            </p:cNvPr>
            <p:cNvCxnSpPr>
              <a:cxnSpLocks/>
            </p:cNvCxnSpPr>
            <p:nvPr/>
          </p:nvCxnSpPr>
          <p:spPr>
            <a:xfrm flipV="1">
              <a:off x="3738436" y="821814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직사각형 159">
              <a:extLst>
                <a:ext uri="{FF2B5EF4-FFF2-40B4-BE49-F238E27FC236}">
                  <a16:creationId xmlns:a16="http://schemas.microsoft.com/office/drawing/2014/main" id="{4DC10CEA-A6EB-915B-C739-A398BCE8851D}"/>
                </a:ext>
              </a:extLst>
            </p:cNvPr>
            <p:cNvSpPr/>
            <p:nvPr/>
          </p:nvSpPr>
          <p:spPr>
            <a:xfrm>
              <a:off x="3549341" y="832810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pic>
          <p:nvPicPr>
            <p:cNvPr id="171" name="그림 170">
              <a:extLst>
                <a:ext uri="{FF2B5EF4-FFF2-40B4-BE49-F238E27FC236}">
                  <a16:creationId xmlns:a16="http://schemas.microsoft.com/office/drawing/2014/main" id="{86D338F4-312F-1155-9EF4-0C20E70BEB84}"/>
                </a:ext>
              </a:extLst>
            </p:cNvPr>
            <p:cNvPicPr>
              <a:picLocks noChangeAspect="1"/>
            </p:cNvPicPr>
            <p:nvPr/>
          </p:nvPicPr>
          <p:blipFill>
            <a:blip r:embed="rId2"/>
            <a:stretch>
              <a:fillRect/>
            </a:stretch>
          </p:blipFill>
          <p:spPr>
            <a:xfrm rot="10641360">
              <a:off x="4013600" y="7927439"/>
              <a:ext cx="216000" cy="149104"/>
            </a:xfrm>
            <a:prstGeom prst="rect">
              <a:avLst/>
            </a:prstGeom>
          </p:spPr>
        </p:pic>
        <p:cxnSp>
          <p:nvCxnSpPr>
            <p:cNvPr id="172" name="직선 연결선 171">
              <a:extLst>
                <a:ext uri="{FF2B5EF4-FFF2-40B4-BE49-F238E27FC236}">
                  <a16:creationId xmlns:a16="http://schemas.microsoft.com/office/drawing/2014/main" id="{E79B7099-4F32-EC28-47C9-A6975C7DE0CC}"/>
                </a:ext>
              </a:extLst>
            </p:cNvPr>
            <p:cNvCxnSpPr>
              <a:cxnSpLocks/>
            </p:cNvCxnSpPr>
            <p:nvPr/>
          </p:nvCxnSpPr>
          <p:spPr>
            <a:xfrm flipV="1">
              <a:off x="4134822" y="8054264"/>
              <a:ext cx="1283" cy="16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59428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Switching a frame frequency without a flicker</a:t>
            </a:r>
          </a:p>
        </p:txBody>
      </p:sp>
      <p:sp>
        <p:nvSpPr>
          <p:cNvPr id="9" name="TextBox 8">
            <a:extLst>
              <a:ext uri="{FF2B5EF4-FFF2-40B4-BE49-F238E27FC236}">
                <a16:creationId xmlns:a16="http://schemas.microsoft.com/office/drawing/2014/main" id="{F8FBC284-7529-69E3-58A3-742D93DA900E}"/>
              </a:ext>
            </a:extLst>
          </p:cNvPr>
          <p:cNvSpPr txBox="1"/>
          <p:nvPr/>
        </p:nvSpPr>
        <p:spPr>
          <a:xfrm rot="5400000">
            <a:off x="3276594" y="4877691"/>
            <a:ext cx="1469019"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12-bit</a:t>
            </a:r>
          </a:p>
        </p:txBody>
      </p:sp>
      <p:pic>
        <p:nvPicPr>
          <p:cNvPr id="32" name="그림 31">
            <a:extLst>
              <a:ext uri="{FF2B5EF4-FFF2-40B4-BE49-F238E27FC236}">
                <a16:creationId xmlns:a16="http://schemas.microsoft.com/office/drawing/2014/main" id="{F750468F-1149-DAAC-8482-E8323D12FC06}"/>
              </a:ext>
            </a:extLst>
          </p:cNvPr>
          <p:cNvPicPr>
            <a:picLocks noChangeAspect="1"/>
          </p:cNvPicPr>
          <p:nvPr/>
        </p:nvPicPr>
        <p:blipFill>
          <a:blip r:embed="rId2"/>
          <a:stretch>
            <a:fillRect/>
          </a:stretch>
        </p:blipFill>
        <p:spPr>
          <a:xfrm rot="5400000">
            <a:off x="1253982" y="4560606"/>
            <a:ext cx="7488000" cy="1408551"/>
          </a:xfrm>
          <a:prstGeom prst="rect">
            <a:avLst/>
          </a:prstGeom>
        </p:spPr>
      </p:pic>
      <p:pic>
        <p:nvPicPr>
          <p:cNvPr id="34" name="그림 33">
            <a:extLst>
              <a:ext uri="{FF2B5EF4-FFF2-40B4-BE49-F238E27FC236}">
                <a16:creationId xmlns:a16="http://schemas.microsoft.com/office/drawing/2014/main" id="{2C2FE81D-9E8A-1F4C-BBB5-35E4B38072FC}"/>
              </a:ext>
            </a:extLst>
          </p:cNvPr>
          <p:cNvPicPr>
            <a:picLocks noChangeAspect="1"/>
          </p:cNvPicPr>
          <p:nvPr/>
        </p:nvPicPr>
        <p:blipFill>
          <a:blip r:embed="rId3"/>
          <a:stretch>
            <a:fillRect/>
          </a:stretch>
        </p:blipFill>
        <p:spPr>
          <a:xfrm rot="5400000">
            <a:off x="-914398" y="4029052"/>
            <a:ext cx="6858000" cy="1847897"/>
          </a:xfrm>
          <a:prstGeom prst="rect">
            <a:avLst/>
          </a:prstGeom>
        </p:spPr>
      </p:pic>
      <p:sp>
        <p:nvSpPr>
          <p:cNvPr id="40" name="TextBox 39">
            <a:extLst>
              <a:ext uri="{FF2B5EF4-FFF2-40B4-BE49-F238E27FC236}">
                <a16:creationId xmlns:a16="http://schemas.microsoft.com/office/drawing/2014/main" id="{5B94BF59-5E10-020D-4614-71E200EA0AC5}"/>
              </a:ext>
            </a:extLst>
          </p:cNvPr>
          <p:cNvSpPr txBox="1"/>
          <p:nvPr/>
        </p:nvSpPr>
        <p:spPr>
          <a:xfrm rot="5400000">
            <a:off x="512666" y="4877691"/>
            <a:ext cx="1469019" cy="150618"/>
          </a:xfrm>
          <a:prstGeom prst="rect">
            <a:avLst/>
          </a:prstGeom>
        </p:spPr>
        <p:txBody>
          <a:bodyPr vert="horz" wrap="square" lIns="0" tIns="14922" rIns="0" bIns="0" rtlCol="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14.  PWM 14-bit</a:t>
            </a:r>
          </a:p>
        </p:txBody>
      </p:sp>
    </p:spTree>
    <p:extLst>
      <p:ext uri="{BB962C8B-B14F-4D97-AF65-F5344CB8AC3E}">
        <p14:creationId xmlns:p14="http://schemas.microsoft.com/office/powerpoint/2010/main" val="2920223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938896285"/>
              </p:ext>
            </p:extLst>
          </p:nvPr>
        </p:nvGraphicFramePr>
        <p:xfrm>
          <a:off x="404812" y="2156360"/>
          <a:ext cx="6048622" cy="1816799"/>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2627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2193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9661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 will receive the ID-Gen command from the XC24 controller, then the ID value is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1777163783"/>
              </p:ext>
            </p:extLst>
          </p:nvPr>
        </p:nvGraphicFramePr>
        <p:xfrm>
          <a:off x="404811" y="1727442"/>
          <a:ext cx="6048624"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8">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3183498341"/>
              </p:ext>
            </p:extLst>
          </p:nvPr>
        </p:nvGraphicFramePr>
        <p:xfrm>
          <a:off x="408946" y="1577336"/>
          <a:ext cx="6053219" cy="6170213"/>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LD_DIR, PWM_RES, OVER_TO_E and SCAN_NO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The LD data to be transmitted will be mapped sequentially from channel 1 to channel n regardless of the corresponded CHx_EN bit activation.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175360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IO_MODE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FB and VSYNC functional usage as a pin. Refer to below table.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SCAN_NO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the number of scanning within a frame. The scanning number is one if the value is zero. In case the value is greater than 0, the larger the value, the smaller the PWM depth. The available value is from 0 to 5, and the relationship between the set value vs the scanning number and the PWM depth can be showed in below Table 6.</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OVER_TO_E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 Turn-On Enable. This bit is an optional and recommended to decide the set according to the dimming performance from internal PWM clock. It is useful in case the PWM clock is faster than ideal frequency under full PWM data.</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2931433727"/>
              </p:ext>
            </p:extLst>
          </p:nvPr>
        </p:nvGraphicFramePr>
        <p:xfrm>
          <a:off x="401292" y="1108857"/>
          <a:ext cx="6060873" cy="372600"/>
        </p:xfrm>
        <a:graphic>
          <a:graphicData uri="http://schemas.openxmlformats.org/drawingml/2006/table">
            <a:tbl>
              <a:tblPr firstRow="1" bandRow="1">
                <a:tableStyleId>{5C22544A-7EE6-4342-B048-85BDC9FD1C3A}</a:tableStyleId>
              </a:tblPr>
              <a:tblGrid>
                <a:gridCol w="261945">
                  <a:extLst>
                    <a:ext uri="{9D8B030D-6E8A-4147-A177-3AD203B41FA5}">
                      <a16:colId xmlns:a16="http://schemas.microsoft.com/office/drawing/2014/main" val="657570846"/>
                    </a:ext>
                  </a:extLst>
                </a:gridCol>
                <a:gridCol w="306537">
                  <a:extLst>
                    <a:ext uri="{9D8B030D-6E8A-4147-A177-3AD203B41FA5}">
                      <a16:colId xmlns:a16="http://schemas.microsoft.com/office/drawing/2014/main" val="3259894497"/>
                    </a:ext>
                  </a:extLst>
                </a:gridCol>
                <a:gridCol w="411096">
                  <a:extLst>
                    <a:ext uri="{9D8B030D-6E8A-4147-A177-3AD203B41FA5}">
                      <a16:colId xmlns:a16="http://schemas.microsoft.com/office/drawing/2014/main" val="4170535043"/>
                    </a:ext>
                  </a:extLst>
                </a:gridCol>
                <a:gridCol w="333929">
                  <a:extLst>
                    <a:ext uri="{9D8B030D-6E8A-4147-A177-3AD203B41FA5}">
                      <a16:colId xmlns:a16="http://schemas.microsoft.com/office/drawing/2014/main" val="2079070694"/>
                    </a:ext>
                  </a:extLst>
                </a:gridCol>
                <a:gridCol w="333929">
                  <a:extLst>
                    <a:ext uri="{9D8B030D-6E8A-4147-A177-3AD203B41FA5}">
                      <a16:colId xmlns:a16="http://schemas.microsoft.com/office/drawing/2014/main" val="4213315911"/>
                    </a:ext>
                  </a:extLst>
                </a:gridCol>
                <a:gridCol w="333929">
                  <a:extLst>
                    <a:ext uri="{9D8B030D-6E8A-4147-A177-3AD203B41FA5}">
                      <a16:colId xmlns:a16="http://schemas.microsoft.com/office/drawing/2014/main" val="2769999950"/>
                    </a:ext>
                  </a:extLst>
                </a:gridCol>
                <a:gridCol w="333929">
                  <a:extLst>
                    <a:ext uri="{9D8B030D-6E8A-4147-A177-3AD203B41FA5}">
                      <a16:colId xmlns:a16="http://schemas.microsoft.com/office/drawing/2014/main" val="135637185"/>
                    </a:ext>
                  </a:extLst>
                </a:gridCol>
                <a:gridCol w="628193">
                  <a:extLst>
                    <a:ext uri="{9D8B030D-6E8A-4147-A177-3AD203B41FA5}">
                      <a16:colId xmlns:a16="http://schemas.microsoft.com/office/drawing/2014/main" val="3038050475"/>
                    </a:ext>
                  </a:extLst>
                </a:gridCol>
                <a:gridCol w="539970">
                  <a:extLst>
                    <a:ext uri="{9D8B030D-6E8A-4147-A177-3AD203B41FA5}">
                      <a16:colId xmlns:a16="http://schemas.microsoft.com/office/drawing/2014/main" val="1979433044"/>
                    </a:ext>
                  </a:extLst>
                </a:gridCol>
                <a:gridCol w="333929">
                  <a:extLst>
                    <a:ext uri="{9D8B030D-6E8A-4147-A177-3AD203B41FA5}">
                      <a16:colId xmlns:a16="http://schemas.microsoft.com/office/drawing/2014/main" val="4270661649"/>
                    </a:ext>
                  </a:extLst>
                </a:gridCol>
                <a:gridCol w="333929">
                  <a:extLst>
                    <a:ext uri="{9D8B030D-6E8A-4147-A177-3AD203B41FA5}">
                      <a16:colId xmlns:a16="http://schemas.microsoft.com/office/drawing/2014/main" val="3027041370"/>
                    </a:ext>
                  </a:extLst>
                </a:gridCol>
                <a:gridCol w="333929">
                  <a:extLst>
                    <a:ext uri="{9D8B030D-6E8A-4147-A177-3AD203B41FA5}">
                      <a16:colId xmlns:a16="http://schemas.microsoft.com/office/drawing/2014/main" val="2852526216"/>
                    </a:ext>
                  </a:extLst>
                </a:gridCol>
                <a:gridCol w="609453">
                  <a:extLst>
                    <a:ext uri="{9D8B030D-6E8A-4147-A177-3AD203B41FA5}">
                      <a16:colId xmlns:a16="http://schemas.microsoft.com/office/drawing/2014/main" val="103420222"/>
                    </a:ext>
                  </a:extLst>
                </a:gridCol>
                <a:gridCol w="527959">
                  <a:extLst>
                    <a:ext uri="{9D8B030D-6E8A-4147-A177-3AD203B41FA5}">
                      <a16:colId xmlns:a16="http://schemas.microsoft.com/office/drawing/2014/main" val="1470405609"/>
                    </a:ext>
                  </a:extLst>
                </a:gridCol>
                <a:gridCol w="438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IO_MODE [1:0]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SCAN_NO [2:0]</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OVER_TO_E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2" name="표 1">
            <a:extLst>
              <a:ext uri="{FF2B5EF4-FFF2-40B4-BE49-F238E27FC236}">
                <a16:creationId xmlns:a16="http://schemas.microsoft.com/office/drawing/2014/main" id="{E0D17130-D9BC-E2E0-37CE-5AD24A607220}"/>
              </a:ext>
            </a:extLst>
          </p:cNvPr>
          <p:cNvGraphicFramePr>
            <a:graphicFrameLocks noGrp="1"/>
          </p:cNvGraphicFramePr>
          <p:nvPr>
            <p:extLst>
              <p:ext uri="{D42A27DB-BD31-4B8C-83A1-F6EECF244321}">
                <p14:modId xmlns:p14="http://schemas.microsoft.com/office/powerpoint/2010/main" val="1964497601"/>
              </p:ext>
            </p:extLst>
          </p:nvPr>
        </p:nvGraphicFramePr>
        <p:xfrm>
          <a:off x="1866407" y="3671446"/>
          <a:ext cx="4595755" cy="1233332"/>
        </p:xfrm>
        <a:graphic>
          <a:graphicData uri="http://schemas.openxmlformats.org/drawingml/2006/table">
            <a:tbl>
              <a:tblPr firstRow="1" bandRow="1">
                <a:tableStyleId>{5C22544A-7EE6-4342-B048-85BDC9FD1C3A}</a:tableStyleId>
              </a:tblPr>
              <a:tblGrid>
                <a:gridCol w="301800">
                  <a:extLst>
                    <a:ext uri="{9D8B030D-6E8A-4147-A177-3AD203B41FA5}">
                      <a16:colId xmlns:a16="http://schemas.microsoft.com/office/drawing/2014/main" val="2861869108"/>
                    </a:ext>
                  </a:extLst>
                </a:gridCol>
                <a:gridCol w="755624">
                  <a:extLst>
                    <a:ext uri="{9D8B030D-6E8A-4147-A177-3AD203B41FA5}">
                      <a16:colId xmlns:a16="http://schemas.microsoft.com/office/drawing/2014/main" val="3471461862"/>
                    </a:ext>
                  </a:extLst>
                </a:gridCol>
                <a:gridCol w="261568">
                  <a:extLst>
                    <a:ext uri="{9D8B030D-6E8A-4147-A177-3AD203B41FA5}">
                      <a16:colId xmlns:a16="http://schemas.microsoft.com/office/drawing/2014/main" val="4138367841"/>
                    </a:ext>
                  </a:extLst>
                </a:gridCol>
                <a:gridCol w="261568">
                  <a:extLst>
                    <a:ext uri="{9D8B030D-6E8A-4147-A177-3AD203B41FA5}">
                      <a16:colId xmlns:a16="http://schemas.microsoft.com/office/drawing/2014/main" val="3589866634"/>
                    </a:ext>
                  </a:extLst>
                </a:gridCol>
                <a:gridCol w="261568">
                  <a:extLst>
                    <a:ext uri="{9D8B030D-6E8A-4147-A177-3AD203B41FA5}">
                      <a16:colId xmlns:a16="http://schemas.microsoft.com/office/drawing/2014/main" val="203027085"/>
                    </a:ext>
                  </a:extLst>
                </a:gridCol>
                <a:gridCol w="261568">
                  <a:extLst>
                    <a:ext uri="{9D8B030D-6E8A-4147-A177-3AD203B41FA5}">
                      <a16:colId xmlns:a16="http://schemas.microsoft.com/office/drawing/2014/main" val="1213780966"/>
                    </a:ext>
                  </a:extLst>
                </a:gridCol>
                <a:gridCol w="2492059">
                  <a:extLst>
                    <a:ext uri="{9D8B030D-6E8A-4147-A177-3AD203B41FA5}">
                      <a16:colId xmlns:a16="http://schemas.microsoft.com/office/drawing/2014/main" val="4000803811"/>
                    </a:ext>
                  </a:extLst>
                </a:gridCol>
              </a:tblGrid>
              <a:tr h="193193">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Value</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287019">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p>
                      <a:pPr algn="l" latinLnBrk="1"/>
                      <a:r>
                        <a:rPr lang="en-US" altLang="ko-KR" sz="800" dirty="0">
                          <a:solidFill>
                            <a:schemeClr val="tx1"/>
                          </a:solidFill>
                          <a:latin typeface="Arial" panose="020B0604020202020204" pitchFamily="34" charset="0"/>
                          <a:ea typeface="+mn-ea"/>
                          <a:cs typeface="Arial" panose="020B0604020202020204" pitchFamily="34" charset="0"/>
                        </a:rPr>
                        <a:t>The pins, 5 and 14, can be connected to GND.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daisy</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VSYNC signal scheme in a daisy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daisy</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FB signal scheme in a daisy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VSYNC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non-daisy</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External VSYNC and FB signal scheme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spTree>
    <p:extLst>
      <p:ext uri="{BB962C8B-B14F-4D97-AF65-F5344CB8AC3E}">
        <p14:creationId xmlns:p14="http://schemas.microsoft.com/office/powerpoint/2010/main" val="1571062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805737939"/>
              </p:ext>
            </p:extLst>
          </p:nvPr>
        </p:nvGraphicFramePr>
        <p:xfrm>
          <a:off x="389761" y="1549501"/>
          <a:ext cx="6053732" cy="2268873"/>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30003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9688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7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1732291347"/>
              </p:ext>
            </p:extLst>
          </p:nvPr>
        </p:nvGraphicFramePr>
        <p:xfrm>
          <a:off x="389761" y="4995567"/>
          <a:ext cx="6058367" cy="106491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459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CHx_EN determines which channel will be activated. The set value is independent of the value of the CH_SIZE. If the CHx_EN is not set, then the corresponding channel sink output including the its faults, OPENx, SHORTx, FBx, will be deactivated. The CHx_EN bits </a:t>
                      </a:r>
                      <a:r>
                        <a:rPr lang="en-US" altLang="ko-KR" sz="900" b="0" i="1" dirty="0">
                          <a:solidFill>
                            <a:schemeClr val="tx1"/>
                          </a:solidFill>
                          <a:latin typeface="Arial" panose="020B0604020202020204" pitchFamily="34" charset="0"/>
                          <a:ea typeface="+mn-ea"/>
                          <a:cs typeface="Arial" panose="020B0604020202020204" pitchFamily="34" charset="0"/>
                        </a:rPr>
                        <a:t>should be set consecutively</a:t>
                      </a:r>
                      <a:r>
                        <a:rPr lang="en-US" altLang="ko-KR" sz="900" b="0" dirty="0">
                          <a:solidFill>
                            <a:schemeClr val="tx1"/>
                          </a:solidFill>
                          <a:latin typeface="Arial" panose="020B0604020202020204" pitchFamily="34" charset="0"/>
                          <a:ea typeface="+mn-ea"/>
                          <a:cs typeface="Arial" panose="020B0604020202020204" pitchFamily="34" charset="0"/>
                        </a:rPr>
                        <a:t>, such as CH1_EN, CH2_EN, CH3_EN, and so on,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and the number of enabled channels does not need to match the CH_SIZE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4275113"/>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270679842"/>
              </p:ext>
            </p:extLst>
          </p:nvPr>
        </p:nvGraphicFramePr>
        <p:xfrm>
          <a:off x="394817" y="110966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1281799720"/>
              </p:ext>
            </p:extLst>
          </p:nvPr>
        </p:nvGraphicFramePr>
        <p:xfrm>
          <a:off x="394817" y="4540628"/>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53BD7BCF-2BBA-9C05-D584-6716FA12324C}"/>
              </a:ext>
            </a:extLst>
          </p:cNvPr>
          <p:cNvGraphicFramePr>
            <a:graphicFrameLocks noGrp="1"/>
          </p:cNvGraphicFramePr>
          <p:nvPr>
            <p:extLst>
              <p:ext uri="{D42A27DB-BD31-4B8C-83A1-F6EECF244321}">
                <p14:modId xmlns:p14="http://schemas.microsoft.com/office/powerpoint/2010/main" val="632846457"/>
              </p:ext>
            </p:extLst>
          </p:nvPr>
        </p:nvGraphicFramePr>
        <p:xfrm>
          <a:off x="1944559" y="2694223"/>
          <a:ext cx="4496795" cy="645600"/>
        </p:xfrm>
        <a:graphic>
          <a:graphicData uri="http://schemas.openxmlformats.org/drawingml/2006/table">
            <a:tbl>
              <a:tblPr firstRow="1" bandRow="1">
                <a:tableStyleId>{5C22544A-7EE6-4342-B048-85BDC9FD1C3A}</a:tableStyleId>
              </a:tblPr>
              <a:tblGrid>
                <a:gridCol w="628841">
                  <a:extLst>
                    <a:ext uri="{9D8B030D-6E8A-4147-A177-3AD203B41FA5}">
                      <a16:colId xmlns:a16="http://schemas.microsoft.com/office/drawing/2014/main" val="2861869108"/>
                    </a:ext>
                  </a:extLst>
                </a:gridCol>
                <a:gridCol w="1196174">
                  <a:extLst>
                    <a:ext uri="{9D8B030D-6E8A-4147-A177-3AD203B41FA5}">
                      <a16:colId xmlns:a16="http://schemas.microsoft.com/office/drawing/2014/main" val="3471461862"/>
                    </a:ext>
                  </a:extLst>
                </a:gridCol>
                <a:gridCol w="534356">
                  <a:extLst>
                    <a:ext uri="{9D8B030D-6E8A-4147-A177-3AD203B41FA5}">
                      <a16:colId xmlns:a16="http://schemas.microsoft.com/office/drawing/2014/main" val="4138367841"/>
                    </a:ext>
                  </a:extLst>
                </a:gridCol>
                <a:gridCol w="534356">
                  <a:extLst>
                    <a:ext uri="{9D8B030D-6E8A-4147-A177-3AD203B41FA5}">
                      <a16:colId xmlns:a16="http://schemas.microsoft.com/office/drawing/2014/main" val="3589866634"/>
                    </a:ext>
                  </a:extLst>
                </a:gridCol>
                <a:gridCol w="534356">
                  <a:extLst>
                    <a:ext uri="{9D8B030D-6E8A-4147-A177-3AD203B41FA5}">
                      <a16:colId xmlns:a16="http://schemas.microsoft.com/office/drawing/2014/main" val="203027085"/>
                    </a:ext>
                  </a:extLst>
                </a:gridCol>
                <a:gridCol w="534356">
                  <a:extLst>
                    <a:ext uri="{9D8B030D-6E8A-4147-A177-3AD203B41FA5}">
                      <a16:colId xmlns:a16="http://schemas.microsoft.com/office/drawing/2014/main" val="1213780966"/>
                    </a:ext>
                  </a:extLst>
                </a:gridCol>
                <a:gridCol w="534356">
                  <a:extLst>
                    <a:ext uri="{9D8B030D-6E8A-4147-A177-3AD203B41FA5}">
                      <a16:colId xmlns:a16="http://schemas.microsoft.com/office/drawing/2014/main" val="4000803811"/>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393,120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327,600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278,460</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245,700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163,800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393,192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327,660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278,511</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245,745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163,830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sp>
        <p:nvSpPr>
          <p:cNvPr id="16" name="TextBox 15">
            <a:extLst>
              <a:ext uri="{FF2B5EF4-FFF2-40B4-BE49-F238E27FC236}">
                <a16:creationId xmlns:a16="http://schemas.microsoft.com/office/drawing/2014/main" id="{41CF1FEF-DEA2-3BC4-997F-A9F301EC0E4E}"/>
              </a:ext>
            </a:extLst>
          </p:cNvPr>
          <p:cNvSpPr txBox="1"/>
          <p:nvPr/>
        </p:nvSpPr>
        <p:spPr>
          <a:xfrm>
            <a:off x="3424000" y="3452776"/>
            <a:ext cx="1791270" cy="230832"/>
          </a:xfrm>
          <a:prstGeom prst="rect">
            <a:avLst/>
          </a:prstGeom>
          <a:noFill/>
        </p:spPr>
        <p:txBody>
          <a:bodyPr wrap="square" lIns="0" rtlCol="0">
            <a:spAutoFit/>
          </a:bodyPr>
          <a:lstStyle/>
          <a:p>
            <a:r>
              <a:rPr lang="en-US" altLang="ko-KR" sz="900" b="1" dirty="0">
                <a:latin typeface="Arial" panose="020B0604020202020204" pitchFamily="34" charset="0"/>
                <a:cs typeface="Arial" panose="020B0604020202020204" pitchFamily="34" charset="0"/>
              </a:rPr>
              <a:t>Table 7.  FPWM Configuration</a:t>
            </a:r>
          </a:p>
        </p:txBody>
      </p:sp>
    </p:spTree>
    <p:extLst>
      <p:ext uri="{BB962C8B-B14F-4D97-AF65-F5344CB8AC3E}">
        <p14:creationId xmlns:p14="http://schemas.microsoft.com/office/powerpoint/2010/main" val="2708730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27297239"/>
              </p:ext>
            </p:extLst>
          </p:nvPr>
        </p:nvGraphicFramePr>
        <p:xfrm>
          <a:off x="403136" y="6650290"/>
          <a:ext cx="6053977" cy="2110495"/>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2835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911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4mA      3b’001 : max   8mA     3b’010 : max 12mA    3b’011 : max 16mA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max 24mA     3b’101 : max 32mA     3b’110 : max 46mA    3b’111 : max 64mA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178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&gt;  3V             3b’001 : &gt;   4V            3b’010 : &gt;   6V            3b’011 : &gt;   8V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&gt; 12V            3b’101 : &gt; 16V            3b’110 : &gt; 24V            3b’111 : &gt; 36V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5178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&lt;  0.40V         3b’001 : &lt;  0.50V        3b’010 : &lt;  0.60V        3b’011 : &lt; 0.70V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&lt; 0.85V          3b’101 : &lt; 1.00V         3b’110 : &lt; 1.15V         3b’111 : &lt; 1.30V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5967569"/>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028048660"/>
              </p:ext>
            </p:extLst>
          </p:nvPr>
        </p:nvGraphicFramePr>
        <p:xfrm>
          <a:off x="403137" y="6232206"/>
          <a:ext cx="6059032" cy="372600"/>
        </p:xfrm>
        <a:graphic>
          <a:graphicData uri="http://schemas.openxmlformats.org/drawingml/2006/table">
            <a:tbl>
              <a:tblPr firstRow="1" bandRow="1">
                <a:tableStyleId>{5C22544A-7EE6-4342-B048-85BDC9FD1C3A}</a:tableStyleId>
              </a:tblPr>
              <a:tblGrid>
                <a:gridCol w="345612">
                  <a:extLst>
                    <a:ext uri="{9D8B030D-6E8A-4147-A177-3AD203B41FA5}">
                      <a16:colId xmlns:a16="http://schemas.microsoft.com/office/drawing/2014/main" val="657570846"/>
                    </a:ext>
                  </a:extLst>
                </a:gridCol>
                <a:gridCol w="380013">
                  <a:extLst>
                    <a:ext uri="{9D8B030D-6E8A-4147-A177-3AD203B41FA5}">
                      <a16:colId xmlns:a16="http://schemas.microsoft.com/office/drawing/2014/main" val="3259894497"/>
                    </a:ext>
                  </a:extLst>
                </a:gridCol>
                <a:gridCol w="446615">
                  <a:extLst>
                    <a:ext uri="{9D8B030D-6E8A-4147-A177-3AD203B41FA5}">
                      <a16:colId xmlns:a16="http://schemas.microsoft.com/office/drawing/2014/main" val="4170535043"/>
                    </a:ext>
                  </a:extLst>
                </a:gridCol>
                <a:gridCol w="398080">
                  <a:extLst>
                    <a:ext uri="{9D8B030D-6E8A-4147-A177-3AD203B41FA5}">
                      <a16:colId xmlns:a16="http://schemas.microsoft.com/office/drawing/2014/main" val="2079070694"/>
                    </a:ext>
                  </a:extLst>
                </a:gridCol>
                <a:gridCol w="398080">
                  <a:extLst>
                    <a:ext uri="{9D8B030D-6E8A-4147-A177-3AD203B41FA5}">
                      <a16:colId xmlns:a16="http://schemas.microsoft.com/office/drawing/2014/main" val="4213315911"/>
                    </a:ext>
                  </a:extLst>
                </a:gridCol>
                <a:gridCol w="398080">
                  <a:extLst>
                    <a:ext uri="{9D8B030D-6E8A-4147-A177-3AD203B41FA5}">
                      <a16:colId xmlns:a16="http://schemas.microsoft.com/office/drawing/2014/main" val="2769999950"/>
                    </a:ext>
                  </a:extLst>
                </a:gridCol>
                <a:gridCol w="465793">
                  <a:extLst>
                    <a:ext uri="{9D8B030D-6E8A-4147-A177-3AD203B41FA5}">
                      <a16:colId xmlns:a16="http://schemas.microsoft.com/office/drawing/2014/main" val="135637185"/>
                    </a:ext>
                  </a:extLst>
                </a:gridCol>
                <a:gridCol w="398080">
                  <a:extLst>
                    <a:ext uri="{9D8B030D-6E8A-4147-A177-3AD203B41FA5}">
                      <a16:colId xmlns:a16="http://schemas.microsoft.com/office/drawing/2014/main" val="3038050475"/>
                    </a:ext>
                  </a:extLst>
                </a:gridCol>
                <a:gridCol w="398080">
                  <a:extLst>
                    <a:ext uri="{9D8B030D-6E8A-4147-A177-3AD203B41FA5}">
                      <a16:colId xmlns:a16="http://schemas.microsoft.com/office/drawing/2014/main" val="1979433044"/>
                    </a:ext>
                  </a:extLst>
                </a:gridCol>
                <a:gridCol w="398080">
                  <a:extLst>
                    <a:ext uri="{9D8B030D-6E8A-4147-A177-3AD203B41FA5}">
                      <a16:colId xmlns:a16="http://schemas.microsoft.com/office/drawing/2014/main" val="4270661649"/>
                    </a:ext>
                  </a:extLst>
                </a:gridCol>
                <a:gridCol w="398080">
                  <a:extLst>
                    <a:ext uri="{9D8B030D-6E8A-4147-A177-3AD203B41FA5}">
                      <a16:colId xmlns:a16="http://schemas.microsoft.com/office/drawing/2014/main" val="3027041370"/>
                    </a:ext>
                  </a:extLst>
                </a:gridCol>
                <a:gridCol w="440199">
                  <a:extLst>
                    <a:ext uri="{9D8B030D-6E8A-4147-A177-3AD203B41FA5}">
                      <a16:colId xmlns:a16="http://schemas.microsoft.com/office/drawing/2014/main" val="2852526216"/>
                    </a:ext>
                  </a:extLst>
                </a:gridCol>
                <a:gridCol w="398080">
                  <a:extLst>
                    <a:ext uri="{9D8B030D-6E8A-4147-A177-3AD203B41FA5}">
                      <a16:colId xmlns:a16="http://schemas.microsoft.com/office/drawing/2014/main" val="103420222"/>
                    </a:ext>
                  </a:extLst>
                </a:gridCol>
                <a:gridCol w="398080">
                  <a:extLst>
                    <a:ext uri="{9D8B030D-6E8A-4147-A177-3AD203B41FA5}">
                      <a16:colId xmlns:a16="http://schemas.microsoft.com/office/drawing/2014/main" val="1470405609"/>
                    </a:ext>
                  </a:extLst>
                </a:gridCol>
                <a:gridCol w="39808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219176798"/>
              </p:ext>
            </p:extLst>
          </p:nvPr>
        </p:nvGraphicFramePr>
        <p:xfrm>
          <a:off x="404563" y="1528398"/>
          <a:ext cx="6047025" cy="413088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28452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07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9581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8112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8112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7255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929086440"/>
              </p:ext>
            </p:extLst>
          </p:nvPr>
        </p:nvGraphicFramePr>
        <p:xfrm>
          <a:off x="404564" y="1109616"/>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01365">
                  <a:extLst>
                    <a:ext uri="{9D8B030D-6E8A-4147-A177-3AD203B41FA5}">
                      <a16:colId xmlns:a16="http://schemas.microsoft.com/office/drawing/2014/main" val="1979433044"/>
                    </a:ext>
                  </a:extLst>
                </a:gridCol>
                <a:gridCol w="401365">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609803266"/>
              </p:ext>
            </p:extLst>
          </p:nvPr>
        </p:nvGraphicFramePr>
        <p:xfrm>
          <a:off x="406838" y="1556231"/>
          <a:ext cx="6046597" cy="5965791"/>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440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from receiving some read-back command and stops after receiving the first response bit from daisied devices. If the timer will be expired due to any no response, internal communication logics will be recovered to the standby state. The timeout counter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expires at approximately 800us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454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MS_VS_LOCK = 1 and the MS_VS_DET_E = 1, if the vsync missing event happens, then the MCLK_LOCK_CNT function will be halted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446870"/>
                  </a:ext>
                </a:extLst>
              </a:tr>
              <a:tr h="5761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out will be automatically fixed to the middle level brightness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24849"/>
                  </a:ext>
                </a:extLst>
              </a:tr>
              <a:tr h="6162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26ms,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5420437"/>
                  </a:ext>
                </a:extLst>
              </a:tr>
              <a:tr h="619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936736226"/>
              </p:ext>
            </p:extLst>
          </p:nvPr>
        </p:nvGraphicFramePr>
        <p:xfrm>
          <a:off x="399453" y="1113183"/>
          <a:ext cx="6053982" cy="372600"/>
        </p:xfrm>
        <a:graphic>
          <a:graphicData uri="http://schemas.openxmlformats.org/drawingml/2006/table">
            <a:tbl>
              <a:tblPr firstRow="1" bandRow="1">
                <a:tableStyleId>{5C22544A-7EE6-4342-B048-85BDC9FD1C3A}</a:tableStyleId>
              </a:tblPr>
              <a:tblGrid>
                <a:gridCol w="268685">
                  <a:extLst>
                    <a:ext uri="{9D8B030D-6E8A-4147-A177-3AD203B41FA5}">
                      <a16:colId xmlns:a16="http://schemas.microsoft.com/office/drawing/2014/main" val="657570846"/>
                    </a:ext>
                  </a:extLst>
                </a:gridCol>
                <a:gridCol w="314423">
                  <a:extLst>
                    <a:ext uri="{9D8B030D-6E8A-4147-A177-3AD203B41FA5}">
                      <a16:colId xmlns:a16="http://schemas.microsoft.com/office/drawing/2014/main" val="3259894497"/>
                    </a:ext>
                  </a:extLst>
                </a:gridCol>
                <a:gridCol w="421674">
                  <a:extLst>
                    <a:ext uri="{9D8B030D-6E8A-4147-A177-3AD203B41FA5}">
                      <a16:colId xmlns:a16="http://schemas.microsoft.com/office/drawing/2014/main" val="4170535043"/>
                    </a:ext>
                  </a:extLst>
                </a:gridCol>
                <a:gridCol w="492088">
                  <a:extLst>
                    <a:ext uri="{9D8B030D-6E8A-4147-A177-3AD203B41FA5}">
                      <a16:colId xmlns:a16="http://schemas.microsoft.com/office/drawing/2014/main" val="2079070694"/>
                    </a:ext>
                  </a:extLst>
                </a:gridCol>
                <a:gridCol w="291784">
                  <a:extLst>
                    <a:ext uri="{9D8B030D-6E8A-4147-A177-3AD203B41FA5}">
                      <a16:colId xmlns:a16="http://schemas.microsoft.com/office/drawing/2014/main" val="4213315911"/>
                    </a:ext>
                  </a:extLst>
                </a:gridCol>
                <a:gridCol w="224523">
                  <a:extLst>
                    <a:ext uri="{9D8B030D-6E8A-4147-A177-3AD203B41FA5}">
                      <a16:colId xmlns:a16="http://schemas.microsoft.com/office/drawing/2014/main" val="2769999950"/>
                    </a:ext>
                  </a:extLst>
                </a:gridCol>
                <a:gridCol w="570949">
                  <a:extLst>
                    <a:ext uri="{9D8B030D-6E8A-4147-A177-3AD203B41FA5}">
                      <a16:colId xmlns:a16="http://schemas.microsoft.com/office/drawing/2014/main" val="135637185"/>
                    </a:ext>
                  </a:extLst>
                </a:gridCol>
                <a:gridCol w="564640">
                  <a:extLst>
                    <a:ext uri="{9D8B030D-6E8A-4147-A177-3AD203B41FA5}">
                      <a16:colId xmlns:a16="http://schemas.microsoft.com/office/drawing/2014/main" val="3038050475"/>
                    </a:ext>
                  </a:extLst>
                </a:gridCol>
                <a:gridCol w="613534">
                  <a:extLst>
                    <a:ext uri="{9D8B030D-6E8A-4147-A177-3AD203B41FA5}">
                      <a16:colId xmlns:a16="http://schemas.microsoft.com/office/drawing/2014/main" val="1979433044"/>
                    </a:ext>
                  </a:extLst>
                </a:gridCol>
                <a:gridCol w="337522">
                  <a:extLst>
                    <a:ext uri="{9D8B030D-6E8A-4147-A177-3AD203B41FA5}">
                      <a16:colId xmlns:a16="http://schemas.microsoft.com/office/drawing/2014/main" val="4270661649"/>
                    </a:ext>
                  </a:extLst>
                </a:gridCol>
                <a:gridCol w="397457">
                  <a:extLst>
                    <a:ext uri="{9D8B030D-6E8A-4147-A177-3AD203B41FA5}">
                      <a16:colId xmlns:a16="http://schemas.microsoft.com/office/drawing/2014/main" val="3027041370"/>
                    </a:ext>
                  </a:extLst>
                </a:gridCol>
                <a:gridCol w="389571">
                  <a:extLst>
                    <a:ext uri="{9D8B030D-6E8A-4147-A177-3AD203B41FA5}">
                      <a16:colId xmlns:a16="http://schemas.microsoft.com/office/drawing/2014/main" val="2852526216"/>
                    </a:ext>
                  </a:extLst>
                </a:gridCol>
                <a:gridCol w="383261">
                  <a:extLst>
                    <a:ext uri="{9D8B030D-6E8A-4147-A177-3AD203B41FA5}">
                      <a16:colId xmlns:a16="http://schemas.microsoft.com/office/drawing/2014/main" val="103420222"/>
                    </a:ext>
                  </a:extLst>
                </a:gridCol>
                <a:gridCol w="387993">
                  <a:extLst>
                    <a:ext uri="{9D8B030D-6E8A-4147-A177-3AD203B41FA5}">
                      <a16:colId xmlns:a16="http://schemas.microsoft.com/office/drawing/2014/main" val="1470405609"/>
                    </a:ext>
                  </a:extLst>
                </a:gridCol>
                <a:gridCol w="3958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TIMEOUT_E</a:t>
                      </a: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MS_VS_LOCK</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MS_VS_DIMM</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325475414"/>
              </p:ext>
            </p:extLst>
          </p:nvPr>
        </p:nvGraphicFramePr>
        <p:xfrm>
          <a:off x="404565" y="4297406"/>
          <a:ext cx="6046695" cy="92234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includes the MSB 2 bits of each channel’s DELAY_CHx [13:0]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4811" y="3142176"/>
            <a:ext cx="60377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 EXTEND</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3172154002"/>
              </p:ext>
            </p:extLst>
          </p:nvPr>
        </p:nvGraphicFramePr>
        <p:xfrm>
          <a:off x="404811" y="3408291"/>
          <a:ext cx="6046696" cy="372600"/>
        </p:xfrm>
        <a:graphic>
          <a:graphicData uri="http://schemas.openxmlformats.org/drawingml/2006/table">
            <a:tbl>
              <a:tblPr firstRow="1" bandRow="1">
                <a:tableStyleId>{5C22544A-7EE6-4342-B048-85BDC9FD1C3A}</a:tableStyleId>
              </a:tblPr>
              <a:tblGrid>
                <a:gridCol w="351275">
                  <a:extLst>
                    <a:ext uri="{9D8B030D-6E8A-4147-A177-3AD203B41FA5}">
                      <a16:colId xmlns:a16="http://schemas.microsoft.com/office/drawing/2014/main" val="657570846"/>
                    </a:ext>
                  </a:extLst>
                </a:gridCol>
                <a:gridCol w="386240">
                  <a:extLst>
                    <a:ext uri="{9D8B030D-6E8A-4147-A177-3AD203B41FA5}">
                      <a16:colId xmlns:a16="http://schemas.microsoft.com/office/drawing/2014/main" val="3259894497"/>
                    </a:ext>
                  </a:extLst>
                </a:gridCol>
                <a:gridCol w="453933">
                  <a:extLst>
                    <a:ext uri="{9D8B030D-6E8A-4147-A177-3AD203B41FA5}">
                      <a16:colId xmlns:a16="http://schemas.microsoft.com/office/drawing/2014/main" val="4170535043"/>
                    </a:ext>
                  </a:extLst>
                </a:gridCol>
                <a:gridCol w="404604">
                  <a:extLst>
                    <a:ext uri="{9D8B030D-6E8A-4147-A177-3AD203B41FA5}">
                      <a16:colId xmlns:a16="http://schemas.microsoft.com/office/drawing/2014/main" val="2079070694"/>
                    </a:ext>
                  </a:extLst>
                </a:gridCol>
                <a:gridCol w="404604">
                  <a:extLst>
                    <a:ext uri="{9D8B030D-6E8A-4147-A177-3AD203B41FA5}">
                      <a16:colId xmlns:a16="http://schemas.microsoft.com/office/drawing/2014/main" val="4213315911"/>
                    </a:ext>
                  </a:extLst>
                </a:gridCol>
                <a:gridCol w="404604">
                  <a:extLst>
                    <a:ext uri="{9D8B030D-6E8A-4147-A177-3AD203B41FA5}">
                      <a16:colId xmlns:a16="http://schemas.microsoft.com/office/drawing/2014/main" val="2769999950"/>
                    </a:ext>
                  </a:extLst>
                </a:gridCol>
                <a:gridCol w="404604">
                  <a:extLst>
                    <a:ext uri="{9D8B030D-6E8A-4147-A177-3AD203B41FA5}">
                      <a16:colId xmlns:a16="http://schemas.microsoft.com/office/drawing/2014/main" val="135637185"/>
                    </a:ext>
                  </a:extLst>
                </a:gridCol>
                <a:gridCol w="404604">
                  <a:extLst>
                    <a:ext uri="{9D8B030D-6E8A-4147-A177-3AD203B41FA5}">
                      <a16:colId xmlns:a16="http://schemas.microsoft.com/office/drawing/2014/main" val="3038050475"/>
                    </a:ext>
                  </a:extLst>
                </a:gridCol>
                <a:gridCol w="404604">
                  <a:extLst>
                    <a:ext uri="{9D8B030D-6E8A-4147-A177-3AD203B41FA5}">
                      <a16:colId xmlns:a16="http://schemas.microsoft.com/office/drawing/2014/main" val="1979433044"/>
                    </a:ext>
                  </a:extLst>
                </a:gridCol>
                <a:gridCol w="404604">
                  <a:extLst>
                    <a:ext uri="{9D8B030D-6E8A-4147-A177-3AD203B41FA5}">
                      <a16:colId xmlns:a16="http://schemas.microsoft.com/office/drawing/2014/main" val="4270661649"/>
                    </a:ext>
                  </a:extLst>
                </a:gridCol>
                <a:gridCol w="404604">
                  <a:extLst>
                    <a:ext uri="{9D8B030D-6E8A-4147-A177-3AD203B41FA5}">
                      <a16:colId xmlns:a16="http://schemas.microsoft.com/office/drawing/2014/main" val="3027041370"/>
                    </a:ext>
                  </a:extLst>
                </a:gridCol>
                <a:gridCol w="404604">
                  <a:extLst>
                    <a:ext uri="{9D8B030D-6E8A-4147-A177-3AD203B41FA5}">
                      <a16:colId xmlns:a16="http://schemas.microsoft.com/office/drawing/2014/main" val="2852526216"/>
                    </a:ext>
                  </a:extLst>
                </a:gridCol>
                <a:gridCol w="404604">
                  <a:extLst>
                    <a:ext uri="{9D8B030D-6E8A-4147-A177-3AD203B41FA5}">
                      <a16:colId xmlns:a16="http://schemas.microsoft.com/office/drawing/2014/main" val="103420222"/>
                    </a:ext>
                  </a:extLst>
                </a:gridCol>
                <a:gridCol w="404604">
                  <a:extLst>
                    <a:ext uri="{9D8B030D-6E8A-4147-A177-3AD203B41FA5}">
                      <a16:colId xmlns:a16="http://schemas.microsoft.com/office/drawing/2014/main" val="1470405609"/>
                    </a:ext>
                  </a:extLst>
                </a:gridCol>
                <a:gridCol w="4046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DELAY_CH6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DELAY_CH5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DELAY_CH4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DELAY_CH3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933877422"/>
              </p:ext>
            </p:extLst>
          </p:nvPr>
        </p:nvGraphicFramePr>
        <p:xfrm>
          <a:off x="404811" y="1558963"/>
          <a:ext cx="6052400" cy="119019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11023684"/>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10" name="표 9">
            <a:extLst>
              <a:ext uri="{FF2B5EF4-FFF2-40B4-BE49-F238E27FC236}">
                <a16:creationId xmlns:a16="http://schemas.microsoft.com/office/drawing/2014/main" id="{9EAAD2EA-DB7D-81A0-D02C-137B61C75BB6}"/>
              </a:ext>
            </a:extLst>
          </p:cNvPr>
          <p:cNvGraphicFramePr>
            <a:graphicFrameLocks noGrp="1"/>
          </p:cNvGraphicFramePr>
          <p:nvPr>
            <p:extLst>
              <p:ext uri="{D42A27DB-BD31-4B8C-83A1-F6EECF244321}">
                <p14:modId xmlns:p14="http://schemas.microsoft.com/office/powerpoint/2010/main" val="273791637"/>
              </p:ext>
            </p:extLst>
          </p:nvPr>
        </p:nvGraphicFramePr>
        <p:xfrm>
          <a:off x="404811" y="3841656"/>
          <a:ext cx="6052392" cy="372600"/>
        </p:xfrm>
        <a:graphic>
          <a:graphicData uri="http://schemas.openxmlformats.org/drawingml/2006/table">
            <a:tbl>
              <a:tblPr firstRow="1" bandRow="1">
                <a:tableStyleId>{5C22544A-7EE6-4342-B048-85BDC9FD1C3A}</a:tableStyleId>
              </a:tblPr>
              <a:tblGrid>
                <a:gridCol w="351607">
                  <a:extLst>
                    <a:ext uri="{9D8B030D-6E8A-4147-A177-3AD203B41FA5}">
                      <a16:colId xmlns:a16="http://schemas.microsoft.com/office/drawing/2014/main" val="657570846"/>
                    </a:ext>
                  </a:extLst>
                </a:gridCol>
                <a:gridCol w="386604">
                  <a:extLst>
                    <a:ext uri="{9D8B030D-6E8A-4147-A177-3AD203B41FA5}">
                      <a16:colId xmlns:a16="http://schemas.microsoft.com/office/drawing/2014/main" val="3259894497"/>
                    </a:ext>
                  </a:extLst>
                </a:gridCol>
                <a:gridCol w="454361">
                  <a:extLst>
                    <a:ext uri="{9D8B030D-6E8A-4147-A177-3AD203B41FA5}">
                      <a16:colId xmlns:a16="http://schemas.microsoft.com/office/drawing/2014/main" val="4170535043"/>
                    </a:ext>
                  </a:extLst>
                </a:gridCol>
                <a:gridCol w="404985">
                  <a:extLst>
                    <a:ext uri="{9D8B030D-6E8A-4147-A177-3AD203B41FA5}">
                      <a16:colId xmlns:a16="http://schemas.microsoft.com/office/drawing/2014/main" val="2079070694"/>
                    </a:ext>
                  </a:extLst>
                </a:gridCol>
                <a:gridCol w="404985">
                  <a:extLst>
                    <a:ext uri="{9D8B030D-6E8A-4147-A177-3AD203B41FA5}">
                      <a16:colId xmlns:a16="http://schemas.microsoft.com/office/drawing/2014/main" val="4213315911"/>
                    </a:ext>
                  </a:extLst>
                </a:gridCol>
                <a:gridCol w="404985">
                  <a:extLst>
                    <a:ext uri="{9D8B030D-6E8A-4147-A177-3AD203B41FA5}">
                      <a16:colId xmlns:a16="http://schemas.microsoft.com/office/drawing/2014/main" val="2769999950"/>
                    </a:ext>
                  </a:extLst>
                </a:gridCol>
                <a:gridCol w="404985">
                  <a:extLst>
                    <a:ext uri="{9D8B030D-6E8A-4147-A177-3AD203B41FA5}">
                      <a16:colId xmlns:a16="http://schemas.microsoft.com/office/drawing/2014/main" val="135637185"/>
                    </a:ext>
                  </a:extLst>
                </a:gridCol>
                <a:gridCol w="404985">
                  <a:extLst>
                    <a:ext uri="{9D8B030D-6E8A-4147-A177-3AD203B41FA5}">
                      <a16:colId xmlns:a16="http://schemas.microsoft.com/office/drawing/2014/main" val="3038050475"/>
                    </a:ext>
                  </a:extLst>
                </a:gridCol>
                <a:gridCol w="404985">
                  <a:extLst>
                    <a:ext uri="{9D8B030D-6E8A-4147-A177-3AD203B41FA5}">
                      <a16:colId xmlns:a16="http://schemas.microsoft.com/office/drawing/2014/main" val="1979433044"/>
                    </a:ext>
                  </a:extLst>
                </a:gridCol>
                <a:gridCol w="404985">
                  <a:extLst>
                    <a:ext uri="{9D8B030D-6E8A-4147-A177-3AD203B41FA5}">
                      <a16:colId xmlns:a16="http://schemas.microsoft.com/office/drawing/2014/main" val="4270661649"/>
                    </a:ext>
                  </a:extLst>
                </a:gridCol>
                <a:gridCol w="404985">
                  <a:extLst>
                    <a:ext uri="{9D8B030D-6E8A-4147-A177-3AD203B41FA5}">
                      <a16:colId xmlns:a16="http://schemas.microsoft.com/office/drawing/2014/main" val="3027041370"/>
                    </a:ext>
                  </a:extLst>
                </a:gridCol>
                <a:gridCol w="404985">
                  <a:extLst>
                    <a:ext uri="{9D8B030D-6E8A-4147-A177-3AD203B41FA5}">
                      <a16:colId xmlns:a16="http://schemas.microsoft.com/office/drawing/2014/main" val="2852526216"/>
                    </a:ext>
                  </a:extLst>
                </a:gridCol>
                <a:gridCol w="404985">
                  <a:extLst>
                    <a:ext uri="{9D8B030D-6E8A-4147-A177-3AD203B41FA5}">
                      <a16:colId xmlns:a16="http://schemas.microsoft.com/office/drawing/2014/main" val="103420222"/>
                    </a:ext>
                  </a:extLst>
                </a:gridCol>
                <a:gridCol w="404985">
                  <a:extLst>
                    <a:ext uri="{9D8B030D-6E8A-4147-A177-3AD203B41FA5}">
                      <a16:colId xmlns:a16="http://schemas.microsoft.com/office/drawing/2014/main" val="1470405609"/>
                    </a:ext>
                  </a:extLst>
                </a:gridCol>
                <a:gridCol w="4049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DELAY_CH10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DELAY_CH9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DELAY_CH8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DELAY_CH7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4574" y="848186"/>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04574" y="149598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398738" y="2139072"/>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396029" y="2779932"/>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CH4</a:t>
            </a:r>
          </a:p>
        </p:txBody>
      </p:sp>
      <p:sp>
        <p:nvSpPr>
          <p:cNvPr id="23" name="TextBox 22">
            <a:extLst>
              <a:ext uri="{FF2B5EF4-FFF2-40B4-BE49-F238E27FC236}">
                <a16:creationId xmlns:a16="http://schemas.microsoft.com/office/drawing/2014/main" id="{E32B801D-6888-0426-D0E7-F982E65CA0DC}"/>
              </a:ext>
            </a:extLst>
          </p:cNvPr>
          <p:cNvSpPr txBox="1"/>
          <p:nvPr/>
        </p:nvSpPr>
        <p:spPr>
          <a:xfrm>
            <a:off x="385084" y="3422667"/>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CH5</a:t>
            </a:r>
          </a:p>
        </p:txBody>
      </p:sp>
      <p:sp>
        <p:nvSpPr>
          <p:cNvPr id="26" name="TextBox 25">
            <a:extLst>
              <a:ext uri="{FF2B5EF4-FFF2-40B4-BE49-F238E27FC236}">
                <a16:creationId xmlns:a16="http://schemas.microsoft.com/office/drawing/2014/main" id="{6C90861D-FBAC-7667-8717-58192ECD3417}"/>
              </a:ext>
            </a:extLst>
          </p:cNvPr>
          <p:cNvSpPr txBox="1"/>
          <p:nvPr/>
        </p:nvSpPr>
        <p:spPr>
          <a:xfrm>
            <a:off x="379245" y="4078076"/>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CH6</a:t>
            </a:r>
          </a:p>
        </p:txBody>
      </p:sp>
      <p:sp>
        <p:nvSpPr>
          <p:cNvPr id="28" name="TextBox 27">
            <a:extLst>
              <a:ext uri="{FF2B5EF4-FFF2-40B4-BE49-F238E27FC236}">
                <a16:creationId xmlns:a16="http://schemas.microsoft.com/office/drawing/2014/main" id="{46F71A86-4DD6-C848-44D6-CB304A051B81}"/>
              </a:ext>
            </a:extLst>
          </p:cNvPr>
          <p:cNvSpPr txBox="1"/>
          <p:nvPr/>
        </p:nvSpPr>
        <p:spPr>
          <a:xfrm>
            <a:off x="369046" y="4725991"/>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CH7</a:t>
            </a:r>
          </a:p>
        </p:txBody>
      </p:sp>
      <p:sp>
        <p:nvSpPr>
          <p:cNvPr id="30" name="TextBox 29">
            <a:extLst>
              <a:ext uri="{FF2B5EF4-FFF2-40B4-BE49-F238E27FC236}">
                <a16:creationId xmlns:a16="http://schemas.microsoft.com/office/drawing/2014/main" id="{9DE632F2-E2A9-3D66-B79B-1C5C1B6611FD}"/>
              </a:ext>
            </a:extLst>
          </p:cNvPr>
          <p:cNvSpPr txBox="1"/>
          <p:nvPr/>
        </p:nvSpPr>
        <p:spPr>
          <a:xfrm>
            <a:off x="369046" y="5372769"/>
            <a:ext cx="60490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CH8</a:t>
            </a:r>
          </a:p>
        </p:txBody>
      </p:sp>
      <p:sp>
        <p:nvSpPr>
          <p:cNvPr id="32" name="TextBox 31">
            <a:extLst>
              <a:ext uri="{FF2B5EF4-FFF2-40B4-BE49-F238E27FC236}">
                <a16:creationId xmlns:a16="http://schemas.microsoft.com/office/drawing/2014/main" id="{58901DC2-04E3-F4DD-F959-FE3323638762}"/>
              </a:ext>
            </a:extLst>
          </p:cNvPr>
          <p:cNvSpPr txBox="1"/>
          <p:nvPr/>
        </p:nvSpPr>
        <p:spPr>
          <a:xfrm>
            <a:off x="368135" y="6008133"/>
            <a:ext cx="605819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CH9</a:t>
            </a:r>
          </a:p>
        </p:txBody>
      </p:sp>
      <p:sp>
        <p:nvSpPr>
          <p:cNvPr id="5" name="TextBox 4">
            <a:extLst>
              <a:ext uri="{FF2B5EF4-FFF2-40B4-BE49-F238E27FC236}">
                <a16:creationId xmlns:a16="http://schemas.microsoft.com/office/drawing/2014/main" id="{5E0C07B2-3A4C-3F42-E620-B07019820588}"/>
              </a:ext>
            </a:extLst>
          </p:cNvPr>
          <p:cNvSpPr txBox="1"/>
          <p:nvPr/>
        </p:nvSpPr>
        <p:spPr>
          <a:xfrm>
            <a:off x="368134" y="6643497"/>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CH10</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extLst>
              <p:ext uri="{D42A27DB-BD31-4B8C-83A1-F6EECF244321}">
                <p14:modId xmlns:p14="http://schemas.microsoft.com/office/powerpoint/2010/main" val="3896320251"/>
              </p:ext>
            </p:extLst>
          </p:nvPr>
        </p:nvGraphicFramePr>
        <p:xfrm>
          <a:off x="395231" y="1712036"/>
          <a:ext cx="6058189" cy="372600"/>
        </p:xfrm>
        <a:graphic>
          <a:graphicData uri="http://schemas.openxmlformats.org/drawingml/2006/table">
            <a:tbl>
              <a:tblPr firstRow="1" bandRow="1">
                <a:tableStyleId>{5C22544A-7EE6-4342-B048-85BDC9FD1C3A}</a:tableStyleId>
              </a:tblPr>
              <a:tblGrid>
                <a:gridCol w="299115">
                  <a:extLst>
                    <a:ext uri="{9D8B030D-6E8A-4147-A177-3AD203B41FA5}">
                      <a16:colId xmlns:a16="http://schemas.microsoft.com/office/drawing/2014/main" val="657570846"/>
                    </a:ext>
                  </a:extLst>
                </a:gridCol>
                <a:gridCol w="350034">
                  <a:extLst>
                    <a:ext uri="{9D8B030D-6E8A-4147-A177-3AD203B41FA5}">
                      <a16:colId xmlns:a16="http://schemas.microsoft.com/office/drawing/2014/main" val="3259894497"/>
                    </a:ext>
                  </a:extLst>
                </a:gridCol>
                <a:gridCol w="504141">
                  <a:extLst>
                    <a:ext uri="{9D8B030D-6E8A-4147-A177-3AD203B41FA5}">
                      <a16:colId xmlns:a16="http://schemas.microsoft.com/office/drawing/2014/main" val="4170535043"/>
                    </a:ext>
                  </a:extLst>
                </a:gridCol>
                <a:gridCol w="416914">
                  <a:extLst>
                    <a:ext uri="{9D8B030D-6E8A-4147-A177-3AD203B41FA5}">
                      <a16:colId xmlns:a16="http://schemas.microsoft.com/office/drawing/2014/main" val="2079070694"/>
                    </a:ext>
                  </a:extLst>
                </a:gridCol>
                <a:gridCol w="441436">
                  <a:extLst>
                    <a:ext uri="{9D8B030D-6E8A-4147-A177-3AD203B41FA5}">
                      <a16:colId xmlns:a16="http://schemas.microsoft.com/office/drawing/2014/main" val="4213315911"/>
                    </a:ext>
                  </a:extLst>
                </a:gridCol>
                <a:gridCol w="446342">
                  <a:extLst>
                    <a:ext uri="{9D8B030D-6E8A-4147-A177-3AD203B41FA5}">
                      <a16:colId xmlns:a16="http://schemas.microsoft.com/office/drawing/2014/main" val="2769999950"/>
                    </a:ext>
                  </a:extLst>
                </a:gridCol>
                <a:gridCol w="451280">
                  <a:extLst>
                    <a:ext uri="{9D8B030D-6E8A-4147-A177-3AD203B41FA5}">
                      <a16:colId xmlns:a16="http://schemas.microsoft.com/office/drawing/2014/main" val="135637185"/>
                    </a:ext>
                  </a:extLst>
                </a:gridCol>
                <a:gridCol w="397419">
                  <a:extLst>
                    <a:ext uri="{9D8B030D-6E8A-4147-A177-3AD203B41FA5}">
                      <a16:colId xmlns:a16="http://schemas.microsoft.com/office/drawing/2014/main" val="3038050475"/>
                    </a:ext>
                  </a:extLst>
                </a:gridCol>
                <a:gridCol w="397419">
                  <a:extLst>
                    <a:ext uri="{9D8B030D-6E8A-4147-A177-3AD203B41FA5}">
                      <a16:colId xmlns:a16="http://schemas.microsoft.com/office/drawing/2014/main" val="1979433044"/>
                    </a:ext>
                  </a:extLst>
                </a:gridCol>
                <a:gridCol w="397419">
                  <a:extLst>
                    <a:ext uri="{9D8B030D-6E8A-4147-A177-3AD203B41FA5}">
                      <a16:colId xmlns:a16="http://schemas.microsoft.com/office/drawing/2014/main" val="4270661649"/>
                    </a:ext>
                  </a:extLst>
                </a:gridCol>
                <a:gridCol w="397419">
                  <a:extLst>
                    <a:ext uri="{9D8B030D-6E8A-4147-A177-3AD203B41FA5}">
                      <a16:colId xmlns:a16="http://schemas.microsoft.com/office/drawing/2014/main" val="3027041370"/>
                    </a:ext>
                  </a:extLst>
                </a:gridCol>
                <a:gridCol w="397419">
                  <a:extLst>
                    <a:ext uri="{9D8B030D-6E8A-4147-A177-3AD203B41FA5}">
                      <a16:colId xmlns:a16="http://schemas.microsoft.com/office/drawing/2014/main" val="2852526216"/>
                    </a:ext>
                  </a:extLst>
                </a:gridCol>
                <a:gridCol w="397419">
                  <a:extLst>
                    <a:ext uri="{9D8B030D-6E8A-4147-A177-3AD203B41FA5}">
                      <a16:colId xmlns:a16="http://schemas.microsoft.com/office/drawing/2014/main" val="103420222"/>
                    </a:ext>
                  </a:extLst>
                </a:gridCol>
                <a:gridCol w="397419">
                  <a:extLst>
                    <a:ext uri="{9D8B030D-6E8A-4147-A177-3AD203B41FA5}">
                      <a16:colId xmlns:a16="http://schemas.microsoft.com/office/drawing/2014/main" val="1470405609"/>
                    </a:ext>
                  </a:extLst>
                </a:gridCol>
                <a:gridCol w="366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extLst>
              <p:ext uri="{D42A27DB-BD31-4B8C-83A1-F6EECF244321}">
                <p14:modId xmlns:p14="http://schemas.microsoft.com/office/powerpoint/2010/main" val="2265018102"/>
              </p:ext>
            </p:extLst>
          </p:nvPr>
        </p:nvGraphicFramePr>
        <p:xfrm>
          <a:off x="389907" y="2351145"/>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4">
                  <a:extLst>
                    <a:ext uri="{9D8B030D-6E8A-4147-A177-3AD203B41FA5}">
                      <a16:colId xmlns:a16="http://schemas.microsoft.com/office/drawing/2014/main" val="3259894497"/>
                    </a:ext>
                  </a:extLst>
                </a:gridCol>
                <a:gridCol w="503060">
                  <a:extLst>
                    <a:ext uri="{9D8B030D-6E8A-4147-A177-3AD203B41FA5}">
                      <a16:colId xmlns:a16="http://schemas.microsoft.com/office/drawing/2014/main" val="4170535043"/>
                    </a:ext>
                  </a:extLst>
                </a:gridCol>
                <a:gridCol w="416877">
                  <a:extLst>
                    <a:ext uri="{9D8B030D-6E8A-4147-A177-3AD203B41FA5}">
                      <a16:colId xmlns:a16="http://schemas.microsoft.com/office/drawing/2014/main" val="2079070694"/>
                    </a:ext>
                  </a:extLst>
                </a:gridCol>
                <a:gridCol w="456114">
                  <a:extLst>
                    <a:ext uri="{9D8B030D-6E8A-4147-A177-3AD203B41FA5}">
                      <a16:colId xmlns:a16="http://schemas.microsoft.com/office/drawing/2014/main" val="4213315911"/>
                    </a:ext>
                  </a:extLst>
                </a:gridCol>
                <a:gridCol w="436496">
                  <a:extLst>
                    <a:ext uri="{9D8B030D-6E8A-4147-A177-3AD203B41FA5}">
                      <a16:colId xmlns:a16="http://schemas.microsoft.com/office/drawing/2014/main" val="2769999950"/>
                    </a:ext>
                  </a:extLst>
                </a:gridCol>
                <a:gridCol w="447377">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extLst>
              <p:ext uri="{D42A27DB-BD31-4B8C-83A1-F6EECF244321}">
                <p14:modId xmlns:p14="http://schemas.microsoft.com/office/powerpoint/2010/main" val="3189043572"/>
              </p:ext>
            </p:extLst>
          </p:nvPr>
        </p:nvGraphicFramePr>
        <p:xfrm>
          <a:off x="386686" y="2994388"/>
          <a:ext cx="6052357"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96905">
                  <a:extLst>
                    <a:ext uri="{9D8B030D-6E8A-4147-A177-3AD203B41FA5}">
                      <a16:colId xmlns:a16="http://schemas.microsoft.com/office/drawing/2014/main" val="4170535043"/>
                    </a:ext>
                  </a:extLst>
                </a:gridCol>
                <a:gridCol w="431212">
                  <a:extLst>
                    <a:ext uri="{9D8B030D-6E8A-4147-A177-3AD203B41FA5}">
                      <a16:colId xmlns:a16="http://schemas.microsoft.com/office/drawing/2014/main" val="2079070694"/>
                    </a:ext>
                  </a:extLst>
                </a:gridCol>
                <a:gridCol w="455713">
                  <a:extLst>
                    <a:ext uri="{9D8B030D-6E8A-4147-A177-3AD203B41FA5}">
                      <a16:colId xmlns:a16="http://schemas.microsoft.com/office/drawing/2014/main" val="4213315911"/>
                    </a:ext>
                  </a:extLst>
                </a:gridCol>
                <a:gridCol w="436113">
                  <a:extLst>
                    <a:ext uri="{9D8B030D-6E8A-4147-A177-3AD203B41FA5}">
                      <a16:colId xmlns:a16="http://schemas.microsoft.com/office/drawing/2014/main" val="2769999950"/>
                    </a:ext>
                  </a:extLst>
                </a:gridCol>
                <a:gridCol w="437998">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592A69BD-AFEE-224F-7D96-8E8A750949C0}"/>
              </a:ext>
            </a:extLst>
          </p:cNvPr>
          <p:cNvGraphicFramePr>
            <a:graphicFrameLocks noGrp="1"/>
          </p:cNvGraphicFramePr>
          <p:nvPr>
            <p:extLst>
              <p:ext uri="{D42A27DB-BD31-4B8C-83A1-F6EECF244321}">
                <p14:modId xmlns:p14="http://schemas.microsoft.com/office/powerpoint/2010/main" val="2620623094"/>
              </p:ext>
            </p:extLst>
          </p:nvPr>
        </p:nvGraphicFramePr>
        <p:xfrm>
          <a:off x="380851" y="3644000"/>
          <a:ext cx="6052353"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78117">
                  <a:extLst>
                    <a:ext uri="{9D8B030D-6E8A-4147-A177-3AD203B41FA5}">
                      <a16:colId xmlns:a16="http://schemas.microsoft.com/office/drawing/2014/main" val="4170535043"/>
                    </a:ext>
                  </a:extLst>
                </a:gridCol>
                <a:gridCol w="441012">
                  <a:extLst>
                    <a:ext uri="{9D8B030D-6E8A-4147-A177-3AD203B41FA5}">
                      <a16:colId xmlns:a16="http://schemas.microsoft.com/office/drawing/2014/main" val="2079070694"/>
                    </a:ext>
                  </a:extLst>
                </a:gridCol>
                <a:gridCol w="455712">
                  <a:extLst>
                    <a:ext uri="{9D8B030D-6E8A-4147-A177-3AD203B41FA5}">
                      <a16:colId xmlns:a16="http://schemas.microsoft.com/office/drawing/2014/main" val="4213315911"/>
                    </a:ext>
                  </a:extLst>
                </a:gridCol>
                <a:gridCol w="426311">
                  <a:extLst>
                    <a:ext uri="{9D8B030D-6E8A-4147-A177-3AD203B41FA5}">
                      <a16:colId xmlns:a16="http://schemas.microsoft.com/office/drawing/2014/main" val="2769999950"/>
                    </a:ext>
                  </a:extLst>
                </a:gridCol>
                <a:gridCol w="456785">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59EA647F-D857-E196-D939-19F58BEB60FF}"/>
              </a:ext>
            </a:extLst>
          </p:cNvPr>
          <p:cNvGraphicFramePr>
            <a:graphicFrameLocks noGrp="1"/>
          </p:cNvGraphicFramePr>
          <p:nvPr>
            <p:extLst>
              <p:ext uri="{D42A27DB-BD31-4B8C-83A1-F6EECF244321}">
                <p14:modId xmlns:p14="http://schemas.microsoft.com/office/powerpoint/2010/main" val="3455411601"/>
              </p:ext>
            </p:extLst>
          </p:nvPr>
        </p:nvGraphicFramePr>
        <p:xfrm>
          <a:off x="375012" y="4297311"/>
          <a:ext cx="6052354"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68317">
                  <a:extLst>
                    <a:ext uri="{9D8B030D-6E8A-4147-A177-3AD203B41FA5}">
                      <a16:colId xmlns:a16="http://schemas.microsoft.com/office/drawing/2014/main" val="4170535043"/>
                    </a:ext>
                  </a:extLst>
                </a:gridCol>
                <a:gridCol w="450812">
                  <a:extLst>
                    <a:ext uri="{9D8B030D-6E8A-4147-A177-3AD203B41FA5}">
                      <a16:colId xmlns:a16="http://schemas.microsoft.com/office/drawing/2014/main" val="2079070694"/>
                    </a:ext>
                  </a:extLst>
                </a:gridCol>
                <a:gridCol w="450812">
                  <a:extLst>
                    <a:ext uri="{9D8B030D-6E8A-4147-A177-3AD203B41FA5}">
                      <a16:colId xmlns:a16="http://schemas.microsoft.com/office/drawing/2014/main" val="4213315911"/>
                    </a:ext>
                  </a:extLst>
                </a:gridCol>
                <a:gridCol w="426312">
                  <a:extLst>
                    <a:ext uri="{9D8B030D-6E8A-4147-A177-3AD203B41FA5}">
                      <a16:colId xmlns:a16="http://schemas.microsoft.com/office/drawing/2014/main" val="2769999950"/>
                    </a:ext>
                  </a:extLst>
                </a:gridCol>
                <a:gridCol w="461685">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46B3684-2AE4-B5FB-EDF7-01D1ACCFA95E}"/>
              </a:ext>
            </a:extLst>
          </p:cNvPr>
          <p:cNvGraphicFramePr>
            <a:graphicFrameLocks noGrp="1"/>
          </p:cNvGraphicFramePr>
          <p:nvPr>
            <p:extLst>
              <p:ext uri="{D42A27DB-BD31-4B8C-83A1-F6EECF244321}">
                <p14:modId xmlns:p14="http://schemas.microsoft.com/office/powerpoint/2010/main" val="3763266457"/>
              </p:ext>
            </p:extLst>
          </p:nvPr>
        </p:nvGraphicFramePr>
        <p:xfrm>
          <a:off x="373972" y="4950109"/>
          <a:ext cx="6052355" cy="372600"/>
        </p:xfrm>
        <a:graphic>
          <a:graphicData uri="http://schemas.openxmlformats.org/drawingml/2006/table">
            <a:tbl>
              <a:tblPr firstRow="1" bandRow="1">
                <a:tableStyleId>{5C22544A-7EE6-4342-B048-85BDC9FD1C3A}</a:tableStyleId>
              </a:tblPr>
              <a:tblGrid>
                <a:gridCol w="298827">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68979">
                  <a:extLst>
                    <a:ext uri="{9D8B030D-6E8A-4147-A177-3AD203B41FA5}">
                      <a16:colId xmlns:a16="http://schemas.microsoft.com/office/drawing/2014/main" val="4170535043"/>
                    </a:ext>
                  </a:extLst>
                </a:gridCol>
                <a:gridCol w="444627">
                  <a:extLst>
                    <a:ext uri="{9D8B030D-6E8A-4147-A177-3AD203B41FA5}">
                      <a16:colId xmlns:a16="http://schemas.microsoft.com/office/drawing/2014/main" val="2079070694"/>
                    </a:ext>
                  </a:extLst>
                </a:gridCol>
                <a:gridCol w="465513">
                  <a:extLst>
                    <a:ext uri="{9D8B030D-6E8A-4147-A177-3AD203B41FA5}">
                      <a16:colId xmlns:a16="http://schemas.microsoft.com/office/drawing/2014/main" val="4213315911"/>
                    </a:ext>
                  </a:extLst>
                </a:gridCol>
                <a:gridCol w="426312">
                  <a:extLst>
                    <a:ext uri="{9D8B030D-6E8A-4147-A177-3AD203B41FA5}">
                      <a16:colId xmlns:a16="http://schemas.microsoft.com/office/drawing/2014/main" val="2769999950"/>
                    </a:ext>
                  </a:extLst>
                </a:gridCol>
                <a:gridCol w="452507">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0D8DCC55-2473-2A17-AB75-4E2164EF6F5F}"/>
              </a:ext>
            </a:extLst>
          </p:cNvPr>
          <p:cNvGraphicFramePr>
            <a:graphicFrameLocks noGrp="1"/>
          </p:cNvGraphicFramePr>
          <p:nvPr>
            <p:extLst>
              <p:ext uri="{D42A27DB-BD31-4B8C-83A1-F6EECF244321}">
                <p14:modId xmlns:p14="http://schemas.microsoft.com/office/powerpoint/2010/main" val="3929768716"/>
              </p:ext>
            </p:extLst>
          </p:nvPr>
        </p:nvGraphicFramePr>
        <p:xfrm>
          <a:off x="369046" y="5589850"/>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5">
                  <a:extLst>
                    <a:ext uri="{9D8B030D-6E8A-4147-A177-3AD203B41FA5}">
                      <a16:colId xmlns:a16="http://schemas.microsoft.com/office/drawing/2014/main" val="3259894497"/>
                    </a:ext>
                  </a:extLst>
                </a:gridCol>
                <a:gridCol w="469392">
                  <a:extLst>
                    <a:ext uri="{9D8B030D-6E8A-4147-A177-3AD203B41FA5}">
                      <a16:colId xmlns:a16="http://schemas.microsoft.com/office/drawing/2014/main" val="4170535043"/>
                    </a:ext>
                  </a:extLst>
                </a:gridCol>
                <a:gridCol w="440114">
                  <a:extLst>
                    <a:ext uri="{9D8B030D-6E8A-4147-A177-3AD203B41FA5}">
                      <a16:colId xmlns:a16="http://schemas.microsoft.com/office/drawing/2014/main" val="2079070694"/>
                    </a:ext>
                  </a:extLst>
                </a:gridCol>
                <a:gridCol w="470826">
                  <a:extLst>
                    <a:ext uri="{9D8B030D-6E8A-4147-A177-3AD203B41FA5}">
                      <a16:colId xmlns:a16="http://schemas.microsoft.com/office/drawing/2014/main" val="4213315911"/>
                    </a:ext>
                  </a:extLst>
                </a:gridCol>
                <a:gridCol w="416878">
                  <a:extLst>
                    <a:ext uri="{9D8B030D-6E8A-4147-A177-3AD203B41FA5}">
                      <a16:colId xmlns:a16="http://schemas.microsoft.com/office/drawing/2014/main" val="2769999950"/>
                    </a:ext>
                  </a:extLst>
                </a:gridCol>
                <a:gridCol w="462713">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6" name="표 35">
            <a:extLst>
              <a:ext uri="{FF2B5EF4-FFF2-40B4-BE49-F238E27FC236}">
                <a16:creationId xmlns:a16="http://schemas.microsoft.com/office/drawing/2014/main" id="{4E2DF619-18FE-7E1B-9F36-6FBB9EF52446}"/>
              </a:ext>
            </a:extLst>
          </p:cNvPr>
          <p:cNvGraphicFramePr>
            <a:graphicFrameLocks noGrp="1"/>
          </p:cNvGraphicFramePr>
          <p:nvPr>
            <p:extLst>
              <p:ext uri="{D42A27DB-BD31-4B8C-83A1-F6EECF244321}">
                <p14:modId xmlns:p14="http://schemas.microsoft.com/office/powerpoint/2010/main" val="3197072741"/>
              </p:ext>
            </p:extLst>
          </p:nvPr>
        </p:nvGraphicFramePr>
        <p:xfrm>
          <a:off x="368134" y="6228735"/>
          <a:ext cx="6049032" cy="372600"/>
        </p:xfrm>
        <a:graphic>
          <a:graphicData uri="http://schemas.openxmlformats.org/drawingml/2006/table">
            <a:tbl>
              <a:tblPr firstRow="1" bandRow="1">
                <a:tableStyleId>{5C22544A-7EE6-4342-B048-85BDC9FD1C3A}</a:tableStyleId>
              </a:tblPr>
              <a:tblGrid>
                <a:gridCol w="298663">
                  <a:extLst>
                    <a:ext uri="{9D8B030D-6E8A-4147-A177-3AD203B41FA5}">
                      <a16:colId xmlns:a16="http://schemas.microsoft.com/office/drawing/2014/main" val="657570846"/>
                    </a:ext>
                  </a:extLst>
                </a:gridCol>
                <a:gridCol w="349505">
                  <a:extLst>
                    <a:ext uri="{9D8B030D-6E8A-4147-A177-3AD203B41FA5}">
                      <a16:colId xmlns:a16="http://schemas.microsoft.com/office/drawing/2014/main" val="3259894497"/>
                    </a:ext>
                  </a:extLst>
                </a:gridCol>
                <a:gridCol w="477233">
                  <a:extLst>
                    <a:ext uri="{9D8B030D-6E8A-4147-A177-3AD203B41FA5}">
                      <a16:colId xmlns:a16="http://schemas.microsoft.com/office/drawing/2014/main" val="4170535043"/>
                    </a:ext>
                  </a:extLst>
                </a:gridCol>
                <a:gridCol w="430975">
                  <a:extLst>
                    <a:ext uri="{9D8B030D-6E8A-4147-A177-3AD203B41FA5}">
                      <a16:colId xmlns:a16="http://schemas.microsoft.com/office/drawing/2014/main" val="2079070694"/>
                    </a:ext>
                  </a:extLst>
                </a:gridCol>
                <a:gridCol w="465256">
                  <a:extLst>
                    <a:ext uri="{9D8B030D-6E8A-4147-A177-3AD203B41FA5}">
                      <a16:colId xmlns:a16="http://schemas.microsoft.com/office/drawing/2014/main" val="4213315911"/>
                    </a:ext>
                  </a:extLst>
                </a:gridCol>
                <a:gridCol w="411386">
                  <a:extLst>
                    <a:ext uri="{9D8B030D-6E8A-4147-A177-3AD203B41FA5}">
                      <a16:colId xmlns:a16="http://schemas.microsoft.com/office/drawing/2014/main" val="2769999950"/>
                    </a:ext>
                  </a:extLst>
                </a:gridCol>
                <a:gridCol w="471848">
                  <a:extLst>
                    <a:ext uri="{9D8B030D-6E8A-4147-A177-3AD203B41FA5}">
                      <a16:colId xmlns:a16="http://schemas.microsoft.com/office/drawing/2014/main" val="135637185"/>
                    </a:ext>
                  </a:extLst>
                </a:gridCol>
                <a:gridCol w="396818">
                  <a:extLst>
                    <a:ext uri="{9D8B030D-6E8A-4147-A177-3AD203B41FA5}">
                      <a16:colId xmlns:a16="http://schemas.microsoft.com/office/drawing/2014/main" val="3038050475"/>
                    </a:ext>
                  </a:extLst>
                </a:gridCol>
                <a:gridCol w="396818">
                  <a:extLst>
                    <a:ext uri="{9D8B030D-6E8A-4147-A177-3AD203B41FA5}">
                      <a16:colId xmlns:a16="http://schemas.microsoft.com/office/drawing/2014/main" val="1979433044"/>
                    </a:ext>
                  </a:extLst>
                </a:gridCol>
                <a:gridCol w="396818">
                  <a:extLst>
                    <a:ext uri="{9D8B030D-6E8A-4147-A177-3AD203B41FA5}">
                      <a16:colId xmlns:a16="http://schemas.microsoft.com/office/drawing/2014/main" val="4270661649"/>
                    </a:ext>
                  </a:extLst>
                </a:gridCol>
                <a:gridCol w="396818">
                  <a:extLst>
                    <a:ext uri="{9D8B030D-6E8A-4147-A177-3AD203B41FA5}">
                      <a16:colId xmlns:a16="http://schemas.microsoft.com/office/drawing/2014/main" val="3027041370"/>
                    </a:ext>
                  </a:extLst>
                </a:gridCol>
                <a:gridCol w="396818">
                  <a:extLst>
                    <a:ext uri="{9D8B030D-6E8A-4147-A177-3AD203B41FA5}">
                      <a16:colId xmlns:a16="http://schemas.microsoft.com/office/drawing/2014/main" val="2852526216"/>
                    </a:ext>
                  </a:extLst>
                </a:gridCol>
                <a:gridCol w="396818">
                  <a:extLst>
                    <a:ext uri="{9D8B030D-6E8A-4147-A177-3AD203B41FA5}">
                      <a16:colId xmlns:a16="http://schemas.microsoft.com/office/drawing/2014/main" val="103420222"/>
                    </a:ext>
                  </a:extLst>
                </a:gridCol>
                <a:gridCol w="396818">
                  <a:extLst>
                    <a:ext uri="{9D8B030D-6E8A-4147-A177-3AD203B41FA5}">
                      <a16:colId xmlns:a16="http://schemas.microsoft.com/office/drawing/2014/main" val="1470405609"/>
                    </a:ext>
                  </a:extLst>
                </a:gridCol>
                <a:gridCol w="36644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7" name="표 36">
            <a:extLst>
              <a:ext uri="{FF2B5EF4-FFF2-40B4-BE49-F238E27FC236}">
                <a16:creationId xmlns:a16="http://schemas.microsoft.com/office/drawing/2014/main" id="{D9ADE477-6F0C-7D1B-219C-16AE1F3701F6}"/>
              </a:ext>
            </a:extLst>
          </p:cNvPr>
          <p:cNvGraphicFramePr>
            <a:graphicFrameLocks noGrp="1"/>
          </p:cNvGraphicFramePr>
          <p:nvPr>
            <p:extLst>
              <p:ext uri="{D42A27DB-BD31-4B8C-83A1-F6EECF244321}">
                <p14:modId xmlns:p14="http://schemas.microsoft.com/office/powerpoint/2010/main" val="2564773099"/>
              </p:ext>
            </p:extLst>
          </p:nvPr>
        </p:nvGraphicFramePr>
        <p:xfrm>
          <a:off x="368134" y="6864295"/>
          <a:ext cx="6057574" cy="372600"/>
        </p:xfrm>
        <a:graphic>
          <a:graphicData uri="http://schemas.openxmlformats.org/drawingml/2006/table">
            <a:tbl>
              <a:tblPr firstRow="1" bandRow="1">
                <a:tableStyleId>{5C22544A-7EE6-4342-B048-85BDC9FD1C3A}</a:tableStyleId>
              </a:tblPr>
              <a:tblGrid>
                <a:gridCol w="299085">
                  <a:extLst>
                    <a:ext uri="{9D8B030D-6E8A-4147-A177-3AD203B41FA5}">
                      <a16:colId xmlns:a16="http://schemas.microsoft.com/office/drawing/2014/main" val="657570846"/>
                    </a:ext>
                  </a:extLst>
                </a:gridCol>
                <a:gridCol w="349999">
                  <a:extLst>
                    <a:ext uri="{9D8B030D-6E8A-4147-A177-3AD203B41FA5}">
                      <a16:colId xmlns:a16="http://schemas.microsoft.com/office/drawing/2014/main" val="3259894497"/>
                    </a:ext>
                  </a:extLst>
                </a:gridCol>
                <a:gridCol w="473003">
                  <a:extLst>
                    <a:ext uri="{9D8B030D-6E8A-4147-A177-3AD203B41FA5}">
                      <a16:colId xmlns:a16="http://schemas.microsoft.com/office/drawing/2014/main" val="4170535043"/>
                    </a:ext>
                  </a:extLst>
                </a:gridCol>
                <a:gridCol w="431584">
                  <a:extLst>
                    <a:ext uri="{9D8B030D-6E8A-4147-A177-3AD203B41FA5}">
                      <a16:colId xmlns:a16="http://schemas.microsoft.com/office/drawing/2014/main" val="2079070694"/>
                    </a:ext>
                  </a:extLst>
                </a:gridCol>
                <a:gridCol w="465915">
                  <a:extLst>
                    <a:ext uri="{9D8B030D-6E8A-4147-A177-3AD203B41FA5}">
                      <a16:colId xmlns:a16="http://schemas.microsoft.com/office/drawing/2014/main" val="4213315911"/>
                    </a:ext>
                  </a:extLst>
                </a:gridCol>
                <a:gridCol w="416871">
                  <a:extLst>
                    <a:ext uri="{9D8B030D-6E8A-4147-A177-3AD203B41FA5}">
                      <a16:colId xmlns:a16="http://schemas.microsoft.com/office/drawing/2014/main" val="2769999950"/>
                    </a:ext>
                  </a:extLst>
                </a:gridCol>
                <a:gridCol w="472514">
                  <a:extLst>
                    <a:ext uri="{9D8B030D-6E8A-4147-A177-3AD203B41FA5}">
                      <a16:colId xmlns:a16="http://schemas.microsoft.com/office/drawing/2014/main" val="135637185"/>
                    </a:ext>
                  </a:extLst>
                </a:gridCol>
                <a:gridCol w="397378">
                  <a:extLst>
                    <a:ext uri="{9D8B030D-6E8A-4147-A177-3AD203B41FA5}">
                      <a16:colId xmlns:a16="http://schemas.microsoft.com/office/drawing/2014/main" val="3038050475"/>
                    </a:ext>
                  </a:extLst>
                </a:gridCol>
                <a:gridCol w="397378">
                  <a:extLst>
                    <a:ext uri="{9D8B030D-6E8A-4147-A177-3AD203B41FA5}">
                      <a16:colId xmlns:a16="http://schemas.microsoft.com/office/drawing/2014/main" val="1979433044"/>
                    </a:ext>
                  </a:extLst>
                </a:gridCol>
                <a:gridCol w="397378">
                  <a:extLst>
                    <a:ext uri="{9D8B030D-6E8A-4147-A177-3AD203B41FA5}">
                      <a16:colId xmlns:a16="http://schemas.microsoft.com/office/drawing/2014/main" val="4270661649"/>
                    </a:ext>
                  </a:extLst>
                </a:gridCol>
                <a:gridCol w="397378">
                  <a:extLst>
                    <a:ext uri="{9D8B030D-6E8A-4147-A177-3AD203B41FA5}">
                      <a16:colId xmlns:a16="http://schemas.microsoft.com/office/drawing/2014/main" val="3027041370"/>
                    </a:ext>
                  </a:extLst>
                </a:gridCol>
                <a:gridCol w="397378">
                  <a:extLst>
                    <a:ext uri="{9D8B030D-6E8A-4147-A177-3AD203B41FA5}">
                      <a16:colId xmlns:a16="http://schemas.microsoft.com/office/drawing/2014/main" val="2852526216"/>
                    </a:ext>
                  </a:extLst>
                </a:gridCol>
                <a:gridCol w="397378">
                  <a:extLst>
                    <a:ext uri="{9D8B030D-6E8A-4147-A177-3AD203B41FA5}">
                      <a16:colId xmlns:a16="http://schemas.microsoft.com/office/drawing/2014/main" val="103420222"/>
                    </a:ext>
                  </a:extLst>
                </a:gridCol>
                <a:gridCol w="397378">
                  <a:extLst>
                    <a:ext uri="{9D8B030D-6E8A-4147-A177-3AD203B41FA5}">
                      <a16:colId xmlns:a16="http://schemas.microsoft.com/office/drawing/2014/main" val="1470405609"/>
                    </a:ext>
                  </a:extLst>
                </a:gridCol>
                <a:gridCol w="3669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extLst>
              <p:ext uri="{D42A27DB-BD31-4B8C-83A1-F6EECF244321}">
                <p14:modId xmlns:p14="http://schemas.microsoft.com/office/powerpoint/2010/main" val="2651469458"/>
              </p:ext>
            </p:extLst>
          </p:nvPr>
        </p:nvGraphicFramePr>
        <p:xfrm>
          <a:off x="404574" y="1061852"/>
          <a:ext cx="6048848" cy="372600"/>
        </p:xfrm>
        <a:graphic>
          <a:graphicData uri="http://schemas.openxmlformats.org/drawingml/2006/table">
            <a:tbl>
              <a:tblPr firstRow="1" bandRow="1">
                <a:tableStyleId>{5C22544A-7EE6-4342-B048-85BDC9FD1C3A}</a:tableStyleId>
              </a:tblPr>
              <a:tblGrid>
                <a:gridCol w="298654">
                  <a:extLst>
                    <a:ext uri="{9D8B030D-6E8A-4147-A177-3AD203B41FA5}">
                      <a16:colId xmlns:a16="http://schemas.microsoft.com/office/drawing/2014/main" val="657570846"/>
                    </a:ext>
                  </a:extLst>
                </a:gridCol>
                <a:gridCol w="349494">
                  <a:extLst>
                    <a:ext uri="{9D8B030D-6E8A-4147-A177-3AD203B41FA5}">
                      <a16:colId xmlns:a16="http://schemas.microsoft.com/office/drawing/2014/main" val="3259894497"/>
                    </a:ext>
                  </a:extLst>
                </a:gridCol>
                <a:gridCol w="512120">
                  <a:extLst>
                    <a:ext uri="{9D8B030D-6E8A-4147-A177-3AD203B41FA5}">
                      <a16:colId xmlns:a16="http://schemas.microsoft.com/office/drawing/2014/main" val="4170535043"/>
                    </a:ext>
                  </a:extLst>
                </a:gridCol>
                <a:gridCol w="421168">
                  <a:extLst>
                    <a:ext uri="{9D8B030D-6E8A-4147-A177-3AD203B41FA5}">
                      <a16:colId xmlns:a16="http://schemas.microsoft.com/office/drawing/2014/main" val="2079070694"/>
                    </a:ext>
                  </a:extLst>
                </a:gridCol>
                <a:gridCol w="445654">
                  <a:extLst>
                    <a:ext uri="{9D8B030D-6E8A-4147-A177-3AD203B41FA5}">
                      <a16:colId xmlns:a16="http://schemas.microsoft.com/office/drawing/2014/main" val="4213315911"/>
                    </a:ext>
                  </a:extLst>
                </a:gridCol>
                <a:gridCol w="440756">
                  <a:extLst>
                    <a:ext uri="{9D8B030D-6E8A-4147-A177-3AD203B41FA5}">
                      <a16:colId xmlns:a16="http://schemas.microsoft.com/office/drawing/2014/main" val="2769999950"/>
                    </a:ext>
                  </a:extLst>
                </a:gridCol>
                <a:gridCol w="436931">
                  <a:extLst>
                    <a:ext uri="{9D8B030D-6E8A-4147-A177-3AD203B41FA5}">
                      <a16:colId xmlns:a16="http://schemas.microsoft.com/office/drawing/2014/main" val="135637185"/>
                    </a:ext>
                  </a:extLst>
                </a:gridCol>
                <a:gridCol w="396806">
                  <a:extLst>
                    <a:ext uri="{9D8B030D-6E8A-4147-A177-3AD203B41FA5}">
                      <a16:colId xmlns:a16="http://schemas.microsoft.com/office/drawing/2014/main" val="3038050475"/>
                    </a:ext>
                  </a:extLst>
                </a:gridCol>
                <a:gridCol w="396806">
                  <a:extLst>
                    <a:ext uri="{9D8B030D-6E8A-4147-A177-3AD203B41FA5}">
                      <a16:colId xmlns:a16="http://schemas.microsoft.com/office/drawing/2014/main" val="1979433044"/>
                    </a:ext>
                  </a:extLst>
                </a:gridCol>
                <a:gridCol w="396806">
                  <a:extLst>
                    <a:ext uri="{9D8B030D-6E8A-4147-A177-3AD203B41FA5}">
                      <a16:colId xmlns:a16="http://schemas.microsoft.com/office/drawing/2014/main" val="4270661649"/>
                    </a:ext>
                  </a:extLst>
                </a:gridCol>
                <a:gridCol w="396806">
                  <a:extLst>
                    <a:ext uri="{9D8B030D-6E8A-4147-A177-3AD203B41FA5}">
                      <a16:colId xmlns:a16="http://schemas.microsoft.com/office/drawing/2014/main" val="3027041370"/>
                    </a:ext>
                  </a:extLst>
                </a:gridCol>
                <a:gridCol w="396806">
                  <a:extLst>
                    <a:ext uri="{9D8B030D-6E8A-4147-A177-3AD203B41FA5}">
                      <a16:colId xmlns:a16="http://schemas.microsoft.com/office/drawing/2014/main" val="2852526216"/>
                    </a:ext>
                  </a:extLst>
                </a:gridCol>
                <a:gridCol w="396806">
                  <a:extLst>
                    <a:ext uri="{9D8B030D-6E8A-4147-A177-3AD203B41FA5}">
                      <a16:colId xmlns:a16="http://schemas.microsoft.com/office/drawing/2014/main" val="103420222"/>
                    </a:ext>
                  </a:extLst>
                </a:gridCol>
                <a:gridCol w="396806">
                  <a:extLst>
                    <a:ext uri="{9D8B030D-6E8A-4147-A177-3AD203B41FA5}">
                      <a16:colId xmlns:a16="http://schemas.microsoft.com/office/drawing/2014/main" val="1470405609"/>
                    </a:ext>
                  </a:extLst>
                </a:gridCol>
                <a:gridCol w="366429">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
        <p:nvSpPr>
          <p:cNvPr id="7" name="TextBox 6">
            <a:extLst>
              <a:ext uri="{FF2B5EF4-FFF2-40B4-BE49-F238E27FC236}">
                <a16:creationId xmlns:a16="http://schemas.microsoft.com/office/drawing/2014/main" id="{17A760CA-BE6E-8F4C-E260-D59C4A1FC936}"/>
              </a:ext>
            </a:extLst>
          </p:cNvPr>
          <p:cNvSpPr txBox="1"/>
          <p:nvPr/>
        </p:nvSpPr>
        <p:spPr>
          <a:xfrm>
            <a:off x="386389" y="7276753"/>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CH11</a:t>
            </a:r>
          </a:p>
        </p:txBody>
      </p:sp>
      <p:sp>
        <p:nvSpPr>
          <p:cNvPr id="9" name="TextBox 8">
            <a:extLst>
              <a:ext uri="{FF2B5EF4-FFF2-40B4-BE49-F238E27FC236}">
                <a16:creationId xmlns:a16="http://schemas.microsoft.com/office/drawing/2014/main" id="{C75134C3-3CF0-DB68-DF70-B7DF516CB91B}"/>
              </a:ext>
            </a:extLst>
          </p:cNvPr>
          <p:cNvSpPr txBox="1"/>
          <p:nvPr/>
        </p:nvSpPr>
        <p:spPr>
          <a:xfrm>
            <a:off x="380380" y="7907513"/>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CH12</a:t>
            </a:r>
          </a:p>
        </p:txBody>
      </p:sp>
      <p:graphicFrame>
        <p:nvGraphicFramePr>
          <p:cNvPr id="14" name="표 13">
            <a:extLst>
              <a:ext uri="{FF2B5EF4-FFF2-40B4-BE49-F238E27FC236}">
                <a16:creationId xmlns:a16="http://schemas.microsoft.com/office/drawing/2014/main" id="{12F3C28E-1CAE-74D8-447D-F48934F6454C}"/>
              </a:ext>
            </a:extLst>
          </p:cNvPr>
          <p:cNvGraphicFramePr>
            <a:graphicFrameLocks noGrp="1"/>
          </p:cNvGraphicFramePr>
          <p:nvPr>
            <p:extLst>
              <p:ext uri="{D42A27DB-BD31-4B8C-83A1-F6EECF244321}">
                <p14:modId xmlns:p14="http://schemas.microsoft.com/office/powerpoint/2010/main" val="2777105969"/>
              </p:ext>
            </p:extLst>
          </p:nvPr>
        </p:nvGraphicFramePr>
        <p:xfrm>
          <a:off x="368134" y="7494567"/>
          <a:ext cx="6057571" cy="372600"/>
        </p:xfrm>
        <a:graphic>
          <a:graphicData uri="http://schemas.openxmlformats.org/drawingml/2006/table">
            <a:tbl>
              <a:tblPr firstRow="1" bandRow="1">
                <a:tableStyleId>{5C22544A-7EE6-4342-B048-85BDC9FD1C3A}</a:tableStyleId>
              </a:tblPr>
              <a:tblGrid>
                <a:gridCol w="299085">
                  <a:extLst>
                    <a:ext uri="{9D8B030D-6E8A-4147-A177-3AD203B41FA5}">
                      <a16:colId xmlns:a16="http://schemas.microsoft.com/office/drawing/2014/main" val="657570846"/>
                    </a:ext>
                  </a:extLst>
                </a:gridCol>
                <a:gridCol w="349998">
                  <a:extLst>
                    <a:ext uri="{9D8B030D-6E8A-4147-A177-3AD203B41FA5}">
                      <a16:colId xmlns:a16="http://schemas.microsoft.com/office/drawing/2014/main" val="3259894497"/>
                    </a:ext>
                  </a:extLst>
                </a:gridCol>
                <a:gridCol w="469384">
                  <a:extLst>
                    <a:ext uri="{9D8B030D-6E8A-4147-A177-3AD203B41FA5}">
                      <a16:colId xmlns:a16="http://schemas.microsoft.com/office/drawing/2014/main" val="4170535043"/>
                    </a:ext>
                  </a:extLst>
                </a:gridCol>
                <a:gridCol w="430921">
                  <a:extLst>
                    <a:ext uri="{9D8B030D-6E8A-4147-A177-3AD203B41FA5}">
                      <a16:colId xmlns:a16="http://schemas.microsoft.com/office/drawing/2014/main" val="2079070694"/>
                    </a:ext>
                  </a:extLst>
                </a:gridCol>
                <a:gridCol w="421774">
                  <a:extLst>
                    <a:ext uri="{9D8B030D-6E8A-4147-A177-3AD203B41FA5}">
                      <a16:colId xmlns:a16="http://schemas.microsoft.com/office/drawing/2014/main" val="4213315911"/>
                    </a:ext>
                  </a:extLst>
                </a:gridCol>
                <a:gridCol w="456106">
                  <a:extLst>
                    <a:ext uri="{9D8B030D-6E8A-4147-A177-3AD203B41FA5}">
                      <a16:colId xmlns:a16="http://schemas.microsoft.com/office/drawing/2014/main" val="2769999950"/>
                    </a:ext>
                  </a:extLst>
                </a:gridCol>
                <a:gridCol w="481700">
                  <a:extLst>
                    <a:ext uri="{9D8B030D-6E8A-4147-A177-3AD203B41FA5}">
                      <a16:colId xmlns:a16="http://schemas.microsoft.com/office/drawing/2014/main" val="135637185"/>
                    </a:ext>
                  </a:extLst>
                </a:gridCol>
                <a:gridCol w="397378">
                  <a:extLst>
                    <a:ext uri="{9D8B030D-6E8A-4147-A177-3AD203B41FA5}">
                      <a16:colId xmlns:a16="http://schemas.microsoft.com/office/drawing/2014/main" val="3038050475"/>
                    </a:ext>
                  </a:extLst>
                </a:gridCol>
                <a:gridCol w="397378">
                  <a:extLst>
                    <a:ext uri="{9D8B030D-6E8A-4147-A177-3AD203B41FA5}">
                      <a16:colId xmlns:a16="http://schemas.microsoft.com/office/drawing/2014/main" val="1979433044"/>
                    </a:ext>
                  </a:extLst>
                </a:gridCol>
                <a:gridCol w="397378">
                  <a:extLst>
                    <a:ext uri="{9D8B030D-6E8A-4147-A177-3AD203B41FA5}">
                      <a16:colId xmlns:a16="http://schemas.microsoft.com/office/drawing/2014/main" val="4270661649"/>
                    </a:ext>
                  </a:extLst>
                </a:gridCol>
                <a:gridCol w="397378">
                  <a:extLst>
                    <a:ext uri="{9D8B030D-6E8A-4147-A177-3AD203B41FA5}">
                      <a16:colId xmlns:a16="http://schemas.microsoft.com/office/drawing/2014/main" val="3027041370"/>
                    </a:ext>
                  </a:extLst>
                </a:gridCol>
                <a:gridCol w="397378">
                  <a:extLst>
                    <a:ext uri="{9D8B030D-6E8A-4147-A177-3AD203B41FA5}">
                      <a16:colId xmlns:a16="http://schemas.microsoft.com/office/drawing/2014/main" val="2852526216"/>
                    </a:ext>
                  </a:extLst>
                </a:gridCol>
                <a:gridCol w="397378">
                  <a:extLst>
                    <a:ext uri="{9D8B030D-6E8A-4147-A177-3AD203B41FA5}">
                      <a16:colId xmlns:a16="http://schemas.microsoft.com/office/drawing/2014/main" val="103420222"/>
                    </a:ext>
                  </a:extLst>
                </a:gridCol>
                <a:gridCol w="397378">
                  <a:extLst>
                    <a:ext uri="{9D8B030D-6E8A-4147-A177-3AD203B41FA5}">
                      <a16:colId xmlns:a16="http://schemas.microsoft.com/office/drawing/2014/main" val="1470405609"/>
                    </a:ext>
                  </a:extLst>
                </a:gridCol>
                <a:gridCol w="3669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0E167636-EA29-A587-2B08-2CF0B8595AC2}"/>
              </a:ext>
            </a:extLst>
          </p:cNvPr>
          <p:cNvGraphicFramePr>
            <a:graphicFrameLocks noGrp="1"/>
          </p:cNvGraphicFramePr>
          <p:nvPr>
            <p:extLst>
              <p:ext uri="{D42A27DB-BD31-4B8C-83A1-F6EECF244321}">
                <p14:modId xmlns:p14="http://schemas.microsoft.com/office/powerpoint/2010/main" val="1630658383"/>
              </p:ext>
            </p:extLst>
          </p:nvPr>
        </p:nvGraphicFramePr>
        <p:xfrm>
          <a:off x="366524" y="8122095"/>
          <a:ext cx="6056481" cy="372600"/>
        </p:xfrm>
        <a:graphic>
          <a:graphicData uri="http://schemas.openxmlformats.org/drawingml/2006/table">
            <a:tbl>
              <a:tblPr firstRow="1" bandRow="1">
                <a:tableStyleId>{5C22544A-7EE6-4342-B048-85BDC9FD1C3A}</a:tableStyleId>
              </a:tblPr>
              <a:tblGrid>
                <a:gridCol w="299030">
                  <a:extLst>
                    <a:ext uri="{9D8B030D-6E8A-4147-A177-3AD203B41FA5}">
                      <a16:colId xmlns:a16="http://schemas.microsoft.com/office/drawing/2014/main" val="657570846"/>
                    </a:ext>
                  </a:extLst>
                </a:gridCol>
                <a:gridCol w="349935">
                  <a:extLst>
                    <a:ext uri="{9D8B030D-6E8A-4147-A177-3AD203B41FA5}">
                      <a16:colId xmlns:a16="http://schemas.microsoft.com/office/drawing/2014/main" val="3259894497"/>
                    </a:ext>
                  </a:extLst>
                </a:gridCol>
                <a:gridCol w="469299">
                  <a:extLst>
                    <a:ext uri="{9D8B030D-6E8A-4147-A177-3AD203B41FA5}">
                      <a16:colId xmlns:a16="http://schemas.microsoft.com/office/drawing/2014/main" val="4170535043"/>
                    </a:ext>
                  </a:extLst>
                </a:gridCol>
                <a:gridCol w="416132">
                  <a:extLst>
                    <a:ext uri="{9D8B030D-6E8A-4147-A177-3AD203B41FA5}">
                      <a16:colId xmlns:a16="http://schemas.microsoft.com/office/drawing/2014/main" val="2079070694"/>
                    </a:ext>
                  </a:extLst>
                </a:gridCol>
                <a:gridCol w="431505">
                  <a:extLst>
                    <a:ext uri="{9D8B030D-6E8A-4147-A177-3AD203B41FA5}">
                      <a16:colId xmlns:a16="http://schemas.microsoft.com/office/drawing/2014/main" val="4213315911"/>
                    </a:ext>
                  </a:extLst>
                </a:gridCol>
                <a:gridCol w="456023">
                  <a:extLst>
                    <a:ext uri="{9D8B030D-6E8A-4147-A177-3AD203B41FA5}">
                      <a16:colId xmlns:a16="http://schemas.microsoft.com/office/drawing/2014/main" val="2769999950"/>
                    </a:ext>
                  </a:extLst>
                </a:gridCol>
                <a:gridCol w="486517">
                  <a:extLst>
                    <a:ext uri="{9D8B030D-6E8A-4147-A177-3AD203B41FA5}">
                      <a16:colId xmlns:a16="http://schemas.microsoft.com/office/drawing/2014/main" val="135637185"/>
                    </a:ext>
                  </a:extLst>
                </a:gridCol>
                <a:gridCol w="397307">
                  <a:extLst>
                    <a:ext uri="{9D8B030D-6E8A-4147-A177-3AD203B41FA5}">
                      <a16:colId xmlns:a16="http://schemas.microsoft.com/office/drawing/2014/main" val="3038050475"/>
                    </a:ext>
                  </a:extLst>
                </a:gridCol>
                <a:gridCol w="397307">
                  <a:extLst>
                    <a:ext uri="{9D8B030D-6E8A-4147-A177-3AD203B41FA5}">
                      <a16:colId xmlns:a16="http://schemas.microsoft.com/office/drawing/2014/main" val="1979433044"/>
                    </a:ext>
                  </a:extLst>
                </a:gridCol>
                <a:gridCol w="397307">
                  <a:extLst>
                    <a:ext uri="{9D8B030D-6E8A-4147-A177-3AD203B41FA5}">
                      <a16:colId xmlns:a16="http://schemas.microsoft.com/office/drawing/2014/main" val="4270661649"/>
                    </a:ext>
                  </a:extLst>
                </a:gridCol>
                <a:gridCol w="397307">
                  <a:extLst>
                    <a:ext uri="{9D8B030D-6E8A-4147-A177-3AD203B41FA5}">
                      <a16:colId xmlns:a16="http://schemas.microsoft.com/office/drawing/2014/main" val="3027041370"/>
                    </a:ext>
                  </a:extLst>
                </a:gridCol>
                <a:gridCol w="397307">
                  <a:extLst>
                    <a:ext uri="{9D8B030D-6E8A-4147-A177-3AD203B41FA5}">
                      <a16:colId xmlns:a16="http://schemas.microsoft.com/office/drawing/2014/main" val="2852526216"/>
                    </a:ext>
                  </a:extLst>
                </a:gridCol>
                <a:gridCol w="397307">
                  <a:extLst>
                    <a:ext uri="{9D8B030D-6E8A-4147-A177-3AD203B41FA5}">
                      <a16:colId xmlns:a16="http://schemas.microsoft.com/office/drawing/2014/main" val="103420222"/>
                    </a:ext>
                  </a:extLst>
                </a:gridCol>
                <a:gridCol w="397307">
                  <a:extLst>
                    <a:ext uri="{9D8B030D-6E8A-4147-A177-3AD203B41FA5}">
                      <a16:colId xmlns:a16="http://schemas.microsoft.com/office/drawing/2014/main" val="1470405609"/>
                    </a:ext>
                  </a:extLst>
                </a:gridCol>
                <a:gridCol w="3668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0388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813" y="845990"/>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CLOCK GEN</a:t>
            </a:r>
          </a:p>
        </p:txBody>
      </p:sp>
      <p:sp>
        <p:nvSpPr>
          <p:cNvPr id="10" name="TextBox 9">
            <a:extLst>
              <a:ext uri="{FF2B5EF4-FFF2-40B4-BE49-F238E27FC236}">
                <a16:creationId xmlns:a16="http://schemas.microsoft.com/office/drawing/2014/main" id="{EAEED484-96C9-A12A-5DB3-D85F7CC0667C}"/>
              </a:ext>
            </a:extLst>
          </p:cNvPr>
          <p:cNvSpPr txBox="1"/>
          <p:nvPr/>
        </p:nvSpPr>
        <p:spPr>
          <a:xfrm>
            <a:off x="404552" y="3416213"/>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2266715929"/>
              </p:ext>
            </p:extLst>
          </p:nvPr>
        </p:nvGraphicFramePr>
        <p:xfrm>
          <a:off x="404565" y="1622931"/>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zero level in logic high value ‘1’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zero level in logic low value ‘0’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5" name="표 4">
            <a:extLst>
              <a:ext uri="{FF2B5EF4-FFF2-40B4-BE49-F238E27FC236}">
                <a16:creationId xmlns:a16="http://schemas.microsoft.com/office/drawing/2014/main" id="{B13AB831-E474-2674-9CE6-6FE19C852BFF}"/>
              </a:ext>
            </a:extLst>
          </p:cNvPr>
          <p:cNvGraphicFramePr>
            <a:graphicFrameLocks noGrp="1"/>
          </p:cNvGraphicFramePr>
          <p:nvPr>
            <p:extLst>
              <p:ext uri="{D42A27DB-BD31-4B8C-83A1-F6EECF244321}">
                <p14:modId xmlns:p14="http://schemas.microsoft.com/office/powerpoint/2010/main" val="729508303"/>
              </p:ext>
            </p:extLst>
          </p:nvPr>
        </p:nvGraphicFramePr>
        <p:xfrm>
          <a:off x="404565" y="1106638"/>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B61058E0-349E-EE56-BBEE-21A44BFE4610}"/>
              </a:ext>
            </a:extLst>
          </p:cNvPr>
          <p:cNvGraphicFramePr>
            <a:graphicFrameLocks noGrp="1"/>
          </p:cNvGraphicFramePr>
          <p:nvPr>
            <p:extLst>
              <p:ext uri="{D42A27DB-BD31-4B8C-83A1-F6EECF244321}">
                <p14:modId xmlns:p14="http://schemas.microsoft.com/office/powerpoint/2010/main" val="182656279"/>
              </p:ext>
            </p:extLst>
          </p:nvPr>
        </p:nvGraphicFramePr>
        <p:xfrm>
          <a:off x="404552" y="4199191"/>
          <a:ext cx="6048610" cy="133027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and the first bit of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incoming from the XC. The setting value should be larger than the 1-bit serial data length time at which the XC is sending to the daisied XDs. So, the proper value depends on the serial baudrate of the XC and can be set between (1-bit time + 3 MCLKs) and (1-bit time + 5 MCLKs). If the proper value will be set, then the serial data value will be broken.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66900A33-CD88-F481-B5E9-CC1FBD071BB0}"/>
              </a:ext>
            </a:extLst>
          </p:cNvPr>
          <p:cNvGraphicFramePr>
            <a:graphicFrameLocks noGrp="1"/>
          </p:cNvGraphicFramePr>
          <p:nvPr>
            <p:extLst>
              <p:ext uri="{D42A27DB-BD31-4B8C-83A1-F6EECF244321}">
                <p14:modId xmlns:p14="http://schemas.microsoft.com/office/powerpoint/2010/main" val="1286851013"/>
              </p:ext>
            </p:extLst>
          </p:nvPr>
        </p:nvGraphicFramePr>
        <p:xfrm>
          <a:off x="404552" y="3678552"/>
          <a:ext cx="6048623"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[6:0]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4188129280"/>
              </p:ext>
            </p:extLst>
          </p:nvPr>
        </p:nvGraphicFramePr>
        <p:xfrm>
          <a:off x="404560" y="2020504"/>
          <a:ext cx="6061539" cy="1729910"/>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The proper value according to the frame frequency is showed in the Table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FLL function (= The MCLK is locking at the current frequency)</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44392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04565" y="3653933"/>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527437561"/>
              </p:ext>
            </p:extLst>
          </p:nvPr>
        </p:nvGraphicFramePr>
        <p:xfrm>
          <a:off x="404564" y="4388064"/>
          <a:ext cx="6057230" cy="109311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676772509"/>
              </p:ext>
            </p:extLst>
          </p:nvPr>
        </p:nvGraphicFramePr>
        <p:xfrm>
          <a:off x="404813" y="1110958"/>
          <a:ext cx="6057236"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9">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8">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4">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3169889339"/>
              </p:ext>
            </p:extLst>
          </p:nvPr>
        </p:nvGraphicFramePr>
        <p:xfrm>
          <a:off x="404813" y="1553915"/>
          <a:ext cx="6056982" cy="372600"/>
        </p:xfrm>
        <a:graphic>
          <a:graphicData uri="http://schemas.openxmlformats.org/drawingml/2006/table">
            <a:tbl>
              <a:tblPr firstRow="1" bandRow="1">
                <a:tableStyleId>{5C22544A-7EE6-4342-B048-85BDC9FD1C3A}</a:tableStyleId>
              </a:tblPr>
              <a:tblGrid>
                <a:gridCol w="291937">
                  <a:extLst>
                    <a:ext uri="{9D8B030D-6E8A-4147-A177-3AD203B41FA5}">
                      <a16:colId xmlns:a16="http://schemas.microsoft.com/office/drawing/2014/main" val="657570846"/>
                    </a:ext>
                  </a:extLst>
                </a:gridCol>
                <a:gridCol w="342863">
                  <a:extLst>
                    <a:ext uri="{9D8B030D-6E8A-4147-A177-3AD203B41FA5}">
                      <a16:colId xmlns:a16="http://schemas.microsoft.com/office/drawing/2014/main" val="3259894497"/>
                    </a:ext>
                  </a:extLst>
                </a:gridCol>
                <a:gridCol w="468140">
                  <a:extLst>
                    <a:ext uri="{9D8B030D-6E8A-4147-A177-3AD203B41FA5}">
                      <a16:colId xmlns:a16="http://schemas.microsoft.com/office/drawing/2014/main" val="4170535043"/>
                    </a:ext>
                  </a:extLst>
                </a:gridCol>
                <a:gridCol w="844121">
                  <a:extLst>
                    <a:ext uri="{9D8B030D-6E8A-4147-A177-3AD203B41FA5}">
                      <a16:colId xmlns:a16="http://schemas.microsoft.com/office/drawing/2014/main" val="2079070694"/>
                    </a:ext>
                  </a:extLst>
                </a:gridCol>
                <a:gridCol w="384820">
                  <a:extLst>
                    <a:ext uri="{9D8B030D-6E8A-4147-A177-3AD203B41FA5}">
                      <a16:colId xmlns:a16="http://schemas.microsoft.com/office/drawing/2014/main" val="4213315911"/>
                    </a:ext>
                  </a:extLst>
                </a:gridCol>
                <a:gridCol w="377084">
                  <a:extLst>
                    <a:ext uri="{9D8B030D-6E8A-4147-A177-3AD203B41FA5}">
                      <a16:colId xmlns:a16="http://schemas.microsoft.com/office/drawing/2014/main" val="2769999950"/>
                    </a:ext>
                  </a:extLst>
                </a:gridCol>
                <a:gridCol w="427038">
                  <a:extLst>
                    <a:ext uri="{9D8B030D-6E8A-4147-A177-3AD203B41FA5}">
                      <a16:colId xmlns:a16="http://schemas.microsoft.com/office/drawing/2014/main" val="135637185"/>
                    </a:ext>
                  </a:extLst>
                </a:gridCol>
                <a:gridCol w="362375">
                  <a:extLst>
                    <a:ext uri="{9D8B030D-6E8A-4147-A177-3AD203B41FA5}">
                      <a16:colId xmlns:a16="http://schemas.microsoft.com/office/drawing/2014/main" val="3038050475"/>
                    </a:ext>
                  </a:extLst>
                </a:gridCol>
                <a:gridCol w="374785">
                  <a:extLst>
                    <a:ext uri="{9D8B030D-6E8A-4147-A177-3AD203B41FA5}">
                      <a16:colId xmlns:a16="http://schemas.microsoft.com/office/drawing/2014/main" val="1979433044"/>
                    </a:ext>
                  </a:extLst>
                </a:gridCol>
                <a:gridCol w="369821">
                  <a:extLst>
                    <a:ext uri="{9D8B030D-6E8A-4147-A177-3AD203B41FA5}">
                      <a16:colId xmlns:a16="http://schemas.microsoft.com/office/drawing/2014/main" val="4270661649"/>
                    </a:ext>
                  </a:extLst>
                </a:gridCol>
                <a:gridCol w="377266">
                  <a:extLst>
                    <a:ext uri="{9D8B030D-6E8A-4147-A177-3AD203B41FA5}">
                      <a16:colId xmlns:a16="http://schemas.microsoft.com/office/drawing/2014/main" val="3027041370"/>
                    </a:ext>
                  </a:extLst>
                </a:gridCol>
                <a:gridCol w="367338">
                  <a:extLst>
                    <a:ext uri="{9D8B030D-6E8A-4147-A177-3AD203B41FA5}">
                      <a16:colId xmlns:a16="http://schemas.microsoft.com/office/drawing/2014/main" val="2852526216"/>
                    </a:ext>
                  </a:extLst>
                </a:gridCol>
                <a:gridCol w="352448">
                  <a:extLst>
                    <a:ext uri="{9D8B030D-6E8A-4147-A177-3AD203B41FA5}">
                      <a16:colId xmlns:a16="http://schemas.microsoft.com/office/drawing/2014/main" val="103420222"/>
                    </a:ext>
                  </a:extLst>
                </a:gridCol>
                <a:gridCol w="352447">
                  <a:extLst>
                    <a:ext uri="{9D8B030D-6E8A-4147-A177-3AD203B41FA5}">
                      <a16:colId xmlns:a16="http://schemas.microsoft.com/office/drawing/2014/main" val="1470405609"/>
                    </a:ext>
                  </a:extLst>
                </a:gridCol>
                <a:gridCol w="36449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MCLK_LOCK_CNT_E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FLL_RANGE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2" name="표 1">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4008989618"/>
              </p:ext>
            </p:extLst>
          </p:nvPr>
        </p:nvGraphicFramePr>
        <p:xfrm>
          <a:off x="404564" y="3919647"/>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395296" y="563007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2796214401"/>
              </p:ext>
            </p:extLst>
          </p:nvPr>
        </p:nvGraphicFramePr>
        <p:xfrm>
          <a:off x="404560" y="6801217"/>
          <a:ext cx="6057234" cy="74133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2585236455"/>
              </p:ext>
            </p:extLst>
          </p:nvPr>
        </p:nvGraphicFramePr>
        <p:xfrm>
          <a:off x="404563" y="5895694"/>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0" name="표 19">
            <a:extLst>
              <a:ext uri="{FF2B5EF4-FFF2-40B4-BE49-F238E27FC236}">
                <a16:creationId xmlns:a16="http://schemas.microsoft.com/office/drawing/2014/main" id="{CA38009C-691C-F856-97AB-9932CA71D19C}"/>
              </a:ext>
            </a:extLst>
          </p:cNvPr>
          <p:cNvGraphicFramePr>
            <a:graphicFrameLocks noGrp="1"/>
          </p:cNvGraphicFramePr>
          <p:nvPr>
            <p:extLst>
              <p:ext uri="{D42A27DB-BD31-4B8C-83A1-F6EECF244321}">
                <p14:modId xmlns:p14="http://schemas.microsoft.com/office/powerpoint/2010/main" val="7754120"/>
              </p:ext>
            </p:extLst>
          </p:nvPr>
        </p:nvGraphicFramePr>
        <p:xfrm>
          <a:off x="404563" y="6338651"/>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FBA9DCD4-67BC-7E05-90A4-5BF60B42ED0E}"/>
              </a:ext>
            </a:extLst>
          </p:cNvPr>
          <p:cNvSpPr txBox="1"/>
          <p:nvPr/>
        </p:nvSpPr>
        <p:spPr>
          <a:xfrm>
            <a:off x="404561" y="7704538"/>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MONITOR</a:t>
            </a:r>
          </a:p>
        </p:txBody>
      </p:sp>
      <p:graphicFrame>
        <p:nvGraphicFramePr>
          <p:cNvPr id="5" name="표 4">
            <a:extLst>
              <a:ext uri="{FF2B5EF4-FFF2-40B4-BE49-F238E27FC236}">
                <a16:creationId xmlns:a16="http://schemas.microsoft.com/office/drawing/2014/main" id="{BE9875BD-3E16-0D2C-E589-03746C97C0E8}"/>
              </a:ext>
            </a:extLst>
          </p:cNvPr>
          <p:cNvGraphicFramePr>
            <a:graphicFrameLocks noGrp="1"/>
          </p:cNvGraphicFramePr>
          <p:nvPr>
            <p:extLst>
              <p:ext uri="{D42A27DB-BD31-4B8C-83A1-F6EECF244321}">
                <p14:modId xmlns:p14="http://schemas.microsoft.com/office/powerpoint/2010/main" val="2418895558"/>
              </p:ext>
            </p:extLst>
          </p:nvPr>
        </p:nvGraphicFramePr>
        <p:xfrm>
          <a:off x="404560" y="8438669"/>
          <a:ext cx="6057230" cy="4656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OSC_FLL_FLT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10" name="표 9">
            <a:extLst>
              <a:ext uri="{FF2B5EF4-FFF2-40B4-BE49-F238E27FC236}">
                <a16:creationId xmlns:a16="http://schemas.microsoft.com/office/drawing/2014/main" id="{C005AFEB-827F-FE3D-AB63-4692433B4B4C}"/>
              </a:ext>
            </a:extLst>
          </p:cNvPr>
          <p:cNvGraphicFramePr>
            <a:graphicFrameLocks noGrp="1"/>
          </p:cNvGraphicFramePr>
          <p:nvPr>
            <p:extLst>
              <p:ext uri="{D42A27DB-BD31-4B8C-83A1-F6EECF244321}">
                <p14:modId xmlns:p14="http://schemas.microsoft.com/office/powerpoint/2010/main" val="2106772234"/>
              </p:ext>
            </p:extLst>
          </p:nvPr>
        </p:nvGraphicFramePr>
        <p:xfrm>
          <a:off x="404560" y="7970252"/>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OSC_FLL_FLT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2888931845"/>
              </p:ext>
            </p:extLst>
          </p:nvPr>
        </p:nvGraphicFramePr>
        <p:xfrm>
          <a:off x="395875" y="1734018"/>
          <a:ext cx="6063640" cy="381272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DDIO_DIS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TEST_EN=1, the D</a:t>
                      </a:r>
                      <a:r>
                        <a:rPr lang="en-US" altLang="ko-KR" sz="900" b="0" baseline="-25000" dirty="0">
                          <a:solidFill>
                            <a:schemeClr val="tx1"/>
                          </a:solidFill>
                          <a:latin typeface="Arial" panose="020B0604020202020204" pitchFamily="34" charset="0"/>
                          <a:ea typeface="+mn-ea"/>
                          <a:cs typeface="Arial" panose="020B0604020202020204" pitchFamily="34" charset="0"/>
                        </a:rPr>
                        <a:t>DIO </a:t>
                      </a:r>
                      <a:r>
                        <a:rPr lang="en-US" altLang="ko-KR" sz="900" b="0" dirty="0">
                          <a:solidFill>
                            <a:schemeClr val="tx1"/>
                          </a:solidFill>
                          <a:latin typeface="Arial" panose="020B0604020202020204" pitchFamily="34" charset="0"/>
                          <a:ea typeface="+mn-ea"/>
                          <a:cs typeface="Arial" panose="020B0604020202020204" pitchFamily="34" charset="0"/>
                        </a:rPr>
                        <a:t>pin’s output will be disabled so that the read access of registers is possible without any mulfunction even though the MCLK32 clock is driven on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749921"/>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MCLK32_O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32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Normal operation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MAX_CURR_VREF register value is continuously output to all internal current control logics regardless of the vsync.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534791393"/>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480813">
                  <a:extLst>
                    <a:ext uri="{9D8B030D-6E8A-4147-A177-3AD203B41FA5}">
                      <a16:colId xmlns:a16="http://schemas.microsoft.com/office/drawing/2014/main" val="4213315911"/>
                    </a:ext>
                  </a:extLst>
                </a:gridCol>
                <a:gridCol w="390182">
                  <a:extLst>
                    <a:ext uri="{9D8B030D-6E8A-4147-A177-3AD203B41FA5}">
                      <a16:colId xmlns:a16="http://schemas.microsoft.com/office/drawing/2014/main" val="2769999950"/>
                    </a:ext>
                  </a:extLst>
                </a:gridCol>
                <a:gridCol w="504473">
                  <a:extLst>
                    <a:ext uri="{9D8B030D-6E8A-4147-A177-3AD203B41FA5}">
                      <a16:colId xmlns:a16="http://schemas.microsoft.com/office/drawing/2014/main" val="135637185"/>
                    </a:ext>
                  </a:extLst>
                </a:gridCol>
                <a:gridCol w="244449">
                  <a:extLst>
                    <a:ext uri="{9D8B030D-6E8A-4147-A177-3AD203B41FA5}">
                      <a16:colId xmlns:a16="http://schemas.microsoft.com/office/drawing/2014/main" val="3038050475"/>
                    </a:ext>
                  </a:extLst>
                </a:gridCol>
                <a:gridCol w="678291">
                  <a:extLst>
                    <a:ext uri="{9D8B030D-6E8A-4147-A177-3AD203B41FA5}">
                      <a16:colId xmlns:a16="http://schemas.microsoft.com/office/drawing/2014/main" val="1979433044"/>
                    </a:ext>
                  </a:extLst>
                </a:gridCol>
                <a:gridCol w="528895">
                  <a:extLst>
                    <a:ext uri="{9D8B030D-6E8A-4147-A177-3AD203B41FA5}">
                      <a16:colId xmlns:a16="http://schemas.microsoft.com/office/drawing/2014/main" val="4270661649"/>
                    </a:ext>
                  </a:extLst>
                </a:gridCol>
                <a:gridCol w="410409">
                  <a:extLst>
                    <a:ext uri="{9D8B030D-6E8A-4147-A177-3AD203B41FA5}">
                      <a16:colId xmlns:a16="http://schemas.microsoft.com/office/drawing/2014/main" val="3027041370"/>
                    </a:ext>
                  </a:extLst>
                </a:gridCol>
                <a:gridCol w="244449">
                  <a:extLst>
                    <a:ext uri="{9D8B030D-6E8A-4147-A177-3AD203B41FA5}">
                      <a16:colId xmlns:a16="http://schemas.microsoft.com/office/drawing/2014/main" val="2852526216"/>
                    </a:ext>
                  </a:extLst>
                </a:gridCol>
                <a:gridCol w="244449">
                  <a:extLst>
                    <a:ext uri="{9D8B030D-6E8A-4147-A177-3AD203B41FA5}">
                      <a16:colId xmlns:a16="http://schemas.microsoft.com/office/drawing/2014/main" val="103420222"/>
                    </a:ext>
                  </a:extLst>
                </a:gridCol>
                <a:gridCol w="244449">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DDIO_DIS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MCLK32_O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395873" y="5681756"/>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988917884"/>
              </p:ext>
            </p:extLst>
          </p:nvPr>
        </p:nvGraphicFramePr>
        <p:xfrm>
          <a:off x="404813" y="7148051"/>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04813" y="6884965"/>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395876" y="7605929"/>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395876" y="8309360"/>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3480829460"/>
              </p:ext>
            </p:extLst>
          </p:nvPr>
        </p:nvGraphicFramePr>
        <p:xfrm>
          <a:off x="399529" y="8575976"/>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909199182"/>
              </p:ext>
            </p:extLst>
          </p:nvPr>
        </p:nvGraphicFramePr>
        <p:xfrm>
          <a:off x="395877" y="6400190"/>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3693139627"/>
              </p:ext>
            </p:extLst>
          </p:nvPr>
        </p:nvGraphicFramePr>
        <p:xfrm>
          <a:off x="395877" y="5953286"/>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3737829085"/>
              </p:ext>
            </p:extLst>
          </p:nvPr>
        </p:nvGraphicFramePr>
        <p:xfrm>
          <a:off x="399529" y="7871117"/>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120787"/>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3433756438"/>
              </p:ext>
            </p:extLst>
          </p:nvPr>
        </p:nvGraphicFramePr>
        <p:xfrm>
          <a:off x="399057" y="3385561"/>
          <a:ext cx="6050312" cy="372600"/>
        </p:xfrm>
        <a:graphic>
          <a:graphicData uri="http://schemas.openxmlformats.org/drawingml/2006/table">
            <a:tbl>
              <a:tblPr firstRow="1" bandRow="1">
                <a:tableStyleId>{5C22544A-7EE6-4342-B048-85BDC9FD1C3A}</a:tableStyleId>
              </a:tblPr>
              <a:tblGrid>
                <a:gridCol w="339182">
                  <a:extLst>
                    <a:ext uri="{9D8B030D-6E8A-4147-A177-3AD203B41FA5}">
                      <a16:colId xmlns:a16="http://schemas.microsoft.com/office/drawing/2014/main" val="657570846"/>
                    </a:ext>
                  </a:extLst>
                </a:gridCol>
                <a:gridCol w="397916">
                  <a:extLst>
                    <a:ext uri="{9D8B030D-6E8A-4147-A177-3AD203B41FA5}">
                      <a16:colId xmlns:a16="http://schemas.microsoft.com/office/drawing/2014/main" val="3259894497"/>
                    </a:ext>
                  </a:extLst>
                </a:gridCol>
                <a:gridCol w="460444">
                  <a:extLst>
                    <a:ext uri="{9D8B030D-6E8A-4147-A177-3AD203B41FA5}">
                      <a16:colId xmlns:a16="http://schemas.microsoft.com/office/drawing/2014/main" val="4170535043"/>
                    </a:ext>
                  </a:extLst>
                </a:gridCol>
                <a:gridCol w="403599">
                  <a:extLst>
                    <a:ext uri="{9D8B030D-6E8A-4147-A177-3AD203B41FA5}">
                      <a16:colId xmlns:a16="http://schemas.microsoft.com/office/drawing/2014/main" val="2079070694"/>
                    </a:ext>
                  </a:extLst>
                </a:gridCol>
                <a:gridCol w="426336">
                  <a:extLst>
                    <a:ext uri="{9D8B030D-6E8A-4147-A177-3AD203B41FA5}">
                      <a16:colId xmlns:a16="http://schemas.microsoft.com/office/drawing/2014/main" val="4213315911"/>
                    </a:ext>
                  </a:extLst>
                </a:gridCol>
                <a:gridCol w="420652">
                  <a:extLst>
                    <a:ext uri="{9D8B030D-6E8A-4147-A177-3AD203B41FA5}">
                      <a16:colId xmlns:a16="http://schemas.microsoft.com/office/drawing/2014/main" val="2769999950"/>
                    </a:ext>
                  </a:extLst>
                </a:gridCol>
                <a:gridCol w="414968">
                  <a:extLst>
                    <a:ext uri="{9D8B030D-6E8A-4147-A177-3AD203B41FA5}">
                      <a16:colId xmlns:a16="http://schemas.microsoft.com/office/drawing/2014/main" val="135637185"/>
                    </a:ext>
                  </a:extLst>
                </a:gridCol>
                <a:gridCol w="420652">
                  <a:extLst>
                    <a:ext uri="{9D8B030D-6E8A-4147-A177-3AD203B41FA5}">
                      <a16:colId xmlns:a16="http://schemas.microsoft.com/office/drawing/2014/main" val="3038050475"/>
                    </a:ext>
                  </a:extLst>
                </a:gridCol>
                <a:gridCol w="414968">
                  <a:extLst>
                    <a:ext uri="{9D8B030D-6E8A-4147-A177-3AD203B41FA5}">
                      <a16:colId xmlns:a16="http://schemas.microsoft.com/office/drawing/2014/main" val="1979433044"/>
                    </a:ext>
                  </a:extLst>
                </a:gridCol>
                <a:gridCol w="393957">
                  <a:extLst>
                    <a:ext uri="{9D8B030D-6E8A-4147-A177-3AD203B41FA5}">
                      <a16:colId xmlns:a16="http://schemas.microsoft.com/office/drawing/2014/main" val="4270661649"/>
                    </a:ext>
                  </a:extLst>
                </a:gridCol>
                <a:gridCol w="423278">
                  <a:extLst>
                    <a:ext uri="{9D8B030D-6E8A-4147-A177-3AD203B41FA5}">
                      <a16:colId xmlns:a16="http://schemas.microsoft.com/office/drawing/2014/main" val="3027041370"/>
                    </a:ext>
                  </a:extLst>
                </a:gridCol>
                <a:gridCol w="423278">
                  <a:extLst>
                    <a:ext uri="{9D8B030D-6E8A-4147-A177-3AD203B41FA5}">
                      <a16:colId xmlns:a16="http://schemas.microsoft.com/office/drawing/2014/main" val="2852526216"/>
                    </a:ext>
                  </a:extLst>
                </a:gridCol>
                <a:gridCol w="423278">
                  <a:extLst>
                    <a:ext uri="{9D8B030D-6E8A-4147-A177-3AD203B41FA5}">
                      <a16:colId xmlns:a16="http://schemas.microsoft.com/office/drawing/2014/main" val="103420222"/>
                    </a:ext>
                  </a:extLst>
                </a:gridCol>
                <a:gridCol w="342442">
                  <a:extLst>
                    <a:ext uri="{9D8B030D-6E8A-4147-A177-3AD203B41FA5}">
                      <a16:colId xmlns:a16="http://schemas.microsoft.com/office/drawing/2014/main" val="1470405609"/>
                    </a:ext>
                  </a:extLst>
                </a:gridCol>
                <a:gridCol w="3453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1177929795"/>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 [5:0]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395873" y="988283"/>
            <a:ext cx="642487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259773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821406666"/>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3883758506"/>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441172095"/>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3927362796"/>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980406535"/>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3780845616"/>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133152123"/>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2646001020"/>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2744910554"/>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341961047"/>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2227908836"/>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690709076"/>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2044290852"/>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1669939130"/>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916114987"/>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8" name="object 9">
            <a:extLst>
              <a:ext uri="{FF2B5EF4-FFF2-40B4-BE49-F238E27FC236}">
                <a16:creationId xmlns:a16="http://schemas.microsoft.com/office/drawing/2014/main" id="{9F189BD7-D622-4E4F-3672-36BC4415B3D3}"/>
              </a:ext>
            </a:extLst>
          </p:cNvPr>
          <p:cNvSpPr txBox="1"/>
          <p:nvPr/>
        </p:nvSpPr>
        <p:spPr>
          <a:xfrm>
            <a:off x="413545" y="8237376"/>
            <a:ext cx="6039890" cy="334920"/>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30" name="object 84">
            <a:extLst>
              <a:ext uri="{FF2B5EF4-FFF2-40B4-BE49-F238E27FC236}">
                <a16:creationId xmlns:a16="http://schemas.microsoft.com/office/drawing/2014/main" id="{438BECE6-CD34-AEDC-93C5-5BAB662EE8D5}"/>
              </a:ext>
            </a:extLst>
          </p:cNvPr>
          <p:cNvSpPr txBox="1"/>
          <p:nvPr/>
        </p:nvSpPr>
        <p:spPr>
          <a:xfrm>
            <a:off x="2274838" y="4810721"/>
            <a:ext cx="2308324"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a:t>
            </a:r>
            <a:r>
              <a:rPr lang="en-US" sz="900" b="1" spc="15" dirty="0">
                <a:solidFill>
                  <a:prstClr val="black"/>
                </a:solidFill>
                <a:latin typeface="Arial" panose="020B0604020202020204" pitchFamily="34" charset="0"/>
                <a:cs typeface="Arial" panose="020B0604020202020204" pitchFamily="34" charset="0"/>
              </a:rPr>
              <a:t>ure</a:t>
            </a:r>
            <a:r>
              <a:rPr kumimoji="0" lang="en-US" sz="900" b="1" spc="15" dirty="0">
                <a:solidFill>
                  <a:prstClr val="black"/>
                </a:solidFill>
                <a:latin typeface="Arial" panose="020B0604020202020204" pitchFamily="34" charset="0"/>
                <a:ea typeface="+mn-ea"/>
                <a:cs typeface="Arial" panose="020B0604020202020204" pitchFamily="34" charset="0"/>
              </a:rPr>
              <a:t> 15.  Reflow Soldering information</a:t>
            </a:r>
          </a:p>
        </p:txBody>
      </p:sp>
      <p:graphicFrame>
        <p:nvGraphicFramePr>
          <p:cNvPr id="31" name="object 8">
            <a:extLst>
              <a:ext uri="{FF2B5EF4-FFF2-40B4-BE49-F238E27FC236}">
                <a16:creationId xmlns:a16="http://schemas.microsoft.com/office/drawing/2014/main" id="{E3D38743-D012-DD02-21FF-2BAE052DB7B5}"/>
              </a:ext>
            </a:extLst>
          </p:cNvPr>
          <p:cNvGraphicFramePr>
            <a:graphicFrameLocks noGrp="1"/>
          </p:cNvGraphicFramePr>
          <p:nvPr>
            <p:extLst>
              <p:ext uri="{D42A27DB-BD31-4B8C-83A1-F6EECF244321}">
                <p14:modId xmlns:p14="http://schemas.microsoft.com/office/powerpoint/2010/main" val="2477977152"/>
              </p:ext>
            </p:extLst>
          </p:nvPr>
        </p:nvGraphicFramePr>
        <p:xfrm>
          <a:off x="940927" y="5451764"/>
          <a:ext cx="5023180" cy="1945788"/>
        </p:xfrm>
        <a:graphic>
          <a:graphicData uri="http://schemas.openxmlformats.org/drawingml/2006/table">
            <a:tbl>
              <a:tblPr firstRow="1" bandRow="1">
                <a:tableStyleId>{2D5ABB26-0587-4C30-8999-92F81FD0307C}</a:tableStyleId>
              </a:tblPr>
              <a:tblGrid>
                <a:gridCol w="2571868">
                  <a:extLst>
                    <a:ext uri="{9D8B030D-6E8A-4147-A177-3AD203B41FA5}">
                      <a16:colId xmlns:a16="http://schemas.microsoft.com/office/drawing/2014/main" val="20000"/>
                    </a:ext>
                  </a:extLst>
                </a:gridCol>
                <a:gridCol w="2451312">
                  <a:extLst>
                    <a:ext uri="{9D8B030D-6E8A-4147-A177-3AD203B41FA5}">
                      <a16:colId xmlns:a16="http://schemas.microsoft.com/office/drawing/2014/main" val="20001"/>
                    </a:ext>
                  </a:extLst>
                </a:gridCol>
              </a:tblGrid>
              <a:tr h="244349">
                <a:tc>
                  <a:txBody>
                    <a:body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952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44349">
                <a:tc>
                  <a:txBody>
                    <a:bodyPr/>
                    <a:lstStyle/>
                    <a:p>
                      <a:pPr marL="68580" algn="l">
                        <a:lnSpc>
                          <a:spcPct val="100000"/>
                        </a:lnSpc>
                        <a:spcBef>
                          <a:spcPts val="35"/>
                        </a:spcBef>
                      </a:pPr>
                      <a:r>
                        <a:rPr sz="900" spc="-15" dirty="0">
                          <a:latin typeface="Arial" panose="020B0604020202020204" pitchFamily="34" charset="0"/>
                          <a:cs typeface="Arial" panose="020B0604020202020204" pitchFamily="34" charset="0"/>
                        </a:rPr>
                        <a:t>Average</a:t>
                      </a:r>
                      <a:r>
                        <a:rPr sz="900" spc="-5"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ramp-up</a:t>
                      </a:r>
                      <a:r>
                        <a:rPr sz="900"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rate</a:t>
                      </a:r>
                      <a:r>
                        <a:rPr lang="en-US" sz="900" spc="-10"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(217</a:t>
                      </a:r>
                      <a:r>
                        <a:rPr sz="900" spc="5"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a:t>
                      </a:r>
                      <a:r>
                        <a:rPr lang="en-US" sz="900" spc="-5" dirty="0">
                          <a:latin typeface="Arial" panose="020B0604020202020204" pitchFamily="34" charset="0"/>
                          <a:cs typeface="Arial" panose="020B0604020202020204" pitchFamily="34" charset="0"/>
                        </a:rPr>
                        <a:t> </a:t>
                      </a:r>
                      <a:r>
                        <a:rPr sz="900" spc="-260"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to</a:t>
                      </a:r>
                      <a:r>
                        <a:rPr sz="900"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Peak)</a:t>
                      </a:r>
                      <a:endParaRPr sz="900" dirty="0">
                        <a:latin typeface="Arial" panose="020B0604020202020204" pitchFamily="34" charset="0"/>
                        <a:cs typeface="Arial" panose="020B0604020202020204" pitchFamily="34" charset="0"/>
                      </a:endParaRPr>
                    </a:p>
                  </a:txBody>
                  <a:tcPr marL="0" marR="0" marT="4353" marB="0" anchor="ctr">
                    <a:lnL w="317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ct val="100000"/>
                        </a:lnSpc>
                        <a:spcBef>
                          <a:spcPts val="35"/>
                        </a:spcBef>
                      </a:pPr>
                      <a:r>
                        <a:rPr sz="900" spc="-10" dirty="0">
                          <a:latin typeface="Arial" panose="020B0604020202020204" pitchFamily="34" charset="0"/>
                          <a:cs typeface="Arial" panose="020B0604020202020204" pitchFamily="34" charset="0"/>
                        </a:rPr>
                        <a:t>3℃/second</a:t>
                      </a:r>
                      <a:r>
                        <a:rPr sz="900" spc="-25"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max</a:t>
                      </a:r>
                      <a:r>
                        <a:rPr lang="en-US" sz="900" spc="-10" dirty="0">
                          <a:latin typeface="Arial" panose="020B0604020202020204" pitchFamily="34" charset="0"/>
                          <a:cs typeface="Arial" panose="020B0604020202020204" pitchFamily="34" charset="0"/>
                        </a:rPr>
                        <a:t>.</a:t>
                      </a:r>
                      <a:endParaRPr sz="900" dirty="0">
                        <a:latin typeface="Arial" panose="020B0604020202020204" pitchFamily="34" charset="0"/>
                        <a:cs typeface="Arial" panose="020B0604020202020204" pitchFamily="34" charset="0"/>
                      </a:endParaRPr>
                    </a:p>
                  </a:txBody>
                  <a:tcPr marL="70499" marR="0" marT="4353" marB="0" anchor="ctr">
                    <a:lnL w="952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44973">
                <a:tc>
                  <a:txBody>
                    <a:bodyPr/>
                    <a:lstStyle/>
                    <a:p>
                      <a:pPr marL="68580" algn="l">
                        <a:lnSpc>
                          <a:spcPct val="100000"/>
                        </a:lnSpc>
                        <a:spcBef>
                          <a:spcPts val="30"/>
                        </a:spcBef>
                      </a:pPr>
                      <a:r>
                        <a:rPr sz="900" spc="-10" dirty="0">
                          <a:latin typeface="Arial" panose="020B0604020202020204" pitchFamily="34" charset="0"/>
                          <a:cs typeface="Arial" panose="020B0604020202020204" pitchFamily="34" charset="0"/>
                        </a:rPr>
                        <a:t>T</a:t>
                      </a:r>
                      <a:r>
                        <a:rPr sz="900" dirty="0">
                          <a:latin typeface="Arial" panose="020B0604020202020204" pitchFamily="34" charset="0"/>
                          <a:cs typeface="Arial" panose="020B0604020202020204" pitchFamily="34" charset="0"/>
                        </a:rPr>
                        <a:t>i</a:t>
                      </a:r>
                      <a:r>
                        <a:rPr sz="900" spc="5" dirty="0">
                          <a:latin typeface="Arial" panose="020B0604020202020204" pitchFamily="34" charset="0"/>
                          <a:cs typeface="Arial" panose="020B0604020202020204" pitchFamily="34" charset="0"/>
                        </a:rPr>
                        <a:t>m</a:t>
                      </a:r>
                      <a:r>
                        <a:rPr sz="900" dirty="0">
                          <a:latin typeface="Arial" panose="020B0604020202020204" pitchFamily="34" charset="0"/>
                          <a:cs typeface="Arial" panose="020B0604020202020204" pitchFamily="34" charset="0"/>
                        </a:rPr>
                        <a:t>e</a:t>
                      </a:r>
                      <a:r>
                        <a:rPr sz="900" spc="-5" dirty="0">
                          <a:latin typeface="Arial" panose="020B0604020202020204" pitchFamily="34" charset="0"/>
                          <a:cs typeface="Arial" panose="020B0604020202020204" pitchFamily="34" charset="0"/>
                        </a:rPr>
                        <a:t> </a:t>
                      </a:r>
                      <a:r>
                        <a:rPr sz="900" dirty="0">
                          <a:latin typeface="Arial" panose="020B0604020202020204" pitchFamily="34" charset="0"/>
                          <a:cs typeface="Arial" panose="020B0604020202020204" pitchFamily="34" charset="0"/>
                        </a:rPr>
                        <a:t>of</a:t>
                      </a:r>
                      <a:r>
                        <a:rPr sz="900" spc="-10" dirty="0">
                          <a:latin typeface="Arial" panose="020B0604020202020204" pitchFamily="34" charset="0"/>
                          <a:cs typeface="Arial" panose="020B0604020202020204" pitchFamily="34" charset="0"/>
                        </a:rPr>
                        <a:t> </a:t>
                      </a:r>
                      <a:r>
                        <a:rPr sz="900" dirty="0">
                          <a:latin typeface="Arial" panose="020B0604020202020204" pitchFamily="34" charset="0"/>
                          <a:cs typeface="Arial" panose="020B0604020202020204" pitchFamily="34" charset="0"/>
                        </a:rPr>
                        <a:t>P</a:t>
                      </a:r>
                      <a:r>
                        <a:rPr sz="900" spc="-15" dirty="0">
                          <a:latin typeface="Arial" panose="020B0604020202020204" pitchFamily="34" charset="0"/>
                          <a:cs typeface="Arial" panose="020B0604020202020204" pitchFamily="34" charset="0"/>
                        </a:rPr>
                        <a:t>r</a:t>
                      </a:r>
                      <a:r>
                        <a:rPr sz="900" spc="-5" dirty="0">
                          <a:latin typeface="Arial" panose="020B0604020202020204" pitchFamily="34" charset="0"/>
                          <a:cs typeface="Arial" panose="020B0604020202020204" pitchFamily="34" charset="0"/>
                        </a:rPr>
                        <a:t>e</a:t>
                      </a:r>
                      <a:r>
                        <a:rPr sz="900" spc="15" dirty="0">
                          <a:latin typeface="Arial" panose="020B0604020202020204" pitchFamily="34" charset="0"/>
                          <a:cs typeface="Arial" panose="020B0604020202020204" pitchFamily="34" charset="0"/>
                        </a:rPr>
                        <a:t>h</a:t>
                      </a:r>
                      <a:r>
                        <a:rPr sz="900" spc="-5" dirty="0">
                          <a:latin typeface="Arial" panose="020B0604020202020204" pitchFamily="34" charset="0"/>
                          <a:cs typeface="Arial" panose="020B0604020202020204" pitchFamily="34" charset="0"/>
                        </a:rPr>
                        <a:t>e</a:t>
                      </a:r>
                      <a:r>
                        <a:rPr sz="900" spc="-10" dirty="0">
                          <a:latin typeface="Arial" panose="020B0604020202020204" pitchFamily="34" charset="0"/>
                          <a:cs typeface="Arial" panose="020B0604020202020204" pitchFamily="34" charset="0"/>
                        </a:rPr>
                        <a:t>a</a:t>
                      </a:r>
                      <a:r>
                        <a:rPr sz="900" dirty="0">
                          <a:latin typeface="Arial" panose="020B0604020202020204" pitchFamily="34" charset="0"/>
                          <a:cs typeface="Arial" panose="020B0604020202020204" pitchFamily="34" charset="0"/>
                        </a:rPr>
                        <a:t>t </a:t>
                      </a:r>
                      <a:r>
                        <a:rPr sz="900" spc="-10" dirty="0">
                          <a:latin typeface="Arial" panose="020B0604020202020204" pitchFamily="34" charset="0"/>
                          <a:cs typeface="Arial" panose="020B0604020202020204" pitchFamily="34" charset="0"/>
                        </a:rPr>
                        <a:t>t</a:t>
                      </a:r>
                      <a:r>
                        <a:rPr sz="900" spc="5" dirty="0">
                          <a:latin typeface="Arial" panose="020B0604020202020204" pitchFamily="34" charset="0"/>
                          <a:cs typeface="Arial" panose="020B0604020202020204" pitchFamily="34" charset="0"/>
                        </a:rPr>
                        <a:t>e</a:t>
                      </a:r>
                      <a:r>
                        <a:rPr sz="900" spc="-5" dirty="0">
                          <a:latin typeface="Arial" panose="020B0604020202020204" pitchFamily="34" charset="0"/>
                          <a:cs typeface="Arial" panose="020B0604020202020204" pitchFamily="34" charset="0"/>
                        </a:rPr>
                        <a:t>m</a:t>
                      </a:r>
                      <a:r>
                        <a:rPr sz="900" dirty="0">
                          <a:latin typeface="Arial" panose="020B0604020202020204" pitchFamily="34" charset="0"/>
                          <a:cs typeface="Arial" panose="020B0604020202020204" pitchFamily="34" charset="0"/>
                        </a:rPr>
                        <a:t>p</a:t>
                      </a:r>
                      <a:r>
                        <a:rPr lang="en-US" sz="900"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a:t>
                      </a:r>
                      <a:r>
                        <a:rPr sz="900" spc="-10" dirty="0">
                          <a:latin typeface="Arial" panose="020B0604020202020204" pitchFamily="34" charset="0"/>
                          <a:cs typeface="Arial" panose="020B0604020202020204" pitchFamily="34" charset="0"/>
                        </a:rPr>
                        <a:t>f</a:t>
                      </a:r>
                      <a:r>
                        <a:rPr sz="900" spc="-15" dirty="0">
                          <a:latin typeface="Arial" panose="020B0604020202020204" pitchFamily="34" charset="0"/>
                          <a:cs typeface="Arial" panose="020B0604020202020204" pitchFamily="34" charset="0"/>
                        </a:rPr>
                        <a:t>r</a:t>
                      </a:r>
                      <a:r>
                        <a:rPr sz="900" dirty="0">
                          <a:latin typeface="Arial" panose="020B0604020202020204" pitchFamily="34" charset="0"/>
                          <a:cs typeface="Arial" panose="020B0604020202020204" pitchFamily="34" charset="0"/>
                        </a:rPr>
                        <a:t>om</a:t>
                      </a:r>
                      <a:r>
                        <a:rPr sz="900" spc="-5"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1</a:t>
                      </a:r>
                      <a:r>
                        <a:rPr sz="900" dirty="0">
                          <a:latin typeface="Arial" panose="020B0604020202020204" pitchFamily="34" charset="0"/>
                          <a:cs typeface="Arial" panose="020B0604020202020204" pitchFamily="34" charset="0"/>
                        </a:rPr>
                        <a:t>50</a:t>
                      </a:r>
                      <a:r>
                        <a:rPr sz="900" spc="10" dirty="0">
                          <a:latin typeface="Arial" panose="020B0604020202020204" pitchFamily="34" charset="0"/>
                          <a:cs typeface="Arial" panose="020B0604020202020204" pitchFamily="34" charset="0"/>
                        </a:rPr>
                        <a:t> </a:t>
                      </a:r>
                      <a:r>
                        <a:rPr sz="900" dirty="0">
                          <a:latin typeface="Arial" panose="020B0604020202020204" pitchFamily="34" charset="0"/>
                          <a:cs typeface="Arial" panose="020B0604020202020204" pitchFamily="34" charset="0"/>
                        </a:rPr>
                        <a:t>℃</a:t>
                      </a:r>
                      <a:r>
                        <a:rPr lang="en-US" sz="900" dirty="0">
                          <a:latin typeface="Arial" panose="020B0604020202020204" pitchFamily="34" charset="0"/>
                          <a:cs typeface="Arial" panose="020B0604020202020204" pitchFamily="34" charset="0"/>
                        </a:rPr>
                        <a:t> </a:t>
                      </a:r>
                      <a:r>
                        <a:rPr sz="900" spc="-275" dirty="0">
                          <a:latin typeface="Arial" panose="020B0604020202020204" pitchFamily="34" charset="0"/>
                          <a:cs typeface="Arial" panose="020B0604020202020204" pitchFamily="34" charset="0"/>
                        </a:rPr>
                        <a:t> </a:t>
                      </a:r>
                      <a:r>
                        <a:rPr lang="en-US" sz="900" spc="-275"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t</a:t>
                      </a:r>
                      <a:r>
                        <a:rPr sz="900" dirty="0">
                          <a:latin typeface="Arial" panose="020B0604020202020204" pitchFamily="34" charset="0"/>
                          <a:cs typeface="Arial" panose="020B0604020202020204" pitchFamily="34" charset="0"/>
                        </a:rPr>
                        <a:t>o 200</a:t>
                      </a:r>
                      <a:r>
                        <a:rPr sz="900" spc="5" dirty="0">
                          <a:latin typeface="Arial" panose="020B0604020202020204" pitchFamily="34" charset="0"/>
                          <a:cs typeface="Arial" panose="020B0604020202020204" pitchFamily="34" charset="0"/>
                        </a:rPr>
                        <a:t> </a:t>
                      </a:r>
                      <a:r>
                        <a:rPr sz="900" dirty="0">
                          <a:latin typeface="Arial" panose="020B0604020202020204" pitchFamily="34" charset="0"/>
                          <a:cs typeface="Arial" panose="020B0604020202020204" pitchFamily="34" charset="0"/>
                        </a:rPr>
                        <a:t>℃</a:t>
                      </a:r>
                      <a:r>
                        <a:rPr lang="en-US" sz="900" dirty="0">
                          <a:latin typeface="Arial" panose="020B0604020202020204" pitchFamily="34" charset="0"/>
                          <a:cs typeface="Arial" panose="020B0604020202020204" pitchFamily="34" charset="0"/>
                        </a:rPr>
                        <a:t>)</a:t>
                      </a:r>
                      <a:endParaRPr sz="900" dirty="0">
                        <a:latin typeface="Arial" panose="020B0604020202020204" pitchFamily="34" charset="0"/>
                        <a:cs typeface="Arial" panose="020B0604020202020204" pitchFamily="34" charset="0"/>
                      </a:endParaRPr>
                    </a:p>
                  </a:txBody>
                  <a:tcPr marL="0" marR="0" marT="3730" marB="0" anchor="ctr">
                    <a:lnL w="317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ts val="1170"/>
                        </a:lnSpc>
                      </a:pPr>
                      <a:r>
                        <a:rPr sz="900" spc="-5" dirty="0">
                          <a:latin typeface="Arial" panose="020B0604020202020204" pitchFamily="34" charset="0"/>
                          <a:cs typeface="Arial" panose="020B0604020202020204" pitchFamily="34" charset="0"/>
                        </a:rPr>
                        <a:t>60</a:t>
                      </a:r>
                      <a:r>
                        <a:rPr lang="en-US" sz="900" spc="-5" dirty="0">
                          <a:latin typeface="Arial" panose="020B0604020202020204" pitchFamily="34" charset="0"/>
                          <a:cs typeface="Arial" panose="020B0604020202020204" pitchFamily="34" charset="0"/>
                        </a:rPr>
                        <a:t> ~ </a:t>
                      </a:r>
                      <a:r>
                        <a:rPr sz="900" spc="-5" dirty="0">
                          <a:latin typeface="Arial" panose="020B0604020202020204" pitchFamily="34" charset="0"/>
                          <a:cs typeface="Arial" panose="020B0604020202020204" pitchFamily="34" charset="0"/>
                        </a:rPr>
                        <a:t>120</a:t>
                      </a:r>
                      <a:r>
                        <a:rPr sz="900" spc="-45"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second</a:t>
                      </a:r>
                      <a:endParaRPr sz="900" dirty="0">
                        <a:latin typeface="Arial" panose="020B0604020202020204" pitchFamily="34" charset="0"/>
                        <a:cs typeface="Arial" panose="020B0604020202020204" pitchFamily="34" charset="0"/>
                      </a:endParaRPr>
                    </a:p>
                  </a:txBody>
                  <a:tcPr marL="70499" marR="0" marT="0" marB="0" anchor="ctr">
                    <a:lnL w="952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46216">
                <a:tc>
                  <a:txBody>
                    <a:bodyPr/>
                    <a:lstStyle/>
                    <a:p>
                      <a:pPr marL="68580" algn="l">
                        <a:lnSpc>
                          <a:spcPct val="100000"/>
                        </a:lnSpc>
                        <a:spcBef>
                          <a:spcPts val="30"/>
                        </a:spcBef>
                      </a:pPr>
                      <a:r>
                        <a:rPr sz="900" spc="-5" dirty="0">
                          <a:latin typeface="Arial" panose="020B0604020202020204" pitchFamily="34" charset="0"/>
                          <a:cs typeface="Arial" panose="020B0604020202020204" pitchFamily="34" charset="0"/>
                        </a:rPr>
                        <a:t>Time</a:t>
                      </a:r>
                      <a:r>
                        <a:rPr sz="900" spc="-15"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to</a:t>
                      </a:r>
                      <a:r>
                        <a:rPr sz="900" spc="-5" dirty="0">
                          <a:latin typeface="Arial" panose="020B0604020202020204" pitchFamily="34" charset="0"/>
                          <a:cs typeface="Arial" panose="020B0604020202020204" pitchFamily="34" charset="0"/>
                        </a:rPr>
                        <a:t> </a:t>
                      </a:r>
                      <a:r>
                        <a:rPr sz="900" dirty="0">
                          <a:latin typeface="Arial" panose="020B0604020202020204" pitchFamily="34" charset="0"/>
                          <a:cs typeface="Arial" panose="020B0604020202020204" pitchFamily="34" charset="0"/>
                        </a:rPr>
                        <a:t>be</a:t>
                      </a:r>
                      <a:r>
                        <a:rPr sz="900" spc="-10"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maintained</a:t>
                      </a:r>
                      <a:r>
                        <a:rPr sz="900" spc="-10"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above</a:t>
                      </a:r>
                      <a:r>
                        <a:rPr lang="en-US" sz="900" spc="-5"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217</a:t>
                      </a:r>
                      <a:r>
                        <a:rPr sz="900" spc="5"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a:t>
                      </a:r>
                      <a:endParaRPr sz="900" dirty="0">
                        <a:latin typeface="Arial" panose="020B0604020202020204" pitchFamily="34" charset="0"/>
                        <a:cs typeface="Arial" panose="020B0604020202020204" pitchFamily="34" charset="0"/>
                      </a:endParaRPr>
                    </a:p>
                  </a:txBody>
                  <a:tcPr marL="0" marR="0" marT="3730" marB="0" anchor="ctr">
                    <a:lnL w="317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ts val="1185"/>
                        </a:lnSpc>
                      </a:pPr>
                      <a:r>
                        <a:rPr sz="900" spc="-5" dirty="0">
                          <a:latin typeface="Arial" panose="020B0604020202020204" pitchFamily="34" charset="0"/>
                          <a:cs typeface="Arial" panose="020B0604020202020204" pitchFamily="34" charset="0"/>
                        </a:rPr>
                        <a:t>60</a:t>
                      </a:r>
                      <a:r>
                        <a:rPr lang="en-US" sz="900" spc="-5" dirty="0">
                          <a:latin typeface="Arial" panose="020B0604020202020204" pitchFamily="34" charset="0"/>
                          <a:cs typeface="Arial" panose="020B0604020202020204" pitchFamily="34" charset="0"/>
                        </a:rPr>
                        <a:t> ~ </a:t>
                      </a:r>
                      <a:r>
                        <a:rPr sz="900" spc="-5" dirty="0">
                          <a:latin typeface="Arial" panose="020B0604020202020204" pitchFamily="34" charset="0"/>
                          <a:cs typeface="Arial" panose="020B0604020202020204" pitchFamily="34" charset="0"/>
                        </a:rPr>
                        <a:t>150</a:t>
                      </a:r>
                      <a:r>
                        <a:rPr sz="900" spc="-45"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second</a:t>
                      </a:r>
                      <a:endParaRPr sz="900" dirty="0">
                        <a:latin typeface="Arial" panose="020B0604020202020204" pitchFamily="34" charset="0"/>
                        <a:cs typeface="Arial" panose="020B0604020202020204" pitchFamily="34" charset="0"/>
                      </a:endParaRPr>
                    </a:p>
                  </a:txBody>
                  <a:tcPr marL="70499" marR="0" marT="0" marB="0" anchor="ctr">
                    <a:lnL w="952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4349">
                <a:tc>
                  <a:txBody>
                    <a:bodyPr/>
                    <a:lstStyle/>
                    <a:p>
                      <a:pPr marL="68580" algn="l">
                        <a:lnSpc>
                          <a:spcPts val="1185"/>
                        </a:lnSpc>
                      </a:pPr>
                      <a:r>
                        <a:rPr sz="900" spc="-10" dirty="0">
                          <a:latin typeface="Arial" panose="020B0604020202020204" pitchFamily="34" charset="0"/>
                          <a:cs typeface="Arial" panose="020B0604020202020204" pitchFamily="34" charset="0"/>
                        </a:rPr>
                        <a:t>Peak</a:t>
                      </a:r>
                      <a:r>
                        <a:rPr sz="900" spc="-30"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temperature</a:t>
                      </a:r>
                      <a:endParaRPr sz="9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ct val="100000"/>
                        </a:lnSpc>
                        <a:spcBef>
                          <a:spcPts val="30"/>
                        </a:spcBef>
                      </a:pPr>
                      <a:r>
                        <a:rPr sz="900" spc="-5" dirty="0">
                          <a:latin typeface="Arial" panose="020B0604020202020204" pitchFamily="34" charset="0"/>
                          <a:cs typeface="Arial" panose="020B0604020202020204" pitchFamily="34" charset="0"/>
                        </a:rPr>
                        <a:t>260</a:t>
                      </a:r>
                      <a:r>
                        <a:rPr sz="900" spc="-25"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+5/-0</a:t>
                      </a:r>
                      <a:r>
                        <a:rPr sz="900" spc="195"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a:t>
                      </a:r>
                      <a:endParaRPr sz="900" dirty="0">
                        <a:latin typeface="Arial" panose="020B0604020202020204" pitchFamily="34" charset="0"/>
                        <a:cs typeface="Arial" panose="020B0604020202020204" pitchFamily="34" charset="0"/>
                      </a:endParaRPr>
                    </a:p>
                  </a:txBody>
                  <a:tcPr marL="70499" marR="0" marT="3730" marB="0" anchor="ctr">
                    <a:lnL w="952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4349">
                <a:tc>
                  <a:txBody>
                    <a:bodyPr/>
                    <a:lstStyle/>
                    <a:p>
                      <a:pPr marL="68580" algn="l">
                        <a:lnSpc>
                          <a:spcPct val="100000"/>
                        </a:lnSpc>
                        <a:spcBef>
                          <a:spcPts val="30"/>
                        </a:spcBef>
                      </a:pPr>
                      <a:r>
                        <a:rPr sz="900" spc="-5" dirty="0">
                          <a:latin typeface="Arial" panose="020B0604020202020204" pitchFamily="34" charset="0"/>
                          <a:cs typeface="Arial" panose="020B0604020202020204" pitchFamily="34" charset="0"/>
                        </a:rPr>
                        <a:t>Time</a:t>
                      </a:r>
                      <a:r>
                        <a:rPr sz="900" spc="-15"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within 5</a:t>
                      </a:r>
                      <a:r>
                        <a:rPr sz="900"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a:t>
                      </a:r>
                      <a:r>
                        <a:rPr lang="en-US" sz="900" spc="-5"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of</a:t>
                      </a:r>
                      <a:r>
                        <a:rPr sz="900" spc="-15" dirty="0">
                          <a:latin typeface="Arial" panose="020B0604020202020204" pitchFamily="34" charset="0"/>
                          <a:cs typeface="Arial" panose="020B0604020202020204" pitchFamily="34" charset="0"/>
                        </a:rPr>
                        <a:t> </a:t>
                      </a:r>
                      <a:r>
                        <a:rPr sz="900" dirty="0">
                          <a:latin typeface="Arial" panose="020B0604020202020204" pitchFamily="34" charset="0"/>
                          <a:cs typeface="Arial" panose="020B0604020202020204" pitchFamily="34" charset="0"/>
                        </a:rPr>
                        <a:t>actual</a:t>
                      </a:r>
                      <a:r>
                        <a:rPr sz="900" spc="-5" dirty="0">
                          <a:latin typeface="Arial" panose="020B0604020202020204" pitchFamily="34" charset="0"/>
                          <a:cs typeface="Arial" panose="020B0604020202020204" pitchFamily="34" charset="0"/>
                        </a:rPr>
                        <a:t> peak </a:t>
                      </a:r>
                      <a:r>
                        <a:rPr sz="900" spc="-10" dirty="0">
                          <a:latin typeface="Arial" panose="020B0604020202020204" pitchFamily="34" charset="0"/>
                          <a:cs typeface="Arial" panose="020B0604020202020204" pitchFamily="34" charset="0"/>
                        </a:rPr>
                        <a:t>temp</a:t>
                      </a:r>
                      <a:endParaRPr sz="900" dirty="0">
                        <a:latin typeface="Arial" panose="020B0604020202020204" pitchFamily="34" charset="0"/>
                        <a:cs typeface="Arial" panose="020B0604020202020204" pitchFamily="34" charset="0"/>
                      </a:endParaRPr>
                    </a:p>
                  </a:txBody>
                  <a:tcPr marL="0" marR="0" marT="3730" marB="0" anchor="ctr">
                    <a:lnL w="317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ts val="1185"/>
                        </a:lnSpc>
                      </a:pPr>
                      <a:r>
                        <a:rPr sz="900" spc="-5" dirty="0">
                          <a:latin typeface="Arial" panose="020B0604020202020204" pitchFamily="34" charset="0"/>
                          <a:cs typeface="Arial" panose="020B0604020202020204" pitchFamily="34" charset="0"/>
                        </a:rPr>
                        <a:t>30</a:t>
                      </a:r>
                      <a:r>
                        <a:rPr sz="900" spc="-45"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second</a:t>
                      </a:r>
                      <a:endParaRPr sz="900" dirty="0">
                        <a:latin typeface="Arial" panose="020B0604020202020204" pitchFamily="34" charset="0"/>
                        <a:cs typeface="Arial" panose="020B0604020202020204" pitchFamily="34" charset="0"/>
                      </a:endParaRPr>
                    </a:p>
                  </a:txBody>
                  <a:tcPr marL="70499" marR="0" marT="0" marB="0" anchor="ctr">
                    <a:lnL w="952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4349">
                <a:tc>
                  <a:txBody>
                    <a:bodyPr/>
                    <a:lstStyle/>
                    <a:p>
                      <a:pPr marL="68580" algn="l">
                        <a:lnSpc>
                          <a:spcPts val="1170"/>
                        </a:lnSpc>
                      </a:pPr>
                      <a:r>
                        <a:rPr sz="900" spc="-5" dirty="0">
                          <a:latin typeface="Arial" panose="020B0604020202020204" pitchFamily="34" charset="0"/>
                          <a:cs typeface="Arial" panose="020B0604020202020204" pitchFamily="34" charset="0"/>
                        </a:rPr>
                        <a:t>Ramp-down</a:t>
                      </a:r>
                      <a:r>
                        <a:rPr sz="900" spc="-25" dirty="0">
                          <a:latin typeface="Arial" panose="020B0604020202020204" pitchFamily="34" charset="0"/>
                          <a:cs typeface="Arial" panose="020B0604020202020204" pitchFamily="34" charset="0"/>
                        </a:rPr>
                        <a:t> </a:t>
                      </a:r>
                      <a:r>
                        <a:rPr sz="900" spc="-15" dirty="0">
                          <a:latin typeface="Arial" panose="020B0604020202020204" pitchFamily="34" charset="0"/>
                          <a:cs typeface="Arial" panose="020B0604020202020204" pitchFamily="34" charset="0"/>
                        </a:rPr>
                        <a:t>rate</a:t>
                      </a:r>
                      <a:endParaRPr sz="9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tc>
                  <a:txBody>
                    <a:bodyPr/>
                    <a:lstStyle/>
                    <a:p>
                      <a:pPr marL="68580" algn="l">
                        <a:lnSpc>
                          <a:spcPct val="100000"/>
                        </a:lnSpc>
                        <a:spcBef>
                          <a:spcPts val="30"/>
                        </a:spcBef>
                      </a:pPr>
                      <a:r>
                        <a:rPr sz="900" spc="-5" dirty="0">
                          <a:latin typeface="Arial" panose="020B0604020202020204" pitchFamily="34" charset="0"/>
                          <a:cs typeface="Arial" panose="020B0604020202020204" pitchFamily="34" charset="0"/>
                        </a:rPr>
                        <a:t>6</a:t>
                      </a:r>
                      <a:r>
                        <a:rPr sz="900" spc="190"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℃/second</a:t>
                      </a:r>
                      <a:r>
                        <a:rPr sz="900" spc="-20"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max.</a:t>
                      </a:r>
                      <a:endParaRPr sz="900" dirty="0">
                        <a:latin typeface="Arial" panose="020B0604020202020204" pitchFamily="34" charset="0"/>
                        <a:cs typeface="Arial" panose="020B0604020202020204" pitchFamily="34" charset="0"/>
                      </a:endParaRPr>
                    </a:p>
                  </a:txBody>
                  <a:tcPr marL="70499" marR="0" marT="3730" marB="0" anchor="ctr">
                    <a:lnL w="952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32854">
                <a:tc>
                  <a:txBody>
                    <a:bodyPr/>
                    <a:lstStyle/>
                    <a:p>
                      <a:pPr marL="68580" algn="l">
                        <a:lnSpc>
                          <a:spcPct val="100000"/>
                        </a:lnSpc>
                        <a:spcBef>
                          <a:spcPts val="30"/>
                        </a:spcBef>
                      </a:pPr>
                      <a:r>
                        <a:rPr sz="900" spc="-10" dirty="0">
                          <a:latin typeface="Arial" panose="020B0604020202020204" pitchFamily="34" charset="0"/>
                          <a:cs typeface="Arial" panose="020B0604020202020204" pitchFamily="34" charset="0"/>
                        </a:rPr>
                        <a:t>T</a:t>
                      </a:r>
                      <a:r>
                        <a:rPr sz="900" dirty="0">
                          <a:latin typeface="Arial" panose="020B0604020202020204" pitchFamily="34" charset="0"/>
                          <a:cs typeface="Arial" panose="020B0604020202020204" pitchFamily="34" charset="0"/>
                        </a:rPr>
                        <a:t>i</a:t>
                      </a:r>
                      <a:r>
                        <a:rPr sz="900" spc="5" dirty="0">
                          <a:latin typeface="Arial" panose="020B0604020202020204" pitchFamily="34" charset="0"/>
                          <a:cs typeface="Arial" panose="020B0604020202020204" pitchFamily="34" charset="0"/>
                        </a:rPr>
                        <a:t>m</a:t>
                      </a:r>
                      <a:r>
                        <a:rPr sz="900" dirty="0">
                          <a:latin typeface="Arial" panose="020B0604020202020204" pitchFamily="34" charset="0"/>
                          <a:cs typeface="Arial" panose="020B0604020202020204" pitchFamily="34" charset="0"/>
                        </a:rPr>
                        <a:t>e</a:t>
                      </a:r>
                      <a:r>
                        <a:rPr sz="900" spc="-5" dirty="0">
                          <a:latin typeface="Arial" panose="020B0604020202020204" pitchFamily="34" charset="0"/>
                          <a:cs typeface="Arial" panose="020B0604020202020204" pitchFamily="34" charset="0"/>
                        </a:rPr>
                        <a:t> f</a:t>
                      </a:r>
                      <a:r>
                        <a:rPr sz="900" spc="-15" dirty="0">
                          <a:latin typeface="Arial" panose="020B0604020202020204" pitchFamily="34" charset="0"/>
                          <a:cs typeface="Arial" panose="020B0604020202020204" pitchFamily="34" charset="0"/>
                        </a:rPr>
                        <a:t>r</a:t>
                      </a:r>
                      <a:r>
                        <a:rPr sz="900" dirty="0">
                          <a:latin typeface="Arial" panose="020B0604020202020204" pitchFamily="34" charset="0"/>
                          <a:cs typeface="Arial" panose="020B0604020202020204" pitchFamily="34" charset="0"/>
                        </a:rPr>
                        <a:t>om </a:t>
                      </a:r>
                      <a:r>
                        <a:rPr sz="900" spc="-5" dirty="0">
                          <a:latin typeface="Arial" panose="020B0604020202020204" pitchFamily="34" charset="0"/>
                          <a:cs typeface="Arial" panose="020B0604020202020204" pitchFamily="34" charset="0"/>
                        </a:rPr>
                        <a:t> </a:t>
                      </a:r>
                      <a:r>
                        <a:rPr sz="900" dirty="0">
                          <a:latin typeface="Arial" panose="020B0604020202020204" pitchFamily="34" charset="0"/>
                          <a:cs typeface="Arial" panose="020B0604020202020204" pitchFamily="34" charset="0"/>
                        </a:rPr>
                        <a:t>2</a:t>
                      </a:r>
                      <a:r>
                        <a:rPr sz="900" spc="15" dirty="0">
                          <a:latin typeface="Arial" panose="020B0604020202020204" pitchFamily="34" charset="0"/>
                          <a:cs typeface="Arial" panose="020B0604020202020204" pitchFamily="34" charset="0"/>
                        </a:rPr>
                        <a:t>5</a:t>
                      </a:r>
                      <a:r>
                        <a:rPr sz="900" dirty="0">
                          <a:latin typeface="Arial" panose="020B0604020202020204" pitchFamily="34" charset="0"/>
                          <a:cs typeface="Arial" panose="020B0604020202020204" pitchFamily="34" charset="0"/>
                        </a:rPr>
                        <a:t>℃</a:t>
                      </a:r>
                      <a:r>
                        <a:rPr lang="en-US" sz="900" dirty="0">
                          <a:latin typeface="Arial" panose="020B0604020202020204" pitchFamily="34" charset="0"/>
                          <a:cs typeface="Arial" panose="020B0604020202020204" pitchFamily="34" charset="0"/>
                        </a:rPr>
                        <a:t> </a:t>
                      </a:r>
                      <a:r>
                        <a:rPr sz="900" spc="-275"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t</a:t>
                      </a:r>
                      <a:r>
                        <a:rPr sz="900" dirty="0">
                          <a:latin typeface="Arial" panose="020B0604020202020204" pitchFamily="34" charset="0"/>
                          <a:cs typeface="Arial" panose="020B0604020202020204" pitchFamily="34" charset="0"/>
                        </a:rPr>
                        <a:t>o </a:t>
                      </a:r>
                      <a:r>
                        <a:rPr sz="900" spc="5" dirty="0">
                          <a:latin typeface="Arial" panose="020B0604020202020204" pitchFamily="34" charset="0"/>
                          <a:cs typeface="Arial" panose="020B0604020202020204" pitchFamily="34" charset="0"/>
                        </a:rPr>
                        <a:t>p</a:t>
                      </a:r>
                      <a:r>
                        <a:rPr sz="900" spc="-5" dirty="0">
                          <a:latin typeface="Arial" panose="020B0604020202020204" pitchFamily="34" charset="0"/>
                          <a:cs typeface="Arial" panose="020B0604020202020204" pitchFamily="34" charset="0"/>
                        </a:rPr>
                        <a:t>e</a:t>
                      </a:r>
                      <a:r>
                        <a:rPr sz="900" dirty="0">
                          <a:latin typeface="Arial" panose="020B0604020202020204" pitchFamily="34" charset="0"/>
                          <a:cs typeface="Arial" panose="020B0604020202020204" pitchFamily="34" charset="0"/>
                        </a:rPr>
                        <a:t>ak </a:t>
                      </a:r>
                      <a:r>
                        <a:rPr sz="900" spc="-10" dirty="0">
                          <a:latin typeface="Arial" panose="020B0604020202020204" pitchFamily="34" charset="0"/>
                          <a:cs typeface="Arial" panose="020B0604020202020204" pitchFamily="34" charset="0"/>
                        </a:rPr>
                        <a:t>t</a:t>
                      </a:r>
                      <a:r>
                        <a:rPr sz="900" spc="-5" dirty="0">
                          <a:latin typeface="Arial" panose="020B0604020202020204" pitchFamily="34" charset="0"/>
                          <a:cs typeface="Arial" panose="020B0604020202020204" pitchFamily="34" charset="0"/>
                        </a:rPr>
                        <a:t>e</a:t>
                      </a:r>
                      <a:r>
                        <a:rPr sz="900" spc="5" dirty="0">
                          <a:latin typeface="Arial" panose="020B0604020202020204" pitchFamily="34" charset="0"/>
                          <a:cs typeface="Arial" panose="020B0604020202020204" pitchFamily="34" charset="0"/>
                        </a:rPr>
                        <a:t>m</a:t>
                      </a:r>
                      <a:r>
                        <a:rPr sz="900" dirty="0">
                          <a:latin typeface="Arial" panose="020B0604020202020204" pitchFamily="34" charset="0"/>
                          <a:cs typeface="Arial" panose="020B0604020202020204" pitchFamily="34" charset="0"/>
                        </a:rPr>
                        <a:t>p</a:t>
                      </a:r>
                    </a:p>
                  </a:txBody>
                  <a:tcPr marL="0" marR="0" marT="3730" marB="0" anchor="ctr">
                    <a:lnL w="317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8580" algn="l">
                        <a:lnSpc>
                          <a:spcPts val="1185"/>
                        </a:lnSpc>
                      </a:pPr>
                      <a:r>
                        <a:rPr sz="900" spc="-5" dirty="0">
                          <a:latin typeface="Arial" panose="020B0604020202020204" pitchFamily="34" charset="0"/>
                          <a:cs typeface="Arial" panose="020B0604020202020204" pitchFamily="34" charset="0"/>
                        </a:rPr>
                        <a:t>8</a:t>
                      </a:r>
                      <a:r>
                        <a:rPr sz="900" spc="-30" dirty="0">
                          <a:latin typeface="Arial" panose="020B0604020202020204" pitchFamily="34" charset="0"/>
                          <a:cs typeface="Arial" panose="020B0604020202020204" pitchFamily="34" charset="0"/>
                        </a:rPr>
                        <a:t> </a:t>
                      </a:r>
                      <a:r>
                        <a:rPr sz="900" spc="-5" dirty="0">
                          <a:latin typeface="Arial" panose="020B0604020202020204" pitchFamily="34" charset="0"/>
                          <a:cs typeface="Arial" panose="020B0604020202020204" pitchFamily="34" charset="0"/>
                        </a:rPr>
                        <a:t>minutes</a:t>
                      </a:r>
                      <a:r>
                        <a:rPr sz="900" spc="-15" dirty="0">
                          <a:latin typeface="Arial" panose="020B0604020202020204" pitchFamily="34" charset="0"/>
                          <a:cs typeface="Arial" panose="020B0604020202020204" pitchFamily="34" charset="0"/>
                        </a:rPr>
                        <a:t> </a:t>
                      </a:r>
                      <a:r>
                        <a:rPr sz="900" spc="-10" dirty="0">
                          <a:latin typeface="Arial" panose="020B0604020202020204" pitchFamily="34" charset="0"/>
                          <a:cs typeface="Arial" panose="020B0604020202020204" pitchFamily="34" charset="0"/>
                        </a:rPr>
                        <a:t>max</a:t>
                      </a:r>
                      <a:r>
                        <a:rPr lang="en-US" sz="900" spc="-10" dirty="0">
                          <a:latin typeface="Arial" panose="020B0604020202020204" pitchFamily="34" charset="0"/>
                          <a:cs typeface="Arial" panose="020B0604020202020204" pitchFamily="34" charset="0"/>
                        </a:rPr>
                        <a:t>.</a:t>
                      </a:r>
                      <a:endParaRPr sz="900" dirty="0">
                        <a:latin typeface="Arial" panose="020B0604020202020204" pitchFamily="34" charset="0"/>
                        <a:cs typeface="Arial" panose="020B0604020202020204" pitchFamily="34" charset="0"/>
                      </a:endParaRPr>
                    </a:p>
                  </a:txBody>
                  <a:tcPr marL="70499" marR="0" marT="0" marB="0" anchor="ctr">
                    <a:lnL w="952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2" name="object 11">
            <a:extLst>
              <a:ext uri="{FF2B5EF4-FFF2-40B4-BE49-F238E27FC236}">
                <a16:creationId xmlns:a16="http://schemas.microsoft.com/office/drawing/2014/main" id="{3F337B4E-EA6E-AA3C-9BB1-FEB3936099DD}"/>
              </a:ext>
            </a:extLst>
          </p:cNvPr>
          <p:cNvSpPr txBox="1"/>
          <p:nvPr/>
        </p:nvSpPr>
        <p:spPr>
          <a:xfrm>
            <a:off x="2398959" y="7598620"/>
            <a:ext cx="2107115"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881" b="1" spc="-64" dirty="0">
                <a:solidFill>
                  <a:prstClr val="black"/>
                </a:solidFill>
                <a:latin typeface="Arial" panose="020B0604020202020204" pitchFamily="34" charset="0"/>
                <a:ea typeface="+mn-ea"/>
                <a:cs typeface="Arial" panose="020B0604020202020204" pitchFamily="34" charset="0"/>
              </a:rPr>
              <a:t>T</a:t>
            </a:r>
            <a:r>
              <a:rPr kumimoji="0" sz="881" b="1" spc="-10" dirty="0">
                <a:solidFill>
                  <a:prstClr val="black"/>
                </a:solidFill>
                <a:latin typeface="Arial" panose="020B0604020202020204" pitchFamily="34" charset="0"/>
                <a:ea typeface="+mn-ea"/>
                <a:cs typeface="Arial" panose="020B0604020202020204" pitchFamily="34" charset="0"/>
              </a:rPr>
              <a:t>a</a:t>
            </a:r>
            <a:r>
              <a:rPr kumimoji="0" sz="881" b="1" spc="-5" dirty="0">
                <a:solidFill>
                  <a:prstClr val="black"/>
                </a:solidFill>
                <a:latin typeface="Arial" panose="020B0604020202020204" pitchFamily="34" charset="0"/>
                <a:ea typeface="+mn-ea"/>
                <a:cs typeface="Arial" panose="020B0604020202020204" pitchFamily="34" charset="0"/>
              </a:rPr>
              <a:t>bl</a:t>
            </a:r>
            <a:r>
              <a:rPr kumimoji="0" sz="881" b="1" dirty="0">
                <a:solidFill>
                  <a:prstClr val="black"/>
                </a:solidFill>
                <a:latin typeface="Arial" panose="020B0604020202020204" pitchFamily="34" charset="0"/>
                <a:ea typeface="+mn-ea"/>
                <a:cs typeface="Arial" panose="020B0604020202020204" pitchFamily="34" charset="0"/>
              </a:rPr>
              <a:t>e </a:t>
            </a:r>
            <a:r>
              <a:rPr lang="en-US" sz="881" b="1" dirty="0">
                <a:solidFill>
                  <a:prstClr val="black"/>
                </a:solidFill>
                <a:latin typeface="Arial" panose="020B0604020202020204" pitchFamily="34" charset="0"/>
                <a:cs typeface="Arial" panose="020B0604020202020204" pitchFamily="34" charset="0"/>
              </a:rPr>
              <a:t>8</a:t>
            </a:r>
            <a:r>
              <a:rPr kumimoji="0" sz="881" b="1" dirty="0">
                <a:solidFill>
                  <a:prstClr val="black"/>
                </a:solidFill>
                <a:latin typeface="Arial" panose="020B0604020202020204" pitchFamily="34" charset="0"/>
                <a:ea typeface="+mn-ea"/>
                <a:cs typeface="Arial" panose="020B0604020202020204" pitchFamily="34" charset="0"/>
              </a:rPr>
              <a:t>.</a:t>
            </a:r>
            <a:r>
              <a:rPr kumimoji="0" lang="en-US" sz="881" b="1" dirty="0">
                <a:solidFill>
                  <a:prstClr val="black"/>
                </a:solidFill>
                <a:latin typeface="Arial" panose="020B0604020202020204" pitchFamily="34" charset="0"/>
                <a:ea typeface="+mn-ea"/>
                <a:cs typeface="Arial" panose="020B0604020202020204" pitchFamily="34" charset="0"/>
              </a:rPr>
              <a:t>  Reflow Soldering Parameter </a:t>
            </a:r>
            <a:endParaRPr kumimoji="0" sz="881" dirty="0">
              <a:solidFill>
                <a:prstClr val="black"/>
              </a:solidFill>
              <a:latin typeface="Arial" panose="020B0604020202020204" pitchFamily="34" charset="0"/>
              <a:ea typeface="+mn-ea"/>
              <a:cs typeface="Arial" panose="020B0604020202020204" pitchFamily="34" charset="0"/>
            </a:endParaRPr>
          </a:p>
        </p:txBody>
      </p:sp>
      <p:pic>
        <p:nvPicPr>
          <p:cNvPr id="33" name="그림 32">
            <a:extLst>
              <a:ext uri="{FF2B5EF4-FFF2-40B4-BE49-F238E27FC236}">
                <a16:creationId xmlns:a16="http://schemas.microsoft.com/office/drawing/2014/main" id="{795FBC3D-A5F6-C217-0FDD-05A73E398A30}"/>
              </a:ext>
            </a:extLst>
          </p:cNvPr>
          <p:cNvPicPr>
            <a:picLocks noChangeAspect="1"/>
          </p:cNvPicPr>
          <p:nvPr/>
        </p:nvPicPr>
        <p:blipFill>
          <a:blip r:embed="rId2"/>
          <a:stretch>
            <a:fillRect/>
          </a:stretch>
        </p:blipFill>
        <p:spPr>
          <a:xfrm>
            <a:off x="1350479" y="1938143"/>
            <a:ext cx="4377102" cy="2604779"/>
          </a:xfrm>
          <a:prstGeom prst="rect">
            <a:avLst/>
          </a:prstGeom>
        </p:spPr>
      </p:pic>
      <p:sp>
        <p:nvSpPr>
          <p:cNvPr id="34" name="object 39">
            <a:extLst>
              <a:ext uri="{FF2B5EF4-FFF2-40B4-BE49-F238E27FC236}">
                <a16:creationId xmlns:a16="http://schemas.microsoft.com/office/drawing/2014/main" id="{577A1DDE-2D46-5FB3-88F6-DAC296C3841F}"/>
              </a:ext>
            </a:extLst>
          </p:cNvPr>
          <p:cNvSpPr txBox="1"/>
          <p:nvPr/>
        </p:nvSpPr>
        <p:spPr>
          <a:xfrm>
            <a:off x="2871269" y="1555597"/>
            <a:ext cx="1162498" cy="153888"/>
          </a:xfrm>
          <a:prstGeom prst="rect">
            <a:avLst/>
          </a:prstGeom>
        </p:spPr>
        <p:txBody>
          <a:bodyPr vert="horz" wrap="none" lIns="0" tIns="0" rIns="0" bIns="0" rtlCol="0" anchor="ctr" anchorCtr="0">
            <a:spAutoFit/>
          </a:bodyPr>
          <a:lstStyle/>
          <a:p>
            <a:pPr>
              <a:lnSpc>
                <a:spcPct val="100000"/>
              </a:lnSpc>
            </a:pPr>
            <a:r>
              <a:rPr sz="1000" b="1" spc="-5" dirty="0">
                <a:latin typeface="Arial"/>
                <a:cs typeface="Arial"/>
              </a:rPr>
              <a:t>JEDEC</a:t>
            </a:r>
            <a:r>
              <a:rPr sz="1000" b="1" spc="-60" dirty="0">
                <a:latin typeface="Arial"/>
                <a:cs typeface="Arial"/>
              </a:rPr>
              <a:t> </a:t>
            </a:r>
            <a:r>
              <a:rPr sz="1000" b="1" spc="-5" dirty="0">
                <a:latin typeface="Arial"/>
                <a:cs typeface="Arial"/>
              </a:rPr>
              <a:t>J-STD-020D</a:t>
            </a:r>
            <a:endParaRPr sz="1000" dirty="0">
              <a:latin typeface="Arial"/>
              <a:cs typeface="Arial"/>
            </a:endParaRPr>
          </a:p>
        </p:txBody>
      </p:sp>
    </p:spTree>
    <p:extLst>
      <p:ext uri="{BB962C8B-B14F-4D97-AF65-F5344CB8AC3E}">
        <p14:creationId xmlns:p14="http://schemas.microsoft.com/office/powerpoint/2010/main" val="756617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821032"/>
            <a:ext cx="6048615" cy="215444"/>
          </a:xfrm>
          <a:prstGeom prst="rect">
            <a:avLst/>
          </a:prstGeom>
          <a:noFill/>
        </p:spPr>
        <p:txBody>
          <a:bodyPr vert="horz" wrap="square" lIns="0" tIns="0" rIns="0" bIns="0" rtlCol="0" anchor="ctr" anchorCtr="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2A11FBD6-C7F0-F5E0-A2CE-70FF1FF38B63}"/>
              </a:ext>
            </a:extLst>
          </p:cNvPr>
          <p:cNvPicPr>
            <a:picLocks noChangeAspect="1"/>
          </p:cNvPicPr>
          <p:nvPr/>
        </p:nvPicPr>
        <p:blipFill rotWithShape="1">
          <a:blip r:embed="rId2"/>
          <a:srcRect t="7136"/>
          <a:stretch/>
        </p:blipFill>
        <p:spPr>
          <a:xfrm>
            <a:off x="3394288" y="1980664"/>
            <a:ext cx="3096000" cy="2833160"/>
          </a:xfrm>
          <a:prstGeom prst="rect">
            <a:avLst/>
          </a:prstGeom>
        </p:spPr>
      </p:pic>
      <p:sp>
        <p:nvSpPr>
          <p:cNvPr id="15" name="TextBox 14">
            <a:extLst>
              <a:ext uri="{FF2B5EF4-FFF2-40B4-BE49-F238E27FC236}">
                <a16:creationId xmlns:a16="http://schemas.microsoft.com/office/drawing/2014/main" id="{0CB09810-A151-C751-9644-0DADE9A706F0}"/>
              </a:ext>
            </a:extLst>
          </p:cNvPr>
          <p:cNvSpPr txBox="1"/>
          <p:nvPr/>
        </p:nvSpPr>
        <p:spPr>
          <a:xfrm>
            <a:off x="1598278" y="1854042"/>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479475" y="1854499"/>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981702" y="2405062"/>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628470" y="240506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750759" y="2427150"/>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615077" y="4395286"/>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60237" y="4604415"/>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67312" y="4603200"/>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88651" y="4597090"/>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pic>
        <p:nvPicPr>
          <p:cNvPr id="26" name="그림 25">
            <a:extLst>
              <a:ext uri="{FF2B5EF4-FFF2-40B4-BE49-F238E27FC236}">
                <a16:creationId xmlns:a16="http://schemas.microsoft.com/office/drawing/2014/main" id="{449C47C4-7FB3-1946-5F54-68E969EBDA12}"/>
              </a:ext>
            </a:extLst>
          </p:cNvPr>
          <p:cNvPicPr>
            <a:picLocks noChangeAspect="1"/>
          </p:cNvPicPr>
          <p:nvPr/>
        </p:nvPicPr>
        <p:blipFill>
          <a:blip r:embed="rId3"/>
          <a:stretch>
            <a:fillRect/>
          </a:stretch>
        </p:blipFill>
        <p:spPr>
          <a:xfrm>
            <a:off x="522470" y="5261321"/>
            <a:ext cx="2502669" cy="773530"/>
          </a:xfrm>
          <a:prstGeom prst="rect">
            <a:avLst/>
          </a:prstGeom>
        </p:spPr>
      </p:pic>
      <p:sp>
        <p:nvSpPr>
          <p:cNvPr id="43" name="TextBox 42">
            <a:extLst>
              <a:ext uri="{FF2B5EF4-FFF2-40B4-BE49-F238E27FC236}">
                <a16:creationId xmlns:a16="http://schemas.microsoft.com/office/drawing/2014/main" id="{A5F43BF8-D5E2-952B-D8F5-804FC641D419}"/>
              </a:ext>
            </a:extLst>
          </p:cNvPr>
          <p:cNvSpPr txBox="1"/>
          <p:nvPr/>
        </p:nvSpPr>
        <p:spPr>
          <a:xfrm>
            <a:off x="1942792" y="4512451"/>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extLst>
              <p:ext uri="{D42A27DB-BD31-4B8C-83A1-F6EECF244321}">
                <p14:modId xmlns:p14="http://schemas.microsoft.com/office/powerpoint/2010/main" val="2026696006"/>
              </p:ext>
            </p:extLst>
          </p:nvPr>
        </p:nvGraphicFramePr>
        <p:xfrm>
          <a:off x="3809830" y="5121913"/>
          <a:ext cx="2249796" cy="3330596"/>
        </p:xfrm>
        <a:graphic>
          <a:graphicData uri="http://schemas.openxmlformats.org/drawingml/2006/table">
            <a:tbl>
              <a:tblPr firstRow="1" bandRow="1">
                <a:tableStyleId>{2D5ABB26-0587-4C30-8999-92F81FD0307C}</a:tableStyleId>
              </a:tblPr>
              <a:tblGrid>
                <a:gridCol w="661813">
                  <a:extLst>
                    <a:ext uri="{9D8B030D-6E8A-4147-A177-3AD203B41FA5}">
                      <a16:colId xmlns:a16="http://schemas.microsoft.com/office/drawing/2014/main" val="20000"/>
                    </a:ext>
                  </a:extLst>
                </a:gridCol>
                <a:gridCol w="530677">
                  <a:extLst>
                    <a:ext uri="{9D8B030D-6E8A-4147-A177-3AD203B41FA5}">
                      <a16:colId xmlns:a16="http://schemas.microsoft.com/office/drawing/2014/main" val="20001"/>
                    </a:ext>
                  </a:extLst>
                </a:gridCol>
                <a:gridCol w="520113">
                  <a:extLst>
                    <a:ext uri="{9D8B030D-6E8A-4147-A177-3AD203B41FA5}">
                      <a16:colId xmlns:a16="http://schemas.microsoft.com/office/drawing/2014/main" val="4065758931"/>
                    </a:ext>
                  </a:extLst>
                </a:gridCol>
                <a:gridCol w="537193">
                  <a:extLst>
                    <a:ext uri="{9D8B030D-6E8A-4147-A177-3AD203B41FA5}">
                      <a16:colId xmlns:a16="http://schemas.microsoft.com/office/drawing/2014/main" val="20002"/>
                    </a:ext>
                  </a:extLst>
                </a:gridCol>
              </a:tblGrid>
              <a:tr h="237777">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37777">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37777">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386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386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98278" y="4964092"/>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2557628" y="8679214"/>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2363268" y="1313712"/>
            <a:ext cx="2062039" cy="169277"/>
          </a:xfrm>
          <a:prstGeom prst="rect">
            <a:avLst/>
          </a:prstGeom>
        </p:spPr>
        <p:txBody>
          <a:bodyPr vert="horz" wrap="none" lIns="0" tIns="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24" name="TextBox 23">
            <a:extLst>
              <a:ext uri="{FF2B5EF4-FFF2-40B4-BE49-F238E27FC236}">
                <a16:creationId xmlns:a16="http://schemas.microsoft.com/office/drawing/2014/main" id="{6F1D99D7-953D-A0B1-E3C7-F81D54B49737}"/>
              </a:ext>
            </a:extLst>
          </p:cNvPr>
          <p:cNvSpPr txBox="1"/>
          <p:nvPr/>
        </p:nvSpPr>
        <p:spPr>
          <a:xfrm>
            <a:off x="714672" y="3296147"/>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spTree>
    <p:extLst>
      <p:ext uri="{BB962C8B-B14F-4D97-AF65-F5344CB8AC3E}">
        <p14:creationId xmlns:p14="http://schemas.microsoft.com/office/powerpoint/2010/main" val="2431963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2"/>
          <a:stretch>
            <a:fillRect/>
          </a:stretch>
        </p:blipFill>
        <p:spPr>
          <a:xfrm>
            <a:off x="404813" y="1546061"/>
            <a:ext cx="4001941" cy="3256882"/>
          </a:xfrm>
          <a:prstGeom prst="rect">
            <a:avLst/>
          </a:prstGeom>
        </p:spPr>
      </p:pic>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70" y="7920665"/>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41084"/>
            <a:ext cx="6048621" cy="415435"/>
          </a:xfrm>
          <a:prstGeom prst="rect">
            <a:avLst/>
          </a:prstGeom>
        </p:spPr>
        <p:txBody>
          <a:bodyPr vert="horz" wrap="square" lIns="0" tIns="0" rIns="0" bIns="0" rtlCol="0" anchor="ctr" anchorCtr="0">
            <a:spAutoFit/>
          </a:bodyPr>
          <a:lstStyle/>
          <a:p>
            <a:pPr marL="11286" marR="4515" defTabSz="895327" fontAlgn="auto">
              <a:lnSpc>
                <a:spcPct val="150000"/>
              </a:lnSpc>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lnSpc>
                <a:spcPct val="150000"/>
              </a:lnSpc>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14" name="object 2">
            <a:extLst>
              <a:ext uri="{FF2B5EF4-FFF2-40B4-BE49-F238E27FC236}">
                <a16:creationId xmlns:a16="http://schemas.microsoft.com/office/drawing/2014/main" id="{0DA3FDB8-0BB8-62D3-FA2F-DE8AFC70CBAD}"/>
              </a:ext>
            </a:extLst>
          </p:cNvPr>
          <p:cNvGraphicFramePr>
            <a:graphicFrameLocks noGrp="1"/>
          </p:cNvGraphicFramePr>
          <p:nvPr>
            <p:extLst>
              <p:ext uri="{D42A27DB-BD31-4B8C-83A1-F6EECF244321}">
                <p14:modId xmlns:p14="http://schemas.microsoft.com/office/powerpoint/2010/main" val="1110258637"/>
              </p:ext>
            </p:extLst>
          </p:nvPr>
        </p:nvGraphicFramePr>
        <p:xfrm>
          <a:off x="4625513" y="155784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1.9</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sp>
        <p:nvSpPr>
          <p:cNvPr id="18" name="object 84">
            <a:extLst>
              <a:ext uri="{FF2B5EF4-FFF2-40B4-BE49-F238E27FC236}">
                <a16:creationId xmlns:a16="http://schemas.microsoft.com/office/drawing/2014/main" id="{E30F228C-2DA5-3423-A961-6C3D1420DF3F}"/>
              </a:ext>
            </a:extLst>
          </p:cNvPr>
          <p:cNvSpPr txBox="1"/>
          <p:nvPr/>
        </p:nvSpPr>
        <p:spPr>
          <a:xfrm>
            <a:off x="2443908" y="522962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3.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46098</TotalTime>
  <Words>9135</Words>
  <Application>Microsoft Office PowerPoint</Application>
  <PresentationFormat>A4 용지(210x297mm)</PresentationFormat>
  <Paragraphs>3102</Paragraphs>
  <Slides>32</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32</vt:i4>
      </vt:variant>
    </vt:vector>
  </HeadingPairs>
  <TitlesOfParts>
    <vt:vector size="39" baseType="lpstr">
      <vt:lpstr>Microsoft GothicNeo</vt:lpstr>
      <vt:lpstr>굴림</vt:lpstr>
      <vt:lpstr>맑은 고딕</vt:lpstr>
      <vt:lpstr>Arial</vt:lpstr>
      <vt:lpstr>Calibri</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윤 진수</cp:lastModifiedBy>
  <cp:revision>1753</cp:revision>
  <cp:lastPrinted>2023-08-01T07:21:23Z</cp:lastPrinted>
  <dcterms:created xsi:type="dcterms:W3CDTF">2020-06-17T04:27:48Z</dcterms:created>
  <dcterms:modified xsi:type="dcterms:W3CDTF">2025-03-27T07:33:41Z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