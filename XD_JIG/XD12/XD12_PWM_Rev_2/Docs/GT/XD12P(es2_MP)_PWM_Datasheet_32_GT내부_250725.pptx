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8"/>
  </p:notesMasterIdLst>
  <p:handoutMasterIdLst>
    <p:handoutMasterId r:id="rId39"/>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431" r:id="rId18"/>
    <p:sldId id="428" r:id="rId19"/>
    <p:sldId id="432" r:id="rId20"/>
    <p:sldId id="293" r:id="rId21"/>
    <p:sldId id="427" r:id="rId22"/>
    <p:sldId id="330" r:id="rId23"/>
    <p:sldId id="412" r:id="rId24"/>
    <p:sldId id="414" r:id="rId25"/>
    <p:sldId id="407" r:id="rId26"/>
    <p:sldId id="353" r:id="rId27"/>
    <p:sldId id="409" r:id="rId28"/>
    <p:sldId id="422" r:id="rId29"/>
    <p:sldId id="435" r:id="rId30"/>
    <p:sldId id="415" r:id="rId31"/>
    <p:sldId id="410" r:id="rId32"/>
    <p:sldId id="425" r:id="rId33"/>
    <p:sldId id="426" r:id="rId34"/>
    <p:sldId id="413" r:id="rId35"/>
    <p:sldId id="421" r:id="rId36"/>
    <p:sldId id="348" r:id="rId37"/>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4" orient="horz" pos="5910" userDrawn="1">
          <p15:clr>
            <a:srgbClr val="A4A3A4"/>
          </p15:clr>
        </p15:guide>
        <p15:guide id="5" pos="4110"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06"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390"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guide id="23" orient="horz" pos="7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EB"/>
    <a:srgbClr val="EFEFEF"/>
    <a:srgbClr val="EBEBEB"/>
    <a:srgbClr val="E6E6E6"/>
    <a:srgbClr val="FFFFD9"/>
    <a:srgbClr val="EFF5FB"/>
    <a:srgbClr val="E5EDFB"/>
    <a:srgbClr val="FFFFB3"/>
    <a:srgbClr val="ECF3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77" autoAdjust="0"/>
    <p:restoredTop sz="95388" autoAdjust="0"/>
  </p:normalViewPr>
  <p:slideViewPr>
    <p:cSldViewPr snapToGrid="0">
      <p:cViewPr>
        <p:scale>
          <a:sx n="150" d="100"/>
          <a:sy n="150" d="100"/>
        </p:scale>
        <p:origin x="2070" y="-1422"/>
      </p:cViewPr>
      <p:guideLst>
        <p:guide orient="horz" pos="240"/>
        <p:guide orient="horz" pos="5910"/>
        <p:guide pos="4110"/>
        <p:guide orient="horz" pos="2689"/>
        <p:guide pos="255"/>
        <p:guide pos="580"/>
        <p:guide pos="1988"/>
        <p:guide pos="2511"/>
        <p:guide pos="3906"/>
        <p:guide orient="horz" pos="943"/>
        <p:guide orient="horz" pos="2054"/>
        <p:guide orient="horz" pos="3800"/>
        <p:guide orient="horz" pos="4390"/>
        <p:guide orient="horz" pos="5568"/>
        <p:guide orient="horz" pos="1419"/>
        <p:guide orient="horz" pos="1056"/>
        <p:guide orient="horz" pos="7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2" d="100"/>
          <a:sy n="102" d="100"/>
        </p:scale>
        <p:origin x="3028" y="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2025-07-25 (Fri)</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2025-07-25 (Fri)</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XD12P</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dirty="0"/>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glbltech.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5"/>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25. July. 2025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300036"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XD12P</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2841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692771"/>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XD12P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driver for mini-LED Backlight display applications in AM direct driving methodology. It supports max 32mA and 40V at each channel output pin rating. This device can support max 14-bit PWM dimming resolution and a 12-bit DAC global brightness resolution.</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The self-protections features, LED open/short detection and thermal shutdown, are embedded. In addition, a Feedback control for adjusting a VLED power is included.</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It is used with a XC24 controller as a companion chip. A lot of the  XD12P can be daisied to a XC24 channels and controlled through a serial interface by a XC24 controller.</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6061666"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4821256"/>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suitable for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 indepe</a:t>
            </a:r>
            <a:r>
              <a:rPr lang="en-US" altLang="ko-KR" sz="1000" dirty="0">
                <a:latin typeface="Arial" panose="020B0604020202020204" pitchFamily="34" charset="0"/>
                <a:ea typeface="Arial" panose="020B0604020202020204" pitchFamily="34" charset="0"/>
                <a:cs typeface="굴림" panose="020B0600000101010101" pitchFamily="50" charset="-127"/>
              </a:rPr>
              <a:t>ndent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40</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max current level (4/8/12/16/24/32mA)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DAC global </a:t>
            </a:r>
            <a:r>
              <a:rPr lang="en-US" altLang="ko-KR" sz="1000" dirty="0">
                <a:latin typeface="Arial" panose="020B0604020202020204" pitchFamily="34" charset="0"/>
                <a:ea typeface="Arial" panose="020B0604020202020204" pitchFamily="34" charset="0"/>
                <a:cs typeface="굴림" panose="020B0600000101010101" pitchFamily="50" charset="-127"/>
              </a:rPr>
              <a:t>max current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12-bit or 14-bit PWM brightness control</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effectLst/>
                <a:latin typeface="Arial" panose="020B0604020202020204" pitchFamily="34" charset="0"/>
                <a:ea typeface="Arial" panose="020B0604020202020204" pitchFamily="34" charset="0"/>
                <a:cs typeface="굴림" panose="020B0600000101010101" pitchFamily="50" charset="-127"/>
              </a:rPr>
              <a:t>dimming directions, Head </a:t>
            </a:r>
            <a:r>
              <a:rPr lang="en-US" altLang="ko-KR" sz="1000" dirty="0">
                <a:latin typeface="Arial" panose="020B0604020202020204" pitchFamily="34" charset="0"/>
                <a:ea typeface="Arial" panose="020B0604020202020204" pitchFamily="34" charset="0"/>
                <a:cs typeface="굴림" panose="020B0600000101010101" pitchFamily="50" charset="-127"/>
              </a:rPr>
              <a:t>shift lighting and Tail shift lighting</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daisied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en-US" altLang="ko-KR" sz="1000" dirty="0">
              <a:latin typeface="Arial" panose="020B0604020202020204" pitchFamily="34" charset="0"/>
              <a:ea typeface="Microsoft GothicNeo" panose="020B0500000101010101" pitchFamily="50" charset="-127"/>
              <a:cs typeface="Arial" panose="020B0604020202020204" pitchFamily="34" charset="0"/>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Sink current </a:t>
            </a:r>
            <a:r>
              <a:rPr lang="en-US" altLang="ko-KR" sz="1000" dirty="0">
                <a:effectLst/>
                <a:latin typeface="Arial" panose="020B0604020202020204" pitchFamily="34" charset="0"/>
                <a:ea typeface="Arial" panose="020B0604020202020204" pitchFamily="34" charset="0"/>
                <a:cs typeface="Arial" panose="020B0604020202020204" pitchFamily="34" charset="0"/>
              </a:rPr>
              <a:t>accuracy </a:t>
            </a:r>
            <a:r>
              <a:rPr lang="en-US" altLang="ko-KR" sz="1000" dirty="0">
                <a:effectLst/>
                <a:latin typeface="Arial" panose="020B0604020202020204" pitchFamily="34" charset="0"/>
                <a:ea typeface="Microsoft GothicNeo" panose="020B0500000101010101" pitchFamily="50" charset="-127"/>
                <a:cs typeface="Arial" panose="020B0604020202020204" pitchFamily="34" charset="0"/>
              </a:rPr>
              <a:t>±1% (@ </a:t>
            </a:r>
            <a:r>
              <a:rPr lang="en-US" altLang="ko-KR" sz="1000" dirty="0">
                <a:latin typeface="Arial" panose="020B0604020202020204" pitchFamily="34" charset="0"/>
                <a:ea typeface="Microsoft GothicNeo" panose="020B0500000101010101" pitchFamily="50" charset="-127"/>
                <a:cs typeface="Arial" panose="020B0604020202020204" pitchFamily="34" charset="0"/>
              </a:rPr>
              <a:t>trimmed point)</a:t>
            </a:r>
            <a:endParaRPr lang="ko-KR" altLang="ko-KR" sz="1000" dirty="0">
              <a:effectLst/>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SHORT and OPEN detection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FEEDBACK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latin typeface="Arial" panose="020B0604020202020204" pitchFamily="34" charset="0"/>
                <a:ea typeface="Arial" panose="020B0604020202020204" pitchFamily="34" charset="0"/>
                <a:cs typeface="굴림" panose="020B0600000101010101" pitchFamily="50" charset="-127"/>
              </a:rPr>
              <a:t>Over-Temperature shutdown</a:t>
            </a:r>
            <a:r>
              <a:rPr lang="en-US" altLang="ko-KR" sz="1000" dirty="0">
                <a:effectLst/>
                <a:latin typeface="Arial" panose="020B0604020202020204" pitchFamily="34" charset="0"/>
                <a:ea typeface="Arial" panose="020B0604020202020204" pitchFamily="34" charset="0"/>
                <a:cs typeface="Arial" panose="020B0604020202020204" pitchFamily="34" charset="0"/>
              </a:rPr>
              <a:t> @ Typical 135</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Yu Mincho Light" panose="02020300000000000000" pitchFamily="18" charset="-128"/>
                <a:cs typeface="Arial" panose="020B0604020202020204" pitchFamily="34" charset="0"/>
              </a:rPr>
              <a:t>Configurable Over/Under-Voltage of internal LDO</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4.5 ~ 5.5V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 </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(JEDEC JS-001-2017 Human Body Model) :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35861" y="4939417"/>
            <a:ext cx="141192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12" name="그림 11">
            <a:extLst>
              <a:ext uri="{FF2B5EF4-FFF2-40B4-BE49-F238E27FC236}">
                <a16:creationId xmlns:a16="http://schemas.microsoft.com/office/drawing/2014/main" id="{362E5C02-9CE7-BD9A-505B-32D9BE8D903E}"/>
              </a:ext>
            </a:extLst>
          </p:cNvPr>
          <p:cNvPicPr>
            <a:picLocks noChangeAspect="1"/>
          </p:cNvPicPr>
          <p:nvPr/>
        </p:nvPicPr>
        <p:blipFill>
          <a:blip r:embed="rId2"/>
          <a:stretch>
            <a:fillRect/>
          </a:stretch>
        </p:blipFill>
        <p:spPr>
          <a:xfrm>
            <a:off x="404811" y="6026007"/>
            <a:ext cx="6084188" cy="2251905"/>
          </a:xfrm>
          <a:prstGeom prst="rect">
            <a:avLst/>
          </a:prstGeom>
        </p:spPr>
      </p:pic>
      <p:pic>
        <p:nvPicPr>
          <p:cNvPr id="4" name="그림 3">
            <a:extLst>
              <a:ext uri="{FF2B5EF4-FFF2-40B4-BE49-F238E27FC236}">
                <a16:creationId xmlns:a16="http://schemas.microsoft.com/office/drawing/2014/main" id="{F5280FC5-A9E3-087F-16BE-6C796615E757}"/>
              </a:ext>
            </a:extLst>
          </p:cNvPr>
          <p:cNvPicPr>
            <a:picLocks noChangeAspect="1"/>
          </p:cNvPicPr>
          <p:nvPr/>
        </p:nvPicPr>
        <p:blipFill>
          <a:blip r:embed="rId3"/>
          <a:stretch>
            <a:fillRect/>
          </a:stretch>
        </p:blipFill>
        <p:spPr>
          <a:xfrm>
            <a:off x="1539000" y="1243864"/>
            <a:ext cx="3780000" cy="3501784"/>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3188038242"/>
              </p:ext>
            </p:extLst>
          </p:nvPr>
        </p:nvGraphicFramePr>
        <p:xfrm>
          <a:off x="404813" y="4709945"/>
          <a:ext cx="6042618" cy="4086562"/>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767880">
                  <a:extLst>
                    <a:ext uri="{9D8B030D-6E8A-4147-A177-3AD203B41FA5}">
                      <a16:colId xmlns:a16="http://schemas.microsoft.com/office/drawing/2014/main" val="3382103366"/>
                    </a:ext>
                  </a:extLst>
                </a:gridCol>
                <a:gridCol w="1470240">
                  <a:extLst>
                    <a:ext uri="{9D8B030D-6E8A-4147-A177-3AD203B41FA5}">
                      <a16:colId xmlns:a16="http://schemas.microsoft.com/office/drawing/2014/main" val="915546717"/>
                    </a:ext>
                  </a:extLst>
                </a:gridCol>
              </a:tblGrid>
              <a:tr h="282434">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376154">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FBO is Open-drain output</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O8</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311179">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334280"/>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793109" y="3916900"/>
            <a:ext cx="129458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diagram </a:t>
            </a:r>
          </a:p>
        </p:txBody>
      </p:sp>
      <p:grpSp>
        <p:nvGrpSpPr>
          <p:cNvPr id="79" name="그룹 78">
            <a:extLst>
              <a:ext uri="{FF2B5EF4-FFF2-40B4-BE49-F238E27FC236}">
                <a16:creationId xmlns:a16="http://schemas.microsoft.com/office/drawing/2014/main" id="{2DA48ED1-F843-8B87-3961-01F598A7B270}"/>
              </a:ext>
            </a:extLst>
          </p:cNvPr>
          <p:cNvGrpSpPr/>
          <p:nvPr/>
        </p:nvGrpSpPr>
        <p:grpSpPr>
          <a:xfrm>
            <a:off x="2154935" y="1326169"/>
            <a:ext cx="2467939" cy="2434200"/>
            <a:chOff x="2212806" y="1353654"/>
            <a:chExt cx="2467939" cy="2434200"/>
          </a:xfrm>
        </p:grpSpPr>
        <p:sp>
          <p:nvSpPr>
            <p:cNvPr id="4" name="직사각형 3">
              <a:extLst>
                <a:ext uri="{FF2B5EF4-FFF2-40B4-BE49-F238E27FC236}">
                  <a16:creationId xmlns:a16="http://schemas.microsoft.com/office/drawing/2014/main" id="{10BEFC6D-2279-90DD-5D1C-DDD376E75550}"/>
                </a:ext>
              </a:extLst>
            </p:cNvPr>
            <p:cNvSpPr/>
            <p:nvPr/>
          </p:nvSpPr>
          <p:spPr>
            <a:xfrm>
              <a:off x="2212806" y="1353654"/>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a:off x="2917292"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a:off x="3207249"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a:off x="3497206"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a:off x="3787163"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rot="16200000">
              <a:off x="2959459" y="2085311"/>
              <a:ext cx="1247715" cy="980299"/>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346018" y="2413330"/>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664884" y="33274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943038"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3520104"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4148697" y="1835377"/>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4148697" y="2072183"/>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4198943" y="236268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O8</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4199879" y="293732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53492" y="320298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557218" y="294330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2564329" y="266187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O5</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2557278" y="209498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2649903" y="167345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2928057" y="167345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3532522" y="167345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70063" y="1671055"/>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2564329" y="2373220"/>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O7</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2553492" y="1855118"/>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3225807" y="167345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4198943" y="264838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4202645" y="316612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3227001"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4075029" y="333856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nvGrpSpPr>
            <p:cNvPr id="38" name="그룹 37">
              <a:extLst>
                <a:ext uri="{FF2B5EF4-FFF2-40B4-BE49-F238E27FC236}">
                  <a16:creationId xmlns:a16="http://schemas.microsoft.com/office/drawing/2014/main" id="{BA1BF045-C8C9-3383-DEF7-5B16D7BDD4B4}"/>
                </a:ext>
              </a:extLst>
            </p:cNvPr>
            <p:cNvGrpSpPr/>
            <p:nvPr/>
          </p:nvGrpSpPr>
          <p:grpSpPr>
            <a:xfrm>
              <a:off x="2608988" y="3480251"/>
              <a:ext cx="1665977" cy="307603"/>
              <a:chOff x="2608988" y="3515561"/>
              <a:chExt cx="1665977" cy="307603"/>
            </a:xfrm>
          </p:grpSpPr>
          <p:sp>
            <p:nvSpPr>
              <p:cNvPr id="39" name="직사각형 38">
                <a:extLst>
                  <a:ext uri="{FF2B5EF4-FFF2-40B4-BE49-F238E27FC236}">
                    <a16:creationId xmlns:a16="http://schemas.microsoft.com/office/drawing/2014/main" id="{FA051048-6E56-1C06-FA00-88E848077C4D}"/>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43" name="그룹 42">
                <a:extLst>
                  <a:ext uri="{FF2B5EF4-FFF2-40B4-BE49-F238E27FC236}">
                    <a16:creationId xmlns:a16="http://schemas.microsoft.com/office/drawing/2014/main" id="{BBD879E9-BBB0-8DAC-D116-BC57C6664CCF}"/>
                  </a:ext>
                </a:extLst>
              </p:cNvPr>
              <p:cNvGrpSpPr/>
              <p:nvPr/>
            </p:nvGrpSpPr>
            <p:grpSpPr>
              <a:xfrm>
                <a:off x="2608988" y="3515561"/>
                <a:ext cx="223838" cy="306640"/>
                <a:chOff x="2608988" y="3515561"/>
                <a:chExt cx="223838" cy="306640"/>
              </a:xfrm>
            </p:grpSpPr>
            <p:sp>
              <p:nvSpPr>
                <p:cNvPr id="47" name="사각형: 잘린 한쪽 모서리 46">
                  <a:extLst>
                    <a:ext uri="{FF2B5EF4-FFF2-40B4-BE49-F238E27FC236}">
                      <a16:creationId xmlns:a16="http://schemas.microsoft.com/office/drawing/2014/main" id="{BCD106BC-541B-5315-F1D4-4DF46DE22057}"/>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44" name="그룹 43">
                <a:extLst>
                  <a:ext uri="{FF2B5EF4-FFF2-40B4-BE49-F238E27FC236}">
                    <a16:creationId xmlns:a16="http://schemas.microsoft.com/office/drawing/2014/main" id="{279519CF-4071-B73F-CF91-8FF2939686D8}"/>
                  </a:ext>
                </a:extLst>
              </p:cNvPr>
              <p:cNvGrpSpPr/>
              <p:nvPr/>
            </p:nvGrpSpPr>
            <p:grpSpPr>
              <a:xfrm>
                <a:off x="4051127" y="3515563"/>
                <a:ext cx="223838" cy="307601"/>
                <a:chOff x="4051127" y="3515563"/>
                <a:chExt cx="223838" cy="307601"/>
              </a:xfrm>
            </p:grpSpPr>
            <p:sp>
              <p:nvSpPr>
                <p:cNvPr id="45" name="사각형: 잘린 한쪽 모서리 44">
                  <a:extLst>
                    <a:ext uri="{FF2B5EF4-FFF2-40B4-BE49-F238E27FC236}">
                      <a16:creationId xmlns:a16="http://schemas.microsoft.com/office/drawing/2014/main" id="{D77BD9FB-05F1-DC04-B60E-6173FDA0DB97}"/>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4051127"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49" name="그룹 48">
              <a:extLst>
                <a:ext uri="{FF2B5EF4-FFF2-40B4-BE49-F238E27FC236}">
                  <a16:creationId xmlns:a16="http://schemas.microsoft.com/office/drawing/2014/main" id="{39E6921C-EF45-1866-D841-0C1BD954D8AB}"/>
                </a:ext>
              </a:extLst>
            </p:cNvPr>
            <p:cNvGrpSpPr/>
            <p:nvPr/>
          </p:nvGrpSpPr>
          <p:grpSpPr>
            <a:xfrm rot="16200000">
              <a:off x="3693955" y="2412975"/>
              <a:ext cx="1665977" cy="307603"/>
              <a:chOff x="2608988" y="3515561"/>
              <a:chExt cx="1665977" cy="307603"/>
            </a:xfrm>
          </p:grpSpPr>
          <p:sp>
            <p:nvSpPr>
              <p:cNvPr id="50" name="직사각형 49">
                <a:extLst>
                  <a:ext uri="{FF2B5EF4-FFF2-40B4-BE49-F238E27FC236}">
                    <a16:creationId xmlns:a16="http://schemas.microsoft.com/office/drawing/2014/main" id="{962093A6-89CE-FC42-EA15-EC74914A138F}"/>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608988" y="3515561"/>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51127" y="3515563"/>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60" name="그룹 59">
              <a:extLst>
                <a:ext uri="{FF2B5EF4-FFF2-40B4-BE49-F238E27FC236}">
                  <a16:creationId xmlns:a16="http://schemas.microsoft.com/office/drawing/2014/main" id="{9ACE47E8-2981-FC27-8469-2A8DF09E211D}"/>
                </a:ext>
              </a:extLst>
            </p:cNvPr>
            <p:cNvGrpSpPr/>
            <p:nvPr/>
          </p:nvGrpSpPr>
          <p:grpSpPr>
            <a:xfrm rot="5400000">
              <a:off x="1535989" y="2428593"/>
              <a:ext cx="1665977" cy="307603"/>
              <a:chOff x="2608988" y="3515561"/>
              <a:chExt cx="1665977" cy="307603"/>
            </a:xfrm>
          </p:grpSpPr>
          <p:sp>
            <p:nvSpPr>
              <p:cNvPr id="61" name="직사각형 60">
                <a:extLst>
                  <a:ext uri="{FF2B5EF4-FFF2-40B4-BE49-F238E27FC236}">
                    <a16:creationId xmlns:a16="http://schemas.microsoft.com/office/drawing/2014/main" id="{C6513BF3-3B8D-1A5B-8878-3E81D2C5241E}"/>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65" name="그룹 64">
                <a:extLst>
                  <a:ext uri="{FF2B5EF4-FFF2-40B4-BE49-F238E27FC236}">
                    <a16:creationId xmlns:a16="http://schemas.microsoft.com/office/drawing/2014/main" id="{C2432D1C-E4EC-8B4A-0B3F-1A6229C1D65A}"/>
                  </a:ext>
                </a:extLst>
              </p:cNvPr>
              <p:cNvGrpSpPr/>
              <p:nvPr/>
            </p:nvGrpSpPr>
            <p:grpSpPr>
              <a:xfrm>
                <a:off x="2608988" y="3515561"/>
                <a:ext cx="223838" cy="306640"/>
                <a:chOff x="2608988" y="3515561"/>
                <a:chExt cx="223838" cy="306640"/>
              </a:xfrm>
            </p:grpSpPr>
            <p:sp>
              <p:nvSpPr>
                <p:cNvPr id="69" name="사각형: 잘린 한쪽 모서리 68">
                  <a:extLst>
                    <a:ext uri="{FF2B5EF4-FFF2-40B4-BE49-F238E27FC236}">
                      <a16:creationId xmlns:a16="http://schemas.microsoft.com/office/drawing/2014/main" id="{47BF5BD8-3BA4-5976-3128-182D9136BD46}"/>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2608988" y="355443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66" name="그룹 65">
                <a:extLst>
                  <a:ext uri="{FF2B5EF4-FFF2-40B4-BE49-F238E27FC236}">
                    <a16:creationId xmlns:a16="http://schemas.microsoft.com/office/drawing/2014/main" id="{225E1801-DE7C-54A4-5702-FA0815512FE9}"/>
                  </a:ext>
                </a:extLst>
              </p:cNvPr>
              <p:cNvGrpSpPr/>
              <p:nvPr/>
            </p:nvGrpSpPr>
            <p:grpSpPr>
              <a:xfrm>
                <a:off x="4051127" y="3515563"/>
                <a:ext cx="223838" cy="307601"/>
                <a:chOff x="4051127" y="3515563"/>
                <a:chExt cx="223838" cy="307601"/>
              </a:xfrm>
            </p:grpSpPr>
            <p:sp>
              <p:nvSpPr>
                <p:cNvPr id="67" name="사각형: 잘린 한쪽 모서리 66">
                  <a:extLst>
                    <a:ext uri="{FF2B5EF4-FFF2-40B4-BE49-F238E27FC236}">
                      <a16:creationId xmlns:a16="http://schemas.microsoft.com/office/drawing/2014/main" id="{66327C7A-2876-6B74-AFD1-FCA8E35994B3}"/>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71" name="그룹 70">
              <a:extLst>
                <a:ext uri="{FF2B5EF4-FFF2-40B4-BE49-F238E27FC236}">
                  <a16:creationId xmlns:a16="http://schemas.microsoft.com/office/drawing/2014/main" id="{FA5153BD-7577-9B0C-4AB0-636CA4061C6C}"/>
                </a:ext>
              </a:extLst>
            </p:cNvPr>
            <p:cNvGrpSpPr/>
            <p:nvPr/>
          </p:nvGrpSpPr>
          <p:grpSpPr>
            <a:xfrm>
              <a:off x="2608988" y="1357613"/>
              <a:ext cx="223838" cy="307601"/>
              <a:chOff x="2608988" y="1395304"/>
              <a:chExt cx="223838" cy="307601"/>
            </a:xfrm>
          </p:grpSpPr>
          <p:sp>
            <p:nvSpPr>
              <p:cNvPr id="72" name="사각형: 잘린 한쪽 모서리 71">
                <a:extLst>
                  <a:ext uri="{FF2B5EF4-FFF2-40B4-BE49-F238E27FC236}">
                    <a16:creationId xmlns:a16="http://schemas.microsoft.com/office/drawing/2014/main" id="{344D9631-1509-6F9F-7501-BD3CA9C18B20}"/>
                  </a:ext>
                </a:extLst>
              </p:cNvPr>
              <p:cNvSpPr/>
              <p:nvPr/>
            </p:nvSpPr>
            <p:spPr>
              <a:xfrm rot="5400000" flipV="1">
                <a:off x="2563638" y="1454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2608988"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74" name="그룹 73">
              <a:extLst>
                <a:ext uri="{FF2B5EF4-FFF2-40B4-BE49-F238E27FC236}">
                  <a16:creationId xmlns:a16="http://schemas.microsoft.com/office/drawing/2014/main" id="{1BE63099-508E-8E6C-3220-C505DEB66FD9}"/>
                </a:ext>
              </a:extLst>
            </p:cNvPr>
            <p:cNvGrpSpPr/>
            <p:nvPr/>
          </p:nvGrpSpPr>
          <p:grpSpPr>
            <a:xfrm>
              <a:off x="4051127" y="1354141"/>
              <a:ext cx="223838" cy="307601"/>
              <a:chOff x="4051127" y="1389451"/>
              <a:chExt cx="223838" cy="307601"/>
            </a:xfrm>
          </p:grpSpPr>
          <p:sp>
            <p:nvSpPr>
              <p:cNvPr id="75" name="사각형: 잘린 한쪽 모서리 74">
                <a:extLst>
                  <a:ext uri="{FF2B5EF4-FFF2-40B4-BE49-F238E27FC236}">
                    <a16:creationId xmlns:a16="http://schemas.microsoft.com/office/drawing/2014/main" id="{D02F29FC-05DF-7B55-A3F7-5FA06294CC4C}"/>
                  </a:ext>
                </a:extLst>
              </p:cNvPr>
              <p:cNvSpPr/>
              <p:nvPr/>
            </p:nvSpPr>
            <p:spPr>
              <a:xfrm rot="16200000" flipH="1" flipV="1">
                <a:off x="4017115" y="1449107"/>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051127"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77" name="TextBox 76">
              <a:extLst>
                <a:ext uri="{FF2B5EF4-FFF2-40B4-BE49-F238E27FC236}">
                  <a16:creationId xmlns:a16="http://schemas.microsoft.com/office/drawing/2014/main" id="{D8539796-98D7-4CFC-6D78-EEE30F169D38}"/>
                </a:ext>
              </a:extLst>
            </p:cNvPr>
            <p:cNvSpPr txBox="1"/>
            <p:nvPr/>
          </p:nvSpPr>
          <p:spPr>
            <a:xfrm>
              <a:off x="3783224" y="1686612"/>
              <a:ext cx="209994"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FBI</a:t>
              </a:r>
              <a:r>
                <a:rPr lang="en-US" altLang="ko-KR" sz="700" dirty="0">
                  <a:latin typeface="+mn-ea"/>
                </a:rPr>
                <a:t>/</a:t>
              </a:r>
            </a:p>
            <a:p>
              <a:pPr algn="ctr" latinLnBrk="1">
                <a:lnSpc>
                  <a:spcPts val="700"/>
                </a:lnSpc>
                <a:defRPr/>
              </a:pPr>
              <a:r>
                <a:rPr lang="en-US" altLang="ko-KR" sz="700" dirty="0">
                  <a:solidFill>
                    <a:srgbClr val="FF00FF"/>
                  </a:solidFill>
                  <a:latin typeface="+mn-ea"/>
                </a:rPr>
                <a:t>VSO</a:t>
              </a:r>
              <a:r>
                <a:rPr lang="en-US" altLang="ko-KR" sz="700" dirty="0">
                  <a:latin typeface="+mn-ea"/>
                </a:rPr>
                <a:t>/</a:t>
              </a:r>
            </a:p>
            <a:p>
              <a:pPr algn="ctr" latinLnBrk="1">
                <a:lnSpc>
                  <a:spcPts val="700"/>
                </a:lnSpc>
                <a:defRPr/>
              </a:pPr>
              <a:r>
                <a:rPr lang="en-US" altLang="ko-KR" sz="700" dirty="0">
                  <a:solidFill>
                    <a:srgbClr val="00CC00"/>
                  </a:solidFill>
                  <a:latin typeface="+mn-ea"/>
                </a:rPr>
                <a:t>VSI</a:t>
              </a:r>
            </a:p>
          </p:txBody>
        </p:sp>
        <p:sp>
          <p:nvSpPr>
            <p:cNvPr id="78" name="TextBox 77">
              <a:extLst>
                <a:ext uri="{FF2B5EF4-FFF2-40B4-BE49-F238E27FC236}">
                  <a16:creationId xmlns:a16="http://schemas.microsoft.com/office/drawing/2014/main" id="{A3F06153-51CF-A070-1E79-384524A9E328}"/>
                </a:ext>
              </a:extLst>
            </p:cNvPr>
            <p:cNvSpPr txBox="1"/>
            <p:nvPr/>
          </p:nvSpPr>
          <p:spPr>
            <a:xfrm>
              <a:off x="3779745" y="3212665"/>
              <a:ext cx="201978"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FBO</a:t>
              </a:r>
              <a:r>
                <a:rPr lang="en-US" altLang="ko-KR" sz="700" dirty="0">
                  <a:latin typeface="+mn-ea"/>
                </a:rPr>
                <a:t>/</a:t>
              </a:r>
            </a:p>
            <a:p>
              <a:pPr algn="ctr" latinLnBrk="1">
                <a:lnSpc>
                  <a:spcPts val="700"/>
                </a:lnSpc>
                <a:defRPr/>
              </a:pPr>
              <a:r>
                <a:rPr lang="en-US" altLang="ko-KR" sz="700" dirty="0">
                  <a:solidFill>
                    <a:srgbClr val="FF00FF"/>
                  </a:solidFill>
                  <a:latin typeface="+mn-ea"/>
                </a:rPr>
                <a:t>VSI</a:t>
              </a:r>
              <a:r>
                <a:rPr lang="en-US" altLang="ko-KR" sz="700" dirty="0">
                  <a:latin typeface="+mn-ea"/>
                </a:rPr>
                <a:t>/</a:t>
              </a:r>
              <a:endParaRPr lang="en-US" altLang="ko-KR" sz="700" dirty="0">
                <a:solidFill>
                  <a:srgbClr val="00CC00"/>
                </a:solidFill>
                <a:latin typeface="+mn-ea"/>
              </a:endParaRPr>
            </a:p>
            <a:p>
              <a:pPr algn="ctr" latinLnBrk="1">
                <a:lnSpc>
                  <a:spcPts val="700"/>
                </a:lnSpc>
                <a:defRPr/>
              </a:pPr>
              <a:r>
                <a:rPr lang="en-US" altLang="ko-KR" sz="700" dirty="0">
                  <a:solidFill>
                    <a:srgbClr val="00CC00"/>
                  </a:solidFill>
                  <a:latin typeface="+mn-ea"/>
                </a:rPr>
                <a:t>FBO</a:t>
              </a: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1001611307"/>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O11</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O7</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3" name="object 16">
            <a:extLst>
              <a:ext uri="{FF2B5EF4-FFF2-40B4-BE49-F238E27FC236}">
                <a16:creationId xmlns:a16="http://schemas.microsoft.com/office/drawing/2014/main" id="{1B9588A1-C9D4-BAE9-8BAB-3EE9754B6949}"/>
              </a:ext>
            </a:extLst>
          </p:cNvPr>
          <p:cNvSpPr txBox="1"/>
          <p:nvPr/>
        </p:nvSpPr>
        <p:spPr>
          <a:xfrm>
            <a:off x="404812" y="4345638"/>
            <a:ext cx="6048623" cy="302647"/>
          </a:xfrm>
          <a:prstGeom prst="rect">
            <a:avLst/>
          </a:prstGeom>
        </p:spPr>
        <p:txBody>
          <a:bodyPr vert="horz" wrap="square" lIns="0" tIns="12700" rIns="0" bIns="0" rtlCol="0">
            <a:spAutoFit/>
          </a:bodyPr>
          <a:lstStyle/>
          <a:p>
            <a:pPr marL="38100">
              <a:lnSpc>
                <a:spcPct val="100000"/>
              </a:lnSpc>
              <a:spcBef>
                <a:spcPts val="100"/>
              </a:spcBef>
            </a:pPr>
            <a:r>
              <a:rPr lang="en-US" altLang="ko-KR" sz="900" dirty="0">
                <a:latin typeface="Arial" panose="020B0604020202020204" pitchFamily="34" charset="0"/>
                <a:cs typeface="Arial" panose="020B0604020202020204" pitchFamily="34" charset="0"/>
              </a:rPr>
              <a:t>Note :  1) The pin function can be configured through the IO_MODE register bits.  If the pin will be used as the FBO,</a:t>
            </a:r>
          </a:p>
          <a:p>
            <a:pPr marL="38100">
              <a:lnSpc>
                <a:spcPct val="100000"/>
              </a:lnSpc>
              <a:spcBef>
                <a:spcPts val="100"/>
              </a:spcBef>
            </a:pPr>
            <a:r>
              <a:rPr lang="en-US" altLang="ko-KR" sz="900" dirty="0">
                <a:latin typeface="Arial" panose="020B0604020202020204" pitchFamily="34" charset="0"/>
                <a:cs typeface="Arial" panose="020B0604020202020204" pitchFamily="34" charset="0"/>
              </a:rPr>
              <a:t>                then the pin acts as an Open-drain output. (external PU resistor should be attached)</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859289"/>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11" name="표 10">
            <a:extLst>
              <a:ext uri="{FF2B5EF4-FFF2-40B4-BE49-F238E27FC236}">
                <a16:creationId xmlns:a16="http://schemas.microsoft.com/office/drawing/2014/main" id="{32A16C21-C35C-B179-A30F-4E17D60E9CA8}"/>
              </a:ext>
            </a:extLst>
          </p:cNvPr>
          <p:cNvGraphicFramePr>
            <a:graphicFrameLocks noGrp="1"/>
          </p:cNvGraphicFramePr>
          <p:nvPr>
            <p:extLst>
              <p:ext uri="{D42A27DB-BD31-4B8C-83A1-F6EECF244321}">
                <p14:modId xmlns:p14="http://schemas.microsoft.com/office/powerpoint/2010/main" val="25066034"/>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Output (OD)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FB Output (Open-drain)</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Output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VSYNC Input</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57" name="그림 56">
            <a:extLst>
              <a:ext uri="{FF2B5EF4-FFF2-40B4-BE49-F238E27FC236}">
                <a16:creationId xmlns:a16="http://schemas.microsoft.com/office/drawing/2014/main" id="{D84355CA-83EC-9C13-79FB-75FECA5DCF90}"/>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58" name="그룹 57">
            <a:extLst>
              <a:ext uri="{FF2B5EF4-FFF2-40B4-BE49-F238E27FC236}">
                <a16:creationId xmlns:a16="http://schemas.microsoft.com/office/drawing/2014/main" id="{FF0D4A74-2A10-5F0C-F306-67DA01245C4F}"/>
              </a:ext>
            </a:extLst>
          </p:cNvPr>
          <p:cNvGrpSpPr/>
          <p:nvPr/>
        </p:nvGrpSpPr>
        <p:grpSpPr>
          <a:xfrm>
            <a:off x="2807104" y="4142420"/>
            <a:ext cx="1038538" cy="974255"/>
            <a:chOff x="2687819" y="3003631"/>
            <a:chExt cx="1094210" cy="1114062"/>
          </a:xfrm>
        </p:grpSpPr>
        <p:pic>
          <p:nvPicPr>
            <p:cNvPr id="59" name="그림 58">
              <a:extLst>
                <a:ext uri="{FF2B5EF4-FFF2-40B4-BE49-F238E27FC236}">
                  <a16:creationId xmlns:a16="http://schemas.microsoft.com/office/drawing/2014/main" id="{BBF3BF13-E6F5-3CFF-E1B6-C731C6EADD5A}"/>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60" name="TextBox 152">
              <a:extLst>
                <a:ext uri="{FF2B5EF4-FFF2-40B4-BE49-F238E27FC236}">
                  <a16:creationId xmlns:a16="http://schemas.microsoft.com/office/drawing/2014/main" id="{4B145E2B-9427-84E7-D956-78FB850120D2}"/>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61" name="그림 60">
            <a:extLst>
              <a:ext uri="{FF2B5EF4-FFF2-40B4-BE49-F238E27FC236}">
                <a16:creationId xmlns:a16="http://schemas.microsoft.com/office/drawing/2014/main" id="{F1202854-1F25-A9ED-4617-0D3076FA93B7}"/>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62" name="그림 61">
            <a:extLst>
              <a:ext uri="{FF2B5EF4-FFF2-40B4-BE49-F238E27FC236}">
                <a16:creationId xmlns:a16="http://schemas.microsoft.com/office/drawing/2014/main" id="{90EE61C3-FDE5-BA49-0D69-8E9390753A92}"/>
              </a:ext>
            </a:extLst>
          </p:cNvPr>
          <p:cNvPicPr>
            <a:picLocks noChangeAspect="1"/>
          </p:cNvPicPr>
          <p:nvPr/>
        </p:nvPicPr>
        <p:blipFill>
          <a:blip r:embed="rId4"/>
          <a:stretch>
            <a:fillRect/>
          </a:stretch>
        </p:blipFill>
        <p:spPr>
          <a:xfrm>
            <a:off x="2721895" y="6567253"/>
            <a:ext cx="1183605" cy="984325"/>
          </a:xfrm>
          <a:prstGeom prst="rect">
            <a:avLst/>
          </a:prstGeom>
        </p:spPr>
      </p:pic>
      <p:pic>
        <p:nvPicPr>
          <p:cNvPr id="63" name="그림 62">
            <a:extLst>
              <a:ext uri="{FF2B5EF4-FFF2-40B4-BE49-F238E27FC236}">
                <a16:creationId xmlns:a16="http://schemas.microsoft.com/office/drawing/2014/main" id="{C0FDAAEE-578F-4526-B68D-B30C5D4B4C09}"/>
              </a:ext>
            </a:extLst>
          </p:cNvPr>
          <p:cNvPicPr>
            <a:picLocks noChangeAspect="1"/>
          </p:cNvPicPr>
          <p:nvPr/>
        </p:nvPicPr>
        <p:blipFill>
          <a:blip r:embed="rId5"/>
          <a:stretch>
            <a:fillRect/>
          </a:stretch>
        </p:blipFill>
        <p:spPr>
          <a:xfrm>
            <a:off x="2767654" y="5420134"/>
            <a:ext cx="1077988" cy="88920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sp>
        <p:nvSpPr>
          <p:cNvPr id="6" name="object 16">
            <a:extLst>
              <a:ext uri="{FF2B5EF4-FFF2-40B4-BE49-F238E27FC236}">
                <a16:creationId xmlns:a16="http://schemas.microsoft.com/office/drawing/2014/main" id="{7B7FCC82-2F9E-7D37-5116-5224E65F6F31}"/>
              </a:ext>
            </a:extLst>
          </p:cNvPr>
          <p:cNvSpPr txBox="1"/>
          <p:nvPr/>
        </p:nvSpPr>
        <p:spPr>
          <a:xfrm>
            <a:off x="400853" y="5677355"/>
            <a:ext cx="6044661" cy="605294"/>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a:t>
            </a:r>
            <a:endParaRPr lang="en-US" altLang="ko-KR" sz="900" spc="-5" dirty="0">
              <a:latin typeface="Arial" panose="020B0604020202020204" pitchFamily="34" charset="0"/>
              <a:cs typeface="Arial" panose="020B0604020202020204" pitchFamily="34" charset="0"/>
            </a:endParaRPr>
          </a:p>
          <a:p>
            <a:pPr marL="38100">
              <a:lnSpc>
                <a:spcPct val="100000"/>
              </a:lnSpc>
              <a:spcBef>
                <a:spcPts val="100"/>
              </a:spcBef>
            </a:pPr>
            <a:r>
              <a:rPr lang="en-US" sz="900" dirty="0">
                <a:latin typeface="Arial" panose="020B0604020202020204" pitchFamily="34" charset="0"/>
                <a:cs typeface="Arial" panose="020B0604020202020204" pitchFamily="34" charset="0"/>
              </a:rPr>
              <a:t>  2) Stresses beyond the Maximum Absolute ratings may cause permanent damage to the device</a:t>
            </a:r>
          </a:p>
          <a:p>
            <a:pPr marL="38100">
              <a:spcBef>
                <a:spcPts val="100"/>
              </a:spcBef>
            </a:pPr>
            <a:r>
              <a:rPr lang="en-US" altLang="ko-KR" sz="900" dirty="0">
                <a:solidFill>
                  <a:srgbClr val="0000FF"/>
                </a:solidFill>
                <a:latin typeface="Arial" panose="020B0604020202020204" pitchFamily="34" charset="0"/>
                <a:cs typeface="Arial" panose="020B0604020202020204" pitchFamily="34" charset="0"/>
              </a:rPr>
              <a:t>  3) Exposure to absolute maximum rating conditions for extended periods may affect device reliability</a:t>
            </a:r>
            <a:r>
              <a:rPr lang="en-US" altLang="ko-KR" sz="900" dirty="0">
                <a:latin typeface="Arial" panose="020B0604020202020204" pitchFamily="34" charset="0"/>
                <a:cs typeface="Arial" panose="020B0604020202020204" pitchFamily="34" charset="0"/>
              </a:rPr>
              <a:t>.</a:t>
            </a:r>
            <a:r>
              <a:rPr lang="en-US" sz="900" dirty="0">
                <a:latin typeface="Arial" panose="020B0604020202020204" pitchFamily="34" charset="0"/>
                <a:cs typeface="Arial" panose="020B0604020202020204" pitchFamily="34" charset="0"/>
              </a:rPr>
              <a:t> </a:t>
            </a: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2726334942"/>
              </p:ext>
            </p:extLst>
          </p:nvPr>
        </p:nvGraphicFramePr>
        <p:xfrm>
          <a:off x="400854" y="1151755"/>
          <a:ext cx="6048620" cy="4280034"/>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32</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FF"/>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588514"/>
                  </a:ext>
                </a:extLst>
              </a:tr>
              <a:tr h="283173">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Operating</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a:t>
                      </a: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125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 </a:t>
                      </a: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Level</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 </a:t>
                      </a: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of 168 </a:t>
                      </a:r>
                      <a:r>
                        <a:rPr lang="en-US" sz="900" b="0" i="0" u="none" strike="noStrike" dirty="0" err="1">
                          <a:solidFill>
                            <a:srgbClr val="0000FF"/>
                          </a:solidFill>
                          <a:effectLst/>
                          <a:latin typeface="Arial" panose="020B0604020202020204" pitchFamily="34" charset="0"/>
                          <a:ea typeface="굴림" panose="020B0600000101010101" pitchFamily="50" charset="-127"/>
                          <a:cs typeface="Arial" panose="020B0604020202020204" pitchFamily="34" charset="0"/>
                        </a:rPr>
                        <a:t>hr</a:t>
                      </a:r>
                      <a:endPar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10" name="TextBox 9">
            <a:extLst>
              <a:ext uri="{FF2B5EF4-FFF2-40B4-BE49-F238E27FC236}">
                <a16:creationId xmlns:a16="http://schemas.microsoft.com/office/drawing/2014/main" id="{C281DE0B-6349-0D52-F0D5-BEF3206C79CF}"/>
              </a:ext>
            </a:extLst>
          </p:cNvPr>
          <p:cNvSpPr txBox="1"/>
          <p:nvPr/>
        </p:nvSpPr>
        <p:spPr>
          <a:xfrm>
            <a:off x="400853" y="6571074"/>
            <a:ext cx="6052582" cy="307777"/>
          </a:xfrm>
          <a:prstGeom prst="rect">
            <a:avLst/>
          </a:prstGeom>
          <a:noFill/>
        </p:spPr>
        <p:txBody>
          <a:bodyPr wrap="square" lIns="0" rtlCol="0">
            <a:spAutoFit/>
          </a:bodyPr>
          <a:lstStyle/>
          <a:p>
            <a:r>
              <a:rPr lang="en-US" altLang="ko-KR" sz="1400" b="1" dirty="0">
                <a:solidFill>
                  <a:srgbClr val="0000FF"/>
                </a:solidFill>
                <a:latin typeface="Arial" panose="020B0604020202020204" pitchFamily="34" charset="0"/>
                <a:cs typeface="Arial" panose="020B0604020202020204" pitchFamily="34" charset="0"/>
              </a:rPr>
              <a:t>ESD &amp; Latch-up Ratings</a:t>
            </a:r>
          </a:p>
        </p:txBody>
      </p:sp>
      <p:sp>
        <p:nvSpPr>
          <p:cNvPr id="11" name="object 11">
            <a:extLst>
              <a:ext uri="{FF2B5EF4-FFF2-40B4-BE49-F238E27FC236}">
                <a16:creationId xmlns:a16="http://schemas.microsoft.com/office/drawing/2014/main" id="{55B9BB63-ABDA-30DF-1ADD-245600E5B925}"/>
              </a:ext>
            </a:extLst>
          </p:cNvPr>
          <p:cNvSpPr txBox="1"/>
          <p:nvPr/>
        </p:nvSpPr>
        <p:spPr>
          <a:xfrm>
            <a:off x="2412906" y="5591974"/>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4F64494B-AB45-76CD-5835-9C33F5AFF600}"/>
              </a:ext>
            </a:extLst>
          </p:cNvPr>
          <p:cNvSpPr txBox="1"/>
          <p:nvPr/>
        </p:nvSpPr>
        <p:spPr>
          <a:xfrm>
            <a:off x="2554451" y="8626005"/>
            <a:ext cx="1417824"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&amp; Latch-up </a:t>
            </a:r>
          </a:p>
        </p:txBody>
      </p:sp>
      <p:graphicFrame>
        <p:nvGraphicFramePr>
          <p:cNvPr id="9" name="표 8">
            <a:extLst>
              <a:ext uri="{FF2B5EF4-FFF2-40B4-BE49-F238E27FC236}">
                <a16:creationId xmlns:a16="http://schemas.microsoft.com/office/drawing/2014/main" id="{B7C946C0-A0F0-7C58-E344-82B149B44313}"/>
              </a:ext>
            </a:extLst>
          </p:cNvPr>
          <p:cNvGraphicFramePr>
            <a:graphicFrameLocks noGrp="1"/>
          </p:cNvGraphicFramePr>
          <p:nvPr>
            <p:extLst>
              <p:ext uri="{D42A27DB-BD31-4B8C-83A1-F6EECF244321}">
                <p14:modId xmlns:p14="http://schemas.microsoft.com/office/powerpoint/2010/main" val="4142080384"/>
              </p:ext>
            </p:extLst>
          </p:nvPr>
        </p:nvGraphicFramePr>
        <p:xfrm>
          <a:off x="400853" y="6885148"/>
          <a:ext cx="6048621" cy="158067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rgbClr val="0000FF"/>
                          </a:solidFill>
                          <a:effectLst/>
                          <a:latin typeface="Arial" panose="020B0604020202020204" pitchFamily="34" charset="0"/>
                          <a:ea typeface="MyriadPro-Regular"/>
                          <a:cs typeface="Arial" panose="020B0604020202020204" pitchFamily="34" charset="0"/>
                        </a:rPr>
                        <a:t>±</a:t>
                      </a:r>
                      <a:r>
                        <a:rPr lang="en-US" sz="900" kern="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 JS-001-2017</a:t>
                      </a:r>
                      <a:endParaRPr 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 JEDEC JESD22-C101F Oct 2013</a:t>
                      </a:r>
                      <a:endParaRPr 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r h="458110">
                <a:tc>
                  <a:txBody>
                    <a:bodyPr/>
                    <a:lstStyle/>
                    <a:p>
                      <a:pPr algn="ctr" latinLnBrk="0">
                        <a:lnSpc>
                          <a:spcPts val="1000"/>
                        </a:lnSpc>
                      </a:pPr>
                      <a:r>
                        <a:rPr lang="en-US" altLang="ko-KR" sz="900" kern="100" dirty="0">
                          <a:solidFill>
                            <a:srgbClr val="0000FF"/>
                          </a:solidFill>
                          <a:effectLst/>
                          <a:latin typeface="Arial" panose="020B0604020202020204" pitchFamily="34" charset="0"/>
                          <a:ea typeface="+mn-ea"/>
                          <a:cs typeface="Arial" panose="020B0604020202020204" pitchFamily="34" charset="0"/>
                        </a:rPr>
                        <a:t>Input Current (latch-up immunity)</a:t>
                      </a: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I</a:t>
                      </a:r>
                      <a:r>
                        <a:rPr kumimoji="0" lang="en-US" altLang="ko-KR" sz="900" b="0" i="0" u="none" strike="noStrike" kern="1200" cap="none" spc="0" normalizeH="0" baseline="-2500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LU</a:t>
                      </a: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alt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mA</a:t>
                      </a:r>
                      <a:endParaRPr 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pl-PL" altLang="ko-KR" sz="900" kern="100" dirty="0">
                          <a:solidFill>
                            <a:srgbClr val="0000FF"/>
                          </a:solidFill>
                          <a:effectLst/>
                          <a:latin typeface="Arial" panose="020B0604020202020204" pitchFamily="34" charset="0"/>
                          <a:ea typeface="+mn-ea"/>
                          <a:cs typeface="Arial" panose="020B0604020202020204" pitchFamily="34" charset="0"/>
                        </a:rPr>
                        <a:t>Norm: </a:t>
                      </a:r>
                    </a:p>
                    <a:p>
                      <a:pPr algn="ctr" latinLnBrk="0">
                        <a:lnSpc>
                          <a:spcPts val="1000"/>
                        </a:lnSpc>
                      </a:pPr>
                      <a:r>
                        <a:rPr lang="pl-PL" altLang="ko-KR" sz="900" kern="100" dirty="0">
                          <a:solidFill>
                            <a:srgbClr val="0000FF"/>
                          </a:solidFill>
                          <a:effectLst/>
                          <a:latin typeface="Arial" panose="020B0604020202020204" pitchFamily="34" charset="0"/>
                          <a:ea typeface="+mn-ea"/>
                          <a:cs typeface="Arial" panose="020B0604020202020204" pitchFamily="34" charset="0"/>
                        </a:rPr>
                        <a:t>JEDEC JESD78D </a:t>
                      </a:r>
                      <a:endParaRPr lang="en-US" altLang="ko-KR" sz="900" kern="100" dirty="0">
                        <a:solidFill>
                          <a:srgbClr val="0000FF"/>
                        </a:solidFill>
                        <a:effectLst/>
                        <a:latin typeface="Arial" panose="020B0604020202020204" pitchFamily="34" charset="0"/>
                        <a:ea typeface="+mn-ea"/>
                        <a:cs typeface="Arial" panose="020B0604020202020204" pitchFamily="34" charset="0"/>
                      </a:endParaRPr>
                    </a:p>
                    <a:p>
                      <a:pPr algn="ctr" latinLnBrk="0">
                        <a:lnSpc>
                          <a:spcPts val="1000"/>
                        </a:lnSpc>
                      </a:pPr>
                      <a:r>
                        <a:rPr lang="pl-PL" altLang="ko-KR" sz="900" kern="100" dirty="0">
                          <a:solidFill>
                            <a:srgbClr val="0000FF"/>
                          </a:solidFill>
                          <a:effectLst/>
                          <a:latin typeface="Arial" panose="020B0604020202020204" pitchFamily="34" charset="0"/>
                          <a:ea typeface="+mn-ea"/>
                          <a:cs typeface="Arial" panose="020B0604020202020204" pitchFamily="34" charset="0"/>
                        </a:rPr>
                        <a:t>Nov 2011</a:t>
                      </a:r>
                      <a:endParaRPr 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bl>
          </a:graphicData>
        </a:graphic>
      </p:graphicFrame>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374905316"/>
              </p:ext>
            </p:extLst>
          </p:nvPr>
        </p:nvGraphicFramePr>
        <p:xfrm>
          <a:off x="404814" y="1146143"/>
          <a:ext cx="6048621" cy="6437458"/>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211673">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1673">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1673">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167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uA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a:t>
                      </a:r>
                      <a:r>
                        <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2.75</a:t>
                      </a:r>
                      <a:endPar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1673">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2.89</a:t>
                      </a:r>
                      <a:endPar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211673">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12mA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3.00</a:t>
                      </a:r>
                      <a:endPar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691964"/>
                  </a:ext>
                </a:extLst>
              </a:tr>
              <a:tr h="211673">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3.20</a:t>
                      </a:r>
                      <a:endPar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55047"/>
                  </a:ext>
                </a:extLst>
              </a:tr>
              <a:tr h="211673">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3.42</a:t>
                      </a:r>
                      <a:endPar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211673">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6</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3.70</a:t>
                      </a:r>
                      <a:endPar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211673">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1673">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1673">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167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1673">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1673">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1673">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211673">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933960">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1CA38FF5-8C9F-ACA4-20AB-E41A4B181B45}"/>
              </a:ext>
            </a:extLst>
          </p:cNvPr>
          <p:cNvSpPr txBox="1"/>
          <p:nvPr/>
        </p:nvSpPr>
        <p:spPr>
          <a:xfrm>
            <a:off x="404812" y="7739474"/>
            <a:ext cx="6086677" cy="7566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5V will limit a maximum LED sinking current and affect a current variation.</a:t>
            </a:r>
          </a:p>
          <a:p>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 95, are recommended.</a:t>
            </a:r>
            <a:endParaRPr lang="en-US" altLang="ko-KR" baseline="-25000" dirty="0">
              <a:solidFill>
                <a:srgbClr val="000000"/>
              </a:solidFill>
              <a:ea typeface="굴림" panose="020B0600000101010101" pitchFamily="50" charset="-127"/>
            </a:endParaRPr>
          </a:p>
          <a:p>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p>
          <a:p>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a:t>
            </a:r>
          </a:p>
          <a:p>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591453" y="6867738"/>
            <a:ext cx="3315424" cy="584770"/>
            <a:chOff x="1920695" y="7478240"/>
            <a:chExt cx="3333652" cy="728140"/>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04556"/>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894955"/>
              <a:ext cx="229797"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1694656555"/>
              </p:ext>
            </p:extLst>
          </p:nvPr>
        </p:nvGraphicFramePr>
        <p:xfrm>
          <a:off x="411753" y="1136650"/>
          <a:ext cx="6041678" cy="6735445"/>
        </p:xfrm>
        <a:graphic>
          <a:graphicData uri="http://schemas.openxmlformats.org/drawingml/2006/table">
            <a:tbl>
              <a:tblPr>
                <a:tableStyleId>{5C22544A-7EE6-4342-B048-85BDC9FD1C3A}</a:tableStyleId>
              </a:tblPr>
              <a:tblGrid>
                <a:gridCol w="1400912">
                  <a:extLst>
                    <a:ext uri="{9D8B030D-6E8A-4147-A177-3AD203B41FA5}">
                      <a16:colId xmlns:a16="http://schemas.microsoft.com/office/drawing/2014/main" val="1783343538"/>
                    </a:ext>
                  </a:extLst>
                </a:gridCol>
                <a:gridCol w="683242">
                  <a:extLst>
                    <a:ext uri="{9D8B030D-6E8A-4147-A177-3AD203B41FA5}">
                      <a16:colId xmlns:a16="http://schemas.microsoft.com/office/drawing/2014/main" val="3180006436"/>
                    </a:ext>
                  </a:extLst>
                </a:gridCol>
                <a:gridCol w="1807538">
                  <a:extLst>
                    <a:ext uri="{9D8B030D-6E8A-4147-A177-3AD203B41FA5}">
                      <a16:colId xmlns:a16="http://schemas.microsoft.com/office/drawing/2014/main" val="1629708029"/>
                    </a:ext>
                  </a:extLst>
                </a:gridCol>
                <a:gridCol w="529385">
                  <a:extLst>
                    <a:ext uri="{9D8B030D-6E8A-4147-A177-3AD203B41FA5}">
                      <a16:colId xmlns:a16="http://schemas.microsoft.com/office/drawing/2014/main" val="3514095092"/>
                    </a:ext>
                  </a:extLst>
                </a:gridCol>
                <a:gridCol w="529385">
                  <a:extLst>
                    <a:ext uri="{9D8B030D-6E8A-4147-A177-3AD203B41FA5}">
                      <a16:colId xmlns:a16="http://schemas.microsoft.com/office/drawing/2014/main" val="2256908222"/>
                    </a:ext>
                  </a:extLst>
                </a:gridCol>
                <a:gridCol w="529385">
                  <a:extLst>
                    <a:ext uri="{9D8B030D-6E8A-4147-A177-3AD203B41FA5}">
                      <a16:colId xmlns:a16="http://schemas.microsoft.com/office/drawing/2014/main" val="2915946677"/>
                    </a:ext>
                  </a:extLst>
                </a:gridCol>
                <a:gridCol w="561831">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900" b="0" spc="-5" dirty="0">
                          <a:solidFill>
                            <a:schemeClr val="tx1"/>
                          </a:solidFill>
                          <a:latin typeface="Arial"/>
                          <a:cs typeface="Arial"/>
                        </a:rPr>
                        <a:t>0.18V</a:t>
                      </a:r>
                      <a:r>
                        <a:rPr lang="it-IT" altLang="ko-KR" sz="700" b="0" spc="-5"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87" baseline="-18518" dirty="0">
                          <a:solidFill>
                            <a:schemeClr val="tx1"/>
                          </a:solidFill>
                          <a:latin typeface="Arial"/>
                          <a:cs typeface="Arial"/>
                        </a:rPr>
                        <a:t> </a:t>
                      </a:r>
                      <a:r>
                        <a:rPr lang="it-IT" altLang="ko-KR" sz="900" b="0" dirty="0">
                          <a:solidFill>
                            <a:schemeClr val="tx1"/>
                          </a:solidFill>
                          <a:latin typeface="Arial"/>
                          <a:cs typeface="Arial"/>
                        </a:rPr>
                        <a:t>4mA,</a:t>
                      </a:r>
                      <a:r>
                        <a:rPr lang="it-IT" altLang="ko-KR" sz="900" b="0" spc="-30" dirty="0">
                          <a:solidFill>
                            <a:schemeClr val="tx1"/>
                          </a:solidFill>
                          <a:latin typeface="Arial"/>
                          <a:cs typeface="Arial"/>
                        </a:rPr>
                        <a:t> </a:t>
                      </a:r>
                      <a:r>
                        <a:rPr lang="it-IT" altLang="ko-KR" sz="900" b="0" dirty="0">
                          <a:solidFill>
                            <a:schemeClr val="tx1"/>
                          </a:solidFill>
                          <a:latin typeface="Arial"/>
                          <a:cs typeface="Arial"/>
                        </a:rPr>
                        <a:t>0.21V</a:t>
                      </a:r>
                      <a:r>
                        <a:rPr lang="it-IT" altLang="ko-KR" sz="700" b="0"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95" baseline="-18518" dirty="0">
                          <a:solidFill>
                            <a:schemeClr val="tx1"/>
                          </a:solidFill>
                          <a:latin typeface="Arial"/>
                          <a:cs typeface="Arial"/>
                        </a:rPr>
                        <a:t> </a:t>
                      </a:r>
                      <a:r>
                        <a:rPr lang="it-IT" altLang="ko-KR" sz="900" b="0" dirty="0">
                          <a:solidFill>
                            <a:schemeClr val="tx1"/>
                          </a:solidFill>
                          <a:latin typeface="Arial"/>
                          <a:cs typeface="Arial"/>
                        </a:rPr>
                        <a:t>8mA</a:t>
                      </a:r>
                    </a:p>
                    <a:p>
                      <a:pPr marL="54610">
                        <a:lnSpc>
                          <a:spcPct val="100000"/>
                        </a:lnSpc>
                      </a:pPr>
                      <a:r>
                        <a:rPr lang="it-IT" altLang="ko-KR" sz="900" b="0" spc="-5" dirty="0">
                          <a:solidFill>
                            <a:schemeClr val="tx1"/>
                          </a:solidFill>
                          <a:latin typeface="Arial"/>
                          <a:cs typeface="Arial"/>
                        </a:rPr>
                        <a:t>0.24V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12mA,</a:t>
                      </a:r>
                      <a:r>
                        <a:rPr lang="it-IT" altLang="ko-KR" sz="900" b="0" spc="-40" dirty="0">
                          <a:solidFill>
                            <a:schemeClr val="tx1"/>
                          </a:solidFill>
                          <a:latin typeface="Arial"/>
                          <a:cs typeface="Arial"/>
                        </a:rPr>
                        <a:t> 0.27V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16mA</a:t>
                      </a:r>
                    </a:p>
                    <a:p>
                      <a:pPr marL="54610">
                        <a:lnSpc>
                          <a:spcPct val="100000"/>
                        </a:lnSpc>
                      </a:pPr>
                      <a:r>
                        <a:rPr lang="it-IT" altLang="ko-KR" sz="900" b="0" spc="-5" dirty="0">
                          <a:solidFill>
                            <a:schemeClr val="tx1"/>
                          </a:solidFill>
                          <a:latin typeface="Arial"/>
                          <a:cs typeface="Arial"/>
                        </a:rPr>
                        <a:t>0.32V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24mA,</a:t>
                      </a:r>
                      <a:r>
                        <a:rPr lang="it-IT" altLang="ko-KR" sz="900" b="0" spc="-40" dirty="0">
                          <a:solidFill>
                            <a:schemeClr val="tx1"/>
                          </a:solidFill>
                          <a:latin typeface="Arial"/>
                          <a:cs typeface="Arial"/>
                        </a:rPr>
                        <a:t> </a:t>
                      </a:r>
                      <a:r>
                        <a:rPr lang="it-IT" altLang="ko-KR" sz="900" b="0" dirty="0">
                          <a:solidFill>
                            <a:schemeClr val="tx1"/>
                          </a:solidFill>
                          <a:latin typeface="Arial"/>
                          <a:cs typeface="Arial"/>
                        </a:rPr>
                        <a:t>0.38V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32mA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8233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nSpc>
                          <a:spcPct val="100000"/>
                        </a:lnSpc>
                        <a:spcBef>
                          <a:spcPts val="160"/>
                        </a:spcBef>
                      </a:pP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sz="900" spc="-3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sz="900" dirty="0">
                          <a:solidFill>
                            <a:schemeClr val="tx1"/>
                          </a:solidFill>
                          <a:latin typeface="Arial"/>
                          <a:cs typeface="Arial"/>
                        </a:rPr>
                        <a:t>:  3b’000=3V,</a:t>
                      </a:r>
                      <a:r>
                        <a:rPr sz="900" spc="160"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001</a:t>
                      </a:r>
                      <a:r>
                        <a:rPr sz="900" dirty="0">
                          <a:solidFill>
                            <a:schemeClr val="tx1"/>
                          </a:solidFill>
                          <a:latin typeface="Arial"/>
                          <a:cs typeface="Arial"/>
                        </a:rPr>
                        <a:t>=</a:t>
                      </a:r>
                      <a:r>
                        <a:rPr lang="en-US" sz="900" dirty="0">
                          <a:solidFill>
                            <a:schemeClr val="tx1"/>
                          </a:solidFill>
                          <a:latin typeface="Arial"/>
                          <a:cs typeface="Arial"/>
                        </a:rPr>
                        <a:t>4</a:t>
                      </a:r>
                      <a:r>
                        <a:rPr sz="900" dirty="0">
                          <a:solidFill>
                            <a:schemeClr val="tx1"/>
                          </a:solidFill>
                          <a:latin typeface="Arial"/>
                          <a:cs typeface="Arial"/>
                        </a:rPr>
                        <a:t>V</a:t>
                      </a:r>
                    </a:p>
                    <a:p>
                      <a:pPr marL="275590">
                        <a:lnSpc>
                          <a:spcPct val="100000"/>
                        </a:lnSpc>
                      </a:pPr>
                      <a:r>
                        <a:rPr sz="900" dirty="0">
                          <a:solidFill>
                            <a:schemeClr val="tx1"/>
                          </a:solidFill>
                          <a:latin typeface="Arial"/>
                          <a:cs typeface="Arial"/>
                        </a:rPr>
                        <a:t>3b’0</a:t>
                      </a:r>
                      <a:r>
                        <a:rPr lang="en-US" sz="900" dirty="0">
                          <a:solidFill>
                            <a:schemeClr val="tx1"/>
                          </a:solidFill>
                          <a:latin typeface="Arial"/>
                          <a:cs typeface="Arial"/>
                        </a:rPr>
                        <a:t>10</a:t>
                      </a:r>
                      <a:r>
                        <a:rPr sz="900" dirty="0">
                          <a:solidFill>
                            <a:schemeClr val="tx1"/>
                          </a:solidFill>
                          <a:latin typeface="Arial"/>
                          <a:cs typeface="Arial"/>
                        </a:rPr>
                        <a:t>=</a:t>
                      </a:r>
                      <a:r>
                        <a:rPr lang="en-US" sz="900" dirty="0">
                          <a:solidFill>
                            <a:schemeClr val="tx1"/>
                          </a:solidFill>
                          <a:latin typeface="Arial"/>
                          <a:cs typeface="Arial"/>
                        </a:rPr>
                        <a:t>6</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011</a:t>
                      </a:r>
                      <a:r>
                        <a:rPr sz="900" dirty="0">
                          <a:solidFill>
                            <a:schemeClr val="tx1"/>
                          </a:solidFill>
                          <a:latin typeface="Arial"/>
                          <a:cs typeface="Arial"/>
                        </a:rPr>
                        <a:t>=</a:t>
                      </a:r>
                      <a:r>
                        <a:rPr lang="en-US" sz="900" dirty="0">
                          <a:solidFill>
                            <a:schemeClr val="tx1"/>
                          </a:solidFill>
                          <a:latin typeface="Arial"/>
                          <a:cs typeface="Arial"/>
                        </a:rPr>
                        <a:t>8</a:t>
                      </a:r>
                      <a:r>
                        <a:rPr sz="900" dirty="0">
                          <a:solidFill>
                            <a:schemeClr val="tx1"/>
                          </a:solidFill>
                          <a:latin typeface="Arial"/>
                          <a:cs typeface="Arial"/>
                        </a:rPr>
                        <a:t>V</a:t>
                      </a:r>
                    </a:p>
                    <a:p>
                      <a:pPr marL="275590">
                        <a:lnSpc>
                          <a:spcPct val="100000"/>
                        </a:lnSpc>
                      </a:pPr>
                      <a:r>
                        <a:rPr sz="900" spc="-5" dirty="0">
                          <a:solidFill>
                            <a:schemeClr val="tx1"/>
                          </a:solidFill>
                          <a:latin typeface="Arial"/>
                          <a:cs typeface="Arial"/>
                        </a:rPr>
                        <a:t>3b’</a:t>
                      </a:r>
                      <a:r>
                        <a:rPr lang="en-US" sz="900" spc="-5" dirty="0">
                          <a:solidFill>
                            <a:schemeClr val="tx1"/>
                          </a:solidFill>
                          <a:latin typeface="Arial"/>
                          <a:cs typeface="Arial"/>
                        </a:rPr>
                        <a:t>100</a:t>
                      </a:r>
                      <a:r>
                        <a:rPr sz="900" spc="-5" dirty="0">
                          <a:solidFill>
                            <a:schemeClr val="tx1"/>
                          </a:solidFill>
                          <a:latin typeface="Arial"/>
                          <a:cs typeface="Arial"/>
                        </a:rPr>
                        <a:t>=</a:t>
                      </a:r>
                      <a:r>
                        <a:rPr lang="en-US" sz="900" spc="-5" dirty="0">
                          <a:solidFill>
                            <a:schemeClr val="tx1"/>
                          </a:solidFill>
                          <a:latin typeface="Arial"/>
                          <a:cs typeface="Arial"/>
                        </a:rPr>
                        <a:t>12</a:t>
                      </a:r>
                      <a:r>
                        <a:rPr sz="900" spc="-5" dirty="0">
                          <a:solidFill>
                            <a:schemeClr val="tx1"/>
                          </a:solidFill>
                          <a:latin typeface="Arial"/>
                          <a:cs typeface="Arial"/>
                        </a:rPr>
                        <a:t>V,</a:t>
                      </a:r>
                      <a:r>
                        <a:rPr sz="900" spc="200" dirty="0">
                          <a:solidFill>
                            <a:schemeClr val="tx1"/>
                          </a:solidFill>
                          <a:latin typeface="Arial"/>
                          <a:cs typeface="Arial"/>
                        </a:rPr>
                        <a:t> </a:t>
                      </a:r>
                      <a:r>
                        <a:rPr sz="900" spc="-5" dirty="0">
                          <a:solidFill>
                            <a:schemeClr val="tx1"/>
                          </a:solidFill>
                          <a:latin typeface="Arial"/>
                          <a:cs typeface="Arial"/>
                        </a:rPr>
                        <a:t>3b’1</a:t>
                      </a:r>
                      <a:r>
                        <a:rPr lang="en-US" sz="900" spc="-5" dirty="0">
                          <a:solidFill>
                            <a:schemeClr val="tx1"/>
                          </a:solidFill>
                          <a:latin typeface="Arial"/>
                          <a:cs typeface="Arial"/>
                        </a:rPr>
                        <a:t>01</a:t>
                      </a:r>
                      <a:r>
                        <a:rPr sz="900" spc="-5" dirty="0">
                          <a:solidFill>
                            <a:schemeClr val="tx1"/>
                          </a:solidFill>
                          <a:latin typeface="Arial"/>
                          <a:cs typeface="Arial"/>
                        </a:rPr>
                        <a:t>=</a:t>
                      </a:r>
                      <a:r>
                        <a:rPr lang="en-US" sz="900" spc="-5" dirty="0">
                          <a:solidFill>
                            <a:schemeClr val="tx1"/>
                          </a:solidFill>
                          <a:latin typeface="Arial"/>
                          <a:cs typeface="Arial"/>
                        </a:rPr>
                        <a:t>16</a:t>
                      </a:r>
                      <a:r>
                        <a:rPr sz="900" spc="-5" dirty="0">
                          <a:solidFill>
                            <a:schemeClr val="tx1"/>
                          </a:solidFill>
                          <a:latin typeface="Arial"/>
                          <a:cs typeface="Arial"/>
                        </a:rPr>
                        <a:t>V</a:t>
                      </a:r>
                      <a:endParaRPr sz="900" dirty="0">
                        <a:solidFill>
                          <a:schemeClr val="tx1"/>
                        </a:solidFill>
                        <a:latin typeface="Arial"/>
                        <a:cs typeface="Arial"/>
                      </a:endParaRPr>
                    </a:p>
                    <a:p>
                      <a:pPr marL="275590">
                        <a:lnSpc>
                          <a:spcPct val="100000"/>
                        </a:lnSpc>
                        <a:spcBef>
                          <a:spcPts val="5"/>
                        </a:spcBef>
                      </a:pPr>
                      <a:r>
                        <a:rPr sz="900" dirty="0">
                          <a:solidFill>
                            <a:schemeClr val="tx1"/>
                          </a:solidFill>
                          <a:latin typeface="Arial"/>
                          <a:cs typeface="Arial"/>
                        </a:rPr>
                        <a:t>3b’</a:t>
                      </a:r>
                      <a:r>
                        <a:rPr lang="en-US" sz="900" dirty="0">
                          <a:solidFill>
                            <a:schemeClr val="tx1"/>
                          </a:solidFill>
                          <a:latin typeface="Arial"/>
                          <a:cs typeface="Arial"/>
                        </a:rPr>
                        <a:t>110</a:t>
                      </a:r>
                      <a:r>
                        <a:rPr sz="900" dirty="0">
                          <a:solidFill>
                            <a:schemeClr val="tx1"/>
                          </a:solidFill>
                          <a:latin typeface="Arial"/>
                          <a:cs typeface="Arial"/>
                        </a:rPr>
                        <a:t>=</a:t>
                      </a:r>
                      <a:r>
                        <a:rPr lang="en-US" sz="900" dirty="0">
                          <a:solidFill>
                            <a:schemeClr val="tx1"/>
                          </a:solidFill>
                          <a:latin typeface="Arial"/>
                          <a:cs typeface="Arial"/>
                        </a:rPr>
                        <a:t>24</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3b’111=36V</a:t>
                      </a: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0.25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3816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3’b000 =   4mA, 3’b001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3’b010 = 12mA, 3’b011 = 16mA</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3’b100 = 24mA, 3’b101 = 32mA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rowSpan="3">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accuracy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latin typeface="Arial"/>
                          <a:cs typeface="Arial"/>
                        </a:rPr>
                        <a:t>     </a:t>
                      </a:r>
                      <a:r>
                        <a:rPr lang="en-US" altLang="ko-KR" sz="900" dirty="0">
                          <a:latin typeface="Arial"/>
                          <a:cs typeface="Arial"/>
                        </a:rPr>
                        <a:t>to a trimmed point * 0.6</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rgbClr val="0000FF"/>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rgbClr val="0000FF"/>
                          </a:solidFill>
                          <a:latin typeface="Arial"/>
                          <a:cs typeface="Arial"/>
                        </a:rPr>
                        <a:t>TBD</a:t>
                      </a:r>
                      <a:endParaRPr sz="900" dirty="0">
                        <a:solidFill>
                          <a:srgbClr val="0000FF"/>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rgbClr val="0000FF"/>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50209">
                <a:tc vMerge="1">
                  <a:txBody>
                    <a:bodyPr/>
                    <a:lstStyle/>
                    <a:p>
                      <a:pPr latinLnBrk="1"/>
                      <a:endParaRPr lang="ko-KR" altLang="en-US"/>
                    </a:p>
                  </a:txBody>
                  <a:tcPr/>
                </a:tc>
                <a:tc vMerge="1">
                  <a:txBody>
                    <a:bodyPr/>
                    <a:lstStyle/>
                    <a:p>
                      <a:pPr latinLnBrk="1"/>
                      <a:endParaRPr lang="ko-KR" altLang="en-US"/>
                    </a:p>
                  </a:txBody>
                  <a:tcPr/>
                </a:tc>
                <a:tc>
                  <a:txBody>
                    <a:bodyPr/>
                    <a:lstStyle/>
                    <a:p>
                      <a:pPr marL="0" marR="318770" indent="0" algn="ctr">
                        <a:lnSpc>
                          <a:spcPct val="100000"/>
                        </a:lnSpc>
                        <a:spcBef>
                          <a:spcPts val="120"/>
                        </a:spcBef>
                      </a:pPr>
                      <a:r>
                        <a:rPr lang="en-US" altLang="ko-KR" sz="900" spc="-7" baseline="3968" dirty="0">
                          <a:latin typeface="Arial"/>
                          <a:cs typeface="Arial"/>
                        </a:rPr>
                        <a:t>@ </a:t>
                      </a:r>
                      <a:r>
                        <a:rPr lang="en-US" altLang="ko-KR" sz="900" dirty="0">
                          <a:latin typeface="Arial"/>
                          <a:cs typeface="Arial"/>
                        </a:rPr>
                        <a:t>a trimmed point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rgbClr val="0000FF"/>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a:ea typeface="맑은 고딕" panose="020B0503020000020004" pitchFamily="50" charset="-127"/>
                          <a:cs typeface="Arial"/>
                        </a:rPr>
                        <a:t>TBD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rgbClr val="0000FF"/>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8768497"/>
                  </a:ext>
                </a:extLst>
              </a:tr>
              <a:tr h="259307">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dirty="0">
                          <a:latin typeface="Arial"/>
                          <a:cs typeface="Arial"/>
                        </a:rPr>
                        <a:t>a trimmed point to I</a:t>
                      </a:r>
                      <a:r>
                        <a:rPr lang="en-US" altLang="ko-KR" sz="900" baseline="-25000" dirty="0">
                          <a:latin typeface="Arial"/>
                          <a:cs typeface="Arial"/>
                        </a:rPr>
                        <a:t>MAX</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rgbClr val="0000FF"/>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a:ea typeface="맑은 고딕" panose="020B0503020000020004" pitchFamily="50" charset="-127"/>
                          <a:cs typeface="Arial"/>
                        </a:rPr>
                        <a:t>TBD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rgbClr val="0000FF"/>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953018"/>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latin typeface="Arial"/>
                          <a:cs typeface="Arial"/>
                        </a:rPr>
                        <a:t>Vo</a:t>
                      </a:r>
                      <a:r>
                        <a:rPr sz="900" spc="-35"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40V</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0.50V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0.60V,  3’b011 = 0.70V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rgbClr val="0000FF"/>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rgbClr val="0000FF"/>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rgbClr val="0000FF"/>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31615">
                <a:tc>
                  <a:txBody>
                    <a:bodyPr/>
                    <a:lstStyle/>
                    <a:p>
                      <a:pPr marL="0" marR="64135" indent="0" algn="r">
                        <a:lnSpc>
                          <a:spcPct val="100000"/>
                        </a:lnSpc>
                        <a:spcBef>
                          <a:spcPts val="0"/>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36000" marB="36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900" dirty="0">
                          <a:solidFill>
                            <a:schemeClr val="tx1"/>
                          </a:solidFill>
                          <a:latin typeface="Arial" panose="020B0604020202020204" pitchFamily="34" charset="0"/>
                          <a:cs typeface="Arial" panose="020B0604020202020204" pitchFamily="34" charset="0"/>
                        </a:rPr>
                        <a:t>OFS_TEMP [3:0] = 0x8</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rgbClr val="0000FF"/>
                          </a:solidFill>
                          <a:latin typeface="Arial" panose="020B0604020202020204" pitchFamily="34" charset="0"/>
                          <a:cs typeface="Arial" panose="020B0604020202020204" pitchFamily="34" charset="0"/>
                        </a:rPr>
                        <a:t>135</a:t>
                      </a:r>
                      <a:endParaRPr sz="900" dirty="0">
                        <a:solidFill>
                          <a:srgbClr val="0000FF"/>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rgbClr val="0000FF"/>
                          </a:solidFill>
                          <a:latin typeface="Arial" panose="020B0604020202020204" pitchFamily="34" charset="0"/>
                          <a:cs typeface="Arial" panose="020B0604020202020204" pitchFamily="34" charset="0"/>
                        </a:rPr>
                        <a:t>1</a:t>
                      </a:r>
                      <a:r>
                        <a:rPr sz="900" spc="-5" dirty="0">
                          <a:solidFill>
                            <a:srgbClr val="0000FF"/>
                          </a:solidFill>
                          <a:latin typeface="Arial" panose="020B0604020202020204" pitchFamily="34" charset="0"/>
                          <a:cs typeface="Arial" panose="020B0604020202020204" pitchFamily="34" charset="0"/>
                        </a:rPr>
                        <a:t>0</a:t>
                      </a:r>
                      <a:endParaRPr sz="900" dirty="0">
                        <a:solidFill>
                          <a:srgbClr val="0000FF"/>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rgbClr val="0000FF"/>
                          </a:solidFill>
                          <a:latin typeface="Arial" panose="020B0604020202020204" pitchFamily="34" charset="0"/>
                          <a:cs typeface="Arial" panose="020B0604020202020204" pitchFamily="34" charset="0"/>
                        </a:rPr>
                        <a:t>2</a:t>
                      </a:r>
                      <a:r>
                        <a:rPr sz="900" spc="-5" dirty="0">
                          <a:solidFill>
                            <a:srgbClr val="0000FF"/>
                          </a:solidFill>
                          <a:latin typeface="Arial" panose="020B0604020202020204" pitchFamily="34" charset="0"/>
                          <a:cs typeface="Arial" panose="020B0604020202020204" pitchFamily="34" charset="0"/>
                        </a:rPr>
                        <a:t>0</a:t>
                      </a:r>
                      <a:endParaRPr sz="900" dirty="0">
                        <a:solidFill>
                          <a:srgbClr val="0000FF"/>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rgbClr val="0000FF"/>
                          </a:solidFill>
                          <a:latin typeface="Arial" panose="020B0604020202020204" pitchFamily="34" charset="0"/>
                          <a:cs typeface="Arial" panose="020B0604020202020204" pitchFamily="34" charset="0"/>
                        </a:rPr>
                        <a:t>3</a:t>
                      </a:r>
                      <a:r>
                        <a:rPr sz="900" spc="-5" dirty="0">
                          <a:solidFill>
                            <a:srgbClr val="0000FF"/>
                          </a:solidFill>
                          <a:latin typeface="Arial" panose="020B0604020202020204" pitchFamily="34" charset="0"/>
                          <a:cs typeface="Arial" panose="020B0604020202020204" pitchFamily="34" charset="0"/>
                        </a:rPr>
                        <a:t>0</a:t>
                      </a:r>
                      <a:endParaRPr sz="900" dirty="0">
                        <a:solidFill>
                          <a:srgbClr val="0000FF"/>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2" y="7984468"/>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1919419417"/>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latin typeface="Arial" panose="020B0604020202020204" pitchFamily="34" charset="0"/>
                          <a:cs typeface="Arial" panose="020B0604020202020204" pitchFamily="34" charset="0"/>
                        </a:rPr>
                        <a:t>  VSYNC daisy out @ EXT_VS_E = 1</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408249"/>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39138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3441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4505" y="49755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826252"/>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05514" cy="138499"/>
            </a:xfrm>
            <a:prstGeom prst="rect">
              <a:avLst/>
            </a:prstGeom>
            <a:solidFill>
              <a:schemeClr val="bg1"/>
            </a:solidFill>
          </p:spPr>
          <p:txBody>
            <a:bodyPr wrap="none" lIns="36000" tIns="0" rIns="36000" bIns="0" rtlCol="0" anchor="ctr" anchorCtr="0">
              <a:spAutoFit/>
            </a:bodyPr>
            <a:lstStyle/>
            <a:p>
              <a:r>
                <a:rPr lang="en-US" altLang="ko-KR" sz="900" dirty="0"/>
                <a:t>5V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dirty="0"/>
                <a:t>V</a:t>
              </a:r>
              <a:r>
                <a:rPr lang="en-US" altLang="ko-KR" sz="900" baseline="-25000" dirty="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dirty="0"/>
                <a:t>V</a:t>
              </a:r>
              <a:r>
                <a:rPr lang="en-US" altLang="ko-KR" sz="900" baseline="-25000" dirty="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088760"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173846"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latin typeface="Arial" panose="020B0604020202020204" pitchFamily="34" charset="0"/>
                  <a:cs typeface="Arial" panose="020B0604020202020204" pitchFamily="34" charset="0"/>
                </a:rPr>
                <a:t>XD setup for dimming</a:t>
              </a:r>
              <a:endParaRPr lang="ko-KR" altLang="en-US" sz="9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DCF4DE-CFB3-5366-D892-071ABF42F47F}"/>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228E66B-49BF-A516-78A2-5D69EA4D91D2}"/>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18 and 17 as possible in below.</a:t>
            </a:r>
          </a:p>
        </p:txBody>
      </p:sp>
      <p:pic>
        <p:nvPicPr>
          <p:cNvPr id="4" name="그림 3">
            <a:extLst>
              <a:ext uri="{FF2B5EF4-FFF2-40B4-BE49-F238E27FC236}">
                <a16:creationId xmlns:a16="http://schemas.microsoft.com/office/drawing/2014/main" id="{A7D277D7-8DA0-33FC-3A9E-EA64B86A7DE3}"/>
              </a:ext>
            </a:extLst>
          </p:cNvPr>
          <p:cNvPicPr>
            <a:picLocks noChangeAspect="1"/>
          </p:cNvPicPr>
          <p:nvPr/>
        </p:nvPicPr>
        <p:blipFill>
          <a:blip r:embed="rId2"/>
          <a:stretch>
            <a:fillRect/>
          </a:stretch>
        </p:blipFill>
        <p:spPr>
          <a:xfrm>
            <a:off x="338138" y="1879152"/>
            <a:ext cx="6262687" cy="1899089"/>
          </a:xfrm>
          <a:prstGeom prst="rect">
            <a:avLst/>
          </a:prstGeom>
        </p:spPr>
      </p:pic>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8" name="그림 7">
            <a:extLst>
              <a:ext uri="{FF2B5EF4-FFF2-40B4-BE49-F238E27FC236}">
                <a16:creationId xmlns:a16="http://schemas.microsoft.com/office/drawing/2014/main" id="{BCF5272D-FF66-E8C9-9243-D4162770C3AF}"/>
              </a:ext>
            </a:extLst>
          </p:cNvPr>
          <p:cNvPicPr>
            <a:picLocks noChangeAspect="1"/>
          </p:cNvPicPr>
          <p:nvPr/>
        </p:nvPicPr>
        <p:blipFill>
          <a:blip r:embed="rId2"/>
          <a:stretch>
            <a:fillRect/>
          </a:stretch>
        </p:blipFill>
        <p:spPr>
          <a:xfrm>
            <a:off x="748229" y="2106792"/>
            <a:ext cx="5573810" cy="2150308"/>
          </a:xfrm>
          <a:prstGeom prst="rect">
            <a:avLst/>
          </a:prstGeom>
        </p:spPr>
      </p:pic>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can be controlled with several commands through a XC controller or directly by a Micom. The access protocol and frame format are as follows and if several XD is connected in daisy, the commands should be repeated successively as many as the XD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pic>
        <p:nvPicPr>
          <p:cNvPr id="9" name="그림 8">
            <a:extLst>
              <a:ext uri="{FF2B5EF4-FFF2-40B4-BE49-F238E27FC236}">
                <a16:creationId xmlns:a16="http://schemas.microsoft.com/office/drawing/2014/main" id="{5471DFC7-63B0-6A42-A606-EB94940CE673}"/>
              </a:ext>
            </a:extLst>
          </p:cNvPr>
          <p:cNvPicPr>
            <a:picLocks noChangeAspect="1"/>
          </p:cNvPicPr>
          <p:nvPr/>
        </p:nvPicPr>
        <p:blipFill>
          <a:blip r:embed="rId3"/>
          <a:stretch>
            <a:fillRect/>
          </a:stretch>
        </p:blipFill>
        <p:spPr>
          <a:xfrm>
            <a:off x="1814518" y="5235228"/>
            <a:ext cx="3276000" cy="701019"/>
          </a:xfrm>
          <a:prstGeom prst="rect">
            <a:avLst/>
          </a:prstGeom>
        </p:spPr>
      </p:pic>
      <p:pic>
        <p:nvPicPr>
          <p:cNvPr id="10" name="그림 9">
            <a:extLst>
              <a:ext uri="{FF2B5EF4-FFF2-40B4-BE49-F238E27FC236}">
                <a16:creationId xmlns:a16="http://schemas.microsoft.com/office/drawing/2014/main" id="{14568C1D-9930-2A2C-3785-E4B64061DAFD}"/>
              </a:ext>
            </a:extLst>
          </p:cNvPr>
          <p:cNvPicPr>
            <a:picLocks noChangeAspect="1"/>
          </p:cNvPicPr>
          <p:nvPr/>
        </p:nvPicPr>
        <p:blipFill>
          <a:blip r:embed="rId4"/>
          <a:stretch>
            <a:fillRect/>
          </a:stretch>
        </p:blipFill>
        <p:spPr>
          <a:xfrm>
            <a:off x="399458" y="6133815"/>
            <a:ext cx="6192000" cy="2582404"/>
          </a:xfrm>
          <a:prstGeom prst="rect">
            <a:avLst/>
          </a:prstGeom>
        </p:spPr>
      </p:pic>
      <p:sp>
        <p:nvSpPr>
          <p:cNvPr id="14" name="TextBox 13">
            <a:extLst>
              <a:ext uri="{FF2B5EF4-FFF2-40B4-BE49-F238E27FC236}">
                <a16:creationId xmlns:a16="http://schemas.microsoft.com/office/drawing/2014/main" id="{7A77BCF1-3073-B721-BD09-2662B2DAC098}"/>
              </a:ext>
            </a:extLst>
          </p:cNvPr>
          <p:cNvSpPr txBox="1"/>
          <p:nvPr/>
        </p:nvSpPr>
        <p:spPr>
          <a:xfrm>
            <a:off x="407554" y="4891637"/>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sp>
        <p:nvSpPr>
          <p:cNvPr id="4" name="TextBox 3">
            <a:extLst>
              <a:ext uri="{FF2B5EF4-FFF2-40B4-BE49-F238E27FC236}">
                <a16:creationId xmlns:a16="http://schemas.microsoft.com/office/drawing/2014/main" id="{07ED3BEC-0215-1816-CA0B-2AE844A1C552}"/>
              </a:ext>
            </a:extLst>
          </p:cNvPr>
          <p:cNvSpPr txBox="1"/>
          <p:nvPr/>
        </p:nvSpPr>
        <p:spPr>
          <a:xfrm>
            <a:off x="2346239" y="4405999"/>
            <a:ext cx="2154436"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a:t>
            </a:r>
          </a:p>
        </p:txBody>
      </p:sp>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6" name="TextBox 15">
            <a:extLst>
              <a:ext uri="{FF2B5EF4-FFF2-40B4-BE49-F238E27FC236}">
                <a16:creationId xmlns:a16="http://schemas.microsoft.com/office/drawing/2014/main" id="{AEF16286-08B3-729B-D151-DA4A3F4438E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graphicFrame>
        <p:nvGraphicFramePr>
          <p:cNvPr id="26" name="표 25">
            <a:extLst>
              <a:ext uri="{FF2B5EF4-FFF2-40B4-BE49-F238E27FC236}">
                <a16:creationId xmlns:a16="http://schemas.microsoft.com/office/drawing/2014/main" id="{27ECB6B5-D65C-4459-8075-2F59C8364001}"/>
              </a:ext>
            </a:extLst>
          </p:cNvPr>
          <p:cNvGraphicFramePr>
            <a:graphicFrameLocks noGrp="1"/>
          </p:cNvGraphicFramePr>
          <p:nvPr>
            <p:extLst>
              <p:ext uri="{D42A27DB-BD31-4B8C-83A1-F6EECF244321}">
                <p14:modId xmlns:p14="http://schemas.microsoft.com/office/powerpoint/2010/main" val="2198393254"/>
              </p:ext>
            </p:extLst>
          </p:nvPr>
        </p:nvGraphicFramePr>
        <p:xfrm>
          <a:off x="396993" y="2230413"/>
          <a:ext cx="5914907" cy="2344063"/>
        </p:xfrm>
        <a:graphic>
          <a:graphicData uri="http://schemas.openxmlformats.org/drawingml/2006/table">
            <a:tbl>
              <a:tblPr firstRow="1" bandRow="1">
                <a:tableStyleId>{5C22544A-7EE6-4342-B048-85BDC9FD1C3A}</a:tableStyleId>
              </a:tblPr>
              <a:tblGrid>
                <a:gridCol w="627797">
                  <a:extLst>
                    <a:ext uri="{9D8B030D-6E8A-4147-A177-3AD203B41FA5}">
                      <a16:colId xmlns:a16="http://schemas.microsoft.com/office/drawing/2014/main" val="2861869108"/>
                    </a:ext>
                  </a:extLst>
                </a:gridCol>
                <a:gridCol w="571177">
                  <a:extLst>
                    <a:ext uri="{9D8B030D-6E8A-4147-A177-3AD203B41FA5}">
                      <a16:colId xmlns:a16="http://schemas.microsoft.com/office/drawing/2014/main" val="1481624012"/>
                    </a:ext>
                  </a:extLst>
                </a:gridCol>
                <a:gridCol w="428617">
                  <a:extLst>
                    <a:ext uri="{9D8B030D-6E8A-4147-A177-3AD203B41FA5}">
                      <a16:colId xmlns:a16="http://schemas.microsoft.com/office/drawing/2014/main" val="3471461862"/>
                    </a:ext>
                  </a:extLst>
                </a:gridCol>
                <a:gridCol w="199850">
                  <a:extLst>
                    <a:ext uri="{9D8B030D-6E8A-4147-A177-3AD203B41FA5}">
                      <a16:colId xmlns:a16="http://schemas.microsoft.com/office/drawing/2014/main" val="203027085"/>
                    </a:ext>
                  </a:extLst>
                </a:gridCol>
                <a:gridCol w="199850">
                  <a:extLst>
                    <a:ext uri="{9D8B030D-6E8A-4147-A177-3AD203B41FA5}">
                      <a16:colId xmlns:a16="http://schemas.microsoft.com/office/drawing/2014/main" val="222123653"/>
                    </a:ext>
                  </a:extLst>
                </a:gridCol>
                <a:gridCol w="199845">
                  <a:extLst>
                    <a:ext uri="{9D8B030D-6E8A-4147-A177-3AD203B41FA5}">
                      <a16:colId xmlns:a16="http://schemas.microsoft.com/office/drawing/2014/main" val="3458704818"/>
                    </a:ext>
                  </a:extLst>
                </a:gridCol>
                <a:gridCol w="199850">
                  <a:extLst>
                    <a:ext uri="{9D8B030D-6E8A-4147-A177-3AD203B41FA5}">
                      <a16:colId xmlns:a16="http://schemas.microsoft.com/office/drawing/2014/main" val="914505469"/>
                    </a:ext>
                  </a:extLst>
                </a:gridCol>
                <a:gridCol w="199850">
                  <a:extLst>
                    <a:ext uri="{9D8B030D-6E8A-4147-A177-3AD203B41FA5}">
                      <a16:colId xmlns:a16="http://schemas.microsoft.com/office/drawing/2014/main" val="351773172"/>
                    </a:ext>
                  </a:extLst>
                </a:gridCol>
                <a:gridCol w="199850">
                  <a:extLst>
                    <a:ext uri="{9D8B030D-6E8A-4147-A177-3AD203B41FA5}">
                      <a16:colId xmlns:a16="http://schemas.microsoft.com/office/drawing/2014/main" val="4231085326"/>
                    </a:ext>
                  </a:extLst>
                </a:gridCol>
                <a:gridCol w="199850">
                  <a:extLst>
                    <a:ext uri="{9D8B030D-6E8A-4147-A177-3AD203B41FA5}">
                      <a16:colId xmlns:a16="http://schemas.microsoft.com/office/drawing/2014/main" val="4204203412"/>
                    </a:ext>
                  </a:extLst>
                </a:gridCol>
                <a:gridCol w="199850">
                  <a:extLst>
                    <a:ext uri="{9D8B030D-6E8A-4147-A177-3AD203B41FA5}">
                      <a16:colId xmlns:a16="http://schemas.microsoft.com/office/drawing/2014/main" val="683054979"/>
                    </a:ext>
                  </a:extLst>
                </a:gridCol>
                <a:gridCol w="199850">
                  <a:extLst>
                    <a:ext uri="{9D8B030D-6E8A-4147-A177-3AD203B41FA5}">
                      <a16:colId xmlns:a16="http://schemas.microsoft.com/office/drawing/2014/main" val="1775171962"/>
                    </a:ext>
                  </a:extLst>
                </a:gridCol>
                <a:gridCol w="199850">
                  <a:extLst>
                    <a:ext uri="{9D8B030D-6E8A-4147-A177-3AD203B41FA5}">
                      <a16:colId xmlns:a16="http://schemas.microsoft.com/office/drawing/2014/main" val="658555535"/>
                    </a:ext>
                  </a:extLst>
                </a:gridCol>
                <a:gridCol w="199850">
                  <a:extLst>
                    <a:ext uri="{9D8B030D-6E8A-4147-A177-3AD203B41FA5}">
                      <a16:colId xmlns:a16="http://schemas.microsoft.com/office/drawing/2014/main" val="1269055983"/>
                    </a:ext>
                  </a:extLst>
                </a:gridCol>
                <a:gridCol w="199850">
                  <a:extLst>
                    <a:ext uri="{9D8B030D-6E8A-4147-A177-3AD203B41FA5}">
                      <a16:colId xmlns:a16="http://schemas.microsoft.com/office/drawing/2014/main" val="1932052668"/>
                    </a:ext>
                  </a:extLst>
                </a:gridCol>
                <a:gridCol w="199850">
                  <a:extLst>
                    <a:ext uri="{9D8B030D-6E8A-4147-A177-3AD203B41FA5}">
                      <a16:colId xmlns:a16="http://schemas.microsoft.com/office/drawing/2014/main" val="1672148784"/>
                    </a:ext>
                  </a:extLst>
                </a:gridCol>
                <a:gridCol w="199845">
                  <a:extLst>
                    <a:ext uri="{9D8B030D-6E8A-4147-A177-3AD203B41FA5}">
                      <a16:colId xmlns:a16="http://schemas.microsoft.com/office/drawing/2014/main" val="2952904231"/>
                    </a:ext>
                  </a:extLst>
                </a:gridCol>
                <a:gridCol w="199850">
                  <a:extLst>
                    <a:ext uri="{9D8B030D-6E8A-4147-A177-3AD203B41FA5}">
                      <a16:colId xmlns:a16="http://schemas.microsoft.com/office/drawing/2014/main" val="2106188717"/>
                    </a:ext>
                  </a:extLst>
                </a:gridCol>
                <a:gridCol w="199850">
                  <a:extLst>
                    <a:ext uri="{9D8B030D-6E8A-4147-A177-3AD203B41FA5}">
                      <a16:colId xmlns:a16="http://schemas.microsoft.com/office/drawing/2014/main" val="3804327615"/>
                    </a:ext>
                  </a:extLst>
                </a:gridCol>
                <a:gridCol w="585959">
                  <a:extLst>
                    <a:ext uri="{9D8B030D-6E8A-4147-A177-3AD203B41FA5}">
                      <a16:colId xmlns:a16="http://schemas.microsoft.com/office/drawing/2014/main" val="1213780966"/>
                    </a:ext>
                  </a:extLst>
                </a:gridCol>
                <a:gridCol w="503767">
                  <a:extLst>
                    <a:ext uri="{9D8B030D-6E8A-4147-A177-3AD203B41FA5}">
                      <a16:colId xmlns:a16="http://schemas.microsoft.com/office/drawing/2014/main" val="4000803811"/>
                    </a:ext>
                  </a:extLst>
                </a:gridCol>
              </a:tblGrid>
              <a:tr h="219954">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PWM_RES</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SCAN_NO</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frame #</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gridSpan="16">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LD Data [15:0]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step #</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/sub-frame</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 freq</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hz@120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163393">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835977831"/>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p>
                    <a:p>
                      <a:pPr algn="ctr" latinLnBrk="1"/>
                      <a:r>
                        <a:rPr lang="en-US" altLang="ko-KR" sz="800" dirty="0">
                          <a:solidFill>
                            <a:schemeClr val="tx1"/>
                          </a:solidFill>
                          <a:latin typeface="Arial" panose="020B0604020202020204" pitchFamily="34" charset="0"/>
                          <a:cs typeface="Arial" panose="020B0604020202020204" pitchFamily="34" charset="0"/>
                        </a:rPr>
                        <a:t>(12-bit)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25489603"/>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746677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78471616"/>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255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1802839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22540743"/>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p>
                    <a:p>
                      <a:pPr algn="ctr" latinLnBrk="1"/>
                      <a:r>
                        <a:rPr lang="en-US" altLang="ko-KR" sz="800" dirty="0">
                          <a:solidFill>
                            <a:schemeClr val="tx1"/>
                          </a:solidFill>
                          <a:latin typeface="Arial" panose="020B0604020202020204" pitchFamily="34" charset="0"/>
                          <a:cs typeface="Arial" panose="020B0604020202020204" pitchFamily="34" charset="0"/>
                        </a:rPr>
                        <a:t>(14-bit)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16,383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074396062"/>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8,191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921559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00653304"/>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740292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00532711"/>
                  </a:ext>
                </a:extLst>
              </a:tr>
            </a:tbl>
          </a:graphicData>
        </a:graphic>
      </p:graphicFrame>
      <p:sp>
        <p:nvSpPr>
          <p:cNvPr id="27" name="TextBox 26">
            <a:extLst>
              <a:ext uri="{FF2B5EF4-FFF2-40B4-BE49-F238E27FC236}">
                <a16:creationId xmlns:a16="http://schemas.microsoft.com/office/drawing/2014/main" id="{EC4EB98B-9AD1-3C74-EDD4-668FEA5F57EA}"/>
              </a:ext>
            </a:extLst>
          </p:cNvPr>
          <p:cNvSpPr txBox="1"/>
          <p:nvPr/>
        </p:nvSpPr>
        <p:spPr>
          <a:xfrm>
            <a:off x="2657221" y="4760975"/>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28" name="TextBox 27">
            <a:extLst>
              <a:ext uri="{FF2B5EF4-FFF2-40B4-BE49-F238E27FC236}">
                <a16:creationId xmlns:a16="http://schemas.microsoft.com/office/drawing/2014/main" id="{ABCC5226-F24D-989E-083B-BBD53191AAED}"/>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the PWM configuration set to the PWM_RES and SCAN_NO [2:0] </a:t>
            </a:r>
            <a:r>
              <a:rPr lang="en-US" altLang="ko-KR" sz="1000" b="0" i="0" dirty="0">
                <a:solidFill>
                  <a:srgbClr val="000000"/>
                </a:solidFill>
                <a:effectLst/>
                <a:latin typeface="Arial" panose="020B0604020202020204" pitchFamily="34" charset="0"/>
                <a:cs typeface="Arial" panose="020B0604020202020204" pitchFamily="34" charset="0"/>
              </a:rPr>
              <a:t>as shown in the Table 6.</a:t>
            </a:r>
            <a:endParaRPr lang="en-US" altLang="ko-KR" sz="1000" dirty="0">
              <a:latin typeface="Arial" panose="020B0604020202020204" pitchFamily="34" charset="0"/>
              <a:cs typeface="Arial" panose="020B0604020202020204" pitchFamily="34" charset="0"/>
            </a:endParaRPr>
          </a:p>
        </p:txBody>
      </p:sp>
      <p:grpSp>
        <p:nvGrpSpPr>
          <p:cNvPr id="29" name="그룹 28">
            <a:extLst>
              <a:ext uri="{FF2B5EF4-FFF2-40B4-BE49-F238E27FC236}">
                <a16:creationId xmlns:a16="http://schemas.microsoft.com/office/drawing/2014/main" id="{3EF029D1-8974-2AFB-4190-5AB7BE671A9D}"/>
              </a:ext>
            </a:extLst>
          </p:cNvPr>
          <p:cNvGrpSpPr/>
          <p:nvPr/>
        </p:nvGrpSpPr>
        <p:grpSpPr>
          <a:xfrm>
            <a:off x="4989784" y="1999581"/>
            <a:ext cx="1332255" cy="230832"/>
            <a:chOff x="4989784" y="5674847"/>
            <a:chExt cx="1332255" cy="230832"/>
          </a:xfrm>
        </p:grpSpPr>
        <p:sp>
          <p:nvSpPr>
            <p:cNvPr id="30" name="TextBox 29">
              <a:extLst>
                <a:ext uri="{FF2B5EF4-FFF2-40B4-BE49-F238E27FC236}">
                  <a16:creationId xmlns:a16="http://schemas.microsoft.com/office/drawing/2014/main" id="{B1741DE8-4988-2A5B-D396-15D9314EDF97}"/>
                </a:ext>
              </a:extLst>
            </p:cNvPr>
            <p:cNvSpPr txBox="1"/>
            <p:nvPr/>
          </p:nvSpPr>
          <p:spPr>
            <a:xfrm>
              <a:off x="5044308" y="5674847"/>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31" name="직사각형 30">
              <a:extLst>
                <a:ext uri="{FF2B5EF4-FFF2-40B4-BE49-F238E27FC236}">
                  <a16:creationId xmlns:a16="http://schemas.microsoft.com/office/drawing/2014/main" id="{521FA51C-743C-2E95-B8B8-B7BF5BABAB4C}"/>
                </a:ext>
              </a:extLst>
            </p:cNvPr>
            <p:cNvSpPr/>
            <p:nvPr/>
          </p:nvSpPr>
          <p:spPr>
            <a:xfrm>
              <a:off x="4989784" y="5736263"/>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32" name="직사각형 31">
              <a:extLst>
                <a:ext uri="{FF2B5EF4-FFF2-40B4-BE49-F238E27FC236}">
                  <a16:creationId xmlns:a16="http://schemas.microsoft.com/office/drawing/2014/main" id="{AA271FD9-B1E1-A297-4469-3BABB8CA947B}"/>
                </a:ext>
              </a:extLst>
            </p:cNvPr>
            <p:cNvSpPr/>
            <p:nvPr/>
          </p:nvSpPr>
          <p:spPr>
            <a:xfrm>
              <a:off x="5713997" y="5736263"/>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33" name="TextBox 32">
              <a:extLst>
                <a:ext uri="{FF2B5EF4-FFF2-40B4-BE49-F238E27FC236}">
                  <a16:creationId xmlns:a16="http://schemas.microsoft.com/office/drawing/2014/main" id="{3620F059-6CBA-93F4-979B-3BB964E28E95}"/>
                </a:ext>
              </a:extLst>
            </p:cNvPr>
            <p:cNvSpPr txBox="1"/>
            <p:nvPr/>
          </p:nvSpPr>
          <p:spPr>
            <a:xfrm>
              <a:off x="5762270" y="5674847"/>
              <a:ext cx="559769" cy="230832"/>
            </a:xfrm>
            <a:prstGeom prst="rect">
              <a:avLst/>
            </a:prstGeom>
            <a:noFill/>
          </p:spPr>
          <p:txBody>
            <a:bodyPr wrap="none" rtlCol="0">
              <a:spAutoFit/>
            </a:bodyPr>
            <a:lstStyle/>
            <a:p>
              <a:r>
                <a:rPr lang="en-US" altLang="ko-KR" sz="900" dirty="0"/>
                <a:t>valid bit</a:t>
              </a:r>
              <a:endParaRPr lang="ko-KR" altLang="en-US" sz="900" dirty="0"/>
            </a:p>
          </p:txBody>
        </p:sp>
      </p:grpSp>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5" name="그림 4">
            <a:extLst>
              <a:ext uri="{FF2B5EF4-FFF2-40B4-BE49-F238E27FC236}">
                <a16:creationId xmlns:a16="http://schemas.microsoft.com/office/drawing/2014/main" id="{D17AF23E-3ACF-410B-BC43-8918C694D563}"/>
              </a:ext>
            </a:extLst>
          </p:cNvPr>
          <p:cNvPicPr>
            <a:picLocks noChangeAspect="1"/>
          </p:cNvPicPr>
          <p:nvPr/>
        </p:nvPicPr>
        <p:blipFill>
          <a:blip r:embed="rId2"/>
          <a:stretch>
            <a:fillRect/>
          </a:stretch>
        </p:blipFill>
        <p:spPr>
          <a:xfrm>
            <a:off x="399457" y="2228438"/>
            <a:ext cx="6048000" cy="1130422"/>
          </a:xfrm>
          <a:prstGeom prst="rect">
            <a:avLst/>
          </a:prstGeom>
        </p:spPr>
      </p:pic>
      <p:pic>
        <p:nvPicPr>
          <p:cNvPr id="6" name="그림 5">
            <a:extLst>
              <a:ext uri="{FF2B5EF4-FFF2-40B4-BE49-F238E27FC236}">
                <a16:creationId xmlns:a16="http://schemas.microsoft.com/office/drawing/2014/main" id="{0B45051D-4C09-423F-FC2E-C1AED8B4AFB8}"/>
              </a:ext>
            </a:extLst>
          </p:cNvPr>
          <p:cNvPicPr>
            <a:picLocks noChangeAspect="1"/>
          </p:cNvPicPr>
          <p:nvPr/>
        </p:nvPicPr>
        <p:blipFill>
          <a:blip r:embed="rId3"/>
          <a:stretch>
            <a:fillRect/>
          </a:stretch>
        </p:blipFill>
        <p:spPr>
          <a:xfrm>
            <a:off x="399457" y="3826326"/>
            <a:ext cx="6048000" cy="1219766"/>
          </a:xfrm>
          <a:prstGeom prst="rect">
            <a:avLst/>
          </a:prstGeom>
        </p:spPr>
      </p:pic>
      <p:pic>
        <p:nvPicPr>
          <p:cNvPr id="9" name="그림 8">
            <a:extLst>
              <a:ext uri="{FF2B5EF4-FFF2-40B4-BE49-F238E27FC236}">
                <a16:creationId xmlns:a16="http://schemas.microsoft.com/office/drawing/2014/main" id="{767AF5CB-3E00-BE03-71F9-C738BCD5E273}"/>
              </a:ext>
            </a:extLst>
          </p:cNvPr>
          <p:cNvPicPr>
            <a:picLocks noChangeAspect="1"/>
          </p:cNvPicPr>
          <p:nvPr/>
        </p:nvPicPr>
        <p:blipFill>
          <a:blip r:embed="rId4"/>
          <a:stretch>
            <a:fillRect/>
          </a:stretch>
        </p:blipFill>
        <p:spPr>
          <a:xfrm>
            <a:off x="430044" y="5501311"/>
            <a:ext cx="6048000" cy="1117009"/>
          </a:xfrm>
          <a:prstGeom prst="rect">
            <a:avLst/>
          </a:prstGeom>
        </p:spPr>
      </p:pic>
      <p:pic>
        <p:nvPicPr>
          <p:cNvPr id="10" name="그림 9">
            <a:extLst>
              <a:ext uri="{FF2B5EF4-FFF2-40B4-BE49-F238E27FC236}">
                <a16:creationId xmlns:a16="http://schemas.microsoft.com/office/drawing/2014/main" id="{AAFECD3B-5EFA-AA0A-E0C9-D225A675FD20}"/>
              </a:ext>
            </a:extLst>
          </p:cNvPr>
          <p:cNvPicPr>
            <a:picLocks noChangeAspect="1"/>
          </p:cNvPicPr>
          <p:nvPr/>
        </p:nvPicPr>
        <p:blipFill>
          <a:blip r:embed="rId5"/>
          <a:stretch>
            <a:fillRect/>
          </a:stretch>
        </p:blipFill>
        <p:spPr>
          <a:xfrm>
            <a:off x="443491" y="7093950"/>
            <a:ext cx="6048000" cy="1206632"/>
          </a:xfrm>
          <a:prstGeom prst="rect">
            <a:avLst/>
          </a:prstGeom>
        </p:spPr>
      </p:pic>
      <p:sp>
        <p:nvSpPr>
          <p:cNvPr id="15" name="자유형: 도형 14">
            <a:extLst>
              <a:ext uri="{FF2B5EF4-FFF2-40B4-BE49-F238E27FC236}">
                <a16:creationId xmlns:a16="http://schemas.microsoft.com/office/drawing/2014/main" id="{12879F31-A42B-31D7-1E18-1649AAB58132}"/>
              </a:ext>
            </a:extLst>
          </p:cNvPr>
          <p:cNvSpPr/>
          <p:nvPr/>
        </p:nvSpPr>
        <p:spPr>
          <a:xfrm>
            <a:off x="1611963" y="2290090"/>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자유형: 도형 18">
            <a:extLst>
              <a:ext uri="{FF2B5EF4-FFF2-40B4-BE49-F238E27FC236}">
                <a16:creationId xmlns:a16="http://schemas.microsoft.com/office/drawing/2014/main" id="{FBC3A62E-2AD6-54EC-76AE-3AD397A5E932}"/>
              </a:ext>
            </a:extLst>
          </p:cNvPr>
          <p:cNvSpPr/>
          <p:nvPr/>
        </p:nvSpPr>
        <p:spPr>
          <a:xfrm>
            <a:off x="1611963" y="3871324"/>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id="{BBED99A1-27F9-47CF-2930-C31966904772}"/>
              </a:ext>
            </a:extLst>
          </p:cNvPr>
          <p:cNvSpPr/>
          <p:nvPr/>
        </p:nvSpPr>
        <p:spPr>
          <a:xfrm>
            <a:off x="1659803" y="555422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자유형: 도형 22">
            <a:extLst>
              <a:ext uri="{FF2B5EF4-FFF2-40B4-BE49-F238E27FC236}">
                <a16:creationId xmlns:a16="http://schemas.microsoft.com/office/drawing/2014/main" id="{5B3E9724-E100-9F4D-7602-35CB51DCE572}"/>
              </a:ext>
            </a:extLst>
          </p:cNvPr>
          <p:cNvSpPr/>
          <p:nvPr/>
        </p:nvSpPr>
        <p:spPr>
          <a:xfrm>
            <a:off x="1659803" y="713478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TextBox 3">
            <a:extLst>
              <a:ext uri="{FF2B5EF4-FFF2-40B4-BE49-F238E27FC236}">
                <a16:creationId xmlns:a16="http://schemas.microsoft.com/office/drawing/2014/main" id="{770FDC9A-D218-EAC4-FE67-CE72D4F9E3F8}"/>
              </a:ext>
            </a:extLst>
          </p:cNvPr>
          <p:cNvSpPr txBox="1"/>
          <p:nvPr/>
        </p:nvSpPr>
        <p:spPr>
          <a:xfrm>
            <a:off x="407554" y="1556966"/>
            <a:ext cx="6047999"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Local dimming sequences according to the PWM configuration are shown as follows below, and  has two dimming out directions, Head Shift Lighting and Tail Shift Lighting. The set of </a:t>
            </a:r>
            <a:r>
              <a:rPr lang="en-US" altLang="ko-KR" sz="1000" b="0" i="0" dirty="0">
                <a:solidFill>
                  <a:srgbClr val="000000"/>
                </a:solidFill>
                <a:effectLst/>
                <a:latin typeface="Arial" panose="020B0604020202020204" pitchFamily="34" charset="0"/>
                <a:cs typeface="Arial" panose="020B0604020202020204" pitchFamily="34" charset="0"/>
              </a:rPr>
              <a:t>PWM frequency (pwmclk) according to the Frame frequency can be shown in the Table 7.</a:t>
            </a:r>
            <a:r>
              <a:rPr lang="en-US" altLang="ko-KR" sz="1000" dirty="0">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40734070-C148-833E-CEFC-E548FD9687D5}"/>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Local dimming</a:t>
            </a:r>
          </a:p>
        </p:txBody>
      </p:sp>
      <p:sp>
        <p:nvSpPr>
          <p:cNvPr id="8" name="TextBox 7">
            <a:extLst>
              <a:ext uri="{FF2B5EF4-FFF2-40B4-BE49-F238E27FC236}">
                <a16:creationId xmlns:a16="http://schemas.microsoft.com/office/drawing/2014/main" id="{3DEBBD3D-2615-98BD-0B9E-03447B908E4C}"/>
              </a:ext>
            </a:extLst>
          </p:cNvPr>
          <p:cNvSpPr txBox="1"/>
          <p:nvPr/>
        </p:nvSpPr>
        <p:spPr>
          <a:xfrm>
            <a:off x="1578400" y="3505215"/>
            <a:ext cx="3690113"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Head Shift Lighting @ PWM_RES=0, SCAN_NO[2:0]=0</a:t>
            </a:r>
          </a:p>
        </p:txBody>
      </p:sp>
      <p:sp>
        <p:nvSpPr>
          <p:cNvPr id="16" name="TextBox 15">
            <a:extLst>
              <a:ext uri="{FF2B5EF4-FFF2-40B4-BE49-F238E27FC236}">
                <a16:creationId xmlns:a16="http://schemas.microsoft.com/office/drawing/2014/main" id="{0AA6C556-3F63-02E3-4810-22EEF54595EE}"/>
              </a:ext>
            </a:extLst>
          </p:cNvPr>
          <p:cNvSpPr txBox="1"/>
          <p:nvPr/>
        </p:nvSpPr>
        <p:spPr>
          <a:xfrm>
            <a:off x="1578399" y="5178469"/>
            <a:ext cx="3690113"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Head Shift Lighting @ PWM_RES=0, SCAN_NO[2:0]=3</a:t>
            </a:r>
          </a:p>
        </p:txBody>
      </p:sp>
      <p:sp>
        <p:nvSpPr>
          <p:cNvPr id="17" name="TextBox 16">
            <a:extLst>
              <a:ext uri="{FF2B5EF4-FFF2-40B4-BE49-F238E27FC236}">
                <a16:creationId xmlns:a16="http://schemas.microsoft.com/office/drawing/2014/main" id="{04F92280-24D9-CFD5-9EA4-72B1855CA7CE}"/>
              </a:ext>
            </a:extLst>
          </p:cNvPr>
          <p:cNvSpPr txBox="1"/>
          <p:nvPr/>
        </p:nvSpPr>
        <p:spPr>
          <a:xfrm>
            <a:off x="1649139" y="6717635"/>
            <a:ext cx="36067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Tail Shift Lighting @ PWM_RES=0, SCAN_NO[2:0]=0</a:t>
            </a:r>
          </a:p>
        </p:txBody>
      </p:sp>
      <p:sp>
        <p:nvSpPr>
          <p:cNvPr id="18" name="TextBox 17">
            <a:extLst>
              <a:ext uri="{FF2B5EF4-FFF2-40B4-BE49-F238E27FC236}">
                <a16:creationId xmlns:a16="http://schemas.microsoft.com/office/drawing/2014/main" id="{C6F5BE43-EAFA-25B3-3C05-BC4007D88A52}"/>
              </a:ext>
            </a:extLst>
          </p:cNvPr>
          <p:cNvSpPr txBox="1"/>
          <p:nvPr/>
        </p:nvSpPr>
        <p:spPr>
          <a:xfrm>
            <a:off x="1628174" y="8390273"/>
            <a:ext cx="36067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9  Tail Shift Lighting @ PWM_RES=0, SCAN_NO[2:0]=3</a:t>
            </a:r>
          </a:p>
        </p:txBody>
      </p:sp>
    </p:spTree>
    <p:extLst>
      <p:ext uri="{BB962C8B-B14F-4D97-AF65-F5344CB8AC3E}">
        <p14:creationId xmlns:p14="http://schemas.microsoft.com/office/powerpoint/2010/main" val="151190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F9F2B81C-E411-C77D-3D6F-1C42FB5F61E3}"/>
              </a:ext>
            </a:extLst>
          </p:cNvPr>
          <p:cNvSpPr txBox="1"/>
          <p:nvPr/>
        </p:nvSpPr>
        <p:spPr>
          <a:xfrm>
            <a:off x="2055133" y="4919527"/>
            <a:ext cx="273664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10.  External VSYNC In and Out Scheme</a:t>
            </a:r>
          </a:p>
        </p:txBody>
      </p:sp>
      <p:sp>
        <p:nvSpPr>
          <p:cNvPr id="2" name="TextBox 1">
            <a:extLst>
              <a:ext uri="{FF2B5EF4-FFF2-40B4-BE49-F238E27FC236}">
                <a16:creationId xmlns:a16="http://schemas.microsoft.com/office/drawing/2014/main" id="{3EB5725B-D9B2-254B-0679-92FEC480E6A8}"/>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F03C1F18-97EA-1755-0882-73232A883E41}"/>
              </a:ext>
            </a:extLst>
          </p:cNvPr>
          <p:cNvSpPr txBox="1"/>
          <p:nvPr/>
        </p:nvSpPr>
        <p:spPr>
          <a:xfrm>
            <a:off x="2210624" y="6810249"/>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11.  External FBI and FBO Scheme</a:t>
            </a:r>
          </a:p>
        </p:txBody>
      </p:sp>
      <p:grpSp>
        <p:nvGrpSpPr>
          <p:cNvPr id="105" name="그룹 104">
            <a:extLst>
              <a:ext uri="{FF2B5EF4-FFF2-40B4-BE49-F238E27FC236}">
                <a16:creationId xmlns:a16="http://schemas.microsoft.com/office/drawing/2014/main" id="{6B7C0134-75EF-6A07-0C11-9EFA5BF695CB}"/>
              </a:ext>
            </a:extLst>
          </p:cNvPr>
          <p:cNvGrpSpPr/>
          <p:nvPr/>
        </p:nvGrpSpPr>
        <p:grpSpPr>
          <a:xfrm>
            <a:off x="1710249" y="3656012"/>
            <a:ext cx="1260000" cy="1116000"/>
            <a:chOff x="1016681" y="4339884"/>
            <a:chExt cx="1427516" cy="1242000"/>
          </a:xfrm>
        </p:grpSpPr>
        <p:sp>
          <p:nvSpPr>
            <p:cNvPr id="104" name="직사각형 103">
              <a:extLst>
                <a:ext uri="{FF2B5EF4-FFF2-40B4-BE49-F238E27FC236}">
                  <a16:creationId xmlns:a16="http://schemas.microsoft.com/office/drawing/2014/main" id="{24BD01FE-EB84-2692-C655-C93CCEE71B1F}"/>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90" name="그림 89">
              <a:extLst>
                <a:ext uri="{FF2B5EF4-FFF2-40B4-BE49-F238E27FC236}">
                  <a16:creationId xmlns:a16="http://schemas.microsoft.com/office/drawing/2014/main" id="{FD42BDC1-DB99-5018-A955-8B23CCB1B5AD}"/>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85" name="직선 연결선 84">
              <a:extLst>
                <a:ext uri="{FF2B5EF4-FFF2-40B4-BE49-F238E27FC236}">
                  <a16:creationId xmlns:a16="http://schemas.microsoft.com/office/drawing/2014/main" id="{318F25E0-50E9-469D-BCCC-C02B4622B626}"/>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직사각형 14">
              <a:extLst>
                <a:ext uri="{FF2B5EF4-FFF2-40B4-BE49-F238E27FC236}">
                  <a16:creationId xmlns:a16="http://schemas.microsoft.com/office/drawing/2014/main" id="{9B20B68F-6A13-E388-39CD-F8771FE268A6}"/>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91" name="직선 연결선 90">
              <a:extLst>
                <a:ext uri="{FF2B5EF4-FFF2-40B4-BE49-F238E27FC236}">
                  <a16:creationId xmlns:a16="http://schemas.microsoft.com/office/drawing/2014/main" id="{4EC35294-2007-95E0-C36A-0BE4AE92CBF3}"/>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70F46267-2C02-3C4C-C8F2-C3163E1361F8}"/>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93" name="직선 연결선 92">
              <a:extLst>
                <a:ext uri="{FF2B5EF4-FFF2-40B4-BE49-F238E27FC236}">
                  <a16:creationId xmlns:a16="http://schemas.microsoft.com/office/drawing/2014/main" id="{E14199E4-DF57-5DF3-1041-DE31A091A56E}"/>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직선 연결선 94">
              <a:extLst>
                <a:ext uri="{FF2B5EF4-FFF2-40B4-BE49-F238E27FC236}">
                  <a16:creationId xmlns:a16="http://schemas.microsoft.com/office/drawing/2014/main" id="{362CFD5B-42A4-3D3C-417C-52E47BA8A51E}"/>
                </a:ext>
              </a:extLst>
            </p:cNvPr>
            <p:cNvCxnSpPr>
              <a:cxnSpLocks/>
            </p:cNvCxnSpPr>
            <p:nvPr/>
          </p:nvCxnSpPr>
          <p:spPr>
            <a:xfrm>
              <a:off x="2108841" y="4795042"/>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직사각형 96">
              <a:extLst>
                <a:ext uri="{FF2B5EF4-FFF2-40B4-BE49-F238E27FC236}">
                  <a16:creationId xmlns:a16="http://schemas.microsoft.com/office/drawing/2014/main" id="{45E2CBD2-4DCA-F386-526E-D80792EF31B9}"/>
                </a:ext>
              </a:extLst>
            </p:cNvPr>
            <p:cNvSpPr/>
            <p:nvPr/>
          </p:nvSpPr>
          <p:spPr>
            <a:xfrm>
              <a:off x="1597370" y="4755959"/>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148" name="TextBox 147">
            <a:extLst>
              <a:ext uri="{FF2B5EF4-FFF2-40B4-BE49-F238E27FC236}">
                <a16:creationId xmlns:a16="http://schemas.microsoft.com/office/drawing/2014/main" id="{DED1BA9E-B725-DEF1-C90B-2869F85D7646}"/>
              </a:ext>
            </a:extLst>
          </p:cNvPr>
          <p:cNvSpPr txBox="1"/>
          <p:nvPr/>
        </p:nvSpPr>
        <p:spPr>
          <a:xfrm>
            <a:off x="2133097" y="3656262"/>
            <a:ext cx="458780" cy="230832"/>
          </a:xfrm>
          <a:prstGeom prst="rect">
            <a:avLst/>
          </a:prstGeom>
          <a:noFill/>
        </p:spPr>
        <p:txBody>
          <a:bodyPr wrap="none" rtlCol="0">
            <a:spAutoFit/>
          </a:bodyPr>
          <a:lstStyle/>
          <a:p>
            <a:r>
              <a:rPr lang="en-US" altLang="ko-KR" sz="900" dirty="0"/>
              <a:t>XD #n</a:t>
            </a:r>
            <a:endParaRPr lang="ko-KR" altLang="en-US" sz="900" dirty="0"/>
          </a:p>
        </p:txBody>
      </p:sp>
      <p:cxnSp>
        <p:nvCxnSpPr>
          <p:cNvPr id="10" name="직선 연결선 9">
            <a:extLst>
              <a:ext uri="{FF2B5EF4-FFF2-40B4-BE49-F238E27FC236}">
                <a16:creationId xmlns:a16="http://schemas.microsoft.com/office/drawing/2014/main" id="{80CD4C89-9B2C-728B-D204-56B8BFA4C3CF}"/>
              </a:ext>
            </a:extLst>
          </p:cNvPr>
          <p:cNvCxnSpPr/>
          <p:nvPr/>
        </p:nvCxnSpPr>
        <p:spPr>
          <a:xfrm>
            <a:off x="5052215" y="422083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D3CF82D5-B8F3-AFB6-3BCE-A0EB51756AF0}"/>
              </a:ext>
            </a:extLst>
          </p:cNvPr>
          <p:cNvCxnSpPr/>
          <p:nvPr/>
        </p:nvCxnSpPr>
        <p:spPr>
          <a:xfrm>
            <a:off x="1456919" y="4211251"/>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68DE03FA-4065-FB93-420E-692781CDB4A4}"/>
              </a:ext>
            </a:extLst>
          </p:cNvPr>
          <p:cNvCxnSpPr/>
          <p:nvPr/>
        </p:nvCxnSpPr>
        <p:spPr>
          <a:xfrm>
            <a:off x="2969446" y="4211251"/>
            <a:ext cx="828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48848F8-82EC-6D71-C3B4-A15A50872B79}"/>
              </a:ext>
            </a:extLst>
          </p:cNvPr>
          <p:cNvSpPr txBox="1"/>
          <p:nvPr/>
        </p:nvSpPr>
        <p:spPr>
          <a:xfrm>
            <a:off x="1002362" y="4094192"/>
            <a:ext cx="476412" cy="230832"/>
          </a:xfrm>
          <a:prstGeom prst="rect">
            <a:avLst/>
          </a:prstGeom>
          <a:noFill/>
        </p:spPr>
        <p:txBody>
          <a:bodyPr wrap="none" rtlCol="0">
            <a:spAutoFit/>
          </a:bodyPr>
          <a:lstStyle/>
          <a:p>
            <a:r>
              <a:rPr lang="en-US" altLang="ko-KR" sz="900" dirty="0"/>
              <a:t>#n VSI</a:t>
            </a:r>
            <a:endParaRPr lang="ko-KR" altLang="en-US" sz="900" dirty="0"/>
          </a:p>
        </p:txBody>
      </p:sp>
      <p:sp>
        <p:nvSpPr>
          <p:cNvPr id="42" name="TextBox 41">
            <a:extLst>
              <a:ext uri="{FF2B5EF4-FFF2-40B4-BE49-F238E27FC236}">
                <a16:creationId xmlns:a16="http://schemas.microsoft.com/office/drawing/2014/main" id="{5A8AAE4C-E6F2-188E-1E44-CC5C7DC25B6D}"/>
              </a:ext>
            </a:extLst>
          </p:cNvPr>
          <p:cNvSpPr txBox="1"/>
          <p:nvPr/>
        </p:nvSpPr>
        <p:spPr>
          <a:xfrm>
            <a:off x="5246169" y="4094192"/>
            <a:ext cx="710451" cy="230832"/>
          </a:xfrm>
          <a:prstGeom prst="rect">
            <a:avLst/>
          </a:prstGeom>
          <a:noFill/>
        </p:spPr>
        <p:txBody>
          <a:bodyPr wrap="none" rtlCol="0">
            <a:spAutoFit/>
          </a:bodyPr>
          <a:lstStyle/>
          <a:p>
            <a:r>
              <a:rPr lang="en-US" altLang="ko-KR" sz="900" dirty="0"/>
              <a:t>#(n+1) VSO</a:t>
            </a:r>
            <a:endParaRPr lang="ko-KR" altLang="en-US" sz="900" dirty="0"/>
          </a:p>
        </p:txBody>
      </p:sp>
      <p:cxnSp>
        <p:nvCxnSpPr>
          <p:cNvPr id="17" name="직선 연결선 16">
            <a:extLst>
              <a:ext uri="{FF2B5EF4-FFF2-40B4-BE49-F238E27FC236}">
                <a16:creationId xmlns:a16="http://schemas.microsoft.com/office/drawing/2014/main" id="{683C090C-882A-6FBE-B9F1-45E257677205}"/>
              </a:ext>
            </a:extLst>
          </p:cNvPr>
          <p:cNvCxnSpPr/>
          <p:nvPr/>
        </p:nvCxnSpPr>
        <p:spPr>
          <a:xfrm>
            <a:off x="5064731" y="6092621"/>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A16E8596-3662-1D3D-2554-817F8DC846E2}"/>
              </a:ext>
            </a:extLst>
          </p:cNvPr>
          <p:cNvCxnSpPr/>
          <p:nvPr/>
        </p:nvCxnSpPr>
        <p:spPr>
          <a:xfrm>
            <a:off x="1454581" y="6079459"/>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21D6BA9C-317B-A98C-4080-A690CD551148}"/>
              </a:ext>
            </a:extLst>
          </p:cNvPr>
          <p:cNvCxnSpPr/>
          <p:nvPr/>
        </p:nvCxnSpPr>
        <p:spPr>
          <a:xfrm>
            <a:off x="2969446" y="6079459"/>
            <a:ext cx="86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174" name="그룹 173">
            <a:extLst>
              <a:ext uri="{FF2B5EF4-FFF2-40B4-BE49-F238E27FC236}">
                <a16:creationId xmlns:a16="http://schemas.microsoft.com/office/drawing/2014/main" id="{E5314328-BCD0-ECCD-2974-8BDFD234178D}"/>
              </a:ext>
            </a:extLst>
          </p:cNvPr>
          <p:cNvGrpSpPr/>
          <p:nvPr/>
        </p:nvGrpSpPr>
        <p:grpSpPr>
          <a:xfrm>
            <a:off x="1707309" y="5520720"/>
            <a:ext cx="1260000" cy="1116000"/>
            <a:chOff x="1710249" y="5520720"/>
            <a:chExt cx="1425650" cy="1242000"/>
          </a:xfrm>
        </p:grpSpPr>
        <p:sp>
          <p:nvSpPr>
            <p:cNvPr id="98" name="직사각형 97">
              <a:extLst>
                <a:ext uri="{FF2B5EF4-FFF2-40B4-BE49-F238E27FC236}">
                  <a16:creationId xmlns:a16="http://schemas.microsoft.com/office/drawing/2014/main" id="{D6F64604-7F94-92C9-E9EF-494E2AE7F39E}"/>
                </a:ext>
              </a:extLst>
            </p:cNvPr>
            <p:cNvSpPr/>
            <p:nvPr/>
          </p:nvSpPr>
          <p:spPr>
            <a:xfrm>
              <a:off x="1805772" y="5520720"/>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75" name="그림 74">
              <a:extLst>
                <a:ext uri="{FF2B5EF4-FFF2-40B4-BE49-F238E27FC236}">
                  <a16:creationId xmlns:a16="http://schemas.microsoft.com/office/drawing/2014/main" id="{EE43CFCF-8488-3E3F-6203-A36CB0F5FD32}"/>
                </a:ext>
              </a:extLst>
            </p:cNvPr>
            <p:cNvPicPr>
              <a:picLocks noChangeAspect="1"/>
            </p:cNvPicPr>
            <p:nvPr/>
          </p:nvPicPr>
          <p:blipFill>
            <a:blip r:embed="rId3"/>
            <a:stretch>
              <a:fillRect/>
            </a:stretch>
          </p:blipFill>
          <p:spPr>
            <a:xfrm flipH="1">
              <a:off x="2182938" y="6279640"/>
              <a:ext cx="216000" cy="115821"/>
            </a:xfrm>
            <a:prstGeom prst="rect">
              <a:avLst/>
            </a:prstGeom>
          </p:spPr>
        </p:pic>
        <p:sp>
          <p:nvSpPr>
            <p:cNvPr id="20" name="직사각형 19">
              <a:extLst>
                <a:ext uri="{FF2B5EF4-FFF2-40B4-BE49-F238E27FC236}">
                  <a16:creationId xmlns:a16="http://schemas.microsoft.com/office/drawing/2014/main" id="{0E06E022-38E5-16B8-2AFB-DDCE3BC63ADB}"/>
                </a:ext>
              </a:extLst>
            </p:cNvPr>
            <p:cNvSpPr/>
            <p:nvPr/>
          </p:nvSpPr>
          <p:spPr>
            <a:xfrm>
              <a:off x="2280598" y="6086021"/>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52" name="그룹 51">
              <a:extLst>
                <a:ext uri="{FF2B5EF4-FFF2-40B4-BE49-F238E27FC236}">
                  <a16:creationId xmlns:a16="http://schemas.microsoft.com/office/drawing/2014/main" id="{38F2F5BC-3B90-7FE0-3D0E-0082D8877A75}"/>
                </a:ext>
              </a:extLst>
            </p:cNvPr>
            <p:cNvGrpSpPr/>
            <p:nvPr/>
          </p:nvGrpSpPr>
          <p:grpSpPr>
            <a:xfrm>
              <a:off x="2727037" y="5877564"/>
              <a:ext cx="108000" cy="252000"/>
              <a:chOff x="4029465" y="4076226"/>
              <a:chExt cx="108000" cy="252000"/>
            </a:xfrm>
          </p:grpSpPr>
          <p:pic>
            <p:nvPicPr>
              <p:cNvPr id="49" name="그림 48">
                <a:extLst>
                  <a:ext uri="{FF2B5EF4-FFF2-40B4-BE49-F238E27FC236}">
                    <a16:creationId xmlns:a16="http://schemas.microsoft.com/office/drawing/2014/main" id="{F1A4600E-D3F9-2B0B-BA3F-987C6AB04E9C}"/>
                  </a:ext>
                </a:extLst>
              </p:cNvPr>
              <p:cNvPicPr>
                <a:picLocks noChangeAspect="1"/>
              </p:cNvPicPr>
              <p:nvPr/>
            </p:nvPicPr>
            <p:blipFill>
              <a:blip r:embed="rId4"/>
              <a:stretch>
                <a:fillRect/>
              </a:stretch>
            </p:blipFill>
            <p:spPr>
              <a:xfrm>
                <a:off x="4048886" y="4076226"/>
                <a:ext cx="65825" cy="252000"/>
              </a:xfrm>
              <a:prstGeom prst="rect">
                <a:avLst/>
              </a:prstGeom>
            </p:spPr>
          </p:pic>
          <p:cxnSp>
            <p:nvCxnSpPr>
              <p:cNvPr id="51" name="직선 연결선 50">
                <a:extLst>
                  <a:ext uri="{FF2B5EF4-FFF2-40B4-BE49-F238E27FC236}">
                    <a16:creationId xmlns:a16="http://schemas.microsoft.com/office/drawing/2014/main" id="{2E29811A-FA9A-89E0-37F5-B6F495CE2223}"/>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 name="그룹 62">
              <a:extLst>
                <a:ext uri="{FF2B5EF4-FFF2-40B4-BE49-F238E27FC236}">
                  <a16:creationId xmlns:a16="http://schemas.microsoft.com/office/drawing/2014/main" id="{E8869AF3-949E-2FDD-CAC6-6F0832FF0142}"/>
                </a:ext>
              </a:extLst>
            </p:cNvPr>
            <p:cNvGrpSpPr/>
            <p:nvPr/>
          </p:nvGrpSpPr>
          <p:grpSpPr>
            <a:xfrm>
              <a:off x="1978383" y="6217989"/>
              <a:ext cx="234000" cy="399680"/>
              <a:chOff x="2505005" y="3797258"/>
              <a:chExt cx="234000" cy="399680"/>
            </a:xfrm>
          </p:grpSpPr>
          <p:pic>
            <p:nvPicPr>
              <p:cNvPr id="56" name="그림 55">
                <a:extLst>
                  <a:ext uri="{FF2B5EF4-FFF2-40B4-BE49-F238E27FC236}">
                    <a16:creationId xmlns:a16="http://schemas.microsoft.com/office/drawing/2014/main" id="{861CAD46-8C07-A3D7-E317-83D0AF1FD18C}"/>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60" name="그림 59">
                <a:extLst>
                  <a:ext uri="{FF2B5EF4-FFF2-40B4-BE49-F238E27FC236}">
                    <a16:creationId xmlns:a16="http://schemas.microsoft.com/office/drawing/2014/main" id="{C75471D8-39F1-ABB4-0576-A5348412944E}"/>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61" name="직선 연결선 60">
                <a:extLst>
                  <a:ext uri="{FF2B5EF4-FFF2-40B4-BE49-F238E27FC236}">
                    <a16:creationId xmlns:a16="http://schemas.microsoft.com/office/drawing/2014/main" id="{2A92F9F8-A697-A3E4-AC06-B781182E3A3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4" name="직선 연결선 63">
              <a:extLst>
                <a:ext uri="{FF2B5EF4-FFF2-40B4-BE49-F238E27FC236}">
                  <a16:creationId xmlns:a16="http://schemas.microsoft.com/office/drawing/2014/main" id="{9C9BC404-5DB4-338C-418F-B1B8650DD987}"/>
                </a:ext>
              </a:extLst>
            </p:cNvPr>
            <p:cNvCxnSpPr>
              <a:cxnSpLocks/>
            </p:cNvCxnSpPr>
            <p:nvPr/>
          </p:nvCxnSpPr>
          <p:spPr>
            <a:xfrm flipV="1">
              <a:off x="2050077" y="6137201"/>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1D04687C-FD5C-2C76-B16A-D0C2CDA5A899}"/>
                </a:ext>
              </a:extLst>
            </p:cNvPr>
            <p:cNvCxnSpPr>
              <a:cxnSpLocks/>
            </p:cNvCxnSpPr>
            <p:nvPr/>
          </p:nvCxnSpPr>
          <p:spPr>
            <a:xfrm>
              <a:off x="1772175" y="6139250"/>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직사각형 15">
              <a:extLst>
                <a:ext uri="{FF2B5EF4-FFF2-40B4-BE49-F238E27FC236}">
                  <a16:creationId xmlns:a16="http://schemas.microsoft.com/office/drawing/2014/main" id="{3216CB7D-2539-045F-02C5-26A3F9BEF24D}"/>
                </a:ext>
              </a:extLst>
            </p:cNvPr>
            <p:cNvSpPr/>
            <p:nvPr/>
          </p:nvSpPr>
          <p:spPr>
            <a:xfrm>
              <a:off x="1710249" y="608491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71" name="직선 연결선 70">
              <a:extLst>
                <a:ext uri="{FF2B5EF4-FFF2-40B4-BE49-F238E27FC236}">
                  <a16:creationId xmlns:a16="http://schemas.microsoft.com/office/drawing/2014/main" id="{3D3461EF-6FF9-A957-EE59-790124AB67A2}"/>
                </a:ext>
              </a:extLst>
            </p:cNvPr>
            <p:cNvCxnSpPr>
              <a:cxnSpLocks/>
            </p:cNvCxnSpPr>
            <p:nvPr/>
          </p:nvCxnSpPr>
          <p:spPr>
            <a:xfrm>
              <a:off x="2144800" y="6338455"/>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직사각형 71">
              <a:extLst>
                <a:ext uri="{FF2B5EF4-FFF2-40B4-BE49-F238E27FC236}">
                  <a16:creationId xmlns:a16="http://schemas.microsoft.com/office/drawing/2014/main" id="{A96CF508-328C-95C0-75AF-7060EC6E0B01}"/>
                </a:ext>
              </a:extLst>
            </p:cNvPr>
            <p:cNvSpPr/>
            <p:nvPr/>
          </p:nvSpPr>
          <p:spPr>
            <a:xfrm>
              <a:off x="2144800" y="6386765"/>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6" name="직선 연결선 75">
              <a:extLst>
                <a:ext uri="{FF2B5EF4-FFF2-40B4-BE49-F238E27FC236}">
                  <a16:creationId xmlns:a16="http://schemas.microsoft.com/office/drawing/2014/main" id="{79B869D2-B5B6-C2F0-2A46-2F3BE661591E}"/>
                </a:ext>
              </a:extLst>
            </p:cNvPr>
            <p:cNvCxnSpPr>
              <a:cxnSpLocks/>
            </p:cNvCxnSpPr>
            <p:nvPr/>
          </p:nvCxnSpPr>
          <p:spPr>
            <a:xfrm>
              <a:off x="2353255" y="6311583"/>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직선 연결선 76">
              <a:extLst>
                <a:ext uri="{FF2B5EF4-FFF2-40B4-BE49-F238E27FC236}">
                  <a16:creationId xmlns:a16="http://schemas.microsoft.com/office/drawing/2014/main" id="{4F6CDA65-E584-6842-4C08-727AB972B2A1}"/>
                </a:ext>
              </a:extLst>
            </p:cNvPr>
            <p:cNvCxnSpPr>
              <a:cxnSpLocks/>
            </p:cNvCxnSpPr>
            <p:nvPr/>
          </p:nvCxnSpPr>
          <p:spPr>
            <a:xfrm flipV="1">
              <a:off x="2457294" y="6182848"/>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타원 78">
              <a:extLst>
                <a:ext uri="{FF2B5EF4-FFF2-40B4-BE49-F238E27FC236}">
                  <a16:creationId xmlns:a16="http://schemas.microsoft.com/office/drawing/2014/main" id="{B46683F5-41F0-D5EA-44A7-9E8EFD936D6B}"/>
                </a:ext>
              </a:extLst>
            </p:cNvPr>
            <p:cNvSpPr/>
            <p:nvPr/>
          </p:nvSpPr>
          <p:spPr>
            <a:xfrm>
              <a:off x="2351712" y="6297183"/>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0" name="직선 연결선 79">
              <a:extLst>
                <a:ext uri="{FF2B5EF4-FFF2-40B4-BE49-F238E27FC236}">
                  <a16:creationId xmlns:a16="http://schemas.microsoft.com/office/drawing/2014/main" id="{8E1DAADE-2B3E-135A-EDF2-261F61E87D7E}"/>
                </a:ext>
              </a:extLst>
            </p:cNvPr>
            <p:cNvCxnSpPr>
              <a:cxnSpLocks/>
            </p:cNvCxnSpPr>
            <p:nvPr/>
          </p:nvCxnSpPr>
          <p:spPr>
            <a:xfrm flipH="1" flipV="1">
              <a:off x="2783339" y="608583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EBD0F59A-803F-646A-8161-0C23E867FDB8}"/>
                </a:ext>
              </a:extLst>
            </p:cNvPr>
            <p:cNvCxnSpPr>
              <a:cxnSpLocks/>
            </p:cNvCxnSpPr>
            <p:nvPr/>
          </p:nvCxnSpPr>
          <p:spPr>
            <a:xfrm>
              <a:off x="2781852" y="6145205"/>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직사각형 21">
              <a:extLst>
                <a:ext uri="{FF2B5EF4-FFF2-40B4-BE49-F238E27FC236}">
                  <a16:creationId xmlns:a16="http://schemas.microsoft.com/office/drawing/2014/main" id="{5CA44D3C-0387-1F01-38B8-41A66301F3BA}"/>
                </a:ext>
              </a:extLst>
            </p:cNvPr>
            <p:cNvSpPr/>
            <p:nvPr/>
          </p:nvSpPr>
          <p:spPr>
            <a:xfrm>
              <a:off x="2955899" y="6090379"/>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46" name="TextBox 145">
              <a:extLst>
                <a:ext uri="{FF2B5EF4-FFF2-40B4-BE49-F238E27FC236}">
                  <a16:creationId xmlns:a16="http://schemas.microsoft.com/office/drawing/2014/main" id="{E1499ED9-711B-96A9-982D-E1CD236CC39A}"/>
                </a:ext>
              </a:extLst>
            </p:cNvPr>
            <p:cNvSpPr txBox="1"/>
            <p:nvPr/>
          </p:nvSpPr>
          <p:spPr>
            <a:xfrm>
              <a:off x="2150379" y="5521637"/>
              <a:ext cx="458780" cy="230832"/>
            </a:xfrm>
            <a:prstGeom prst="rect">
              <a:avLst/>
            </a:prstGeom>
            <a:noFill/>
          </p:spPr>
          <p:txBody>
            <a:bodyPr wrap="none" rtlCol="0">
              <a:spAutoFit/>
            </a:bodyPr>
            <a:lstStyle/>
            <a:p>
              <a:r>
                <a:rPr lang="en-US" altLang="ko-KR" sz="900" dirty="0"/>
                <a:t>XD #n</a:t>
              </a:r>
              <a:endParaRPr lang="ko-KR" altLang="en-US" sz="900" dirty="0"/>
            </a:p>
          </p:txBody>
        </p:sp>
        <p:sp>
          <p:nvSpPr>
            <p:cNvPr id="25" name="직사각형 24">
              <a:extLst>
                <a:ext uri="{FF2B5EF4-FFF2-40B4-BE49-F238E27FC236}">
                  <a16:creationId xmlns:a16="http://schemas.microsoft.com/office/drawing/2014/main" id="{BC8FC5B2-878D-FF34-4A1A-CD26B23AA901}"/>
                </a:ext>
              </a:extLst>
            </p:cNvPr>
            <p:cNvSpPr/>
            <p:nvPr/>
          </p:nvSpPr>
          <p:spPr>
            <a:xfrm>
              <a:off x="2354178" y="6331072"/>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3" name="직선 연결선 72">
              <a:extLst>
                <a:ext uri="{FF2B5EF4-FFF2-40B4-BE49-F238E27FC236}">
                  <a16:creationId xmlns:a16="http://schemas.microsoft.com/office/drawing/2014/main" id="{CC6B615C-F841-40DD-309E-D53F7D023E6F}"/>
                </a:ext>
              </a:extLst>
            </p:cNvPr>
            <p:cNvCxnSpPr>
              <a:cxnSpLocks/>
            </p:cNvCxnSpPr>
            <p:nvPr/>
          </p:nvCxnSpPr>
          <p:spPr>
            <a:xfrm>
              <a:off x="2354571" y="634361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FEE0D397-02B1-D44A-791E-3487EE4163F2}"/>
                </a:ext>
              </a:extLst>
            </p:cNvPr>
            <p:cNvCxnSpPr>
              <a:cxnSpLocks/>
            </p:cNvCxnSpPr>
            <p:nvPr/>
          </p:nvCxnSpPr>
          <p:spPr>
            <a:xfrm>
              <a:off x="2350443" y="637482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3F3F9B8D-55A1-351D-C227-DD2B1AE18D77}"/>
                </a:ext>
              </a:extLst>
            </p:cNvPr>
            <p:cNvCxnSpPr>
              <a:cxnSpLocks/>
            </p:cNvCxnSpPr>
            <p:nvPr/>
          </p:nvCxnSpPr>
          <p:spPr>
            <a:xfrm flipV="1">
              <a:off x="2777552" y="637816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직사각형 26">
              <a:extLst>
                <a:ext uri="{FF2B5EF4-FFF2-40B4-BE49-F238E27FC236}">
                  <a16:creationId xmlns:a16="http://schemas.microsoft.com/office/drawing/2014/main" id="{B5C0495D-5443-E124-0C7F-D689A34A9BF5}"/>
                </a:ext>
              </a:extLst>
            </p:cNvPr>
            <p:cNvSpPr/>
            <p:nvPr/>
          </p:nvSpPr>
          <p:spPr>
            <a:xfrm>
              <a:off x="2581395" y="648459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grpSp>
        <p:nvGrpSpPr>
          <p:cNvPr id="173" name="그룹 172">
            <a:extLst>
              <a:ext uri="{FF2B5EF4-FFF2-40B4-BE49-F238E27FC236}">
                <a16:creationId xmlns:a16="http://schemas.microsoft.com/office/drawing/2014/main" id="{1329F42C-EFA9-C9A2-224A-D8DDEB0BE702}"/>
              </a:ext>
            </a:extLst>
          </p:cNvPr>
          <p:cNvGrpSpPr/>
          <p:nvPr/>
        </p:nvGrpSpPr>
        <p:grpSpPr>
          <a:xfrm>
            <a:off x="3803983" y="5536434"/>
            <a:ext cx="1260000" cy="1116000"/>
            <a:chOff x="3851023" y="5521734"/>
            <a:chExt cx="1425650" cy="1243428"/>
          </a:xfrm>
        </p:grpSpPr>
        <p:sp>
          <p:nvSpPr>
            <p:cNvPr id="108" name="직사각형 107">
              <a:extLst>
                <a:ext uri="{FF2B5EF4-FFF2-40B4-BE49-F238E27FC236}">
                  <a16:creationId xmlns:a16="http://schemas.microsoft.com/office/drawing/2014/main" id="{475780EC-D250-1D65-E22D-59EA312C0A95}"/>
                </a:ext>
              </a:extLst>
            </p:cNvPr>
            <p:cNvSpPr/>
            <p:nvPr/>
          </p:nvSpPr>
          <p:spPr>
            <a:xfrm>
              <a:off x="3946546" y="5523162"/>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10" name="그림 109">
              <a:extLst>
                <a:ext uri="{FF2B5EF4-FFF2-40B4-BE49-F238E27FC236}">
                  <a16:creationId xmlns:a16="http://schemas.microsoft.com/office/drawing/2014/main" id="{FC201D7C-5381-95EE-3314-D090E0921A05}"/>
                </a:ext>
              </a:extLst>
            </p:cNvPr>
            <p:cNvPicPr>
              <a:picLocks noChangeAspect="1"/>
            </p:cNvPicPr>
            <p:nvPr/>
          </p:nvPicPr>
          <p:blipFill>
            <a:blip r:embed="rId3"/>
            <a:stretch>
              <a:fillRect/>
            </a:stretch>
          </p:blipFill>
          <p:spPr>
            <a:xfrm flipH="1">
              <a:off x="4323712" y="6282082"/>
              <a:ext cx="216000" cy="115821"/>
            </a:xfrm>
            <a:prstGeom prst="rect">
              <a:avLst/>
            </a:prstGeom>
          </p:spPr>
        </p:pic>
        <p:sp>
          <p:nvSpPr>
            <p:cNvPr id="111" name="직사각형 110">
              <a:extLst>
                <a:ext uri="{FF2B5EF4-FFF2-40B4-BE49-F238E27FC236}">
                  <a16:creationId xmlns:a16="http://schemas.microsoft.com/office/drawing/2014/main" id="{C431DCA6-AA5C-285E-C939-8967680F454F}"/>
                </a:ext>
              </a:extLst>
            </p:cNvPr>
            <p:cNvSpPr/>
            <p:nvPr/>
          </p:nvSpPr>
          <p:spPr>
            <a:xfrm>
              <a:off x="4421372" y="6088463"/>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112" name="그룹 111">
              <a:extLst>
                <a:ext uri="{FF2B5EF4-FFF2-40B4-BE49-F238E27FC236}">
                  <a16:creationId xmlns:a16="http://schemas.microsoft.com/office/drawing/2014/main" id="{BF927B6E-4C80-00F8-9C9E-EFADD810BA9C}"/>
                </a:ext>
              </a:extLst>
            </p:cNvPr>
            <p:cNvGrpSpPr/>
            <p:nvPr/>
          </p:nvGrpSpPr>
          <p:grpSpPr>
            <a:xfrm>
              <a:off x="4867811" y="5880006"/>
              <a:ext cx="108000" cy="252000"/>
              <a:chOff x="4029465" y="4076226"/>
              <a:chExt cx="108000" cy="252000"/>
            </a:xfrm>
          </p:grpSpPr>
          <p:pic>
            <p:nvPicPr>
              <p:cNvPr id="129" name="그림 128">
                <a:extLst>
                  <a:ext uri="{FF2B5EF4-FFF2-40B4-BE49-F238E27FC236}">
                    <a16:creationId xmlns:a16="http://schemas.microsoft.com/office/drawing/2014/main" id="{59C304B6-EEB1-B4EA-DDFD-EE66AACDB8E8}"/>
                  </a:ext>
                </a:extLst>
              </p:cNvPr>
              <p:cNvPicPr>
                <a:picLocks noChangeAspect="1"/>
              </p:cNvPicPr>
              <p:nvPr/>
            </p:nvPicPr>
            <p:blipFill>
              <a:blip r:embed="rId4"/>
              <a:stretch>
                <a:fillRect/>
              </a:stretch>
            </p:blipFill>
            <p:spPr>
              <a:xfrm>
                <a:off x="4045946" y="4076226"/>
                <a:ext cx="65825" cy="252000"/>
              </a:xfrm>
              <a:prstGeom prst="rect">
                <a:avLst/>
              </a:prstGeom>
            </p:spPr>
          </p:pic>
          <p:cxnSp>
            <p:nvCxnSpPr>
              <p:cNvPr id="130" name="직선 연결선 129">
                <a:extLst>
                  <a:ext uri="{FF2B5EF4-FFF2-40B4-BE49-F238E27FC236}">
                    <a16:creationId xmlns:a16="http://schemas.microsoft.com/office/drawing/2014/main" id="{6F4709E7-8B21-BFCB-977D-9E6EEA7C233A}"/>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3" name="그룹 112">
              <a:extLst>
                <a:ext uri="{FF2B5EF4-FFF2-40B4-BE49-F238E27FC236}">
                  <a16:creationId xmlns:a16="http://schemas.microsoft.com/office/drawing/2014/main" id="{C7636A11-C790-B7EE-7BBD-7AE6882D8E77}"/>
                </a:ext>
              </a:extLst>
            </p:cNvPr>
            <p:cNvGrpSpPr/>
            <p:nvPr/>
          </p:nvGrpSpPr>
          <p:grpSpPr>
            <a:xfrm>
              <a:off x="4119157" y="6220431"/>
              <a:ext cx="234000" cy="399680"/>
              <a:chOff x="2505005" y="3797258"/>
              <a:chExt cx="234000" cy="399680"/>
            </a:xfrm>
          </p:grpSpPr>
          <p:pic>
            <p:nvPicPr>
              <p:cNvPr id="126" name="그림 125">
                <a:extLst>
                  <a:ext uri="{FF2B5EF4-FFF2-40B4-BE49-F238E27FC236}">
                    <a16:creationId xmlns:a16="http://schemas.microsoft.com/office/drawing/2014/main" id="{5D07EA64-D3B7-1C7F-5B7F-F3462AB7C19A}"/>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127" name="그림 126">
                <a:extLst>
                  <a:ext uri="{FF2B5EF4-FFF2-40B4-BE49-F238E27FC236}">
                    <a16:creationId xmlns:a16="http://schemas.microsoft.com/office/drawing/2014/main" id="{36B84F5C-4315-8790-3E8A-0494E1497F66}"/>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28" name="직선 연결선 127">
                <a:extLst>
                  <a:ext uri="{FF2B5EF4-FFF2-40B4-BE49-F238E27FC236}">
                    <a16:creationId xmlns:a16="http://schemas.microsoft.com/office/drawing/2014/main" id="{998DDF72-8CAF-0038-3790-07A8D3338F9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 name="직선 연결선 113">
              <a:extLst>
                <a:ext uri="{FF2B5EF4-FFF2-40B4-BE49-F238E27FC236}">
                  <a16:creationId xmlns:a16="http://schemas.microsoft.com/office/drawing/2014/main" id="{824B8915-EB75-9F42-8F3C-43420C88A50B}"/>
                </a:ext>
              </a:extLst>
            </p:cNvPr>
            <p:cNvCxnSpPr>
              <a:cxnSpLocks/>
            </p:cNvCxnSpPr>
            <p:nvPr/>
          </p:nvCxnSpPr>
          <p:spPr>
            <a:xfrm flipV="1">
              <a:off x="4190851" y="6139643"/>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직선 연결선 114">
              <a:extLst>
                <a:ext uri="{FF2B5EF4-FFF2-40B4-BE49-F238E27FC236}">
                  <a16:creationId xmlns:a16="http://schemas.microsoft.com/office/drawing/2014/main" id="{8E0AA50A-42A0-F338-41DC-CFE89BBA9E38}"/>
                </a:ext>
              </a:extLst>
            </p:cNvPr>
            <p:cNvCxnSpPr>
              <a:cxnSpLocks/>
            </p:cNvCxnSpPr>
            <p:nvPr/>
          </p:nvCxnSpPr>
          <p:spPr>
            <a:xfrm>
              <a:off x="3912949" y="6141692"/>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직사각형 115">
              <a:extLst>
                <a:ext uri="{FF2B5EF4-FFF2-40B4-BE49-F238E27FC236}">
                  <a16:creationId xmlns:a16="http://schemas.microsoft.com/office/drawing/2014/main" id="{98FECBB5-81A3-C877-89F4-95D217AAF38C}"/>
                </a:ext>
              </a:extLst>
            </p:cNvPr>
            <p:cNvSpPr/>
            <p:nvPr/>
          </p:nvSpPr>
          <p:spPr>
            <a:xfrm>
              <a:off x="3851023" y="6087352"/>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17" name="직선 연결선 116">
              <a:extLst>
                <a:ext uri="{FF2B5EF4-FFF2-40B4-BE49-F238E27FC236}">
                  <a16:creationId xmlns:a16="http://schemas.microsoft.com/office/drawing/2014/main" id="{EF61AD18-B84E-4269-D366-AE8B3064EC15}"/>
                </a:ext>
              </a:extLst>
            </p:cNvPr>
            <p:cNvCxnSpPr>
              <a:cxnSpLocks/>
            </p:cNvCxnSpPr>
            <p:nvPr/>
          </p:nvCxnSpPr>
          <p:spPr>
            <a:xfrm>
              <a:off x="4285574" y="6340897"/>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직사각형 117">
              <a:extLst>
                <a:ext uri="{FF2B5EF4-FFF2-40B4-BE49-F238E27FC236}">
                  <a16:creationId xmlns:a16="http://schemas.microsoft.com/office/drawing/2014/main" id="{37666E98-A1B8-DCE3-3A3F-9D115DDEA22C}"/>
                </a:ext>
              </a:extLst>
            </p:cNvPr>
            <p:cNvSpPr/>
            <p:nvPr/>
          </p:nvSpPr>
          <p:spPr>
            <a:xfrm>
              <a:off x="4285574" y="6389207"/>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0" name="직선 연결선 119">
              <a:extLst>
                <a:ext uri="{FF2B5EF4-FFF2-40B4-BE49-F238E27FC236}">
                  <a16:creationId xmlns:a16="http://schemas.microsoft.com/office/drawing/2014/main" id="{8C8C376D-7F1C-B241-4AA1-E041BE1098BE}"/>
                </a:ext>
              </a:extLst>
            </p:cNvPr>
            <p:cNvCxnSpPr>
              <a:cxnSpLocks/>
            </p:cNvCxnSpPr>
            <p:nvPr/>
          </p:nvCxnSpPr>
          <p:spPr>
            <a:xfrm>
              <a:off x="4494029" y="6314025"/>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직선 연결선 120">
              <a:extLst>
                <a:ext uri="{FF2B5EF4-FFF2-40B4-BE49-F238E27FC236}">
                  <a16:creationId xmlns:a16="http://schemas.microsoft.com/office/drawing/2014/main" id="{F8450C28-D52B-BB97-838E-F5C667398969}"/>
                </a:ext>
              </a:extLst>
            </p:cNvPr>
            <p:cNvCxnSpPr>
              <a:cxnSpLocks/>
            </p:cNvCxnSpPr>
            <p:nvPr/>
          </p:nvCxnSpPr>
          <p:spPr>
            <a:xfrm flipV="1">
              <a:off x="4598068" y="6185290"/>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타원 121">
              <a:extLst>
                <a:ext uri="{FF2B5EF4-FFF2-40B4-BE49-F238E27FC236}">
                  <a16:creationId xmlns:a16="http://schemas.microsoft.com/office/drawing/2014/main" id="{F1551375-8B65-B9CD-B101-627D6017DE2E}"/>
                </a:ext>
              </a:extLst>
            </p:cNvPr>
            <p:cNvSpPr/>
            <p:nvPr/>
          </p:nvSpPr>
          <p:spPr>
            <a:xfrm>
              <a:off x="4492486" y="6299625"/>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3" name="직선 연결선 122">
              <a:extLst>
                <a:ext uri="{FF2B5EF4-FFF2-40B4-BE49-F238E27FC236}">
                  <a16:creationId xmlns:a16="http://schemas.microsoft.com/office/drawing/2014/main" id="{428C953F-DD07-5E70-3CD5-5DA36F7E7CDE}"/>
                </a:ext>
              </a:extLst>
            </p:cNvPr>
            <p:cNvCxnSpPr>
              <a:cxnSpLocks/>
            </p:cNvCxnSpPr>
            <p:nvPr/>
          </p:nvCxnSpPr>
          <p:spPr>
            <a:xfrm flipH="1" flipV="1">
              <a:off x="4924113" y="609240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직선 연결선 123">
              <a:extLst>
                <a:ext uri="{FF2B5EF4-FFF2-40B4-BE49-F238E27FC236}">
                  <a16:creationId xmlns:a16="http://schemas.microsoft.com/office/drawing/2014/main" id="{F92F9E1A-0B74-68DA-CF5B-7F293353D737}"/>
                </a:ext>
              </a:extLst>
            </p:cNvPr>
            <p:cNvCxnSpPr>
              <a:cxnSpLocks/>
            </p:cNvCxnSpPr>
            <p:nvPr/>
          </p:nvCxnSpPr>
          <p:spPr>
            <a:xfrm>
              <a:off x="4922626" y="6147647"/>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직사각형 124">
              <a:extLst>
                <a:ext uri="{FF2B5EF4-FFF2-40B4-BE49-F238E27FC236}">
                  <a16:creationId xmlns:a16="http://schemas.microsoft.com/office/drawing/2014/main" id="{706FAA1A-E6D4-6436-52F2-87F34516F1B0}"/>
                </a:ext>
              </a:extLst>
            </p:cNvPr>
            <p:cNvSpPr/>
            <p:nvPr/>
          </p:nvSpPr>
          <p:spPr>
            <a:xfrm>
              <a:off x="5096673" y="60928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47" name="TextBox 146">
              <a:extLst>
                <a:ext uri="{FF2B5EF4-FFF2-40B4-BE49-F238E27FC236}">
                  <a16:creationId xmlns:a16="http://schemas.microsoft.com/office/drawing/2014/main" id="{71C3F13E-DEA3-C1A0-C23E-7311AF2EC9E4}"/>
                </a:ext>
              </a:extLst>
            </p:cNvPr>
            <p:cNvSpPr txBox="1"/>
            <p:nvPr/>
          </p:nvSpPr>
          <p:spPr>
            <a:xfrm>
              <a:off x="4260402" y="5521734"/>
              <a:ext cx="670376" cy="230832"/>
            </a:xfrm>
            <a:prstGeom prst="rect">
              <a:avLst/>
            </a:prstGeom>
            <a:noFill/>
          </p:spPr>
          <p:txBody>
            <a:bodyPr wrap="none" rtlCol="0">
              <a:spAutoFit/>
            </a:bodyPr>
            <a:lstStyle/>
            <a:p>
              <a:r>
                <a:rPr lang="en-US" altLang="ko-KR" sz="900" dirty="0"/>
                <a:t>XD #(n+1)</a:t>
              </a:r>
              <a:endParaRPr lang="ko-KR" altLang="en-US" sz="900" dirty="0"/>
            </a:p>
          </p:txBody>
        </p:sp>
        <p:sp>
          <p:nvSpPr>
            <p:cNvPr id="35" name="직사각형 34">
              <a:extLst>
                <a:ext uri="{FF2B5EF4-FFF2-40B4-BE49-F238E27FC236}">
                  <a16:creationId xmlns:a16="http://schemas.microsoft.com/office/drawing/2014/main" id="{F0222C0C-AE68-F969-79CD-A97603DCE174}"/>
                </a:ext>
              </a:extLst>
            </p:cNvPr>
            <p:cNvSpPr/>
            <p:nvPr/>
          </p:nvSpPr>
          <p:spPr>
            <a:xfrm>
              <a:off x="4496237" y="6332100"/>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6" name="직선 연결선 35">
              <a:extLst>
                <a:ext uri="{FF2B5EF4-FFF2-40B4-BE49-F238E27FC236}">
                  <a16:creationId xmlns:a16="http://schemas.microsoft.com/office/drawing/2014/main" id="{1F5CDDF2-5DFB-B6DB-1516-8A9499819E8E}"/>
                </a:ext>
              </a:extLst>
            </p:cNvPr>
            <p:cNvCxnSpPr>
              <a:cxnSpLocks/>
            </p:cNvCxnSpPr>
            <p:nvPr/>
          </p:nvCxnSpPr>
          <p:spPr>
            <a:xfrm>
              <a:off x="4496630" y="634463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A42BF846-FD4C-A522-8BD7-A63BFADF585C}"/>
                </a:ext>
              </a:extLst>
            </p:cNvPr>
            <p:cNvCxnSpPr>
              <a:cxnSpLocks/>
            </p:cNvCxnSpPr>
            <p:nvPr/>
          </p:nvCxnSpPr>
          <p:spPr>
            <a:xfrm>
              <a:off x="4492502" y="637584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B7636E77-7707-F5D7-C491-B9F349FC2AB4}"/>
                </a:ext>
              </a:extLst>
            </p:cNvPr>
            <p:cNvCxnSpPr>
              <a:cxnSpLocks/>
            </p:cNvCxnSpPr>
            <p:nvPr/>
          </p:nvCxnSpPr>
          <p:spPr>
            <a:xfrm flipV="1">
              <a:off x="4919611" y="637918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직사각형 38">
              <a:extLst>
                <a:ext uri="{FF2B5EF4-FFF2-40B4-BE49-F238E27FC236}">
                  <a16:creationId xmlns:a16="http://schemas.microsoft.com/office/drawing/2014/main" id="{C7B20246-F822-679F-FA45-7EA4946DA889}"/>
                </a:ext>
              </a:extLst>
            </p:cNvPr>
            <p:cNvSpPr/>
            <p:nvPr/>
          </p:nvSpPr>
          <p:spPr>
            <a:xfrm>
              <a:off x="4723454" y="6485624"/>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43" name="TextBox 42">
            <a:extLst>
              <a:ext uri="{FF2B5EF4-FFF2-40B4-BE49-F238E27FC236}">
                <a16:creationId xmlns:a16="http://schemas.microsoft.com/office/drawing/2014/main" id="{9F15203F-A4BA-F2E0-D88B-10564F1B0C8C}"/>
              </a:ext>
            </a:extLst>
          </p:cNvPr>
          <p:cNvSpPr txBox="1"/>
          <p:nvPr/>
        </p:nvSpPr>
        <p:spPr>
          <a:xfrm>
            <a:off x="986068" y="5965243"/>
            <a:ext cx="521297" cy="230832"/>
          </a:xfrm>
          <a:prstGeom prst="rect">
            <a:avLst/>
          </a:prstGeom>
          <a:noFill/>
        </p:spPr>
        <p:txBody>
          <a:bodyPr wrap="none" rtlCol="0">
            <a:spAutoFit/>
          </a:bodyPr>
          <a:lstStyle/>
          <a:p>
            <a:r>
              <a:rPr lang="en-US" altLang="ko-KR" sz="900" dirty="0"/>
              <a:t>#n FBO</a:t>
            </a:r>
            <a:endParaRPr lang="ko-KR" altLang="en-US" sz="900" dirty="0"/>
          </a:p>
        </p:txBody>
      </p:sp>
      <p:sp>
        <p:nvSpPr>
          <p:cNvPr id="50" name="TextBox 49">
            <a:extLst>
              <a:ext uri="{FF2B5EF4-FFF2-40B4-BE49-F238E27FC236}">
                <a16:creationId xmlns:a16="http://schemas.microsoft.com/office/drawing/2014/main" id="{985D93EF-905C-3376-AB97-3EDFE6B4C63C}"/>
              </a:ext>
            </a:extLst>
          </p:cNvPr>
          <p:cNvSpPr txBox="1"/>
          <p:nvPr/>
        </p:nvSpPr>
        <p:spPr>
          <a:xfrm>
            <a:off x="5264675" y="5964383"/>
            <a:ext cx="659155" cy="230832"/>
          </a:xfrm>
          <a:prstGeom prst="rect">
            <a:avLst/>
          </a:prstGeom>
          <a:noFill/>
        </p:spPr>
        <p:txBody>
          <a:bodyPr wrap="none" rtlCol="0">
            <a:spAutoFit/>
          </a:bodyPr>
          <a:lstStyle/>
          <a:p>
            <a:r>
              <a:rPr lang="en-US" altLang="ko-KR" sz="900" dirty="0"/>
              <a:t>#(n+1) FBI</a:t>
            </a:r>
            <a:endParaRPr lang="ko-KR" altLang="en-US" sz="900" dirty="0"/>
          </a:p>
        </p:txBody>
      </p:sp>
      <p:sp>
        <p:nvSpPr>
          <p:cNvPr id="11" name="TextBox 10">
            <a:extLst>
              <a:ext uri="{FF2B5EF4-FFF2-40B4-BE49-F238E27FC236}">
                <a16:creationId xmlns:a16="http://schemas.microsoft.com/office/drawing/2014/main" id="{08C599C7-D666-6DDE-33AA-75E80E619A28}"/>
              </a:ext>
            </a:extLst>
          </p:cNvPr>
          <p:cNvSpPr txBox="1"/>
          <p:nvPr/>
        </p:nvSpPr>
        <p:spPr>
          <a:xfrm>
            <a:off x="407554" y="1556966"/>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has 3 external signal IO modes which can be configured through the IO_MODE bits in the LD CONTROL register. This function of each mode and the connection scheme is shown as follows.</a:t>
            </a:r>
          </a:p>
        </p:txBody>
      </p:sp>
      <p:sp>
        <p:nvSpPr>
          <p:cNvPr id="23" name="TextBox 22">
            <a:extLst>
              <a:ext uri="{FF2B5EF4-FFF2-40B4-BE49-F238E27FC236}">
                <a16:creationId xmlns:a16="http://schemas.microsoft.com/office/drawing/2014/main" id="{096E7D0C-FE5C-695F-4EA9-45B59C7AB0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Optional external VSYNC and FB</a:t>
            </a:r>
          </a:p>
        </p:txBody>
      </p:sp>
      <p:sp>
        <p:nvSpPr>
          <p:cNvPr id="4" name="TextBox 3">
            <a:extLst>
              <a:ext uri="{FF2B5EF4-FFF2-40B4-BE49-F238E27FC236}">
                <a16:creationId xmlns:a16="http://schemas.microsoft.com/office/drawing/2014/main" id="{DEB6CB90-56D7-C8FA-E770-0283CC630E2F}"/>
              </a:ext>
            </a:extLst>
          </p:cNvPr>
          <p:cNvSpPr txBox="1"/>
          <p:nvPr/>
        </p:nvSpPr>
        <p:spPr>
          <a:xfrm>
            <a:off x="2904664" y="4010564"/>
            <a:ext cx="524503" cy="230832"/>
          </a:xfrm>
          <a:prstGeom prst="rect">
            <a:avLst/>
          </a:prstGeom>
          <a:noFill/>
        </p:spPr>
        <p:txBody>
          <a:bodyPr wrap="none" rtlCol="0">
            <a:spAutoFit/>
          </a:bodyPr>
          <a:lstStyle/>
          <a:p>
            <a:r>
              <a:rPr lang="en-US" altLang="ko-KR" sz="900" dirty="0"/>
              <a:t>#n VSO</a:t>
            </a:r>
            <a:endParaRPr lang="ko-KR" altLang="en-US" sz="900" dirty="0"/>
          </a:p>
        </p:txBody>
      </p:sp>
      <p:graphicFrame>
        <p:nvGraphicFramePr>
          <p:cNvPr id="5" name="표 4">
            <a:extLst>
              <a:ext uri="{FF2B5EF4-FFF2-40B4-BE49-F238E27FC236}">
                <a16:creationId xmlns:a16="http://schemas.microsoft.com/office/drawing/2014/main" id="{A65EC091-4560-B766-C668-15706F9E224E}"/>
              </a:ext>
            </a:extLst>
          </p:cNvPr>
          <p:cNvGraphicFramePr>
            <a:graphicFrameLocks noGrp="1"/>
          </p:cNvGraphicFramePr>
          <p:nvPr>
            <p:extLst>
              <p:ext uri="{D42A27DB-BD31-4B8C-83A1-F6EECF244321}">
                <p14:modId xmlns:p14="http://schemas.microsoft.com/office/powerpoint/2010/main" val="2525202062"/>
              </p:ext>
            </p:extLst>
          </p:nvPr>
        </p:nvGraphicFramePr>
        <p:xfrm>
          <a:off x="407553" y="1955313"/>
          <a:ext cx="6048000" cy="1377120"/>
        </p:xfrm>
        <a:graphic>
          <a:graphicData uri="http://schemas.openxmlformats.org/drawingml/2006/table">
            <a:tbl>
              <a:tblPr firstRow="1" bandRow="1">
                <a:tableStyleId>{5C22544A-7EE6-4342-B048-85BDC9FD1C3A}</a:tableStyleId>
              </a:tblPr>
              <a:tblGrid>
                <a:gridCol w="578453">
                  <a:extLst>
                    <a:ext uri="{9D8B030D-6E8A-4147-A177-3AD203B41FA5}">
                      <a16:colId xmlns:a16="http://schemas.microsoft.com/office/drawing/2014/main" val="2861869108"/>
                    </a:ext>
                  </a:extLst>
                </a:gridCol>
                <a:gridCol w="1071671">
                  <a:extLst>
                    <a:ext uri="{9D8B030D-6E8A-4147-A177-3AD203B41FA5}">
                      <a16:colId xmlns:a16="http://schemas.microsoft.com/office/drawing/2014/main" val="3471461862"/>
                    </a:ext>
                  </a:extLst>
                </a:gridCol>
                <a:gridCol w="487597">
                  <a:extLst>
                    <a:ext uri="{9D8B030D-6E8A-4147-A177-3AD203B41FA5}">
                      <a16:colId xmlns:a16="http://schemas.microsoft.com/office/drawing/2014/main" val="4138367841"/>
                    </a:ext>
                  </a:extLst>
                </a:gridCol>
                <a:gridCol w="487597">
                  <a:extLst>
                    <a:ext uri="{9D8B030D-6E8A-4147-A177-3AD203B41FA5}">
                      <a16:colId xmlns:a16="http://schemas.microsoft.com/office/drawing/2014/main" val="3589866634"/>
                    </a:ext>
                  </a:extLst>
                </a:gridCol>
                <a:gridCol w="487597">
                  <a:extLst>
                    <a:ext uri="{9D8B030D-6E8A-4147-A177-3AD203B41FA5}">
                      <a16:colId xmlns:a16="http://schemas.microsoft.com/office/drawing/2014/main" val="203027085"/>
                    </a:ext>
                  </a:extLst>
                </a:gridCol>
                <a:gridCol w="487597">
                  <a:extLst>
                    <a:ext uri="{9D8B030D-6E8A-4147-A177-3AD203B41FA5}">
                      <a16:colId xmlns:a16="http://schemas.microsoft.com/office/drawing/2014/main" val="1213780966"/>
                    </a:ext>
                  </a:extLst>
                </a:gridCol>
                <a:gridCol w="2447488">
                  <a:extLst>
                    <a:ext uri="{9D8B030D-6E8A-4147-A177-3AD203B41FA5}">
                      <a16:colId xmlns:a16="http://schemas.microsoft.com/office/drawing/2014/main" val="4000803811"/>
                    </a:ext>
                  </a:extLst>
                </a:gridCol>
              </a:tblGrid>
              <a:tr h="193193">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IO_MODE</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287019">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pins, 5 and 14, can be connected to GND.</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The FB and VSYNC signal can be replaced by</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 the communication method.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non-daisy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and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grpSp>
        <p:nvGrpSpPr>
          <p:cNvPr id="176" name="그룹 175">
            <a:extLst>
              <a:ext uri="{FF2B5EF4-FFF2-40B4-BE49-F238E27FC236}">
                <a16:creationId xmlns:a16="http://schemas.microsoft.com/office/drawing/2014/main" id="{CD8CA671-253F-DFEE-FA0A-7EEB5DF0E928}"/>
              </a:ext>
            </a:extLst>
          </p:cNvPr>
          <p:cNvGrpSpPr/>
          <p:nvPr/>
        </p:nvGrpSpPr>
        <p:grpSpPr>
          <a:xfrm>
            <a:off x="3803795" y="3669248"/>
            <a:ext cx="1260000" cy="1116000"/>
            <a:chOff x="3803795" y="3654548"/>
            <a:chExt cx="1260000" cy="1116000"/>
          </a:xfrm>
        </p:grpSpPr>
        <p:grpSp>
          <p:nvGrpSpPr>
            <p:cNvPr id="131" name="그룹 130">
              <a:extLst>
                <a:ext uri="{FF2B5EF4-FFF2-40B4-BE49-F238E27FC236}">
                  <a16:creationId xmlns:a16="http://schemas.microsoft.com/office/drawing/2014/main" id="{07D34400-D341-090C-C8D5-2EA3BBC6A5F8}"/>
                </a:ext>
              </a:extLst>
            </p:cNvPr>
            <p:cNvGrpSpPr/>
            <p:nvPr/>
          </p:nvGrpSpPr>
          <p:grpSpPr>
            <a:xfrm>
              <a:off x="3803795" y="3654548"/>
              <a:ext cx="1260000" cy="1116000"/>
              <a:chOff x="1016681" y="4339884"/>
              <a:chExt cx="1427516" cy="1242000"/>
            </a:xfrm>
          </p:grpSpPr>
          <p:sp>
            <p:nvSpPr>
              <p:cNvPr id="132" name="직사각형 131">
                <a:extLst>
                  <a:ext uri="{FF2B5EF4-FFF2-40B4-BE49-F238E27FC236}">
                    <a16:creationId xmlns:a16="http://schemas.microsoft.com/office/drawing/2014/main" id="{F039BA20-8264-29D5-D374-B6BF79CC8FBD}"/>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33" name="그림 132">
                <a:extLst>
                  <a:ext uri="{FF2B5EF4-FFF2-40B4-BE49-F238E27FC236}">
                    <a16:creationId xmlns:a16="http://schemas.microsoft.com/office/drawing/2014/main" id="{E53308E9-B991-70E2-97F3-6CAF803ECCA6}"/>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35" name="직선 연결선 134">
                <a:extLst>
                  <a:ext uri="{FF2B5EF4-FFF2-40B4-BE49-F238E27FC236}">
                    <a16:creationId xmlns:a16="http://schemas.microsoft.com/office/drawing/2014/main" id="{4E90BC8F-E2B1-4C22-24C1-D356AF79388B}"/>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6" name="직사각형 135">
                <a:extLst>
                  <a:ext uri="{FF2B5EF4-FFF2-40B4-BE49-F238E27FC236}">
                    <a16:creationId xmlns:a16="http://schemas.microsoft.com/office/drawing/2014/main" id="{04C90F35-3ECC-6F19-4D08-5AA057F1F3DC}"/>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37" name="직선 연결선 136">
                <a:extLst>
                  <a:ext uri="{FF2B5EF4-FFF2-40B4-BE49-F238E27FC236}">
                    <a16:creationId xmlns:a16="http://schemas.microsoft.com/office/drawing/2014/main" id="{83465FCB-8FEC-A01D-E4D9-7EC380BEB6A7}"/>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703FBE9E-5E92-2061-5F2A-BA024C81D64D}"/>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139" name="직선 연결선 138">
                <a:extLst>
                  <a:ext uri="{FF2B5EF4-FFF2-40B4-BE49-F238E27FC236}">
                    <a16:creationId xmlns:a16="http://schemas.microsoft.com/office/drawing/2014/main" id="{56B960A5-4BDF-52D6-A7C9-BB7F697D6BEC}"/>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a:extLst>
                  <a:ext uri="{FF2B5EF4-FFF2-40B4-BE49-F238E27FC236}">
                    <a16:creationId xmlns:a16="http://schemas.microsoft.com/office/drawing/2014/main" id="{D4B07702-10C8-E52E-2631-655377081F6C}"/>
                  </a:ext>
                </a:extLst>
              </p:cNvPr>
              <p:cNvCxnSpPr>
                <a:cxnSpLocks/>
              </p:cNvCxnSpPr>
              <p:nvPr/>
            </p:nvCxnSpPr>
            <p:spPr>
              <a:xfrm>
                <a:off x="2108841" y="4797283"/>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9" name="TextBox 148">
              <a:extLst>
                <a:ext uri="{FF2B5EF4-FFF2-40B4-BE49-F238E27FC236}">
                  <a16:creationId xmlns:a16="http://schemas.microsoft.com/office/drawing/2014/main" id="{3F6B0F1D-FED5-0482-2333-AEFF6FCE2C58}"/>
                </a:ext>
              </a:extLst>
            </p:cNvPr>
            <p:cNvSpPr txBox="1"/>
            <p:nvPr/>
          </p:nvSpPr>
          <p:spPr>
            <a:xfrm>
              <a:off x="4087587" y="3664558"/>
              <a:ext cx="644728" cy="230832"/>
            </a:xfrm>
            <a:prstGeom prst="rect">
              <a:avLst/>
            </a:prstGeom>
            <a:noFill/>
          </p:spPr>
          <p:txBody>
            <a:bodyPr wrap="none" rtlCol="0">
              <a:spAutoFit/>
            </a:bodyPr>
            <a:lstStyle/>
            <a:p>
              <a:r>
                <a:rPr lang="en-US" altLang="ko-KR" sz="900" dirty="0"/>
                <a:t>XD #(n+1)</a:t>
              </a:r>
              <a:endParaRPr lang="ko-KR" altLang="en-US" sz="900" dirty="0"/>
            </a:p>
          </p:txBody>
        </p:sp>
        <p:sp>
          <p:nvSpPr>
            <p:cNvPr id="6" name="직사각형 5">
              <a:extLst>
                <a:ext uri="{FF2B5EF4-FFF2-40B4-BE49-F238E27FC236}">
                  <a16:creationId xmlns:a16="http://schemas.microsoft.com/office/drawing/2014/main" id="{7FA68A16-C39C-E51B-1339-FCB6D7E2D6FD}"/>
                </a:ext>
              </a:extLst>
            </p:cNvPr>
            <p:cNvSpPr/>
            <p:nvPr/>
          </p:nvSpPr>
          <p:spPr>
            <a:xfrm>
              <a:off x="4278404" y="402031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8" name="TextBox 7">
            <a:extLst>
              <a:ext uri="{FF2B5EF4-FFF2-40B4-BE49-F238E27FC236}">
                <a16:creationId xmlns:a16="http://schemas.microsoft.com/office/drawing/2014/main" id="{65CFF9B5-BC72-3F69-CFE8-FD27103407CC}"/>
              </a:ext>
            </a:extLst>
          </p:cNvPr>
          <p:cNvSpPr txBox="1"/>
          <p:nvPr/>
        </p:nvSpPr>
        <p:spPr>
          <a:xfrm>
            <a:off x="2958347" y="5886001"/>
            <a:ext cx="473206" cy="230832"/>
          </a:xfrm>
          <a:prstGeom prst="rect">
            <a:avLst/>
          </a:prstGeom>
          <a:noFill/>
        </p:spPr>
        <p:txBody>
          <a:bodyPr wrap="none" rtlCol="0">
            <a:spAutoFit/>
          </a:bodyPr>
          <a:lstStyle/>
          <a:p>
            <a:r>
              <a:rPr lang="en-US" altLang="ko-KR" sz="900" dirty="0"/>
              <a:t>#n FBI</a:t>
            </a:r>
            <a:endParaRPr lang="ko-KR" altLang="en-US" sz="900" dirty="0"/>
          </a:p>
        </p:txBody>
      </p:sp>
      <p:sp>
        <p:nvSpPr>
          <p:cNvPr id="9" name="TextBox 8">
            <a:extLst>
              <a:ext uri="{FF2B5EF4-FFF2-40B4-BE49-F238E27FC236}">
                <a16:creationId xmlns:a16="http://schemas.microsoft.com/office/drawing/2014/main" id="{A3667EF6-E80D-FF1F-BB42-0E57FED04FDA}"/>
              </a:ext>
            </a:extLst>
          </p:cNvPr>
          <p:cNvSpPr txBox="1"/>
          <p:nvPr/>
        </p:nvSpPr>
        <p:spPr>
          <a:xfrm>
            <a:off x="2210624" y="8690366"/>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12.  External FBO and VSI Scheme</a:t>
            </a:r>
          </a:p>
        </p:txBody>
      </p:sp>
      <p:cxnSp>
        <p:nvCxnSpPr>
          <p:cNvPr id="154" name="직선 연결선 153">
            <a:extLst>
              <a:ext uri="{FF2B5EF4-FFF2-40B4-BE49-F238E27FC236}">
                <a16:creationId xmlns:a16="http://schemas.microsoft.com/office/drawing/2014/main" id="{FE45BE1A-658F-9D91-9750-0E8E850FC0CD}"/>
              </a:ext>
            </a:extLst>
          </p:cNvPr>
          <p:cNvCxnSpPr/>
          <p:nvPr/>
        </p:nvCxnSpPr>
        <p:spPr>
          <a:xfrm>
            <a:off x="2639223" y="7924725"/>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02D735AA-6191-CA3E-A7E7-5FA51D21C364}"/>
              </a:ext>
            </a:extLst>
          </p:cNvPr>
          <p:cNvSpPr txBox="1"/>
          <p:nvPr/>
        </p:nvSpPr>
        <p:spPr>
          <a:xfrm>
            <a:off x="2290553" y="7804491"/>
            <a:ext cx="377026" cy="230832"/>
          </a:xfrm>
          <a:prstGeom prst="rect">
            <a:avLst/>
          </a:prstGeom>
          <a:noFill/>
        </p:spPr>
        <p:txBody>
          <a:bodyPr wrap="none" rtlCol="0">
            <a:spAutoFit/>
          </a:bodyPr>
          <a:lstStyle/>
          <a:p>
            <a:r>
              <a:rPr lang="en-US" altLang="ko-KR" sz="900" dirty="0"/>
              <a:t>FBO</a:t>
            </a:r>
            <a:endParaRPr lang="ko-KR" altLang="en-US" sz="900" dirty="0"/>
          </a:p>
        </p:txBody>
      </p:sp>
      <p:cxnSp>
        <p:nvCxnSpPr>
          <p:cNvPr id="169" name="직선 연결선 168">
            <a:extLst>
              <a:ext uri="{FF2B5EF4-FFF2-40B4-BE49-F238E27FC236}">
                <a16:creationId xmlns:a16="http://schemas.microsoft.com/office/drawing/2014/main" id="{8D240104-0FC3-2358-2F02-CDFD863E6E45}"/>
              </a:ext>
            </a:extLst>
          </p:cNvPr>
          <p:cNvCxnSpPr>
            <a:cxnSpLocks/>
          </p:cNvCxnSpPr>
          <p:nvPr/>
        </p:nvCxnSpPr>
        <p:spPr>
          <a:xfrm flipH="1">
            <a:off x="4162267" y="7921905"/>
            <a:ext cx="252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70" name="TextBox 169">
            <a:extLst>
              <a:ext uri="{FF2B5EF4-FFF2-40B4-BE49-F238E27FC236}">
                <a16:creationId xmlns:a16="http://schemas.microsoft.com/office/drawing/2014/main" id="{2CDCB947-AFD9-1ED4-A859-0726A55EAF0C}"/>
              </a:ext>
            </a:extLst>
          </p:cNvPr>
          <p:cNvSpPr txBox="1"/>
          <p:nvPr/>
        </p:nvSpPr>
        <p:spPr>
          <a:xfrm>
            <a:off x="4369966" y="7807431"/>
            <a:ext cx="332142" cy="230832"/>
          </a:xfrm>
          <a:prstGeom prst="rect">
            <a:avLst/>
          </a:prstGeom>
          <a:noFill/>
        </p:spPr>
        <p:txBody>
          <a:bodyPr wrap="none" rtlCol="0">
            <a:spAutoFit/>
          </a:bodyPr>
          <a:lstStyle/>
          <a:p>
            <a:r>
              <a:rPr lang="en-US" altLang="ko-KR" sz="900" dirty="0"/>
              <a:t>VSI</a:t>
            </a:r>
            <a:endParaRPr lang="ko-KR" altLang="en-US" sz="900" dirty="0"/>
          </a:p>
        </p:txBody>
      </p:sp>
      <p:grpSp>
        <p:nvGrpSpPr>
          <p:cNvPr id="175" name="그룹 174">
            <a:extLst>
              <a:ext uri="{FF2B5EF4-FFF2-40B4-BE49-F238E27FC236}">
                <a16:creationId xmlns:a16="http://schemas.microsoft.com/office/drawing/2014/main" id="{317073E5-6ADB-10DD-60F1-BF59827E7544}"/>
              </a:ext>
            </a:extLst>
          </p:cNvPr>
          <p:cNvGrpSpPr/>
          <p:nvPr/>
        </p:nvGrpSpPr>
        <p:grpSpPr>
          <a:xfrm>
            <a:off x="2895027" y="7363609"/>
            <a:ext cx="1260000" cy="1116000"/>
            <a:chOff x="2988890" y="7363609"/>
            <a:chExt cx="1425650" cy="1242622"/>
          </a:xfrm>
        </p:grpSpPr>
        <p:sp>
          <p:nvSpPr>
            <p:cNvPr id="28" name="직사각형 27">
              <a:extLst>
                <a:ext uri="{FF2B5EF4-FFF2-40B4-BE49-F238E27FC236}">
                  <a16:creationId xmlns:a16="http://schemas.microsoft.com/office/drawing/2014/main" id="{65AAC109-8AEC-FB49-C50F-9C5FC3C4DF20}"/>
                </a:ext>
              </a:extLst>
            </p:cNvPr>
            <p:cNvSpPr/>
            <p:nvPr/>
          </p:nvSpPr>
          <p:spPr>
            <a:xfrm>
              <a:off x="3084413" y="7364231"/>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9" name="그림 28">
              <a:extLst>
                <a:ext uri="{FF2B5EF4-FFF2-40B4-BE49-F238E27FC236}">
                  <a16:creationId xmlns:a16="http://schemas.microsoft.com/office/drawing/2014/main" id="{91D52BBF-7B80-B7D8-903A-C0DBAD61C37F}"/>
                </a:ext>
              </a:extLst>
            </p:cNvPr>
            <p:cNvPicPr>
              <a:picLocks noChangeAspect="1"/>
            </p:cNvPicPr>
            <p:nvPr/>
          </p:nvPicPr>
          <p:blipFill>
            <a:blip r:embed="rId3"/>
            <a:stretch>
              <a:fillRect/>
            </a:stretch>
          </p:blipFill>
          <p:spPr>
            <a:xfrm flipH="1">
              <a:off x="3461579" y="8123151"/>
              <a:ext cx="216000" cy="115821"/>
            </a:xfrm>
            <a:prstGeom prst="rect">
              <a:avLst/>
            </a:prstGeom>
          </p:spPr>
        </p:pic>
        <p:sp>
          <p:nvSpPr>
            <p:cNvPr id="31" name="직사각형 30">
              <a:extLst>
                <a:ext uri="{FF2B5EF4-FFF2-40B4-BE49-F238E27FC236}">
                  <a16:creationId xmlns:a16="http://schemas.microsoft.com/office/drawing/2014/main" id="{DA171BAC-63BA-E23F-033E-F08172B12502}"/>
                </a:ext>
              </a:extLst>
            </p:cNvPr>
            <p:cNvSpPr/>
            <p:nvPr/>
          </p:nvSpPr>
          <p:spPr>
            <a:xfrm>
              <a:off x="3559239" y="7929532"/>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45" name="그룹 44">
              <a:extLst>
                <a:ext uri="{FF2B5EF4-FFF2-40B4-BE49-F238E27FC236}">
                  <a16:creationId xmlns:a16="http://schemas.microsoft.com/office/drawing/2014/main" id="{4E2977FD-0498-4BC3-82E5-313DCF7CBC6D}"/>
                </a:ext>
              </a:extLst>
            </p:cNvPr>
            <p:cNvGrpSpPr/>
            <p:nvPr/>
          </p:nvGrpSpPr>
          <p:grpSpPr>
            <a:xfrm>
              <a:off x="3257024" y="8061500"/>
              <a:ext cx="234000" cy="399680"/>
              <a:chOff x="2505005" y="3797258"/>
              <a:chExt cx="234000" cy="399680"/>
            </a:xfrm>
          </p:grpSpPr>
          <p:pic>
            <p:nvPicPr>
              <p:cNvPr id="46" name="그림 45">
                <a:extLst>
                  <a:ext uri="{FF2B5EF4-FFF2-40B4-BE49-F238E27FC236}">
                    <a16:creationId xmlns:a16="http://schemas.microsoft.com/office/drawing/2014/main" id="{C7CD7081-2079-4A71-E312-8552A790EF01}"/>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47" name="그림 46">
                <a:extLst>
                  <a:ext uri="{FF2B5EF4-FFF2-40B4-BE49-F238E27FC236}">
                    <a16:creationId xmlns:a16="http://schemas.microsoft.com/office/drawing/2014/main" id="{97D696A2-680C-F211-ACC8-6DD2388C6B5C}"/>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55" name="직선 연결선 54">
                <a:extLst>
                  <a:ext uri="{FF2B5EF4-FFF2-40B4-BE49-F238E27FC236}">
                    <a16:creationId xmlns:a16="http://schemas.microsoft.com/office/drawing/2014/main" id="{905C21AB-205C-5C94-2C32-247111858C4D}"/>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 name="직선 연결선 56">
              <a:extLst>
                <a:ext uri="{FF2B5EF4-FFF2-40B4-BE49-F238E27FC236}">
                  <a16:creationId xmlns:a16="http://schemas.microsoft.com/office/drawing/2014/main" id="{B032E8A7-38CA-A23D-2E07-70FFF2DC48A4}"/>
                </a:ext>
              </a:extLst>
            </p:cNvPr>
            <p:cNvCxnSpPr>
              <a:cxnSpLocks/>
            </p:cNvCxnSpPr>
            <p:nvPr/>
          </p:nvCxnSpPr>
          <p:spPr>
            <a:xfrm flipV="1">
              <a:off x="3328718" y="7980712"/>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직선 연결선 57">
              <a:extLst>
                <a:ext uri="{FF2B5EF4-FFF2-40B4-BE49-F238E27FC236}">
                  <a16:creationId xmlns:a16="http://schemas.microsoft.com/office/drawing/2014/main" id="{8053D4F7-ED0D-04C5-FCD8-68C49BC2F047}"/>
                </a:ext>
              </a:extLst>
            </p:cNvPr>
            <p:cNvCxnSpPr>
              <a:cxnSpLocks/>
            </p:cNvCxnSpPr>
            <p:nvPr/>
          </p:nvCxnSpPr>
          <p:spPr>
            <a:xfrm>
              <a:off x="3050816" y="7982761"/>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직사각형 58">
              <a:extLst>
                <a:ext uri="{FF2B5EF4-FFF2-40B4-BE49-F238E27FC236}">
                  <a16:creationId xmlns:a16="http://schemas.microsoft.com/office/drawing/2014/main" id="{DFA0393D-26CB-5A03-C69C-CC2B42718447}"/>
                </a:ext>
              </a:extLst>
            </p:cNvPr>
            <p:cNvSpPr/>
            <p:nvPr/>
          </p:nvSpPr>
          <p:spPr>
            <a:xfrm>
              <a:off x="2988890" y="79284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62" name="직선 연결선 61">
              <a:extLst>
                <a:ext uri="{FF2B5EF4-FFF2-40B4-BE49-F238E27FC236}">
                  <a16:creationId xmlns:a16="http://schemas.microsoft.com/office/drawing/2014/main" id="{91F1AC6E-C7F1-E2C7-A324-8275282C9E19}"/>
                </a:ext>
              </a:extLst>
            </p:cNvPr>
            <p:cNvCxnSpPr>
              <a:cxnSpLocks/>
            </p:cNvCxnSpPr>
            <p:nvPr/>
          </p:nvCxnSpPr>
          <p:spPr>
            <a:xfrm>
              <a:off x="3423441" y="8181966"/>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직사각형 65">
              <a:extLst>
                <a:ext uri="{FF2B5EF4-FFF2-40B4-BE49-F238E27FC236}">
                  <a16:creationId xmlns:a16="http://schemas.microsoft.com/office/drawing/2014/main" id="{4FE550E2-2BA1-6C42-6F66-07CBA3643AD4}"/>
                </a:ext>
              </a:extLst>
            </p:cNvPr>
            <p:cNvSpPr/>
            <p:nvPr/>
          </p:nvSpPr>
          <p:spPr>
            <a:xfrm>
              <a:off x="3423441" y="8230276"/>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67" name="직선 연결선 66">
              <a:extLst>
                <a:ext uri="{FF2B5EF4-FFF2-40B4-BE49-F238E27FC236}">
                  <a16:creationId xmlns:a16="http://schemas.microsoft.com/office/drawing/2014/main" id="{DD788258-44F0-803A-3600-3D20A36D6ED0}"/>
                </a:ext>
              </a:extLst>
            </p:cNvPr>
            <p:cNvCxnSpPr>
              <a:cxnSpLocks/>
            </p:cNvCxnSpPr>
            <p:nvPr/>
          </p:nvCxnSpPr>
          <p:spPr>
            <a:xfrm>
              <a:off x="3631896" y="8155094"/>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FA5AC51D-9E0C-5098-159A-7BF1015E224F}"/>
                </a:ext>
              </a:extLst>
            </p:cNvPr>
            <p:cNvCxnSpPr>
              <a:cxnSpLocks/>
            </p:cNvCxnSpPr>
            <p:nvPr/>
          </p:nvCxnSpPr>
          <p:spPr>
            <a:xfrm flipV="1">
              <a:off x="3735935" y="802635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타원 68">
              <a:extLst>
                <a:ext uri="{FF2B5EF4-FFF2-40B4-BE49-F238E27FC236}">
                  <a16:creationId xmlns:a16="http://schemas.microsoft.com/office/drawing/2014/main" id="{9E8C5A7E-9E0F-1593-02A7-27576EB151EF}"/>
                </a:ext>
              </a:extLst>
            </p:cNvPr>
            <p:cNvSpPr/>
            <p:nvPr/>
          </p:nvSpPr>
          <p:spPr>
            <a:xfrm>
              <a:off x="3630353" y="8140694"/>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직사각형 77">
              <a:extLst>
                <a:ext uri="{FF2B5EF4-FFF2-40B4-BE49-F238E27FC236}">
                  <a16:creationId xmlns:a16="http://schemas.microsoft.com/office/drawing/2014/main" id="{2A8CDE41-E474-985E-5BF8-0F76BB0F1CDA}"/>
                </a:ext>
              </a:extLst>
            </p:cNvPr>
            <p:cNvSpPr/>
            <p:nvPr/>
          </p:nvSpPr>
          <p:spPr>
            <a:xfrm>
              <a:off x="4234540" y="793389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51" name="TextBox 150">
              <a:extLst>
                <a:ext uri="{FF2B5EF4-FFF2-40B4-BE49-F238E27FC236}">
                  <a16:creationId xmlns:a16="http://schemas.microsoft.com/office/drawing/2014/main" id="{2878F8E7-4A92-8359-B7EF-488C483EEB94}"/>
                </a:ext>
              </a:extLst>
            </p:cNvPr>
            <p:cNvSpPr txBox="1"/>
            <p:nvPr/>
          </p:nvSpPr>
          <p:spPr>
            <a:xfrm>
              <a:off x="3546556" y="7363609"/>
              <a:ext cx="314510" cy="230832"/>
            </a:xfrm>
            <a:prstGeom prst="rect">
              <a:avLst/>
            </a:prstGeom>
            <a:noFill/>
          </p:spPr>
          <p:txBody>
            <a:bodyPr wrap="none" rtlCol="0">
              <a:spAutoFit/>
            </a:bodyPr>
            <a:lstStyle/>
            <a:p>
              <a:r>
                <a:rPr lang="en-US" altLang="ko-KR" sz="900" dirty="0"/>
                <a:t>XD</a:t>
              </a:r>
              <a:endParaRPr lang="ko-KR" altLang="en-US" sz="900" dirty="0"/>
            </a:p>
          </p:txBody>
        </p:sp>
        <p:sp>
          <p:nvSpPr>
            <p:cNvPr id="156" name="직사각형 155">
              <a:extLst>
                <a:ext uri="{FF2B5EF4-FFF2-40B4-BE49-F238E27FC236}">
                  <a16:creationId xmlns:a16="http://schemas.microsoft.com/office/drawing/2014/main" id="{8F5B2E39-FAAA-1980-2740-FA775113071F}"/>
                </a:ext>
              </a:extLst>
            </p:cNvPr>
            <p:cNvSpPr/>
            <p:nvPr/>
          </p:nvSpPr>
          <p:spPr>
            <a:xfrm>
              <a:off x="3632819" y="8174583"/>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58" name="직선 연결선 157">
              <a:extLst>
                <a:ext uri="{FF2B5EF4-FFF2-40B4-BE49-F238E27FC236}">
                  <a16:creationId xmlns:a16="http://schemas.microsoft.com/office/drawing/2014/main" id="{EA6E1023-934E-7A68-9F11-E2C804BA7870}"/>
                </a:ext>
              </a:extLst>
            </p:cNvPr>
            <p:cNvCxnSpPr>
              <a:cxnSpLocks/>
            </p:cNvCxnSpPr>
            <p:nvPr/>
          </p:nvCxnSpPr>
          <p:spPr>
            <a:xfrm>
              <a:off x="3629084" y="8218332"/>
              <a:ext cx="50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직선 연결선 158">
              <a:extLst>
                <a:ext uri="{FF2B5EF4-FFF2-40B4-BE49-F238E27FC236}">
                  <a16:creationId xmlns:a16="http://schemas.microsoft.com/office/drawing/2014/main" id="{798B48D2-BA49-3306-F49E-FCB3E5E4B761}"/>
                </a:ext>
              </a:extLst>
            </p:cNvPr>
            <p:cNvCxnSpPr>
              <a:cxnSpLocks/>
            </p:cNvCxnSpPr>
            <p:nvPr/>
          </p:nvCxnSpPr>
          <p:spPr>
            <a:xfrm flipV="1">
              <a:off x="3738436" y="821814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0" name="직사각형 159">
              <a:extLst>
                <a:ext uri="{FF2B5EF4-FFF2-40B4-BE49-F238E27FC236}">
                  <a16:creationId xmlns:a16="http://schemas.microsoft.com/office/drawing/2014/main" id="{4DC10CEA-A6EB-915B-C739-A398BCE8851D}"/>
                </a:ext>
              </a:extLst>
            </p:cNvPr>
            <p:cNvSpPr/>
            <p:nvPr/>
          </p:nvSpPr>
          <p:spPr>
            <a:xfrm>
              <a:off x="3549341" y="832810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pic>
          <p:nvPicPr>
            <p:cNvPr id="171" name="그림 170">
              <a:extLst>
                <a:ext uri="{FF2B5EF4-FFF2-40B4-BE49-F238E27FC236}">
                  <a16:creationId xmlns:a16="http://schemas.microsoft.com/office/drawing/2014/main" id="{86D338F4-312F-1155-9EF4-0C20E70BEB84}"/>
                </a:ext>
              </a:extLst>
            </p:cNvPr>
            <p:cNvPicPr>
              <a:picLocks noChangeAspect="1"/>
            </p:cNvPicPr>
            <p:nvPr/>
          </p:nvPicPr>
          <p:blipFill>
            <a:blip r:embed="rId2"/>
            <a:stretch>
              <a:fillRect/>
            </a:stretch>
          </p:blipFill>
          <p:spPr>
            <a:xfrm rot="10641360">
              <a:off x="4013600" y="7927439"/>
              <a:ext cx="216000" cy="149104"/>
            </a:xfrm>
            <a:prstGeom prst="rect">
              <a:avLst/>
            </a:prstGeom>
          </p:spPr>
        </p:pic>
        <p:cxnSp>
          <p:nvCxnSpPr>
            <p:cNvPr id="172" name="직선 연결선 171">
              <a:extLst>
                <a:ext uri="{FF2B5EF4-FFF2-40B4-BE49-F238E27FC236}">
                  <a16:creationId xmlns:a16="http://schemas.microsoft.com/office/drawing/2014/main" id="{E79B7099-4F32-EC28-47C9-A6975C7DE0CC}"/>
                </a:ext>
              </a:extLst>
            </p:cNvPr>
            <p:cNvCxnSpPr>
              <a:cxnSpLocks/>
            </p:cNvCxnSpPr>
            <p:nvPr/>
          </p:nvCxnSpPr>
          <p:spPr>
            <a:xfrm flipV="1">
              <a:off x="4134822" y="8054264"/>
              <a:ext cx="1283" cy="16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59428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13.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14.  PWM 14-bit</a:t>
            </a:r>
          </a:p>
        </p:txBody>
      </p:sp>
      <p:pic>
        <p:nvPicPr>
          <p:cNvPr id="7" name="그림 6">
            <a:extLst>
              <a:ext uri="{FF2B5EF4-FFF2-40B4-BE49-F238E27FC236}">
                <a16:creationId xmlns:a16="http://schemas.microsoft.com/office/drawing/2014/main" id="{A8BB2C9D-A5CA-65F8-0879-23489E096ADE}"/>
              </a:ext>
            </a:extLst>
          </p:cNvPr>
          <p:cNvPicPr>
            <a:picLocks noChangeAspect="1"/>
          </p:cNvPicPr>
          <p:nvPr/>
        </p:nvPicPr>
        <p:blipFill>
          <a:blip r:embed="rId2"/>
          <a:stretch>
            <a:fillRect/>
          </a:stretch>
        </p:blipFill>
        <p:spPr>
          <a:xfrm rot="5400000">
            <a:off x="1763486" y="4096000"/>
            <a:ext cx="6858000" cy="2030955"/>
          </a:xfrm>
          <a:prstGeom prst="rect">
            <a:avLst/>
          </a:prstGeom>
        </p:spPr>
      </p:pic>
      <p:pic>
        <p:nvPicPr>
          <p:cNvPr id="10" name="그림 9">
            <a:extLst>
              <a:ext uri="{FF2B5EF4-FFF2-40B4-BE49-F238E27FC236}">
                <a16:creationId xmlns:a16="http://schemas.microsoft.com/office/drawing/2014/main" id="{6B397F65-414B-EC28-BC6D-A64A977148AB}"/>
              </a:ext>
            </a:extLst>
          </p:cNvPr>
          <p:cNvPicPr>
            <a:picLocks noChangeAspect="1"/>
          </p:cNvPicPr>
          <p:nvPr/>
        </p:nvPicPr>
        <p:blipFill>
          <a:blip r:embed="rId3"/>
          <a:stretch>
            <a:fillRect/>
          </a:stretch>
        </p:blipFill>
        <p:spPr>
          <a:xfrm rot="5400000">
            <a:off x="-1128337" y="3871201"/>
            <a:ext cx="6858000" cy="2480553"/>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891698"/>
              </p:ext>
            </p:extLst>
          </p:nvPr>
        </p:nvGraphicFramePr>
        <p:xfrm>
          <a:off x="404812" y="2156360"/>
          <a:ext cx="6048622" cy="3700744"/>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586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66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840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every vsync.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98646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 access at the back of the frame should be avoided for proper operation.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11376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XD12P will receive the ID-Gen command from the XC24 controller, then the ID value is automatically generated. The ID value is needed for proper reading, so, the ID-Gen command must be firstly executed by the XC24 controller before executing any commands.  If all XD12P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3939199090"/>
              </p:ext>
            </p:extLst>
          </p:nvPr>
        </p:nvGraphicFramePr>
        <p:xfrm>
          <a:off x="404812" y="1727442"/>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2981035784"/>
              </p:ext>
            </p:extLst>
          </p:nvPr>
        </p:nvGraphicFramePr>
        <p:xfrm>
          <a:off x="408946" y="1577336"/>
          <a:ext cx="6053219" cy="6170213"/>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LD_DIR, PWM_RES, OVER_TO_E and SCAN_NO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175360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IO_MODE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FB and VSYNC functional usage as a pin. Refer to below table.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SCAN_NO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the number of scanning within a frame. The scanning number is one if the value is zero. In case the value is greater than 0, the larger the value, the smaller the PWM depth. The available value is from 0 to 5, and the relationship between the set value vs the scanning number and the PWM depth can be showed in below Table 6.</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OVER_TO_E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 Turn-On Enable. This bit is an optional and recommended to decide the set according to the dimming performance from internal PWM clock. It is useful in case the PWM clock is faster than ideal frequency under full PWM data.</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1024994717"/>
              </p:ext>
            </p:extLst>
          </p:nvPr>
        </p:nvGraphicFramePr>
        <p:xfrm>
          <a:off x="401292" y="1108857"/>
          <a:ext cx="6060873" cy="372600"/>
        </p:xfrm>
        <a:graphic>
          <a:graphicData uri="http://schemas.openxmlformats.org/drawingml/2006/table">
            <a:tbl>
              <a:tblPr firstRow="1" bandRow="1">
                <a:tableStyleId>{5C22544A-7EE6-4342-B048-85BDC9FD1C3A}</a:tableStyleId>
              </a:tblPr>
              <a:tblGrid>
                <a:gridCol w="261945">
                  <a:extLst>
                    <a:ext uri="{9D8B030D-6E8A-4147-A177-3AD203B41FA5}">
                      <a16:colId xmlns:a16="http://schemas.microsoft.com/office/drawing/2014/main" val="657570846"/>
                    </a:ext>
                  </a:extLst>
                </a:gridCol>
                <a:gridCol w="306537">
                  <a:extLst>
                    <a:ext uri="{9D8B030D-6E8A-4147-A177-3AD203B41FA5}">
                      <a16:colId xmlns:a16="http://schemas.microsoft.com/office/drawing/2014/main" val="3259894497"/>
                    </a:ext>
                  </a:extLst>
                </a:gridCol>
                <a:gridCol w="411096">
                  <a:extLst>
                    <a:ext uri="{9D8B030D-6E8A-4147-A177-3AD203B41FA5}">
                      <a16:colId xmlns:a16="http://schemas.microsoft.com/office/drawing/2014/main" val="4170535043"/>
                    </a:ext>
                  </a:extLst>
                </a:gridCol>
                <a:gridCol w="333929">
                  <a:extLst>
                    <a:ext uri="{9D8B030D-6E8A-4147-A177-3AD203B41FA5}">
                      <a16:colId xmlns:a16="http://schemas.microsoft.com/office/drawing/2014/main" val="2079070694"/>
                    </a:ext>
                  </a:extLst>
                </a:gridCol>
                <a:gridCol w="333929">
                  <a:extLst>
                    <a:ext uri="{9D8B030D-6E8A-4147-A177-3AD203B41FA5}">
                      <a16:colId xmlns:a16="http://schemas.microsoft.com/office/drawing/2014/main" val="4213315911"/>
                    </a:ext>
                  </a:extLst>
                </a:gridCol>
                <a:gridCol w="333929">
                  <a:extLst>
                    <a:ext uri="{9D8B030D-6E8A-4147-A177-3AD203B41FA5}">
                      <a16:colId xmlns:a16="http://schemas.microsoft.com/office/drawing/2014/main" val="2769999950"/>
                    </a:ext>
                  </a:extLst>
                </a:gridCol>
                <a:gridCol w="333929">
                  <a:extLst>
                    <a:ext uri="{9D8B030D-6E8A-4147-A177-3AD203B41FA5}">
                      <a16:colId xmlns:a16="http://schemas.microsoft.com/office/drawing/2014/main" val="135637185"/>
                    </a:ext>
                  </a:extLst>
                </a:gridCol>
                <a:gridCol w="628193">
                  <a:extLst>
                    <a:ext uri="{9D8B030D-6E8A-4147-A177-3AD203B41FA5}">
                      <a16:colId xmlns:a16="http://schemas.microsoft.com/office/drawing/2014/main" val="3038050475"/>
                    </a:ext>
                  </a:extLst>
                </a:gridCol>
                <a:gridCol w="539970">
                  <a:extLst>
                    <a:ext uri="{9D8B030D-6E8A-4147-A177-3AD203B41FA5}">
                      <a16:colId xmlns:a16="http://schemas.microsoft.com/office/drawing/2014/main" val="1979433044"/>
                    </a:ext>
                  </a:extLst>
                </a:gridCol>
                <a:gridCol w="333929">
                  <a:extLst>
                    <a:ext uri="{9D8B030D-6E8A-4147-A177-3AD203B41FA5}">
                      <a16:colId xmlns:a16="http://schemas.microsoft.com/office/drawing/2014/main" val="4270661649"/>
                    </a:ext>
                  </a:extLst>
                </a:gridCol>
                <a:gridCol w="333929">
                  <a:extLst>
                    <a:ext uri="{9D8B030D-6E8A-4147-A177-3AD203B41FA5}">
                      <a16:colId xmlns:a16="http://schemas.microsoft.com/office/drawing/2014/main" val="3027041370"/>
                    </a:ext>
                  </a:extLst>
                </a:gridCol>
                <a:gridCol w="333929">
                  <a:extLst>
                    <a:ext uri="{9D8B030D-6E8A-4147-A177-3AD203B41FA5}">
                      <a16:colId xmlns:a16="http://schemas.microsoft.com/office/drawing/2014/main" val="2852526216"/>
                    </a:ext>
                  </a:extLst>
                </a:gridCol>
                <a:gridCol w="609453">
                  <a:extLst>
                    <a:ext uri="{9D8B030D-6E8A-4147-A177-3AD203B41FA5}">
                      <a16:colId xmlns:a16="http://schemas.microsoft.com/office/drawing/2014/main" val="103420222"/>
                    </a:ext>
                  </a:extLst>
                </a:gridCol>
                <a:gridCol w="527959">
                  <a:extLst>
                    <a:ext uri="{9D8B030D-6E8A-4147-A177-3AD203B41FA5}">
                      <a16:colId xmlns:a16="http://schemas.microsoft.com/office/drawing/2014/main" val="1470405609"/>
                    </a:ext>
                  </a:extLst>
                </a:gridCol>
                <a:gridCol w="43821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IO_MODE [1:0]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SCAN_NO [2:0]</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OVER_TO_E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2" name="표 1">
            <a:extLst>
              <a:ext uri="{FF2B5EF4-FFF2-40B4-BE49-F238E27FC236}">
                <a16:creationId xmlns:a16="http://schemas.microsoft.com/office/drawing/2014/main" id="{E0D17130-D9BC-E2E0-37CE-5AD24A607220}"/>
              </a:ext>
            </a:extLst>
          </p:cNvPr>
          <p:cNvGraphicFramePr>
            <a:graphicFrameLocks noGrp="1"/>
          </p:cNvGraphicFramePr>
          <p:nvPr>
            <p:extLst>
              <p:ext uri="{D42A27DB-BD31-4B8C-83A1-F6EECF244321}">
                <p14:modId xmlns:p14="http://schemas.microsoft.com/office/powerpoint/2010/main" val="2687268655"/>
              </p:ext>
            </p:extLst>
          </p:nvPr>
        </p:nvGraphicFramePr>
        <p:xfrm>
          <a:off x="1866407" y="3625955"/>
          <a:ext cx="4567259" cy="1328185"/>
        </p:xfrm>
        <a:graphic>
          <a:graphicData uri="http://schemas.openxmlformats.org/drawingml/2006/table">
            <a:tbl>
              <a:tblPr firstRow="1" bandRow="1">
                <a:tableStyleId>{5C22544A-7EE6-4342-B048-85BDC9FD1C3A}</a:tableStyleId>
              </a:tblPr>
              <a:tblGrid>
                <a:gridCol w="297712">
                  <a:extLst>
                    <a:ext uri="{9D8B030D-6E8A-4147-A177-3AD203B41FA5}">
                      <a16:colId xmlns:a16="http://schemas.microsoft.com/office/drawing/2014/main" val="2861869108"/>
                    </a:ext>
                  </a:extLst>
                </a:gridCol>
                <a:gridCol w="745388">
                  <a:extLst>
                    <a:ext uri="{9D8B030D-6E8A-4147-A177-3AD203B41FA5}">
                      <a16:colId xmlns:a16="http://schemas.microsoft.com/office/drawing/2014/main" val="3471461862"/>
                    </a:ext>
                  </a:extLst>
                </a:gridCol>
                <a:gridCol w="258025">
                  <a:extLst>
                    <a:ext uri="{9D8B030D-6E8A-4147-A177-3AD203B41FA5}">
                      <a16:colId xmlns:a16="http://schemas.microsoft.com/office/drawing/2014/main" val="4138367841"/>
                    </a:ext>
                  </a:extLst>
                </a:gridCol>
                <a:gridCol w="258025">
                  <a:extLst>
                    <a:ext uri="{9D8B030D-6E8A-4147-A177-3AD203B41FA5}">
                      <a16:colId xmlns:a16="http://schemas.microsoft.com/office/drawing/2014/main" val="3589866634"/>
                    </a:ext>
                  </a:extLst>
                </a:gridCol>
                <a:gridCol w="258025">
                  <a:extLst>
                    <a:ext uri="{9D8B030D-6E8A-4147-A177-3AD203B41FA5}">
                      <a16:colId xmlns:a16="http://schemas.microsoft.com/office/drawing/2014/main" val="203027085"/>
                    </a:ext>
                  </a:extLst>
                </a:gridCol>
                <a:gridCol w="258025">
                  <a:extLst>
                    <a:ext uri="{9D8B030D-6E8A-4147-A177-3AD203B41FA5}">
                      <a16:colId xmlns:a16="http://schemas.microsoft.com/office/drawing/2014/main" val="1213780966"/>
                    </a:ext>
                  </a:extLst>
                </a:gridCol>
                <a:gridCol w="2492059">
                  <a:extLst>
                    <a:ext uri="{9D8B030D-6E8A-4147-A177-3AD203B41FA5}">
                      <a16:colId xmlns:a16="http://schemas.microsoft.com/office/drawing/2014/main" val="4000803811"/>
                    </a:ext>
                  </a:extLst>
                </a:gridCol>
              </a:tblGrid>
              <a:tr h="20805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Value</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3090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VSYNC and 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p>
                      <a:pPr algn="l" latinLnBrk="1"/>
                      <a:r>
                        <a:rPr lang="en-US" altLang="ko-KR" sz="800" dirty="0">
                          <a:solidFill>
                            <a:schemeClr val="tx1"/>
                          </a:solidFill>
                          <a:latin typeface="Arial" panose="020B0604020202020204" pitchFamily="34" charset="0"/>
                          <a:ea typeface="+mn-ea"/>
                          <a:cs typeface="Arial" panose="020B0604020202020204" pitchFamily="34" charset="0"/>
                        </a:rPr>
                        <a:t>These pins, 5 and 14, can be connected to GND.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daisied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VSYNC-In signal scheme in a daisy chain</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daisied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FB-Out signal scheme in a daisy chain</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VSYNC-In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individual drive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External VSYNC-In and FB-Out are used individually, not in daisy chain.</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spTree>
    <p:extLst>
      <p:ext uri="{BB962C8B-B14F-4D97-AF65-F5344CB8AC3E}">
        <p14:creationId xmlns:p14="http://schemas.microsoft.com/office/powerpoint/2010/main" val="1571062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249689919"/>
              </p:ext>
            </p:extLst>
          </p:nvPr>
        </p:nvGraphicFramePr>
        <p:xfrm>
          <a:off x="389761" y="1549501"/>
          <a:ext cx="6053732" cy="2017953"/>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30003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0223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PWM reference clock. The PWM reference clock can be created by dividing the MCLK frequency by the setting value + 1. Even if the setting value will be changed in the middle of the frame, the value will be applied immediately from the next vsync assertion. The setting value according to the frame frequency is guided as shown Table 7 below.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4215528067"/>
              </p:ext>
            </p:extLst>
          </p:nvPr>
        </p:nvGraphicFramePr>
        <p:xfrm>
          <a:off x="389761" y="5204833"/>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4484379"/>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3789614620"/>
              </p:ext>
            </p:extLst>
          </p:nvPr>
        </p:nvGraphicFramePr>
        <p:xfrm>
          <a:off x="394817" y="110966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722887982"/>
              </p:ext>
            </p:extLst>
          </p:nvPr>
        </p:nvGraphicFramePr>
        <p:xfrm>
          <a:off x="394817" y="4749894"/>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1CF1FEF-DEA2-3BC4-997F-A9F301EC0E4E}"/>
              </a:ext>
            </a:extLst>
          </p:cNvPr>
          <p:cNvSpPr txBox="1"/>
          <p:nvPr/>
        </p:nvSpPr>
        <p:spPr>
          <a:xfrm>
            <a:off x="3375424" y="3642943"/>
            <a:ext cx="163506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FPWM Configuration</a:t>
            </a:r>
          </a:p>
        </p:txBody>
      </p:sp>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2697084111"/>
              </p:ext>
            </p:extLst>
          </p:nvPr>
        </p:nvGraphicFramePr>
        <p:xfrm>
          <a:off x="1920179" y="6191580"/>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8853" y="6203896"/>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12536" y="6664989"/>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8993" y="6565219"/>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20179" y="6482891"/>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6536" y="6478917"/>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45426" y="6834315"/>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17" name="표 16">
            <a:extLst>
              <a:ext uri="{FF2B5EF4-FFF2-40B4-BE49-F238E27FC236}">
                <a16:creationId xmlns:a16="http://schemas.microsoft.com/office/drawing/2014/main" id="{DB5508D1-C0F6-E985-D7DF-C94C5ECD1886}"/>
              </a:ext>
            </a:extLst>
          </p:cNvPr>
          <p:cNvGraphicFramePr>
            <a:graphicFrameLocks noGrp="1"/>
          </p:cNvGraphicFramePr>
          <p:nvPr>
            <p:extLst>
              <p:ext uri="{D42A27DB-BD31-4B8C-83A1-F6EECF244321}">
                <p14:modId xmlns:p14="http://schemas.microsoft.com/office/powerpoint/2010/main" val="1619356864"/>
              </p:ext>
            </p:extLst>
          </p:nvPr>
        </p:nvGraphicFramePr>
        <p:xfrm>
          <a:off x="1319384" y="2662028"/>
          <a:ext cx="5133800" cy="789600"/>
        </p:xfrm>
        <a:graphic>
          <a:graphicData uri="http://schemas.openxmlformats.org/drawingml/2006/table">
            <a:tbl>
              <a:tblPr firstRow="1" bandRow="1">
                <a:tableStyleId>{5C22544A-7EE6-4342-B048-85BDC9FD1C3A}</a:tableStyleId>
              </a:tblPr>
              <a:tblGrid>
                <a:gridCol w="550125">
                  <a:extLst>
                    <a:ext uri="{9D8B030D-6E8A-4147-A177-3AD203B41FA5}">
                      <a16:colId xmlns:a16="http://schemas.microsoft.com/office/drawing/2014/main" val="2861869108"/>
                    </a:ext>
                  </a:extLst>
                </a:gridCol>
                <a:gridCol w="918425">
                  <a:extLst>
                    <a:ext uri="{9D8B030D-6E8A-4147-A177-3AD203B41FA5}">
                      <a16:colId xmlns:a16="http://schemas.microsoft.com/office/drawing/2014/main" val="3471461862"/>
                    </a:ext>
                  </a:extLst>
                </a:gridCol>
                <a:gridCol w="407250">
                  <a:extLst>
                    <a:ext uri="{9D8B030D-6E8A-4147-A177-3AD203B41FA5}">
                      <a16:colId xmlns:a16="http://schemas.microsoft.com/office/drawing/2014/main" val="4138367841"/>
                    </a:ext>
                  </a:extLst>
                </a:gridCol>
                <a:gridCol w="407250">
                  <a:extLst>
                    <a:ext uri="{9D8B030D-6E8A-4147-A177-3AD203B41FA5}">
                      <a16:colId xmlns:a16="http://schemas.microsoft.com/office/drawing/2014/main" val="3589866634"/>
                    </a:ext>
                  </a:extLst>
                </a:gridCol>
                <a:gridCol w="407250">
                  <a:extLst>
                    <a:ext uri="{9D8B030D-6E8A-4147-A177-3AD203B41FA5}">
                      <a16:colId xmlns:a16="http://schemas.microsoft.com/office/drawing/2014/main" val="1804904378"/>
                    </a:ext>
                  </a:extLst>
                </a:gridCol>
                <a:gridCol w="407250">
                  <a:extLst>
                    <a:ext uri="{9D8B030D-6E8A-4147-A177-3AD203B41FA5}">
                      <a16:colId xmlns:a16="http://schemas.microsoft.com/office/drawing/2014/main" val="3109171518"/>
                    </a:ext>
                  </a:extLst>
                </a:gridCol>
                <a:gridCol w="407250">
                  <a:extLst>
                    <a:ext uri="{9D8B030D-6E8A-4147-A177-3AD203B41FA5}">
                      <a16:colId xmlns:a16="http://schemas.microsoft.com/office/drawing/2014/main" val="203027085"/>
                    </a:ext>
                  </a:extLst>
                </a:gridCol>
                <a:gridCol w="407250">
                  <a:extLst>
                    <a:ext uri="{9D8B030D-6E8A-4147-A177-3AD203B41FA5}">
                      <a16:colId xmlns:a16="http://schemas.microsoft.com/office/drawing/2014/main" val="1213780966"/>
                    </a:ext>
                  </a:extLst>
                </a:gridCol>
                <a:gridCol w="407250">
                  <a:extLst>
                    <a:ext uri="{9D8B030D-6E8A-4147-A177-3AD203B41FA5}">
                      <a16:colId xmlns:a16="http://schemas.microsoft.com/office/drawing/2014/main" val="4000803811"/>
                    </a:ext>
                  </a:extLst>
                </a:gridCol>
                <a:gridCol w="407250">
                  <a:extLst>
                    <a:ext uri="{9D8B030D-6E8A-4147-A177-3AD203B41FA5}">
                      <a16:colId xmlns:a16="http://schemas.microsoft.com/office/drawing/2014/main" val="2931672937"/>
                    </a:ext>
                  </a:extLst>
                </a:gridCol>
                <a:gridCol w="407250">
                  <a:extLst>
                    <a:ext uri="{9D8B030D-6E8A-4147-A177-3AD203B41FA5}">
                      <a16:colId xmlns:a16="http://schemas.microsoft.com/office/drawing/2014/main" val="85150885"/>
                    </a:ext>
                  </a:extLst>
                </a:gridCol>
              </a:tblGrid>
              <a:tr h="122804">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PWM_RES</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Register</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50Hz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60Hz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120Hz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144Hz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165Hz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240Hz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800Hz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960Hz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25489603"/>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786,869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655,724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393,434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327,862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278,683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245,897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163,931</a:t>
                      </a: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392,762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327,302</a:t>
                      </a: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9024599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74396062"/>
                  </a:ext>
                </a:extLst>
              </a:tr>
              <a:tr h="9502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787,013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655,844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393,507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327,922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278,734</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245,942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163,961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393,338</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327,782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3066979023"/>
              </p:ext>
            </p:extLst>
          </p:nvPr>
        </p:nvGraphicFramePr>
        <p:xfrm>
          <a:off x="403136" y="6925386"/>
          <a:ext cx="6053977" cy="206280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10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the device.  The max dimming sink-current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max  4mA      3b’001 : max   8mA     3b’010 : max 12mA    3b’011 : max 16mA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max 24mA     3b’101 : max 32mA     </a:t>
                      </a:r>
                      <a:r>
                        <a:rPr lang="en-US" altLang="ko-KR" sz="800" b="0" dirty="0">
                          <a:solidFill>
                            <a:srgbClr val="FF0000"/>
                          </a:solidFill>
                          <a:latin typeface="Arial" panose="020B0604020202020204" pitchFamily="34" charset="0"/>
                          <a:ea typeface="+mn-ea"/>
                          <a:cs typeface="Arial" panose="020B0604020202020204" pitchFamily="34" charset="0"/>
                        </a:rPr>
                        <a:t>3b’010 : max 20mA    3b’011 : max 28mA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67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&gt;  3V             3b’001 : &gt;   4V            3b’010 : &gt;   6V            3b’011 : &gt;   8V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&gt; 12V            3b’101 : &gt; 16V            3b’110 : &gt; 24V            3b’111 : &gt; 36V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22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rgbClr val="FF0000"/>
                          </a:solidFill>
                          <a:latin typeface="Arial" panose="020B0604020202020204" pitchFamily="34" charset="0"/>
                          <a:ea typeface="+mn-ea"/>
                          <a:cs typeface="Arial" panose="020B0604020202020204" pitchFamily="34" charset="0"/>
                        </a:rPr>
                        <a:t>O_SLEW</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rgbClr val="FF0000"/>
                          </a:solidFill>
                          <a:latin typeface="Arial" panose="020B0604020202020204" pitchFamily="34" charset="0"/>
                          <a:ea typeface="+mn-ea"/>
                          <a:cs typeface="Arial" panose="020B0604020202020204" pitchFamily="34" charset="0"/>
                        </a:rPr>
                        <a:t>‘0’ Fast    ‘1’ Slow</a:t>
                      </a:r>
                      <a:endParaRPr lang="en-US" altLang="ko-KR" sz="8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r h="22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&lt;  0.40V         3b’001 : &lt;  0.50V        3b’010 : &lt;  0.60V        3b’011 : &lt; 0.70V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rgbClr val="FF0000"/>
                          </a:solidFill>
                          <a:latin typeface="Arial" panose="020B0604020202020204" pitchFamily="34" charset="0"/>
                          <a:ea typeface="+mn-ea"/>
                          <a:cs typeface="Arial" panose="020B0604020202020204" pitchFamily="34" charset="0"/>
                        </a:rPr>
                        <a:t>      3b’000 : &lt;  0.20V         3b’001 : &lt;  0.30V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2916205"/>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6242665"/>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497064618"/>
              </p:ext>
            </p:extLst>
          </p:nvPr>
        </p:nvGraphicFramePr>
        <p:xfrm>
          <a:off x="403137" y="6507302"/>
          <a:ext cx="6059032" cy="372600"/>
        </p:xfrm>
        <a:graphic>
          <a:graphicData uri="http://schemas.openxmlformats.org/drawingml/2006/table">
            <a:tbl>
              <a:tblPr firstRow="1" bandRow="1">
                <a:tableStyleId>{5C22544A-7EE6-4342-B048-85BDC9FD1C3A}</a:tableStyleId>
              </a:tblPr>
              <a:tblGrid>
                <a:gridCol w="345612">
                  <a:extLst>
                    <a:ext uri="{9D8B030D-6E8A-4147-A177-3AD203B41FA5}">
                      <a16:colId xmlns:a16="http://schemas.microsoft.com/office/drawing/2014/main" val="657570846"/>
                    </a:ext>
                  </a:extLst>
                </a:gridCol>
                <a:gridCol w="380013">
                  <a:extLst>
                    <a:ext uri="{9D8B030D-6E8A-4147-A177-3AD203B41FA5}">
                      <a16:colId xmlns:a16="http://schemas.microsoft.com/office/drawing/2014/main" val="3259894497"/>
                    </a:ext>
                  </a:extLst>
                </a:gridCol>
                <a:gridCol w="446615">
                  <a:extLst>
                    <a:ext uri="{9D8B030D-6E8A-4147-A177-3AD203B41FA5}">
                      <a16:colId xmlns:a16="http://schemas.microsoft.com/office/drawing/2014/main" val="4170535043"/>
                    </a:ext>
                  </a:extLst>
                </a:gridCol>
                <a:gridCol w="398080">
                  <a:extLst>
                    <a:ext uri="{9D8B030D-6E8A-4147-A177-3AD203B41FA5}">
                      <a16:colId xmlns:a16="http://schemas.microsoft.com/office/drawing/2014/main" val="2079070694"/>
                    </a:ext>
                  </a:extLst>
                </a:gridCol>
                <a:gridCol w="398080">
                  <a:extLst>
                    <a:ext uri="{9D8B030D-6E8A-4147-A177-3AD203B41FA5}">
                      <a16:colId xmlns:a16="http://schemas.microsoft.com/office/drawing/2014/main" val="4213315911"/>
                    </a:ext>
                  </a:extLst>
                </a:gridCol>
                <a:gridCol w="398080">
                  <a:extLst>
                    <a:ext uri="{9D8B030D-6E8A-4147-A177-3AD203B41FA5}">
                      <a16:colId xmlns:a16="http://schemas.microsoft.com/office/drawing/2014/main" val="2769999950"/>
                    </a:ext>
                  </a:extLst>
                </a:gridCol>
                <a:gridCol w="465793">
                  <a:extLst>
                    <a:ext uri="{9D8B030D-6E8A-4147-A177-3AD203B41FA5}">
                      <a16:colId xmlns:a16="http://schemas.microsoft.com/office/drawing/2014/main" val="135637185"/>
                    </a:ext>
                  </a:extLst>
                </a:gridCol>
                <a:gridCol w="398080">
                  <a:extLst>
                    <a:ext uri="{9D8B030D-6E8A-4147-A177-3AD203B41FA5}">
                      <a16:colId xmlns:a16="http://schemas.microsoft.com/office/drawing/2014/main" val="3038050475"/>
                    </a:ext>
                  </a:extLst>
                </a:gridCol>
                <a:gridCol w="398080">
                  <a:extLst>
                    <a:ext uri="{9D8B030D-6E8A-4147-A177-3AD203B41FA5}">
                      <a16:colId xmlns:a16="http://schemas.microsoft.com/office/drawing/2014/main" val="1979433044"/>
                    </a:ext>
                  </a:extLst>
                </a:gridCol>
                <a:gridCol w="398080">
                  <a:extLst>
                    <a:ext uri="{9D8B030D-6E8A-4147-A177-3AD203B41FA5}">
                      <a16:colId xmlns:a16="http://schemas.microsoft.com/office/drawing/2014/main" val="4270661649"/>
                    </a:ext>
                  </a:extLst>
                </a:gridCol>
                <a:gridCol w="398080">
                  <a:extLst>
                    <a:ext uri="{9D8B030D-6E8A-4147-A177-3AD203B41FA5}">
                      <a16:colId xmlns:a16="http://schemas.microsoft.com/office/drawing/2014/main" val="3027041370"/>
                    </a:ext>
                  </a:extLst>
                </a:gridCol>
                <a:gridCol w="440199">
                  <a:extLst>
                    <a:ext uri="{9D8B030D-6E8A-4147-A177-3AD203B41FA5}">
                      <a16:colId xmlns:a16="http://schemas.microsoft.com/office/drawing/2014/main" val="2852526216"/>
                    </a:ext>
                  </a:extLst>
                </a:gridCol>
                <a:gridCol w="398080">
                  <a:extLst>
                    <a:ext uri="{9D8B030D-6E8A-4147-A177-3AD203B41FA5}">
                      <a16:colId xmlns:a16="http://schemas.microsoft.com/office/drawing/2014/main" val="103420222"/>
                    </a:ext>
                  </a:extLst>
                </a:gridCol>
                <a:gridCol w="398080">
                  <a:extLst>
                    <a:ext uri="{9D8B030D-6E8A-4147-A177-3AD203B41FA5}">
                      <a16:colId xmlns:a16="http://schemas.microsoft.com/office/drawing/2014/main" val="1470405609"/>
                    </a:ext>
                  </a:extLst>
                </a:gridCol>
                <a:gridCol w="39808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rgbClr val="FF0000"/>
                          </a:solidFill>
                          <a:effectLst/>
                          <a:uLnTx/>
                          <a:uFillTx/>
                          <a:latin typeface="Arial" panose="020B0604020202020204" pitchFamily="34" charset="0"/>
                          <a:ea typeface="맑은 고딕" panose="020B0503020000020004" pitchFamily="50" charset="-127"/>
                          <a:cs typeface="Arial" panose="020B0604020202020204" pitchFamily="34" charset="0"/>
                        </a:rPr>
                        <a:t>O_SLEW</a:t>
                      </a:r>
                      <a:endParaRPr kumimoji="0" lang="ko-KR" altLang="en-US" sz="700" b="0" i="0" u="none" strike="noStrike" kern="1200" cap="none" spc="0" normalizeH="0" baseline="0" noProof="0" dirty="0">
                        <a:ln>
                          <a:noFill/>
                        </a:ln>
                        <a:solidFill>
                          <a:srgbClr val="FF0000"/>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049989283"/>
              </p:ext>
            </p:extLst>
          </p:nvPr>
        </p:nvGraphicFramePr>
        <p:xfrm>
          <a:off x="404563" y="1528399"/>
          <a:ext cx="6047025" cy="4690800"/>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MISS_VS bit indicates whether the vsync missing event happens, and auto-cleared after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OV15 indicates whether the internal LDO keeps over 1.8V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506762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UV15 indicates whether the internal LDO keeps under 1.2V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1046121"/>
                  </a:ext>
                </a:extLst>
              </a:tr>
              <a:tr h="7008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777951303"/>
              </p:ext>
            </p:extLst>
          </p:nvPr>
        </p:nvGraphicFramePr>
        <p:xfrm>
          <a:off x="404564" y="1109616"/>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401365">
                  <a:extLst>
                    <a:ext uri="{9D8B030D-6E8A-4147-A177-3AD203B41FA5}">
                      <a16:colId xmlns:a16="http://schemas.microsoft.com/office/drawing/2014/main" val="1979433044"/>
                    </a:ext>
                  </a:extLst>
                </a:gridCol>
                <a:gridCol w="401365">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MISS_VS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UV15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3661593433"/>
              </p:ext>
            </p:extLst>
          </p:nvPr>
        </p:nvGraphicFramePr>
        <p:xfrm>
          <a:off x="406838" y="1556231"/>
          <a:ext cx="6046597" cy="6491763"/>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440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internal timeout timer starts counting after some read-back command stream is done and stops after the XD responds own information to the front XD. If the timer will be expired due to any no response, internal communication logics will be recovered to the standby state. The timeout counter is </a:t>
                      </a:r>
                      <a:r>
                        <a:rPr lang="en-US" altLang="ko-KR" sz="900" b="0" i="0" kern="1200" dirty="0">
                          <a:solidFill>
                            <a:schemeClr val="dk1"/>
                          </a:solidFill>
                          <a:effectLst/>
                          <a:latin typeface="Arial" panose="020B0604020202020204" pitchFamily="34" charset="0"/>
                          <a:ea typeface="+mn-ea"/>
                          <a:cs typeface="Arial" panose="020B0604020202020204" pitchFamily="34" charset="0"/>
                        </a:rPr>
                        <a:t>expired at approximately 3.2ms upon receiving the read command. Recommended to be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OVUV15_EN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enables the detection of OV15 and UV15 of the internal LDO output.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63584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MS_VS_LOCK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MS_VS_LOCK = 1 and the MS_VS_DET_E = 1, if the vsync missing event happens, then the dimming will be automatically fixed to PWM full value and the VREF FIX value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8446870"/>
                  </a:ext>
                </a:extLst>
              </a:tr>
              <a:tr h="57610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MS_VS_DIMM</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MS_VS_DIMM = 1 and the MS_VS_DET_E = 1, if the vsync missing event happens, then the dimming out will be automatically fixed to the middle level brightness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0124849"/>
                  </a:ext>
                </a:extLst>
              </a:tr>
              <a:tr h="6162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whether the vsync input is missed or not. If the vsync is not supplied within about 26ms, then the vsync missing event is asserted internally. This event assertion can be readout through the FALUT STATUS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5420437"/>
                  </a:ext>
                </a:extLst>
              </a:tr>
              <a:tr h="619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471077"/>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268371426"/>
              </p:ext>
            </p:extLst>
          </p:nvPr>
        </p:nvGraphicFramePr>
        <p:xfrm>
          <a:off x="399453" y="1113183"/>
          <a:ext cx="606271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468073">
                  <a:extLst>
                    <a:ext uri="{9D8B030D-6E8A-4147-A177-3AD203B41FA5}">
                      <a16:colId xmlns:a16="http://schemas.microsoft.com/office/drawing/2014/main" val="2079070694"/>
                    </a:ext>
                  </a:extLst>
                </a:gridCol>
                <a:gridCol w="484383">
                  <a:extLst>
                    <a:ext uri="{9D8B030D-6E8A-4147-A177-3AD203B41FA5}">
                      <a16:colId xmlns:a16="http://schemas.microsoft.com/office/drawing/2014/main" val="4213315911"/>
                    </a:ext>
                  </a:extLst>
                </a:gridCol>
                <a:gridCol w="230664">
                  <a:extLst>
                    <a:ext uri="{9D8B030D-6E8A-4147-A177-3AD203B41FA5}">
                      <a16:colId xmlns:a16="http://schemas.microsoft.com/office/drawing/2014/main" val="2769999950"/>
                    </a:ext>
                  </a:extLst>
                </a:gridCol>
                <a:gridCol w="544726">
                  <a:extLst>
                    <a:ext uri="{9D8B030D-6E8A-4147-A177-3AD203B41FA5}">
                      <a16:colId xmlns:a16="http://schemas.microsoft.com/office/drawing/2014/main" val="135637185"/>
                    </a:ext>
                  </a:extLst>
                </a:gridCol>
                <a:gridCol w="539833">
                  <a:extLst>
                    <a:ext uri="{9D8B030D-6E8A-4147-A177-3AD203B41FA5}">
                      <a16:colId xmlns:a16="http://schemas.microsoft.com/office/drawing/2014/main" val="3038050475"/>
                    </a:ext>
                  </a:extLst>
                </a:gridCol>
                <a:gridCol w="583868">
                  <a:extLst>
                    <a:ext uri="{9D8B030D-6E8A-4147-A177-3AD203B41FA5}">
                      <a16:colId xmlns:a16="http://schemas.microsoft.com/office/drawing/2014/main" val="1979433044"/>
                    </a:ext>
                  </a:extLst>
                </a:gridCol>
                <a:gridCol w="321291">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TIMEOUT_E</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OVUV15_EN</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MS_VS_LOCK</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MS_VS_DIMM</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spTree>
    <p:extLst>
      <p:ext uri="{BB962C8B-B14F-4D97-AF65-F5344CB8AC3E}">
        <p14:creationId xmlns:p14="http://schemas.microsoft.com/office/powerpoint/2010/main" val="2020182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325475414"/>
              </p:ext>
            </p:extLst>
          </p:nvPr>
        </p:nvGraphicFramePr>
        <p:xfrm>
          <a:off x="404565" y="4297406"/>
          <a:ext cx="6046695" cy="92234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includes the MSB 2 bits of each channel’s DELAY_CHx [13:0] value.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404811" y="3142176"/>
            <a:ext cx="60377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 EXTEND</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3172154002"/>
              </p:ext>
            </p:extLst>
          </p:nvPr>
        </p:nvGraphicFramePr>
        <p:xfrm>
          <a:off x="404811" y="3408291"/>
          <a:ext cx="6046696" cy="372600"/>
        </p:xfrm>
        <a:graphic>
          <a:graphicData uri="http://schemas.openxmlformats.org/drawingml/2006/table">
            <a:tbl>
              <a:tblPr firstRow="1" bandRow="1">
                <a:tableStyleId>{5C22544A-7EE6-4342-B048-85BDC9FD1C3A}</a:tableStyleId>
              </a:tblPr>
              <a:tblGrid>
                <a:gridCol w="351275">
                  <a:extLst>
                    <a:ext uri="{9D8B030D-6E8A-4147-A177-3AD203B41FA5}">
                      <a16:colId xmlns:a16="http://schemas.microsoft.com/office/drawing/2014/main" val="657570846"/>
                    </a:ext>
                  </a:extLst>
                </a:gridCol>
                <a:gridCol w="386240">
                  <a:extLst>
                    <a:ext uri="{9D8B030D-6E8A-4147-A177-3AD203B41FA5}">
                      <a16:colId xmlns:a16="http://schemas.microsoft.com/office/drawing/2014/main" val="3259894497"/>
                    </a:ext>
                  </a:extLst>
                </a:gridCol>
                <a:gridCol w="453933">
                  <a:extLst>
                    <a:ext uri="{9D8B030D-6E8A-4147-A177-3AD203B41FA5}">
                      <a16:colId xmlns:a16="http://schemas.microsoft.com/office/drawing/2014/main" val="4170535043"/>
                    </a:ext>
                  </a:extLst>
                </a:gridCol>
                <a:gridCol w="404604">
                  <a:extLst>
                    <a:ext uri="{9D8B030D-6E8A-4147-A177-3AD203B41FA5}">
                      <a16:colId xmlns:a16="http://schemas.microsoft.com/office/drawing/2014/main" val="2079070694"/>
                    </a:ext>
                  </a:extLst>
                </a:gridCol>
                <a:gridCol w="404604">
                  <a:extLst>
                    <a:ext uri="{9D8B030D-6E8A-4147-A177-3AD203B41FA5}">
                      <a16:colId xmlns:a16="http://schemas.microsoft.com/office/drawing/2014/main" val="4213315911"/>
                    </a:ext>
                  </a:extLst>
                </a:gridCol>
                <a:gridCol w="404604">
                  <a:extLst>
                    <a:ext uri="{9D8B030D-6E8A-4147-A177-3AD203B41FA5}">
                      <a16:colId xmlns:a16="http://schemas.microsoft.com/office/drawing/2014/main" val="2769999950"/>
                    </a:ext>
                  </a:extLst>
                </a:gridCol>
                <a:gridCol w="404604">
                  <a:extLst>
                    <a:ext uri="{9D8B030D-6E8A-4147-A177-3AD203B41FA5}">
                      <a16:colId xmlns:a16="http://schemas.microsoft.com/office/drawing/2014/main" val="135637185"/>
                    </a:ext>
                  </a:extLst>
                </a:gridCol>
                <a:gridCol w="404604">
                  <a:extLst>
                    <a:ext uri="{9D8B030D-6E8A-4147-A177-3AD203B41FA5}">
                      <a16:colId xmlns:a16="http://schemas.microsoft.com/office/drawing/2014/main" val="3038050475"/>
                    </a:ext>
                  </a:extLst>
                </a:gridCol>
                <a:gridCol w="404604">
                  <a:extLst>
                    <a:ext uri="{9D8B030D-6E8A-4147-A177-3AD203B41FA5}">
                      <a16:colId xmlns:a16="http://schemas.microsoft.com/office/drawing/2014/main" val="1979433044"/>
                    </a:ext>
                  </a:extLst>
                </a:gridCol>
                <a:gridCol w="404604">
                  <a:extLst>
                    <a:ext uri="{9D8B030D-6E8A-4147-A177-3AD203B41FA5}">
                      <a16:colId xmlns:a16="http://schemas.microsoft.com/office/drawing/2014/main" val="4270661649"/>
                    </a:ext>
                  </a:extLst>
                </a:gridCol>
                <a:gridCol w="404604">
                  <a:extLst>
                    <a:ext uri="{9D8B030D-6E8A-4147-A177-3AD203B41FA5}">
                      <a16:colId xmlns:a16="http://schemas.microsoft.com/office/drawing/2014/main" val="3027041370"/>
                    </a:ext>
                  </a:extLst>
                </a:gridCol>
                <a:gridCol w="404604">
                  <a:extLst>
                    <a:ext uri="{9D8B030D-6E8A-4147-A177-3AD203B41FA5}">
                      <a16:colId xmlns:a16="http://schemas.microsoft.com/office/drawing/2014/main" val="2852526216"/>
                    </a:ext>
                  </a:extLst>
                </a:gridCol>
                <a:gridCol w="404604">
                  <a:extLst>
                    <a:ext uri="{9D8B030D-6E8A-4147-A177-3AD203B41FA5}">
                      <a16:colId xmlns:a16="http://schemas.microsoft.com/office/drawing/2014/main" val="103420222"/>
                    </a:ext>
                  </a:extLst>
                </a:gridCol>
                <a:gridCol w="404604">
                  <a:extLst>
                    <a:ext uri="{9D8B030D-6E8A-4147-A177-3AD203B41FA5}">
                      <a16:colId xmlns:a16="http://schemas.microsoft.com/office/drawing/2014/main" val="1470405609"/>
                    </a:ext>
                  </a:extLst>
                </a:gridCol>
                <a:gridCol w="40460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DELAY_CH6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DELAY_CH5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DELAY_CH4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DELAY_CH3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933877422"/>
              </p:ext>
            </p:extLst>
          </p:nvPr>
        </p:nvGraphicFramePr>
        <p:xfrm>
          <a:off x="404811" y="1558963"/>
          <a:ext cx="6052400" cy="119019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11023684"/>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10" name="표 9">
            <a:extLst>
              <a:ext uri="{FF2B5EF4-FFF2-40B4-BE49-F238E27FC236}">
                <a16:creationId xmlns:a16="http://schemas.microsoft.com/office/drawing/2014/main" id="{9EAAD2EA-DB7D-81A0-D02C-137B61C75BB6}"/>
              </a:ext>
            </a:extLst>
          </p:cNvPr>
          <p:cNvGraphicFramePr>
            <a:graphicFrameLocks noGrp="1"/>
          </p:cNvGraphicFramePr>
          <p:nvPr>
            <p:extLst>
              <p:ext uri="{D42A27DB-BD31-4B8C-83A1-F6EECF244321}">
                <p14:modId xmlns:p14="http://schemas.microsoft.com/office/powerpoint/2010/main" val="273791637"/>
              </p:ext>
            </p:extLst>
          </p:nvPr>
        </p:nvGraphicFramePr>
        <p:xfrm>
          <a:off x="404811" y="3841656"/>
          <a:ext cx="6052392" cy="372600"/>
        </p:xfrm>
        <a:graphic>
          <a:graphicData uri="http://schemas.openxmlformats.org/drawingml/2006/table">
            <a:tbl>
              <a:tblPr firstRow="1" bandRow="1">
                <a:tableStyleId>{5C22544A-7EE6-4342-B048-85BDC9FD1C3A}</a:tableStyleId>
              </a:tblPr>
              <a:tblGrid>
                <a:gridCol w="351607">
                  <a:extLst>
                    <a:ext uri="{9D8B030D-6E8A-4147-A177-3AD203B41FA5}">
                      <a16:colId xmlns:a16="http://schemas.microsoft.com/office/drawing/2014/main" val="657570846"/>
                    </a:ext>
                  </a:extLst>
                </a:gridCol>
                <a:gridCol w="386604">
                  <a:extLst>
                    <a:ext uri="{9D8B030D-6E8A-4147-A177-3AD203B41FA5}">
                      <a16:colId xmlns:a16="http://schemas.microsoft.com/office/drawing/2014/main" val="3259894497"/>
                    </a:ext>
                  </a:extLst>
                </a:gridCol>
                <a:gridCol w="454361">
                  <a:extLst>
                    <a:ext uri="{9D8B030D-6E8A-4147-A177-3AD203B41FA5}">
                      <a16:colId xmlns:a16="http://schemas.microsoft.com/office/drawing/2014/main" val="4170535043"/>
                    </a:ext>
                  </a:extLst>
                </a:gridCol>
                <a:gridCol w="404985">
                  <a:extLst>
                    <a:ext uri="{9D8B030D-6E8A-4147-A177-3AD203B41FA5}">
                      <a16:colId xmlns:a16="http://schemas.microsoft.com/office/drawing/2014/main" val="2079070694"/>
                    </a:ext>
                  </a:extLst>
                </a:gridCol>
                <a:gridCol w="404985">
                  <a:extLst>
                    <a:ext uri="{9D8B030D-6E8A-4147-A177-3AD203B41FA5}">
                      <a16:colId xmlns:a16="http://schemas.microsoft.com/office/drawing/2014/main" val="4213315911"/>
                    </a:ext>
                  </a:extLst>
                </a:gridCol>
                <a:gridCol w="404985">
                  <a:extLst>
                    <a:ext uri="{9D8B030D-6E8A-4147-A177-3AD203B41FA5}">
                      <a16:colId xmlns:a16="http://schemas.microsoft.com/office/drawing/2014/main" val="2769999950"/>
                    </a:ext>
                  </a:extLst>
                </a:gridCol>
                <a:gridCol w="404985">
                  <a:extLst>
                    <a:ext uri="{9D8B030D-6E8A-4147-A177-3AD203B41FA5}">
                      <a16:colId xmlns:a16="http://schemas.microsoft.com/office/drawing/2014/main" val="135637185"/>
                    </a:ext>
                  </a:extLst>
                </a:gridCol>
                <a:gridCol w="404985">
                  <a:extLst>
                    <a:ext uri="{9D8B030D-6E8A-4147-A177-3AD203B41FA5}">
                      <a16:colId xmlns:a16="http://schemas.microsoft.com/office/drawing/2014/main" val="3038050475"/>
                    </a:ext>
                  </a:extLst>
                </a:gridCol>
                <a:gridCol w="404985">
                  <a:extLst>
                    <a:ext uri="{9D8B030D-6E8A-4147-A177-3AD203B41FA5}">
                      <a16:colId xmlns:a16="http://schemas.microsoft.com/office/drawing/2014/main" val="1979433044"/>
                    </a:ext>
                  </a:extLst>
                </a:gridCol>
                <a:gridCol w="404985">
                  <a:extLst>
                    <a:ext uri="{9D8B030D-6E8A-4147-A177-3AD203B41FA5}">
                      <a16:colId xmlns:a16="http://schemas.microsoft.com/office/drawing/2014/main" val="4270661649"/>
                    </a:ext>
                  </a:extLst>
                </a:gridCol>
                <a:gridCol w="404985">
                  <a:extLst>
                    <a:ext uri="{9D8B030D-6E8A-4147-A177-3AD203B41FA5}">
                      <a16:colId xmlns:a16="http://schemas.microsoft.com/office/drawing/2014/main" val="3027041370"/>
                    </a:ext>
                  </a:extLst>
                </a:gridCol>
                <a:gridCol w="404985">
                  <a:extLst>
                    <a:ext uri="{9D8B030D-6E8A-4147-A177-3AD203B41FA5}">
                      <a16:colId xmlns:a16="http://schemas.microsoft.com/office/drawing/2014/main" val="2852526216"/>
                    </a:ext>
                  </a:extLst>
                </a:gridCol>
                <a:gridCol w="404985">
                  <a:extLst>
                    <a:ext uri="{9D8B030D-6E8A-4147-A177-3AD203B41FA5}">
                      <a16:colId xmlns:a16="http://schemas.microsoft.com/office/drawing/2014/main" val="103420222"/>
                    </a:ext>
                  </a:extLst>
                </a:gridCol>
                <a:gridCol w="404985">
                  <a:extLst>
                    <a:ext uri="{9D8B030D-6E8A-4147-A177-3AD203B41FA5}">
                      <a16:colId xmlns:a16="http://schemas.microsoft.com/office/drawing/2014/main" val="1470405609"/>
                    </a:ext>
                  </a:extLst>
                </a:gridCol>
                <a:gridCol w="4049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DELAY_CH10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DELAY_CH9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DELAY_CH8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DELAY_CH7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0E28D5-A8BE-3313-6E1E-880FD4AA20EE}"/>
              </a:ext>
            </a:extLst>
          </p:cNvPr>
          <p:cNvSpPr txBox="1"/>
          <p:nvPr/>
        </p:nvSpPr>
        <p:spPr>
          <a:xfrm>
            <a:off x="404574" y="848186"/>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a:t>
            </a:r>
          </a:p>
        </p:txBody>
      </p:sp>
      <p:sp>
        <p:nvSpPr>
          <p:cNvPr id="11" name="TextBox 10">
            <a:extLst>
              <a:ext uri="{FF2B5EF4-FFF2-40B4-BE49-F238E27FC236}">
                <a16:creationId xmlns:a16="http://schemas.microsoft.com/office/drawing/2014/main" id="{209B56D3-A1E6-0BF0-F524-22950314FD50}"/>
              </a:ext>
            </a:extLst>
          </p:cNvPr>
          <p:cNvSpPr txBox="1"/>
          <p:nvPr/>
        </p:nvSpPr>
        <p:spPr>
          <a:xfrm>
            <a:off x="404574" y="149598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CH2</a:t>
            </a:r>
          </a:p>
        </p:txBody>
      </p:sp>
      <p:sp>
        <p:nvSpPr>
          <p:cNvPr id="17" name="TextBox 16">
            <a:extLst>
              <a:ext uri="{FF2B5EF4-FFF2-40B4-BE49-F238E27FC236}">
                <a16:creationId xmlns:a16="http://schemas.microsoft.com/office/drawing/2014/main" id="{86284F22-9BD3-DA53-61A8-C4D4A8AAB9AB}"/>
              </a:ext>
            </a:extLst>
          </p:cNvPr>
          <p:cNvSpPr txBox="1"/>
          <p:nvPr/>
        </p:nvSpPr>
        <p:spPr>
          <a:xfrm>
            <a:off x="398738" y="2139072"/>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CH3</a:t>
            </a:r>
          </a:p>
        </p:txBody>
      </p:sp>
      <p:sp>
        <p:nvSpPr>
          <p:cNvPr id="19" name="TextBox 18">
            <a:extLst>
              <a:ext uri="{FF2B5EF4-FFF2-40B4-BE49-F238E27FC236}">
                <a16:creationId xmlns:a16="http://schemas.microsoft.com/office/drawing/2014/main" id="{7DEE360B-C85A-D80A-47C2-BEB07BF4B79B}"/>
              </a:ext>
            </a:extLst>
          </p:cNvPr>
          <p:cNvSpPr txBox="1"/>
          <p:nvPr/>
        </p:nvSpPr>
        <p:spPr>
          <a:xfrm>
            <a:off x="396029" y="2779932"/>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CH4</a:t>
            </a:r>
          </a:p>
        </p:txBody>
      </p:sp>
      <p:sp>
        <p:nvSpPr>
          <p:cNvPr id="23" name="TextBox 22">
            <a:extLst>
              <a:ext uri="{FF2B5EF4-FFF2-40B4-BE49-F238E27FC236}">
                <a16:creationId xmlns:a16="http://schemas.microsoft.com/office/drawing/2014/main" id="{E32B801D-6888-0426-D0E7-F982E65CA0DC}"/>
              </a:ext>
            </a:extLst>
          </p:cNvPr>
          <p:cNvSpPr txBox="1"/>
          <p:nvPr/>
        </p:nvSpPr>
        <p:spPr>
          <a:xfrm>
            <a:off x="385084" y="3422667"/>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CH5</a:t>
            </a:r>
          </a:p>
        </p:txBody>
      </p:sp>
      <p:sp>
        <p:nvSpPr>
          <p:cNvPr id="26" name="TextBox 25">
            <a:extLst>
              <a:ext uri="{FF2B5EF4-FFF2-40B4-BE49-F238E27FC236}">
                <a16:creationId xmlns:a16="http://schemas.microsoft.com/office/drawing/2014/main" id="{6C90861D-FBAC-7667-8717-58192ECD3417}"/>
              </a:ext>
            </a:extLst>
          </p:cNvPr>
          <p:cNvSpPr txBox="1"/>
          <p:nvPr/>
        </p:nvSpPr>
        <p:spPr>
          <a:xfrm>
            <a:off x="379245" y="4078076"/>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CH6</a:t>
            </a:r>
          </a:p>
        </p:txBody>
      </p:sp>
      <p:sp>
        <p:nvSpPr>
          <p:cNvPr id="28" name="TextBox 27">
            <a:extLst>
              <a:ext uri="{FF2B5EF4-FFF2-40B4-BE49-F238E27FC236}">
                <a16:creationId xmlns:a16="http://schemas.microsoft.com/office/drawing/2014/main" id="{46F71A86-4DD6-C848-44D6-CB304A051B81}"/>
              </a:ext>
            </a:extLst>
          </p:cNvPr>
          <p:cNvSpPr txBox="1"/>
          <p:nvPr/>
        </p:nvSpPr>
        <p:spPr>
          <a:xfrm>
            <a:off x="369046" y="4725991"/>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CH7</a:t>
            </a:r>
          </a:p>
        </p:txBody>
      </p:sp>
      <p:sp>
        <p:nvSpPr>
          <p:cNvPr id="30" name="TextBox 29">
            <a:extLst>
              <a:ext uri="{FF2B5EF4-FFF2-40B4-BE49-F238E27FC236}">
                <a16:creationId xmlns:a16="http://schemas.microsoft.com/office/drawing/2014/main" id="{9DE632F2-E2A9-3D66-B79B-1C5C1B6611FD}"/>
              </a:ext>
            </a:extLst>
          </p:cNvPr>
          <p:cNvSpPr txBox="1"/>
          <p:nvPr/>
        </p:nvSpPr>
        <p:spPr>
          <a:xfrm>
            <a:off x="369046" y="5372769"/>
            <a:ext cx="60490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CH8</a:t>
            </a:r>
          </a:p>
        </p:txBody>
      </p:sp>
      <p:sp>
        <p:nvSpPr>
          <p:cNvPr id="32" name="TextBox 31">
            <a:extLst>
              <a:ext uri="{FF2B5EF4-FFF2-40B4-BE49-F238E27FC236}">
                <a16:creationId xmlns:a16="http://schemas.microsoft.com/office/drawing/2014/main" id="{58901DC2-04E3-F4DD-F959-FE3323638762}"/>
              </a:ext>
            </a:extLst>
          </p:cNvPr>
          <p:cNvSpPr txBox="1"/>
          <p:nvPr/>
        </p:nvSpPr>
        <p:spPr>
          <a:xfrm>
            <a:off x="368135" y="6008133"/>
            <a:ext cx="605819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CH9</a:t>
            </a:r>
          </a:p>
        </p:txBody>
      </p:sp>
      <p:sp>
        <p:nvSpPr>
          <p:cNvPr id="5" name="TextBox 4">
            <a:extLst>
              <a:ext uri="{FF2B5EF4-FFF2-40B4-BE49-F238E27FC236}">
                <a16:creationId xmlns:a16="http://schemas.microsoft.com/office/drawing/2014/main" id="{5E0C07B2-3A4C-3F42-E620-B07019820588}"/>
              </a:ext>
            </a:extLst>
          </p:cNvPr>
          <p:cNvSpPr txBox="1"/>
          <p:nvPr/>
        </p:nvSpPr>
        <p:spPr>
          <a:xfrm>
            <a:off x="368134" y="6643497"/>
            <a:ext cx="60396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CH10</a:t>
            </a:r>
          </a:p>
        </p:txBody>
      </p:sp>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40875B01-BF9D-B25E-61B2-039D54F5B2C6}"/>
              </a:ext>
            </a:extLst>
          </p:cNvPr>
          <p:cNvGraphicFramePr>
            <a:graphicFrameLocks noGrp="1"/>
          </p:cNvGraphicFramePr>
          <p:nvPr>
            <p:extLst>
              <p:ext uri="{D42A27DB-BD31-4B8C-83A1-F6EECF244321}">
                <p14:modId xmlns:p14="http://schemas.microsoft.com/office/powerpoint/2010/main" val="3896320251"/>
              </p:ext>
            </p:extLst>
          </p:nvPr>
        </p:nvGraphicFramePr>
        <p:xfrm>
          <a:off x="395231" y="1712036"/>
          <a:ext cx="6058189" cy="372600"/>
        </p:xfrm>
        <a:graphic>
          <a:graphicData uri="http://schemas.openxmlformats.org/drawingml/2006/table">
            <a:tbl>
              <a:tblPr firstRow="1" bandRow="1">
                <a:tableStyleId>{5C22544A-7EE6-4342-B048-85BDC9FD1C3A}</a:tableStyleId>
              </a:tblPr>
              <a:tblGrid>
                <a:gridCol w="299115">
                  <a:extLst>
                    <a:ext uri="{9D8B030D-6E8A-4147-A177-3AD203B41FA5}">
                      <a16:colId xmlns:a16="http://schemas.microsoft.com/office/drawing/2014/main" val="657570846"/>
                    </a:ext>
                  </a:extLst>
                </a:gridCol>
                <a:gridCol w="350034">
                  <a:extLst>
                    <a:ext uri="{9D8B030D-6E8A-4147-A177-3AD203B41FA5}">
                      <a16:colId xmlns:a16="http://schemas.microsoft.com/office/drawing/2014/main" val="3259894497"/>
                    </a:ext>
                  </a:extLst>
                </a:gridCol>
                <a:gridCol w="504141">
                  <a:extLst>
                    <a:ext uri="{9D8B030D-6E8A-4147-A177-3AD203B41FA5}">
                      <a16:colId xmlns:a16="http://schemas.microsoft.com/office/drawing/2014/main" val="4170535043"/>
                    </a:ext>
                  </a:extLst>
                </a:gridCol>
                <a:gridCol w="416914">
                  <a:extLst>
                    <a:ext uri="{9D8B030D-6E8A-4147-A177-3AD203B41FA5}">
                      <a16:colId xmlns:a16="http://schemas.microsoft.com/office/drawing/2014/main" val="2079070694"/>
                    </a:ext>
                  </a:extLst>
                </a:gridCol>
                <a:gridCol w="441436">
                  <a:extLst>
                    <a:ext uri="{9D8B030D-6E8A-4147-A177-3AD203B41FA5}">
                      <a16:colId xmlns:a16="http://schemas.microsoft.com/office/drawing/2014/main" val="4213315911"/>
                    </a:ext>
                  </a:extLst>
                </a:gridCol>
                <a:gridCol w="446342">
                  <a:extLst>
                    <a:ext uri="{9D8B030D-6E8A-4147-A177-3AD203B41FA5}">
                      <a16:colId xmlns:a16="http://schemas.microsoft.com/office/drawing/2014/main" val="2769999950"/>
                    </a:ext>
                  </a:extLst>
                </a:gridCol>
                <a:gridCol w="451280">
                  <a:extLst>
                    <a:ext uri="{9D8B030D-6E8A-4147-A177-3AD203B41FA5}">
                      <a16:colId xmlns:a16="http://schemas.microsoft.com/office/drawing/2014/main" val="135637185"/>
                    </a:ext>
                  </a:extLst>
                </a:gridCol>
                <a:gridCol w="397419">
                  <a:extLst>
                    <a:ext uri="{9D8B030D-6E8A-4147-A177-3AD203B41FA5}">
                      <a16:colId xmlns:a16="http://schemas.microsoft.com/office/drawing/2014/main" val="3038050475"/>
                    </a:ext>
                  </a:extLst>
                </a:gridCol>
                <a:gridCol w="397419">
                  <a:extLst>
                    <a:ext uri="{9D8B030D-6E8A-4147-A177-3AD203B41FA5}">
                      <a16:colId xmlns:a16="http://schemas.microsoft.com/office/drawing/2014/main" val="1979433044"/>
                    </a:ext>
                  </a:extLst>
                </a:gridCol>
                <a:gridCol w="397419">
                  <a:extLst>
                    <a:ext uri="{9D8B030D-6E8A-4147-A177-3AD203B41FA5}">
                      <a16:colId xmlns:a16="http://schemas.microsoft.com/office/drawing/2014/main" val="4270661649"/>
                    </a:ext>
                  </a:extLst>
                </a:gridCol>
                <a:gridCol w="397419">
                  <a:extLst>
                    <a:ext uri="{9D8B030D-6E8A-4147-A177-3AD203B41FA5}">
                      <a16:colId xmlns:a16="http://schemas.microsoft.com/office/drawing/2014/main" val="3027041370"/>
                    </a:ext>
                  </a:extLst>
                </a:gridCol>
                <a:gridCol w="397419">
                  <a:extLst>
                    <a:ext uri="{9D8B030D-6E8A-4147-A177-3AD203B41FA5}">
                      <a16:colId xmlns:a16="http://schemas.microsoft.com/office/drawing/2014/main" val="2852526216"/>
                    </a:ext>
                  </a:extLst>
                </a:gridCol>
                <a:gridCol w="397419">
                  <a:extLst>
                    <a:ext uri="{9D8B030D-6E8A-4147-A177-3AD203B41FA5}">
                      <a16:colId xmlns:a16="http://schemas.microsoft.com/office/drawing/2014/main" val="103420222"/>
                    </a:ext>
                  </a:extLst>
                </a:gridCol>
                <a:gridCol w="397419">
                  <a:extLst>
                    <a:ext uri="{9D8B030D-6E8A-4147-A177-3AD203B41FA5}">
                      <a16:colId xmlns:a16="http://schemas.microsoft.com/office/drawing/2014/main" val="1470405609"/>
                    </a:ext>
                  </a:extLst>
                </a:gridCol>
                <a:gridCol w="366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633C6583-5C79-3893-781B-ED9CA0DEC798}"/>
              </a:ext>
            </a:extLst>
          </p:cNvPr>
          <p:cNvGraphicFramePr>
            <a:graphicFrameLocks noGrp="1"/>
          </p:cNvGraphicFramePr>
          <p:nvPr>
            <p:extLst>
              <p:ext uri="{D42A27DB-BD31-4B8C-83A1-F6EECF244321}">
                <p14:modId xmlns:p14="http://schemas.microsoft.com/office/powerpoint/2010/main" val="2265018102"/>
              </p:ext>
            </p:extLst>
          </p:nvPr>
        </p:nvGraphicFramePr>
        <p:xfrm>
          <a:off x="389907" y="2351145"/>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4">
                  <a:extLst>
                    <a:ext uri="{9D8B030D-6E8A-4147-A177-3AD203B41FA5}">
                      <a16:colId xmlns:a16="http://schemas.microsoft.com/office/drawing/2014/main" val="3259894497"/>
                    </a:ext>
                  </a:extLst>
                </a:gridCol>
                <a:gridCol w="503060">
                  <a:extLst>
                    <a:ext uri="{9D8B030D-6E8A-4147-A177-3AD203B41FA5}">
                      <a16:colId xmlns:a16="http://schemas.microsoft.com/office/drawing/2014/main" val="4170535043"/>
                    </a:ext>
                  </a:extLst>
                </a:gridCol>
                <a:gridCol w="416877">
                  <a:extLst>
                    <a:ext uri="{9D8B030D-6E8A-4147-A177-3AD203B41FA5}">
                      <a16:colId xmlns:a16="http://schemas.microsoft.com/office/drawing/2014/main" val="2079070694"/>
                    </a:ext>
                  </a:extLst>
                </a:gridCol>
                <a:gridCol w="456114">
                  <a:extLst>
                    <a:ext uri="{9D8B030D-6E8A-4147-A177-3AD203B41FA5}">
                      <a16:colId xmlns:a16="http://schemas.microsoft.com/office/drawing/2014/main" val="4213315911"/>
                    </a:ext>
                  </a:extLst>
                </a:gridCol>
                <a:gridCol w="436496">
                  <a:extLst>
                    <a:ext uri="{9D8B030D-6E8A-4147-A177-3AD203B41FA5}">
                      <a16:colId xmlns:a16="http://schemas.microsoft.com/office/drawing/2014/main" val="2769999950"/>
                    </a:ext>
                  </a:extLst>
                </a:gridCol>
                <a:gridCol w="447377">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809720F3-A7B4-ABA1-D2EE-A4DE0A2814EB}"/>
              </a:ext>
            </a:extLst>
          </p:cNvPr>
          <p:cNvGraphicFramePr>
            <a:graphicFrameLocks noGrp="1"/>
          </p:cNvGraphicFramePr>
          <p:nvPr>
            <p:extLst>
              <p:ext uri="{D42A27DB-BD31-4B8C-83A1-F6EECF244321}">
                <p14:modId xmlns:p14="http://schemas.microsoft.com/office/powerpoint/2010/main" val="3189043572"/>
              </p:ext>
            </p:extLst>
          </p:nvPr>
        </p:nvGraphicFramePr>
        <p:xfrm>
          <a:off x="386686" y="2994388"/>
          <a:ext cx="6052357"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96905">
                  <a:extLst>
                    <a:ext uri="{9D8B030D-6E8A-4147-A177-3AD203B41FA5}">
                      <a16:colId xmlns:a16="http://schemas.microsoft.com/office/drawing/2014/main" val="4170535043"/>
                    </a:ext>
                  </a:extLst>
                </a:gridCol>
                <a:gridCol w="431212">
                  <a:extLst>
                    <a:ext uri="{9D8B030D-6E8A-4147-A177-3AD203B41FA5}">
                      <a16:colId xmlns:a16="http://schemas.microsoft.com/office/drawing/2014/main" val="2079070694"/>
                    </a:ext>
                  </a:extLst>
                </a:gridCol>
                <a:gridCol w="455713">
                  <a:extLst>
                    <a:ext uri="{9D8B030D-6E8A-4147-A177-3AD203B41FA5}">
                      <a16:colId xmlns:a16="http://schemas.microsoft.com/office/drawing/2014/main" val="4213315911"/>
                    </a:ext>
                  </a:extLst>
                </a:gridCol>
                <a:gridCol w="436113">
                  <a:extLst>
                    <a:ext uri="{9D8B030D-6E8A-4147-A177-3AD203B41FA5}">
                      <a16:colId xmlns:a16="http://schemas.microsoft.com/office/drawing/2014/main" val="2769999950"/>
                    </a:ext>
                  </a:extLst>
                </a:gridCol>
                <a:gridCol w="437998">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592A69BD-AFEE-224F-7D96-8E8A750949C0}"/>
              </a:ext>
            </a:extLst>
          </p:cNvPr>
          <p:cNvGraphicFramePr>
            <a:graphicFrameLocks noGrp="1"/>
          </p:cNvGraphicFramePr>
          <p:nvPr>
            <p:extLst>
              <p:ext uri="{D42A27DB-BD31-4B8C-83A1-F6EECF244321}">
                <p14:modId xmlns:p14="http://schemas.microsoft.com/office/powerpoint/2010/main" val="2620623094"/>
              </p:ext>
            </p:extLst>
          </p:nvPr>
        </p:nvGraphicFramePr>
        <p:xfrm>
          <a:off x="380851" y="3644000"/>
          <a:ext cx="6052353"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78117">
                  <a:extLst>
                    <a:ext uri="{9D8B030D-6E8A-4147-A177-3AD203B41FA5}">
                      <a16:colId xmlns:a16="http://schemas.microsoft.com/office/drawing/2014/main" val="4170535043"/>
                    </a:ext>
                  </a:extLst>
                </a:gridCol>
                <a:gridCol w="441012">
                  <a:extLst>
                    <a:ext uri="{9D8B030D-6E8A-4147-A177-3AD203B41FA5}">
                      <a16:colId xmlns:a16="http://schemas.microsoft.com/office/drawing/2014/main" val="2079070694"/>
                    </a:ext>
                  </a:extLst>
                </a:gridCol>
                <a:gridCol w="455712">
                  <a:extLst>
                    <a:ext uri="{9D8B030D-6E8A-4147-A177-3AD203B41FA5}">
                      <a16:colId xmlns:a16="http://schemas.microsoft.com/office/drawing/2014/main" val="4213315911"/>
                    </a:ext>
                  </a:extLst>
                </a:gridCol>
                <a:gridCol w="426311">
                  <a:extLst>
                    <a:ext uri="{9D8B030D-6E8A-4147-A177-3AD203B41FA5}">
                      <a16:colId xmlns:a16="http://schemas.microsoft.com/office/drawing/2014/main" val="2769999950"/>
                    </a:ext>
                  </a:extLst>
                </a:gridCol>
                <a:gridCol w="456785">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59EA647F-D857-E196-D939-19F58BEB60FF}"/>
              </a:ext>
            </a:extLst>
          </p:cNvPr>
          <p:cNvGraphicFramePr>
            <a:graphicFrameLocks noGrp="1"/>
          </p:cNvGraphicFramePr>
          <p:nvPr>
            <p:extLst>
              <p:ext uri="{D42A27DB-BD31-4B8C-83A1-F6EECF244321}">
                <p14:modId xmlns:p14="http://schemas.microsoft.com/office/powerpoint/2010/main" val="3455411601"/>
              </p:ext>
            </p:extLst>
          </p:nvPr>
        </p:nvGraphicFramePr>
        <p:xfrm>
          <a:off x="375012" y="4297311"/>
          <a:ext cx="6052354"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68317">
                  <a:extLst>
                    <a:ext uri="{9D8B030D-6E8A-4147-A177-3AD203B41FA5}">
                      <a16:colId xmlns:a16="http://schemas.microsoft.com/office/drawing/2014/main" val="4170535043"/>
                    </a:ext>
                  </a:extLst>
                </a:gridCol>
                <a:gridCol w="450812">
                  <a:extLst>
                    <a:ext uri="{9D8B030D-6E8A-4147-A177-3AD203B41FA5}">
                      <a16:colId xmlns:a16="http://schemas.microsoft.com/office/drawing/2014/main" val="2079070694"/>
                    </a:ext>
                  </a:extLst>
                </a:gridCol>
                <a:gridCol w="450812">
                  <a:extLst>
                    <a:ext uri="{9D8B030D-6E8A-4147-A177-3AD203B41FA5}">
                      <a16:colId xmlns:a16="http://schemas.microsoft.com/office/drawing/2014/main" val="4213315911"/>
                    </a:ext>
                  </a:extLst>
                </a:gridCol>
                <a:gridCol w="426312">
                  <a:extLst>
                    <a:ext uri="{9D8B030D-6E8A-4147-A177-3AD203B41FA5}">
                      <a16:colId xmlns:a16="http://schemas.microsoft.com/office/drawing/2014/main" val="2769999950"/>
                    </a:ext>
                  </a:extLst>
                </a:gridCol>
                <a:gridCol w="461685">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46B3684-2AE4-B5FB-EDF7-01D1ACCFA95E}"/>
              </a:ext>
            </a:extLst>
          </p:cNvPr>
          <p:cNvGraphicFramePr>
            <a:graphicFrameLocks noGrp="1"/>
          </p:cNvGraphicFramePr>
          <p:nvPr>
            <p:extLst>
              <p:ext uri="{D42A27DB-BD31-4B8C-83A1-F6EECF244321}">
                <p14:modId xmlns:p14="http://schemas.microsoft.com/office/powerpoint/2010/main" val="3763266457"/>
              </p:ext>
            </p:extLst>
          </p:nvPr>
        </p:nvGraphicFramePr>
        <p:xfrm>
          <a:off x="373972" y="4950109"/>
          <a:ext cx="6052355" cy="372600"/>
        </p:xfrm>
        <a:graphic>
          <a:graphicData uri="http://schemas.openxmlformats.org/drawingml/2006/table">
            <a:tbl>
              <a:tblPr firstRow="1" bandRow="1">
                <a:tableStyleId>{5C22544A-7EE6-4342-B048-85BDC9FD1C3A}</a:tableStyleId>
              </a:tblPr>
              <a:tblGrid>
                <a:gridCol w="298827">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68979">
                  <a:extLst>
                    <a:ext uri="{9D8B030D-6E8A-4147-A177-3AD203B41FA5}">
                      <a16:colId xmlns:a16="http://schemas.microsoft.com/office/drawing/2014/main" val="4170535043"/>
                    </a:ext>
                  </a:extLst>
                </a:gridCol>
                <a:gridCol w="444627">
                  <a:extLst>
                    <a:ext uri="{9D8B030D-6E8A-4147-A177-3AD203B41FA5}">
                      <a16:colId xmlns:a16="http://schemas.microsoft.com/office/drawing/2014/main" val="2079070694"/>
                    </a:ext>
                  </a:extLst>
                </a:gridCol>
                <a:gridCol w="465513">
                  <a:extLst>
                    <a:ext uri="{9D8B030D-6E8A-4147-A177-3AD203B41FA5}">
                      <a16:colId xmlns:a16="http://schemas.microsoft.com/office/drawing/2014/main" val="4213315911"/>
                    </a:ext>
                  </a:extLst>
                </a:gridCol>
                <a:gridCol w="426312">
                  <a:extLst>
                    <a:ext uri="{9D8B030D-6E8A-4147-A177-3AD203B41FA5}">
                      <a16:colId xmlns:a16="http://schemas.microsoft.com/office/drawing/2014/main" val="2769999950"/>
                    </a:ext>
                  </a:extLst>
                </a:gridCol>
                <a:gridCol w="452507">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0D8DCC55-2473-2A17-AB75-4E2164EF6F5F}"/>
              </a:ext>
            </a:extLst>
          </p:cNvPr>
          <p:cNvGraphicFramePr>
            <a:graphicFrameLocks noGrp="1"/>
          </p:cNvGraphicFramePr>
          <p:nvPr>
            <p:extLst>
              <p:ext uri="{D42A27DB-BD31-4B8C-83A1-F6EECF244321}">
                <p14:modId xmlns:p14="http://schemas.microsoft.com/office/powerpoint/2010/main" val="3929768716"/>
              </p:ext>
            </p:extLst>
          </p:nvPr>
        </p:nvGraphicFramePr>
        <p:xfrm>
          <a:off x="369046" y="5589850"/>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5">
                  <a:extLst>
                    <a:ext uri="{9D8B030D-6E8A-4147-A177-3AD203B41FA5}">
                      <a16:colId xmlns:a16="http://schemas.microsoft.com/office/drawing/2014/main" val="3259894497"/>
                    </a:ext>
                  </a:extLst>
                </a:gridCol>
                <a:gridCol w="469392">
                  <a:extLst>
                    <a:ext uri="{9D8B030D-6E8A-4147-A177-3AD203B41FA5}">
                      <a16:colId xmlns:a16="http://schemas.microsoft.com/office/drawing/2014/main" val="4170535043"/>
                    </a:ext>
                  </a:extLst>
                </a:gridCol>
                <a:gridCol w="440114">
                  <a:extLst>
                    <a:ext uri="{9D8B030D-6E8A-4147-A177-3AD203B41FA5}">
                      <a16:colId xmlns:a16="http://schemas.microsoft.com/office/drawing/2014/main" val="2079070694"/>
                    </a:ext>
                  </a:extLst>
                </a:gridCol>
                <a:gridCol w="470826">
                  <a:extLst>
                    <a:ext uri="{9D8B030D-6E8A-4147-A177-3AD203B41FA5}">
                      <a16:colId xmlns:a16="http://schemas.microsoft.com/office/drawing/2014/main" val="4213315911"/>
                    </a:ext>
                  </a:extLst>
                </a:gridCol>
                <a:gridCol w="416878">
                  <a:extLst>
                    <a:ext uri="{9D8B030D-6E8A-4147-A177-3AD203B41FA5}">
                      <a16:colId xmlns:a16="http://schemas.microsoft.com/office/drawing/2014/main" val="2769999950"/>
                    </a:ext>
                  </a:extLst>
                </a:gridCol>
                <a:gridCol w="462713">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6" name="표 35">
            <a:extLst>
              <a:ext uri="{FF2B5EF4-FFF2-40B4-BE49-F238E27FC236}">
                <a16:creationId xmlns:a16="http://schemas.microsoft.com/office/drawing/2014/main" id="{4E2DF619-18FE-7E1B-9F36-6FBB9EF52446}"/>
              </a:ext>
            </a:extLst>
          </p:cNvPr>
          <p:cNvGraphicFramePr>
            <a:graphicFrameLocks noGrp="1"/>
          </p:cNvGraphicFramePr>
          <p:nvPr>
            <p:extLst>
              <p:ext uri="{D42A27DB-BD31-4B8C-83A1-F6EECF244321}">
                <p14:modId xmlns:p14="http://schemas.microsoft.com/office/powerpoint/2010/main" val="3197072741"/>
              </p:ext>
            </p:extLst>
          </p:nvPr>
        </p:nvGraphicFramePr>
        <p:xfrm>
          <a:off x="368134" y="6228735"/>
          <a:ext cx="6049032" cy="372600"/>
        </p:xfrm>
        <a:graphic>
          <a:graphicData uri="http://schemas.openxmlformats.org/drawingml/2006/table">
            <a:tbl>
              <a:tblPr firstRow="1" bandRow="1">
                <a:tableStyleId>{5C22544A-7EE6-4342-B048-85BDC9FD1C3A}</a:tableStyleId>
              </a:tblPr>
              <a:tblGrid>
                <a:gridCol w="298663">
                  <a:extLst>
                    <a:ext uri="{9D8B030D-6E8A-4147-A177-3AD203B41FA5}">
                      <a16:colId xmlns:a16="http://schemas.microsoft.com/office/drawing/2014/main" val="657570846"/>
                    </a:ext>
                  </a:extLst>
                </a:gridCol>
                <a:gridCol w="349505">
                  <a:extLst>
                    <a:ext uri="{9D8B030D-6E8A-4147-A177-3AD203B41FA5}">
                      <a16:colId xmlns:a16="http://schemas.microsoft.com/office/drawing/2014/main" val="3259894497"/>
                    </a:ext>
                  </a:extLst>
                </a:gridCol>
                <a:gridCol w="477233">
                  <a:extLst>
                    <a:ext uri="{9D8B030D-6E8A-4147-A177-3AD203B41FA5}">
                      <a16:colId xmlns:a16="http://schemas.microsoft.com/office/drawing/2014/main" val="4170535043"/>
                    </a:ext>
                  </a:extLst>
                </a:gridCol>
                <a:gridCol w="430975">
                  <a:extLst>
                    <a:ext uri="{9D8B030D-6E8A-4147-A177-3AD203B41FA5}">
                      <a16:colId xmlns:a16="http://schemas.microsoft.com/office/drawing/2014/main" val="2079070694"/>
                    </a:ext>
                  </a:extLst>
                </a:gridCol>
                <a:gridCol w="465256">
                  <a:extLst>
                    <a:ext uri="{9D8B030D-6E8A-4147-A177-3AD203B41FA5}">
                      <a16:colId xmlns:a16="http://schemas.microsoft.com/office/drawing/2014/main" val="4213315911"/>
                    </a:ext>
                  </a:extLst>
                </a:gridCol>
                <a:gridCol w="411386">
                  <a:extLst>
                    <a:ext uri="{9D8B030D-6E8A-4147-A177-3AD203B41FA5}">
                      <a16:colId xmlns:a16="http://schemas.microsoft.com/office/drawing/2014/main" val="2769999950"/>
                    </a:ext>
                  </a:extLst>
                </a:gridCol>
                <a:gridCol w="471848">
                  <a:extLst>
                    <a:ext uri="{9D8B030D-6E8A-4147-A177-3AD203B41FA5}">
                      <a16:colId xmlns:a16="http://schemas.microsoft.com/office/drawing/2014/main" val="135637185"/>
                    </a:ext>
                  </a:extLst>
                </a:gridCol>
                <a:gridCol w="396818">
                  <a:extLst>
                    <a:ext uri="{9D8B030D-6E8A-4147-A177-3AD203B41FA5}">
                      <a16:colId xmlns:a16="http://schemas.microsoft.com/office/drawing/2014/main" val="3038050475"/>
                    </a:ext>
                  </a:extLst>
                </a:gridCol>
                <a:gridCol w="396818">
                  <a:extLst>
                    <a:ext uri="{9D8B030D-6E8A-4147-A177-3AD203B41FA5}">
                      <a16:colId xmlns:a16="http://schemas.microsoft.com/office/drawing/2014/main" val="1979433044"/>
                    </a:ext>
                  </a:extLst>
                </a:gridCol>
                <a:gridCol w="396818">
                  <a:extLst>
                    <a:ext uri="{9D8B030D-6E8A-4147-A177-3AD203B41FA5}">
                      <a16:colId xmlns:a16="http://schemas.microsoft.com/office/drawing/2014/main" val="4270661649"/>
                    </a:ext>
                  </a:extLst>
                </a:gridCol>
                <a:gridCol w="396818">
                  <a:extLst>
                    <a:ext uri="{9D8B030D-6E8A-4147-A177-3AD203B41FA5}">
                      <a16:colId xmlns:a16="http://schemas.microsoft.com/office/drawing/2014/main" val="3027041370"/>
                    </a:ext>
                  </a:extLst>
                </a:gridCol>
                <a:gridCol w="396818">
                  <a:extLst>
                    <a:ext uri="{9D8B030D-6E8A-4147-A177-3AD203B41FA5}">
                      <a16:colId xmlns:a16="http://schemas.microsoft.com/office/drawing/2014/main" val="2852526216"/>
                    </a:ext>
                  </a:extLst>
                </a:gridCol>
                <a:gridCol w="396818">
                  <a:extLst>
                    <a:ext uri="{9D8B030D-6E8A-4147-A177-3AD203B41FA5}">
                      <a16:colId xmlns:a16="http://schemas.microsoft.com/office/drawing/2014/main" val="103420222"/>
                    </a:ext>
                  </a:extLst>
                </a:gridCol>
                <a:gridCol w="396818">
                  <a:extLst>
                    <a:ext uri="{9D8B030D-6E8A-4147-A177-3AD203B41FA5}">
                      <a16:colId xmlns:a16="http://schemas.microsoft.com/office/drawing/2014/main" val="1470405609"/>
                    </a:ext>
                  </a:extLst>
                </a:gridCol>
                <a:gridCol w="36644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7" name="표 36">
            <a:extLst>
              <a:ext uri="{FF2B5EF4-FFF2-40B4-BE49-F238E27FC236}">
                <a16:creationId xmlns:a16="http://schemas.microsoft.com/office/drawing/2014/main" id="{D9ADE477-6F0C-7D1B-219C-16AE1F3701F6}"/>
              </a:ext>
            </a:extLst>
          </p:cNvPr>
          <p:cNvGraphicFramePr>
            <a:graphicFrameLocks noGrp="1"/>
          </p:cNvGraphicFramePr>
          <p:nvPr>
            <p:extLst>
              <p:ext uri="{D42A27DB-BD31-4B8C-83A1-F6EECF244321}">
                <p14:modId xmlns:p14="http://schemas.microsoft.com/office/powerpoint/2010/main" val="2564773099"/>
              </p:ext>
            </p:extLst>
          </p:nvPr>
        </p:nvGraphicFramePr>
        <p:xfrm>
          <a:off x="368134" y="6864295"/>
          <a:ext cx="6057574" cy="372600"/>
        </p:xfrm>
        <a:graphic>
          <a:graphicData uri="http://schemas.openxmlformats.org/drawingml/2006/table">
            <a:tbl>
              <a:tblPr firstRow="1" bandRow="1">
                <a:tableStyleId>{5C22544A-7EE6-4342-B048-85BDC9FD1C3A}</a:tableStyleId>
              </a:tblPr>
              <a:tblGrid>
                <a:gridCol w="299085">
                  <a:extLst>
                    <a:ext uri="{9D8B030D-6E8A-4147-A177-3AD203B41FA5}">
                      <a16:colId xmlns:a16="http://schemas.microsoft.com/office/drawing/2014/main" val="657570846"/>
                    </a:ext>
                  </a:extLst>
                </a:gridCol>
                <a:gridCol w="349999">
                  <a:extLst>
                    <a:ext uri="{9D8B030D-6E8A-4147-A177-3AD203B41FA5}">
                      <a16:colId xmlns:a16="http://schemas.microsoft.com/office/drawing/2014/main" val="3259894497"/>
                    </a:ext>
                  </a:extLst>
                </a:gridCol>
                <a:gridCol w="473003">
                  <a:extLst>
                    <a:ext uri="{9D8B030D-6E8A-4147-A177-3AD203B41FA5}">
                      <a16:colId xmlns:a16="http://schemas.microsoft.com/office/drawing/2014/main" val="4170535043"/>
                    </a:ext>
                  </a:extLst>
                </a:gridCol>
                <a:gridCol w="431584">
                  <a:extLst>
                    <a:ext uri="{9D8B030D-6E8A-4147-A177-3AD203B41FA5}">
                      <a16:colId xmlns:a16="http://schemas.microsoft.com/office/drawing/2014/main" val="2079070694"/>
                    </a:ext>
                  </a:extLst>
                </a:gridCol>
                <a:gridCol w="465915">
                  <a:extLst>
                    <a:ext uri="{9D8B030D-6E8A-4147-A177-3AD203B41FA5}">
                      <a16:colId xmlns:a16="http://schemas.microsoft.com/office/drawing/2014/main" val="4213315911"/>
                    </a:ext>
                  </a:extLst>
                </a:gridCol>
                <a:gridCol w="416871">
                  <a:extLst>
                    <a:ext uri="{9D8B030D-6E8A-4147-A177-3AD203B41FA5}">
                      <a16:colId xmlns:a16="http://schemas.microsoft.com/office/drawing/2014/main" val="2769999950"/>
                    </a:ext>
                  </a:extLst>
                </a:gridCol>
                <a:gridCol w="472514">
                  <a:extLst>
                    <a:ext uri="{9D8B030D-6E8A-4147-A177-3AD203B41FA5}">
                      <a16:colId xmlns:a16="http://schemas.microsoft.com/office/drawing/2014/main" val="135637185"/>
                    </a:ext>
                  </a:extLst>
                </a:gridCol>
                <a:gridCol w="397378">
                  <a:extLst>
                    <a:ext uri="{9D8B030D-6E8A-4147-A177-3AD203B41FA5}">
                      <a16:colId xmlns:a16="http://schemas.microsoft.com/office/drawing/2014/main" val="3038050475"/>
                    </a:ext>
                  </a:extLst>
                </a:gridCol>
                <a:gridCol w="397378">
                  <a:extLst>
                    <a:ext uri="{9D8B030D-6E8A-4147-A177-3AD203B41FA5}">
                      <a16:colId xmlns:a16="http://schemas.microsoft.com/office/drawing/2014/main" val="1979433044"/>
                    </a:ext>
                  </a:extLst>
                </a:gridCol>
                <a:gridCol w="397378">
                  <a:extLst>
                    <a:ext uri="{9D8B030D-6E8A-4147-A177-3AD203B41FA5}">
                      <a16:colId xmlns:a16="http://schemas.microsoft.com/office/drawing/2014/main" val="4270661649"/>
                    </a:ext>
                  </a:extLst>
                </a:gridCol>
                <a:gridCol w="397378">
                  <a:extLst>
                    <a:ext uri="{9D8B030D-6E8A-4147-A177-3AD203B41FA5}">
                      <a16:colId xmlns:a16="http://schemas.microsoft.com/office/drawing/2014/main" val="3027041370"/>
                    </a:ext>
                  </a:extLst>
                </a:gridCol>
                <a:gridCol w="397378">
                  <a:extLst>
                    <a:ext uri="{9D8B030D-6E8A-4147-A177-3AD203B41FA5}">
                      <a16:colId xmlns:a16="http://schemas.microsoft.com/office/drawing/2014/main" val="2852526216"/>
                    </a:ext>
                  </a:extLst>
                </a:gridCol>
                <a:gridCol w="397378">
                  <a:extLst>
                    <a:ext uri="{9D8B030D-6E8A-4147-A177-3AD203B41FA5}">
                      <a16:colId xmlns:a16="http://schemas.microsoft.com/office/drawing/2014/main" val="103420222"/>
                    </a:ext>
                  </a:extLst>
                </a:gridCol>
                <a:gridCol w="397378">
                  <a:extLst>
                    <a:ext uri="{9D8B030D-6E8A-4147-A177-3AD203B41FA5}">
                      <a16:colId xmlns:a16="http://schemas.microsoft.com/office/drawing/2014/main" val="1470405609"/>
                    </a:ext>
                  </a:extLst>
                </a:gridCol>
                <a:gridCol w="3669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1C86FD6-3222-ACED-7A3E-6B28C856AE77}"/>
              </a:ext>
            </a:extLst>
          </p:cNvPr>
          <p:cNvGraphicFramePr>
            <a:graphicFrameLocks noGrp="1"/>
          </p:cNvGraphicFramePr>
          <p:nvPr>
            <p:extLst>
              <p:ext uri="{D42A27DB-BD31-4B8C-83A1-F6EECF244321}">
                <p14:modId xmlns:p14="http://schemas.microsoft.com/office/powerpoint/2010/main" val="2651469458"/>
              </p:ext>
            </p:extLst>
          </p:nvPr>
        </p:nvGraphicFramePr>
        <p:xfrm>
          <a:off x="404574" y="1061852"/>
          <a:ext cx="6048848" cy="372600"/>
        </p:xfrm>
        <a:graphic>
          <a:graphicData uri="http://schemas.openxmlformats.org/drawingml/2006/table">
            <a:tbl>
              <a:tblPr firstRow="1" bandRow="1">
                <a:tableStyleId>{5C22544A-7EE6-4342-B048-85BDC9FD1C3A}</a:tableStyleId>
              </a:tblPr>
              <a:tblGrid>
                <a:gridCol w="298654">
                  <a:extLst>
                    <a:ext uri="{9D8B030D-6E8A-4147-A177-3AD203B41FA5}">
                      <a16:colId xmlns:a16="http://schemas.microsoft.com/office/drawing/2014/main" val="657570846"/>
                    </a:ext>
                  </a:extLst>
                </a:gridCol>
                <a:gridCol w="349494">
                  <a:extLst>
                    <a:ext uri="{9D8B030D-6E8A-4147-A177-3AD203B41FA5}">
                      <a16:colId xmlns:a16="http://schemas.microsoft.com/office/drawing/2014/main" val="3259894497"/>
                    </a:ext>
                  </a:extLst>
                </a:gridCol>
                <a:gridCol w="512120">
                  <a:extLst>
                    <a:ext uri="{9D8B030D-6E8A-4147-A177-3AD203B41FA5}">
                      <a16:colId xmlns:a16="http://schemas.microsoft.com/office/drawing/2014/main" val="4170535043"/>
                    </a:ext>
                  </a:extLst>
                </a:gridCol>
                <a:gridCol w="421168">
                  <a:extLst>
                    <a:ext uri="{9D8B030D-6E8A-4147-A177-3AD203B41FA5}">
                      <a16:colId xmlns:a16="http://schemas.microsoft.com/office/drawing/2014/main" val="2079070694"/>
                    </a:ext>
                  </a:extLst>
                </a:gridCol>
                <a:gridCol w="445654">
                  <a:extLst>
                    <a:ext uri="{9D8B030D-6E8A-4147-A177-3AD203B41FA5}">
                      <a16:colId xmlns:a16="http://schemas.microsoft.com/office/drawing/2014/main" val="4213315911"/>
                    </a:ext>
                  </a:extLst>
                </a:gridCol>
                <a:gridCol w="440756">
                  <a:extLst>
                    <a:ext uri="{9D8B030D-6E8A-4147-A177-3AD203B41FA5}">
                      <a16:colId xmlns:a16="http://schemas.microsoft.com/office/drawing/2014/main" val="2769999950"/>
                    </a:ext>
                  </a:extLst>
                </a:gridCol>
                <a:gridCol w="436931">
                  <a:extLst>
                    <a:ext uri="{9D8B030D-6E8A-4147-A177-3AD203B41FA5}">
                      <a16:colId xmlns:a16="http://schemas.microsoft.com/office/drawing/2014/main" val="135637185"/>
                    </a:ext>
                  </a:extLst>
                </a:gridCol>
                <a:gridCol w="396806">
                  <a:extLst>
                    <a:ext uri="{9D8B030D-6E8A-4147-A177-3AD203B41FA5}">
                      <a16:colId xmlns:a16="http://schemas.microsoft.com/office/drawing/2014/main" val="3038050475"/>
                    </a:ext>
                  </a:extLst>
                </a:gridCol>
                <a:gridCol w="396806">
                  <a:extLst>
                    <a:ext uri="{9D8B030D-6E8A-4147-A177-3AD203B41FA5}">
                      <a16:colId xmlns:a16="http://schemas.microsoft.com/office/drawing/2014/main" val="1979433044"/>
                    </a:ext>
                  </a:extLst>
                </a:gridCol>
                <a:gridCol w="396806">
                  <a:extLst>
                    <a:ext uri="{9D8B030D-6E8A-4147-A177-3AD203B41FA5}">
                      <a16:colId xmlns:a16="http://schemas.microsoft.com/office/drawing/2014/main" val="4270661649"/>
                    </a:ext>
                  </a:extLst>
                </a:gridCol>
                <a:gridCol w="396806">
                  <a:extLst>
                    <a:ext uri="{9D8B030D-6E8A-4147-A177-3AD203B41FA5}">
                      <a16:colId xmlns:a16="http://schemas.microsoft.com/office/drawing/2014/main" val="3027041370"/>
                    </a:ext>
                  </a:extLst>
                </a:gridCol>
                <a:gridCol w="396806">
                  <a:extLst>
                    <a:ext uri="{9D8B030D-6E8A-4147-A177-3AD203B41FA5}">
                      <a16:colId xmlns:a16="http://schemas.microsoft.com/office/drawing/2014/main" val="2852526216"/>
                    </a:ext>
                  </a:extLst>
                </a:gridCol>
                <a:gridCol w="396806">
                  <a:extLst>
                    <a:ext uri="{9D8B030D-6E8A-4147-A177-3AD203B41FA5}">
                      <a16:colId xmlns:a16="http://schemas.microsoft.com/office/drawing/2014/main" val="103420222"/>
                    </a:ext>
                  </a:extLst>
                </a:gridCol>
                <a:gridCol w="396806">
                  <a:extLst>
                    <a:ext uri="{9D8B030D-6E8A-4147-A177-3AD203B41FA5}">
                      <a16:colId xmlns:a16="http://schemas.microsoft.com/office/drawing/2014/main" val="1470405609"/>
                    </a:ext>
                  </a:extLst>
                </a:gridCol>
                <a:gridCol w="366429">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
        <p:nvSpPr>
          <p:cNvPr id="7" name="TextBox 6">
            <a:extLst>
              <a:ext uri="{FF2B5EF4-FFF2-40B4-BE49-F238E27FC236}">
                <a16:creationId xmlns:a16="http://schemas.microsoft.com/office/drawing/2014/main" id="{17A760CA-BE6E-8F4C-E260-D59C4A1FC936}"/>
              </a:ext>
            </a:extLst>
          </p:cNvPr>
          <p:cNvSpPr txBox="1"/>
          <p:nvPr/>
        </p:nvSpPr>
        <p:spPr>
          <a:xfrm>
            <a:off x="386389" y="7276753"/>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CH11</a:t>
            </a:r>
          </a:p>
        </p:txBody>
      </p:sp>
      <p:sp>
        <p:nvSpPr>
          <p:cNvPr id="9" name="TextBox 8">
            <a:extLst>
              <a:ext uri="{FF2B5EF4-FFF2-40B4-BE49-F238E27FC236}">
                <a16:creationId xmlns:a16="http://schemas.microsoft.com/office/drawing/2014/main" id="{C75134C3-3CF0-DB68-DF70-B7DF516CB91B}"/>
              </a:ext>
            </a:extLst>
          </p:cNvPr>
          <p:cNvSpPr txBox="1"/>
          <p:nvPr/>
        </p:nvSpPr>
        <p:spPr>
          <a:xfrm>
            <a:off x="380380" y="7907513"/>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CH12</a:t>
            </a:r>
          </a:p>
        </p:txBody>
      </p:sp>
      <p:graphicFrame>
        <p:nvGraphicFramePr>
          <p:cNvPr id="14" name="표 13">
            <a:extLst>
              <a:ext uri="{FF2B5EF4-FFF2-40B4-BE49-F238E27FC236}">
                <a16:creationId xmlns:a16="http://schemas.microsoft.com/office/drawing/2014/main" id="{12F3C28E-1CAE-74D8-447D-F48934F6454C}"/>
              </a:ext>
            </a:extLst>
          </p:cNvPr>
          <p:cNvGraphicFramePr>
            <a:graphicFrameLocks noGrp="1"/>
          </p:cNvGraphicFramePr>
          <p:nvPr>
            <p:extLst>
              <p:ext uri="{D42A27DB-BD31-4B8C-83A1-F6EECF244321}">
                <p14:modId xmlns:p14="http://schemas.microsoft.com/office/powerpoint/2010/main" val="2777105969"/>
              </p:ext>
            </p:extLst>
          </p:nvPr>
        </p:nvGraphicFramePr>
        <p:xfrm>
          <a:off x="368134" y="7494567"/>
          <a:ext cx="6057571" cy="372600"/>
        </p:xfrm>
        <a:graphic>
          <a:graphicData uri="http://schemas.openxmlformats.org/drawingml/2006/table">
            <a:tbl>
              <a:tblPr firstRow="1" bandRow="1">
                <a:tableStyleId>{5C22544A-7EE6-4342-B048-85BDC9FD1C3A}</a:tableStyleId>
              </a:tblPr>
              <a:tblGrid>
                <a:gridCol w="299085">
                  <a:extLst>
                    <a:ext uri="{9D8B030D-6E8A-4147-A177-3AD203B41FA5}">
                      <a16:colId xmlns:a16="http://schemas.microsoft.com/office/drawing/2014/main" val="657570846"/>
                    </a:ext>
                  </a:extLst>
                </a:gridCol>
                <a:gridCol w="349998">
                  <a:extLst>
                    <a:ext uri="{9D8B030D-6E8A-4147-A177-3AD203B41FA5}">
                      <a16:colId xmlns:a16="http://schemas.microsoft.com/office/drawing/2014/main" val="3259894497"/>
                    </a:ext>
                  </a:extLst>
                </a:gridCol>
                <a:gridCol w="469384">
                  <a:extLst>
                    <a:ext uri="{9D8B030D-6E8A-4147-A177-3AD203B41FA5}">
                      <a16:colId xmlns:a16="http://schemas.microsoft.com/office/drawing/2014/main" val="4170535043"/>
                    </a:ext>
                  </a:extLst>
                </a:gridCol>
                <a:gridCol w="430921">
                  <a:extLst>
                    <a:ext uri="{9D8B030D-6E8A-4147-A177-3AD203B41FA5}">
                      <a16:colId xmlns:a16="http://schemas.microsoft.com/office/drawing/2014/main" val="2079070694"/>
                    </a:ext>
                  </a:extLst>
                </a:gridCol>
                <a:gridCol w="421774">
                  <a:extLst>
                    <a:ext uri="{9D8B030D-6E8A-4147-A177-3AD203B41FA5}">
                      <a16:colId xmlns:a16="http://schemas.microsoft.com/office/drawing/2014/main" val="4213315911"/>
                    </a:ext>
                  </a:extLst>
                </a:gridCol>
                <a:gridCol w="456106">
                  <a:extLst>
                    <a:ext uri="{9D8B030D-6E8A-4147-A177-3AD203B41FA5}">
                      <a16:colId xmlns:a16="http://schemas.microsoft.com/office/drawing/2014/main" val="2769999950"/>
                    </a:ext>
                  </a:extLst>
                </a:gridCol>
                <a:gridCol w="481700">
                  <a:extLst>
                    <a:ext uri="{9D8B030D-6E8A-4147-A177-3AD203B41FA5}">
                      <a16:colId xmlns:a16="http://schemas.microsoft.com/office/drawing/2014/main" val="135637185"/>
                    </a:ext>
                  </a:extLst>
                </a:gridCol>
                <a:gridCol w="397378">
                  <a:extLst>
                    <a:ext uri="{9D8B030D-6E8A-4147-A177-3AD203B41FA5}">
                      <a16:colId xmlns:a16="http://schemas.microsoft.com/office/drawing/2014/main" val="3038050475"/>
                    </a:ext>
                  </a:extLst>
                </a:gridCol>
                <a:gridCol w="397378">
                  <a:extLst>
                    <a:ext uri="{9D8B030D-6E8A-4147-A177-3AD203B41FA5}">
                      <a16:colId xmlns:a16="http://schemas.microsoft.com/office/drawing/2014/main" val="1979433044"/>
                    </a:ext>
                  </a:extLst>
                </a:gridCol>
                <a:gridCol w="397378">
                  <a:extLst>
                    <a:ext uri="{9D8B030D-6E8A-4147-A177-3AD203B41FA5}">
                      <a16:colId xmlns:a16="http://schemas.microsoft.com/office/drawing/2014/main" val="4270661649"/>
                    </a:ext>
                  </a:extLst>
                </a:gridCol>
                <a:gridCol w="397378">
                  <a:extLst>
                    <a:ext uri="{9D8B030D-6E8A-4147-A177-3AD203B41FA5}">
                      <a16:colId xmlns:a16="http://schemas.microsoft.com/office/drawing/2014/main" val="3027041370"/>
                    </a:ext>
                  </a:extLst>
                </a:gridCol>
                <a:gridCol w="397378">
                  <a:extLst>
                    <a:ext uri="{9D8B030D-6E8A-4147-A177-3AD203B41FA5}">
                      <a16:colId xmlns:a16="http://schemas.microsoft.com/office/drawing/2014/main" val="2852526216"/>
                    </a:ext>
                  </a:extLst>
                </a:gridCol>
                <a:gridCol w="397378">
                  <a:extLst>
                    <a:ext uri="{9D8B030D-6E8A-4147-A177-3AD203B41FA5}">
                      <a16:colId xmlns:a16="http://schemas.microsoft.com/office/drawing/2014/main" val="103420222"/>
                    </a:ext>
                  </a:extLst>
                </a:gridCol>
                <a:gridCol w="397378">
                  <a:extLst>
                    <a:ext uri="{9D8B030D-6E8A-4147-A177-3AD203B41FA5}">
                      <a16:colId xmlns:a16="http://schemas.microsoft.com/office/drawing/2014/main" val="1470405609"/>
                    </a:ext>
                  </a:extLst>
                </a:gridCol>
                <a:gridCol w="3669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0E167636-EA29-A587-2B08-2CF0B8595AC2}"/>
              </a:ext>
            </a:extLst>
          </p:cNvPr>
          <p:cNvGraphicFramePr>
            <a:graphicFrameLocks noGrp="1"/>
          </p:cNvGraphicFramePr>
          <p:nvPr>
            <p:extLst>
              <p:ext uri="{D42A27DB-BD31-4B8C-83A1-F6EECF244321}">
                <p14:modId xmlns:p14="http://schemas.microsoft.com/office/powerpoint/2010/main" val="1630658383"/>
              </p:ext>
            </p:extLst>
          </p:nvPr>
        </p:nvGraphicFramePr>
        <p:xfrm>
          <a:off x="366524" y="8122095"/>
          <a:ext cx="6056481" cy="372600"/>
        </p:xfrm>
        <a:graphic>
          <a:graphicData uri="http://schemas.openxmlformats.org/drawingml/2006/table">
            <a:tbl>
              <a:tblPr firstRow="1" bandRow="1">
                <a:tableStyleId>{5C22544A-7EE6-4342-B048-85BDC9FD1C3A}</a:tableStyleId>
              </a:tblPr>
              <a:tblGrid>
                <a:gridCol w="299030">
                  <a:extLst>
                    <a:ext uri="{9D8B030D-6E8A-4147-A177-3AD203B41FA5}">
                      <a16:colId xmlns:a16="http://schemas.microsoft.com/office/drawing/2014/main" val="657570846"/>
                    </a:ext>
                  </a:extLst>
                </a:gridCol>
                <a:gridCol w="349935">
                  <a:extLst>
                    <a:ext uri="{9D8B030D-6E8A-4147-A177-3AD203B41FA5}">
                      <a16:colId xmlns:a16="http://schemas.microsoft.com/office/drawing/2014/main" val="3259894497"/>
                    </a:ext>
                  </a:extLst>
                </a:gridCol>
                <a:gridCol w="469299">
                  <a:extLst>
                    <a:ext uri="{9D8B030D-6E8A-4147-A177-3AD203B41FA5}">
                      <a16:colId xmlns:a16="http://schemas.microsoft.com/office/drawing/2014/main" val="4170535043"/>
                    </a:ext>
                  </a:extLst>
                </a:gridCol>
                <a:gridCol w="416132">
                  <a:extLst>
                    <a:ext uri="{9D8B030D-6E8A-4147-A177-3AD203B41FA5}">
                      <a16:colId xmlns:a16="http://schemas.microsoft.com/office/drawing/2014/main" val="2079070694"/>
                    </a:ext>
                  </a:extLst>
                </a:gridCol>
                <a:gridCol w="431505">
                  <a:extLst>
                    <a:ext uri="{9D8B030D-6E8A-4147-A177-3AD203B41FA5}">
                      <a16:colId xmlns:a16="http://schemas.microsoft.com/office/drawing/2014/main" val="4213315911"/>
                    </a:ext>
                  </a:extLst>
                </a:gridCol>
                <a:gridCol w="456023">
                  <a:extLst>
                    <a:ext uri="{9D8B030D-6E8A-4147-A177-3AD203B41FA5}">
                      <a16:colId xmlns:a16="http://schemas.microsoft.com/office/drawing/2014/main" val="2769999950"/>
                    </a:ext>
                  </a:extLst>
                </a:gridCol>
                <a:gridCol w="486517">
                  <a:extLst>
                    <a:ext uri="{9D8B030D-6E8A-4147-A177-3AD203B41FA5}">
                      <a16:colId xmlns:a16="http://schemas.microsoft.com/office/drawing/2014/main" val="135637185"/>
                    </a:ext>
                  </a:extLst>
                </a:gridCol>
                <a:gridCol w="397307">
                  <a:extLst>
                    <a:ext uri="{9D8B030D-6E8A-4147-A177-3AD203B41FA5}">
                      <a16:colId xmlns:a16="http://schemas.microsoft.com/office/drawing/2014/main" val="3038050475"/>
                    </a:ext>
                  </a:extLst>
                </a:gridCol>
                <a:gridCol w="397307">
                  <a:extLst>
                    <a:ext uri="{9D8B030D-6E8A-4147-A177-3AD203B41FA5}">
                      <a16:colId xmlns:a16="http://schemas.microsoft.com/office/drawing/2014/main" val="1979433044"/>
                    </a:ext>
                  </a:extLst>
                </a:gridCol>
                <a:gridCol w="397307">
                  <a:extLst>
                    <a:ext uri="{9D8B030D-6E8A-4147-A177-3AD203B41FA5}">
                      <a16:colId xmlns:a16="http://schemas.microsoft.com/office/drawing/2014/main" val="4270661649"/>
                    </a:ext>
                  </a:extLst>
                </a:gridCol>
                <a:gridCol w="397307">
                  <a:extLst>
                    <a:ext uri="{9D8B030D-6E8A-4147-A177-3AD203B41FA5}">
                      <a16:colId xmlns:a16="http://schemas.microsoft.com/office/drawing/2014/main" val="3027041370"/>
                    </a:ext>
                  </a:extLst>
                </a:gridCol>
                <a:gridCol w="397307">
                  <a:extLst>
                    <a:ext uri="{9D8B030D-6E8A-4147-A177-3AD203B41FA5}">
                      <a16:colId xmlns:a16="http://schemas.microsoft.com/office/drawing/2014/main" val="2852526216"/>
                    </a:ext>
                  </a:extLst>
                </a:gridCol>
                <a:gridCol w="397307">
                  <a:extLst>
                    <a:ext uri="{9D8B030D-6E8A-4147-A177-3AD203B41FA5}">
                      <a16:colId xmlns:a16="http://schemas.microsoft.com/office/drawing/2014/main" val="103420222"/>
                    </a:ext>
                  </a:extLst>
                </a:gridCol>
                <a:gridCol w="397307">
                  <a:extLst>
                    <a:ext uri="{9D8B030D-6E8A-4147-A177-3AD203B41FA5}">
                      <a16:colId xmlns:a16="http://schemas.microsoft.com/office/drawing/2014/main" val="1470405609"/>
                    </a:ext>
                  </a:extLst>
                </a:gridCol>
                <a:gridCol w="3668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0388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04813" y="845990"/>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sp>
        <p:nvSpPr>
          <p:cNvPr id="10" name="TextBox 9">
            <a:extLst>
              <a:ext uri="{FF2B5EF4-FFF2-40B4-BE49-F238E27FC236}">
                <a16:creationId xmlns:a16="http://schemas.microsoft.com/office/drawing/2014/main" id="{EAEED484-96C9-A12A-5DB3-D85F7CC0667C}"/>
              </a:ext>
            </a:extLst>
          </p:cNvPr>
          <p:cNvSpPr txBox="1"/>
          <p:nvPr/>
        </p:nvSpPr>
        <p:spPr>
          <a:xfrm>
            <a:off x="404552" y="3433574"/>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2223465527"/>
              </p:ext>
            </p:extLst>
          </p:nvPr>
        </p:nvGraphicFramePr>
        <p:xfrm>
          <a:off x="404565" y="1622931"/>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XD12P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XD12P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5" name="표 4">
            <a:extLst>
              <a:ext uri="{FF2B5EF4-FFF2-40B4-BE49-F238E27FC236}">
                <a16:creationId xmlns:a16="http://schemas.microsoft.com/office/drawing/2014/main" id="{B13AB831-E474-2674-9CE6-6FE19C852BFF}"/>
              </a:ext>
            </a:extLst>
          </p:cNvPr>
          <p:cNvGraphicFramePr>
            <a:graphicFrameLocks noGrp="1"/>
          </p:cNvGraphicFramePr>
          <p:nvPr>
            <p:extLst>
              <p:ext uri="{D42A27DB-BD31-4B8C-83A1-F6EECF244321}">
                <p14:modId xmlns:p14="http://schemas.microsoft.com/office/powerpoint/2010/main" val="729508303"/>
              </p:ext>
            </p:extLst>
          </p:nvPr>
        </p:nvGraphicFramePr>
        <p:xfrm>
          <a:off x="404565" y="1106638"/>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B61058E0-349E-EE56-BBEE-21A44BFE4610}"/>
              </a:ext>
            </a:extLst>
          </p:cNvPr>
          <p:cNvGraphicFramePr>
            <a:graphicFrameLocks noGrp="1"/>
          </p:cNvGraphicFramePr>
          <p:nvPr>
            <p:extLst>
              <p:ext uri="{D42A27DB-BD31-4B8C-83A1-F6EECF244321}">
                <p14:modId xmlns:p14="http://schemas.microsoft.com/office/powerpoint/2010/main" val="2303860703"/>
              </p:ext>
            </p:extLst>
          </p:nvPr>
        </p:nvGraphicFramePr>
        <p:xfrm>
          <a:off x="404552" y="4216552"/>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and the first bit of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incoming from the XC. The setting value should be larger than the 1-bit serial data length time at which the XC is sending to the daisied XDs. So, the proper value depends on the serial baudrate of the XC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66900A33-CD88-F481-B5E9-CC1FBD071BB0}"/>
              </a:ext>
            </a:extLst>
          </p:cNvPr>
          <p:cNvGraphicFramePr>
            <a:graphicFrameLocks noGrp="1"/>
          </p:cNvGraphicFramePr>
          <p:nvPr>
            <p:extLst>
              <p:ext uri="{D42A27DB-BD31-4B8C-83A1-F6EECF244321}">
                <p14:modId xmlns:p14="http://schemas.microsoft.com/office/powerpoint/2010/main" val="1773254784"/>
              </p:ext>
            </p:extLst>
          </p:nvPr>
        </p:nvGraphicFramePr>
        <p:xfrm>
          <a:off x="404552" y="3695913"/>
          <a:ext cx="6048623"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749379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MCLK LOCK</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417166780"/>
              </p:ext>
            </p:extLst>
          </p:nvPr>
        </p:nvGraphicFramePr>
        <p:xfrm>
          <a:off x="404560" y="1980744"/>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The proper value according to the frame frequency is showed in the Table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 and set to 1 just before the vsync is not asserted if the vsync will be not supplied any more to the XD.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04565" y="4266124"/>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2656251039"/>
              </p:ext>
            </p:extLst>
          </p:nvPr>
        </p:nvGraphicFramePr>
        <p:xfrm>
          <a:off x="404564" y="4960499"/>
          <a:ext cx="6057230" cy="150459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96/ 102/ 107/ 112/ 117/ 122/ 127/ 132/ </a:t>
                      </a:r>
                      <a:r>
                        <a:rPr lang="en-US" altLang="ko-KR" sz="900" b="1" dirty="0">
                          <a:solidFill>
                            <a:schemeClr val="tx1"/>
                          </a:solidFill>
                          <a:latin typeface="Arial" panose="020B0604020202020204" pitchFamily="34" charset="0"/>
                          <a:ea typeface="+mn-ea"/>
                          <a:cs typeface="Arial" panose="020B0604020202020204" pitchFamily="34" charset="0"/>
                        </a:rPr>
                        <a:t>137</a:t>
                      </a:r>
                      <a:r>
                        <a:rPr lang="en-US" altLang="ko-KR" sz="900" b="0" dirty="0">
                          <a:solidFill>
                            <a:schemeClr val="tx1"/>
                          </a:solidFill>
                          <a:latin typeface="Arial" panose="020B0604020202020204" pitchFamily="34" charset="0"/>
                          <a:ea typeface="+mn-ea"/>
                          <a:cs typeface="Arial" panose="020B0604020202020204" pitchFamily="34" charset="0"/>
                        </a:rPr>
                        <a:t>(default) / 142/ 147/ 151/ 157/ 161/ 166/ 171</a:t>
                      </a:r>
                      <a:r>
                        <a:rPr lang="en-US" altLang="ko-KR" sz="900" b="0" dirty="0">
                          <a:solidFill>
                            <a:schemeClr val="tx1"/>
                          </a:solidFill>
                          <a:latin typeface="맑은 고딕" panose="020B0503020000020004" pitchFamily="50" charset="-127"/>
                          <a:ea typeface="맑은 고딕" panose="020B0503020000020004" pitchFamily="50" charset="-127"/>
                          <a:cs typeface="Arial" panose="020B0604020202020204" pitchFamily="34" charset="0"/>
                        </a:rPr>
                        <a: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to</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2676772509"/>
              </p:ext>
            </p:extLst>
          </p:nvPr>
        </p:nvGraphicFramePr>
        <p:xfrm>
          <a:off x="404813" y="1110958"/>
          <a:ext cx="6057236"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9">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8">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4">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0xFB0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793054654"/>
              </p:ext>
            </p:extLst>
          </p:nvPr>
        </p:nvGraphicFramePr>
        <p:xfrm>
          <a:off x="404813" y="1553915"/>
          <a:ext cx="6056982" cy="372600"/>
        </p:xfrm>
        <a:graphic>
          <a:graphicData uri="http://schemas.openxmlformats.org/drawingml/2006/table">
            <a:tbl>
              <a:tblPr firstRow="1" bandRow="1">
                <a:tableStyleId>{5C22544A-7EE6-4342-B048-85BDC9FD1C3A}</a:tableStyleId>
              </a:tblPr>
              <a:tblGrid>
                <a:gridCol w="291937">
                  <a:extLst>
                    <a:ext uri="{9D8B030D-6E8A-4147-A177-3AD203B41FA5}">
                      <a16:colId xmlns:a16="http://schemas.microsoft.com/office/drawing/2014/main" val="657570846"/>
                    </a:ext>
                  </a:extLst>
                </a:gridCol>
                <a:gridCol w="342863">
                  <a:extLst>
                    <a:ext uri="{9D8B030D-6E8A-4147-A177-3AD203B41FA5}">
                      <a16:colId xmlns:a16="http://schemas.microsoft.com/office/drawing/2014/main" val="3259894497"/>
                    </a:ext>
                  </a:extLst>
                </a:gridCol>
                <a:gridCol w="468140">
                  <a:extLst>
                    <a:ext uri="{9D8B030D-6E8A-4147-A177-3AD203B41FA5}">
                      <a16:colId xmlns:a16="http://schemas.microsoft.com/office/drawing/2014/main" val="4170535043"/>
                    </a:ext>
                  </a:extLst>
                </a:gridCol>
                <a:gridCol w="844121">
                  <a:extLst>
                    <a:ext uri="{9D8B030D-6E8A-4147-A177-3AD203B41FA5}">
                      <a16:colId xmlns:a16="http://schemas.microsoft.com/office/drawing/2014/main" val="2079070694"/>
                    </a:ext>
                  </a:extLst>
                </a:gridCol>
                <a:gridCol w="384820">
                  <a:extLst>
                    <a:ext uri="{9D8B030D-6E8A-4147-A177-3AD203B41FA5}">
                      <a16:colId xmlns:a16="http://schemas.microsoft.com/office/drawing/2014/main" val="4213315911"/>
                    </a:ext>
                  </a:extLst>
                </a:gridCol>
                <a:gridCol w="377084">
                  <a:extLst>
                    <a:ext uri="{9D8B030D-6E8A-4147-A177-3AD203B41FA5}">
                      <a16:colId xmlns:a16="http://schemas.microsoft.com/office/drawing/2014/main" val="2769999950"/>
                    </a:ext>
                  </a:extLst>
                </a:gridCol>
                <a:gridCol w="427038">
                  <a:extLst>
                    <a:ext uri="{9D8B030D-6E8A-4147-A177-3AD203B41FA5}">
                      <a16:colId xmlns:a16="http://schemas.microsoft.com/office/drawing/2014/main" val="135637185"/>
                    </a:ext>
                  </a:extLst>
                </a:gridCol>
                <a:gridCol w="362375">
                  <a:extLst>
                    <a:ext uri="{9D8B030D-6E8A-4147-A177-3AD203B41FA5}">
                      <a16:colId xmlns:a16="http://schemas.microsoft.com/office/drawing/2014/main" val="3038050475"/>
                    </a:ext>
                  </a:extLst>
                </a:gridCol>
                <a:gridCol w="374785">
                  <a:extLst>
                    <a:ext uri="{9D8B030D-6E8A-4147-A177-3AD203B41FA5}">
                      <a16:colId xmlns:a16="http://schemas.microsoft.com/office/drawing/2014/main" val="1979433044"/>
                    </a:ext>
                  </a:extLst>
                </a:gridCol>
                <a:gridCol w="369821">
                  <a:extLst>
                    <a:ext uri="{9D8B030D-6E8A-4147-A177-3AD203B41FA5}">
                      <a16:colId xmlns:a16="http://schemas.microsoft.com/office/drawing/2014/main" val="4270661649"/>
                    </a:ext>
                  </a:extLst>
                </a:gridCol>
                <a:gridCol w="377266">
                  <a:extLst>
                    <a:ext uri="{9D8B030D-6E8A-4147-A177-3AD203B41FA5}">
                      <a16:colId xmlns:a16="http://schemas.microsoft.com/office/drawing/2014/main" val="3027041370"/>
                    </a:ext>
                  </a:extLst>
                </a:gridCol>
                <a:gridCol w="367338">
                  <a:extLst>
                    <a:ext uri="{9D8B030D-6E8A-4147-A177-3AD203B41FA5}">
                      <a16:colId xmlns:a16="http://schemas.microsoft.com/office/drawing/2014/main" val="2852526216"/>
                    </a:ext>
                  </a:extLst>
                </a:gridCol>
                <a:gridCol w="352448">
                  <a:extLst>
                    <a:ext uri="{9D8B030D-6E8A-4147-A177-3AD203B41FA5}">
                      <a16:colId xmlns:a16="http://schemas.microsoft.com/office/drawing/2014/main" val="103420222"/>
                    </a:ext>
                  </a:extLst>
                </a:gridCol>
                <a:gridCol w="352447">
                  <a:extLst>
                    <a:ext uri="{9D8B030D-6E8A-4147-A177-3AD203B41FA5}">
                      <a16:colId xmlns:a16="http://schemas.microsoft.com/office/drawing/2014/main" val="1470405609"/>
                    </a:ext>
                  </a:extLst>
                </a:gridCol>
                <a:gridCol w="36449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0x84F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MCLK_LOCK_E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FLL_RANGE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[19:12]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graphicFrame>
        <p:nvGraphicFramePr>
          <p:cNvPr id="2" name="표 1">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2502256743"/>
              </p:ext>
            </p:extLst>
          </p:nvPr>
        </p:nvGraphicFramePr>
        <p:xfrm>
          <a:off x="404564" y="4531838"/>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395296" y="6692503"/>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1978857482"/>
              </p:ext>
            </p:extLst>
          </p:nvPr>
        </p:nvGraphicFramePr>
        <p:xfrm>
          <a:off x="404560" y="7831834"/>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1487786873"/>
              </p:ext>
            </p:extLst>
          </p:nvPr>
        </p:nvGraphicFramePr>
        <p:xfrm>
          <a:off x="404563" y="6958119"/>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20" name="표 19">
            <a:extLst>
              <a:ext uri="{FF2B5EF4-FFF2-40B4-BE49-F238E27FC236}">
                <a16:creationId xmlns:a16="http://schemas.microsoft.com/office/drawing/2014/main" id="{CA38009C-691C-F856-97AB-9932CA71D19C}"/>
              </a:ext>
            </a:extLst>
          </p:cNvPr>
          <p:cNvGraphicFramePr>
            <a:graphicFrameLocks noGrp="1"/>
          </p:cNvGraphicFramePr>
          <p:nvPr>
            <p:extLst>
              <p:ext uri="{D42A27DB-BD31-4B8C-83A1-F6EECF244321}">
                <p14:modId xmlns:p14="http://schemas.microsoft.com/office/powerpoint/2010/main" val="1273651457"/>
              </p:ext>
            </p:extLst>
          </p:nvPr>
        </p:nvGraphicFramePr>
        <p:xfrm>
          <a:off x="404563" y="7401076"/>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326D9-1D2A-5660-04EA-9EDC81B8A6BC}"/>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480A1CF-B528-0390-DEE7-B084B42774A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7A6B8AB-6C2B-DDBB-79ED-9796C5D7D20E}"/>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F4AB5F3-C500-4CB0-80BB-F1AE91309F23}"/>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MONITOR</a:t>
            </a:r>
          </a:p>
        </p:txBody>
      </p:sp>
      <p:graphicFrame>
        <p:nvGraphicFramePr>
          <p:cNvPr id="5" name="표 4">
            <a:extLst>
              <a:ext uri="{FF2B5EF4-FFF2-40B4-BE49-F238E27FC236}">
                <a16:creationId xmlns:a16="http://schemas.microsoft.com/office/drawing/2014/main" id="{5622300C-1D4C-0EC8-2CFA-A48DEE03D400}"/>
              </a:ext>
            </a:extLst>
          </p:cNvPr>
          <p:cNvGraphicFramePr>
            <a:graphicFrameLocks noGrp="1"/>
          </p:cNvGraphicFramePr>
          <p:nvPr>
            <p:extLst>
              <p:ext uri="{D42A27DB-BD31-4B8C-83A1-F6EECF244321}">
                <p14:modId xmlns:p14="http://schemas.microsoft.com/office/powerpoint/2010/main" val="246629921"/>
              </p:ext>
            </p:extLst>
          </p:nvPr>
        </p:nvGraphicFramePr>
        <p:xfrm>
          <a:off x="400387" y="1574425"/>
          <a:ext cx="6057230" cy="515634"/>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3064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OSC_FLL_FLT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10" name="표 9">
            <a:extLst>
              <a:ext uri="{FF2B5EF4-FFF2-40B4-BE49-F238E27FC236}">
                <a16:creationId xmlns:a16="http://schemas.microsoft.com/office/drawing/2014/main" id="{0A29343E-6656-BA44-32DA-7B2E00231CF4}"/>
              </a:ext>
            </a:extLst>
          </p:cNvPr>
          <p:cNvGraphicFramePr>
            <a:graphicFrameLocks noGrp="1"/>
          </p:cNvGraphicFramePr>
          <p:nvPr>
            <p:extLst>
              <p:ext uri="{D42A27DB-BD31-4B8C-83A1-F6EECF244321}">
                <p14:modId xmlns:p14="http://schemas.microsoft.com/office/powerpoint/2010/main" val="3800609389"/>
              </p:ext>
            </p:extLst>
          </p:nvPr>
        </p:nvGraphicFramePr>
        <p:xfrm>
          <a:off x="400387" y="1111787"/>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OSC_FLL_FLT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30484EFA-50ED-F0E7-6131-63A8A185BB0D}"/>
              </a:ext>
            </a:extLst>
          </p:cNvPr>
          <p:cNvSpPr txBox="1"/>
          <p:nvPr/>
        </p:nvSpPr>
        <p:spPr>
          <a:xfrm>
            <a:off x="401536" y="6291620"/>
            <a:ext cx="605493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FIX</a:t>
            </a:r>
          </a:p>
        </p:txBody>
      </p:sp>
      <p:graphicFrame>
        <p:nvGraphicFramePr>
          <p:cNvPr id="8" name="표 7">
            <a:extLst>
              <a:ext uri="{FF2B5EF4-FFF2-40B4-BE49-F238E27FC236}">
                <a16:creationId xmlns:a16="http://schemas.microsoft.com/office/drawing/2014/main" id="{784830EB-4A89-E559-0102-08337C4D0BBC}"/>
              </a:ext>
            </a:extLst>
          </p:cNvPr>
          <p:cNvGraphicFramePr>
            <a:graphicFrameLocks noGrp="1"/>
          </p:cNvGraphicFramePr>
          <p:nvPr>
            <p:extLst>
              <p:ext uri="{D42A27DB-BD31-4B8C-83A1-F6EECF244321}">
                <p14:modId xmlns:p14="http://schemas.microsoft.com/office/powerpoint/2010/main" val="3037434818"/>
              </p:ext>
            </p:extLst>
          </p:nvPr>
        </p:nvGraphicFramePr>
        <p:xfrm>
          <a:off x="401536" y="7030944"/>
          <a:ext cx="6054928" cy="745351"/>
        </p:xfrm>
        <a:graphic>
          <a:graphicData uri="http://schemas.openxmlformats.org/drawingml/2006/table">
            <a:tbl>
              <a:tblPr firstRow="1" bandRow="1">
                <a:tableStyleId>{5C22544A-7EE6-4342-B048-85BDC9FD1C3A}</a:tableStyleId>
              </a:tblPr>
              <a:tblGrid>
                <a:gridCol w="437619">
                  <a:extLst>
                    <a:ext uri="{9D8B030D-6E8A-4147-A177-3AD203B41FA5}">
                      <a16:colId xmlns:a16="http://schemas.microsoft.com/office/drawing/2014/main" val="4170535043"/>
                    </a:ext>
                  </a:extLst>
                </a:gridCol>
                <a:gridCol w="1146691">
                  <a:extLst>
                    <a:ext uri="{9D8B030D-6E8A-4147-A177-3AD203B41FA5}">
                      <a16:colId xmlns:a16="http://schemas.microsoft.com/office/drawing/2014/main" val="2079070694"/>
                    </a:ext>
                  </a:extLst>
                </a:gridCol>
                <a:gridCol w="4470618">
                  <a:extLst>
                    <a:ext uri="{9D8B030D-6E8A-4147-A177-3AD203B41FA5}">
                      <a16:colId xmlns:a16="http://schemas.microsoft.com/office/drawing/2014/main" val="32595803"/>
                    </a:ext>
                  </a:extLst>
                </a:gridCol>
              </a:tblGrid>
              <a:tr h="26187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81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determines the fixed VREF out value instead of the MAX_CURR_VREF when the vsync miss is detected under the MISS_VS_DIMM=1 and the MISS_VS_DET_E=1.  At the same time, the LD PWM data is out with full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E7EE3C37-6B52-8C78-9710-8CCE1EC68093}"/>
              </a:ext>
            </a:extLst>
          </p:cNvPr>
          <p:cNvGraphicFramePr>
            <a:graphicFrameLocks noGrp="1"/>
          </p:cNvGraphicFramePr>
          <p:nvPr>
            <p:extLst>
              <p:ext uri="{D42A27DB-BD31-4B8C-83A1-F6EECF244321}">
                <p14:modId xmlns:p14="http://schemas.microsoft.com/office/powerpoint/2010/main" val="3779510905"/>
              </p:ext>
            </p:extLst>
          </p:nvPr>
        </p:nvGraphicFramePr>
        <p:xfrm>
          <a:off x="401536" y="6568501"/>
          <a:ext cx="6054929" cy="372600"/>
        </p:xfrm>
        <a:graphic>
          <a:graphicData uri="http://schemas.openxmlformats.org/drawingml/2006/table">
            <a:tbl>
              <a:tblPr firstRow="1" bandRow="1">
                <a:tableStyleId>{5C22544A-7EE6-4342-B048-85BDC9FD1C3A}</a:tableStyleId>
              </a:tblPr>
              <a:tblGrid>
                <a:gridCol w="274897">
                  <a:extLst>
                    <a:ext uri="{9D8B030D-6E8A-4147-A177-3AD203B41FA5}">
                      <a16:colId xmlns:a16="http://schemas.microsoft.com/office/drawing/2014/main" val="657570846"/>
                    </a:ext>
                  </a:extLst>
                </a:gridCol>
                <a:gridCol w="324864">
                  <a:extLst>
                    <a:ext uri="{9D8B030D-6E8A-4147-A177-3AD203B41FA5}">
                      <a16:colId xmlns:a16="http://schemas.microsoft.com/office/drawing/2014/main" val="3259894497"/>
                    </a:ext>
                  </a:extLst>
                </a:gridCol>
                <a:gridCol w="424012">
                  <a:extLst>
                    <a:ext uri="{9D8B030D-6E8A-4147-A177-3AD203B41FA5}">
                      <a16:colId xmlns:a16="http://schemas.microsoft.com/office/drawing/2014/main" val="4170535043"/>
                    </a:ext>
                  </a:extLst>
                </a:gridCol>
                <a:gridCol w="419263">
                  <a:extLst>
                    <a:ext uri="{9D8B030D-6E8A-4147-A177-3AD203B41FA5}">
                      <a16:colId xmlns:a16="http://schemas.microsoft.com/office/drawing/2014/main" val="2079070694"/>
                    </a:ext>
                  </a:extLst>
                </a:gridCol>
                <a:gridCol w="419263">
                  <a:extLst>
                    <a:ext uri="{9D8B030D-6E8A-4147-A177-3AD203B41FA5}">
                      <a16:colId xmlns:a16="http://schemas.microsoft.com/office/drawing/2014/main" val="4213315911"/>
                    </a:ext>
                  </a:extLst>
                </a:gridCol>
                <a:gridCol w="419263">
                  <a:extLst>
                    <a:ext uri="{9D8B030D-6E8A-4147-A177-3AD203B41FA5}">
                      <a16:colId xmlns:a16="http://schemas.microsoft.com/office/drawing/2014/main" val="2769999950"/>
                    </a:ext>
                  </a:extLst>
                </a:gridCol>
                <a:gridCol w="419263">
                  <a:extLst>
                    <a:ext uri="{9D8B030D-6E8A-4147-A177-3AD203B41FA5}">
                      <a16:colId xmlns:a16="http://schemas.microsoft.com/office/drawing/2014/main" val="135637185"/>
                    </a:ext>
                  </a:extLst>
                </a:gridCol>
                <a:gridCol w="419263">
                  <a:extLst>
                    <a:ext uri="{9D8B030D-6E8A-4147-A177-3AD203B41FA5}">
                      <a16:colId xmlns:a16="http://schemas.microsoft.com/office/drawing/2014/main" val="3038050475"/>
                    </a:ext>
                  </a:extLst>
                </a:gridCol>
                <a:gridCol w="419263">
                  <a:extLst>
                    <a:ext uri="{9D8B030D-6E8A-4147-A177-3AD203B41FA5}">
                      <a16:colId xmlns:a16="http://schemas.microsoft.com/office/drawing/2014/main" val="1979433044"/>
                    </a:ext>
                  </a:extLst>
                </a:gridCol>
                <a:gridCol w="419263">
                  <a:extLst>
                    <a:ext uri="{9D8B030D-6E8A-4147-A177-3AD203B41FA5}">
                      <a16:colId xmlns:a16="http://schemas.microsoft.com/office/drawing/2014/main" val="4270661649"/>
                    </a:ext>
                  </a:extLst>
                </a:gridCol>
                <a:gridCol w="419263">
                  <a:extLst>
                    <a:ext uri="{9D8B030D-6E8A-4147-A177-3AD203B41FA5}">
                      <a16:colId xmlns:a16="http://schemas.microsoft.com/office/drawing/2014/main" val="3027041370"/>
                    </a:ext>
                  </a:extLst>
                </a:gridCol>
                <a:gridCol w="419263">
                  <a:extLst>
                    <a:ext uri="{9D8B030D-6E8A-4147-A177-3AD203B41FA5}">
                      <a16:colId xmlns:a16="http://schemas.microsoft.com/office/drawing/2014/main" val="2852526216"/>
                    </a:ext>
                  </a:extLst>
                </a:gridCol>
                <a:gridCol w="419263">
                  <a:extLst>
                    <a:ext uri="{9D8B030D-6E8A-4147-A177-3AD203B41FA5}">
                      <a16:colId xmlns:a16="http://schemas.microsoft.com/office/drawing/2014/main" val="103420222"/>
                    </a:ext>
                  </a:extLst>
                </a:gridCol>
                <a:gridCol w="419263">
                  <a:extLst>
                    <a:ext uri="{9D8B030D-6E8A-4147-A177-3AD203B41FA5}">
                      <a16:colId xmlns:a16="http://schemas.microsoft.com/office/drawing/2014/main" val="1470405609"/>
                    </a:ext>
                  </a:extLst>
                </a:gridCol>
                <a:gridCol w="4192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VREF_FIX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1749121"/>
                  </a:ext>
                </a:extLst>
              </a:tr>
            </a:tbl>
          </a:graphicData>
        </a:graphic>
      </p:graphicFrame>
      <p:sp>
        <p:nvSpPr>
          <p:cNvPr id="11" name="TextBox 10">
            <a:extLst>
              <a:ext uri="{FF2B5EF4-FFF2-40B4-BE49-F238E27FC236}">
                <a16:creationId xmlns:a16="http://schemas.microsoft.com/office/drawing/2014/main" id="{F9C55511-D090-80FB-6888-2FD1CA1809F7}"/>
              </a:ext>
            </a:extLst>
          </p:cNvPr>
          <p:cNvSpPr txBox="1"/>
          <p:nvPr/>
        </p:nvSpPr>
        <p:spPr>
          <a:xfrm>
            <a:off x="409242" y="2610088"/>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 PROTECT</a:t>
            </a:r>
          </a:p>
        </p:txBody>
      </p:sp>
      <p:graphicFrame>
        <p:nvGraphicFramePr>
          <p:cNvPr id="15" name="표 14">
            <a:extLst>
              <a:ext uri="{FF2B5EF4-FFF2-40B4-BE49-F238E27FC236}">
                <a16:creationId xmlns:a16="http://schemas.microsoft.com/office/drawing/2014/main" id="{9CF837E8-AC1E-34B3-6614-418DC3CC552E}"/>
              </a:ext>
            </a:extLst>
          </p:cNvPr>
          <p:cNvGraphicFramePr>
            <a:graphicFrameLocks noGrp="1"/>
          </p:cNvGraphicFramePr>
          <p:nvPr>
            <p:extLst>
              <p:ext uri="{D42A27DB-BD31-4B8C-83A1-F6EECF244321}">
                <p14:modId xmlns:p14="http://schemas.microsoft.com/office/powerpoint/2010/main" val="3153505348"/>
              </p:ext>
            </p:extLst>
          </p:nvPr>
        </p:nvGraphicFramePr>
        <p:xfrm>
          <a:off x="404817" y="3339171"/>
          <a:ext cx="6048614" cy="2579874"/>
        </p:xfrm>
        <a:graphic>
          <a:graphicData uri="http://schemas.openxmlformats.org/drawingml/2006/table">
            <a:tbl>
              <a:tblPr firstRow="1" bandRow="1">
                <a:tableStyleId>{5C22544A-7EE6-4342-B048-85BDC9FD1C3A}</a:tableStyleId>
              </a:tblPr>
              <a:tblGrid>
                <a:gridCol w="422321">
                  <a:extLst>
                    <a:ext uri="{9D8B030D-6E8A-4147-A177-3AD203B41FA5}">
                      <a16:colId xmlns:a16="http://schemas.microsoft.com/office/drawing/2014/main" val="4170535043"/>
                    </a:ext>
                  </a:extLst>
                </a:gridCol>
                <a:gridCol w="1235500">
                  <a:extLst>
                    <a:ext uri="{9D8B030D-6E8A-4147-A177-3AD203B41FA5}">
                      <a16:colId xmlns:a16="http://schemas.microsoft.com/office/drawing/2014/main" val="2079070694"/>
                    </a:ext>
                  </a:extLst>
                </a:gridCol>
                <a:gridCol w="4390793">
                  <a:extLst>
                    <a:ext uri="{9D8B030D-6E8A-4147-A177-3AD203B41FA5}">
                      <a16:colId xmlns:a16="http://schemas.microsoft.com/office/drawing/2014/main" val="32595803"/>
                    </a:ext>
                  </a:extLst>
                </a:gridCol>
              </a:tblGrid>
              <a:tr h="3064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764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PCK_MODE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 CLOCK MODE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    Each channel uses a common pwm clock.(Recommended)</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    Each channel uses an independent own pwm clock.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should be careful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must be cleared before the frame frequency transition with a flicker-less is started</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and be set after the frame frequency transition is completed</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r h="7156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PCK_SYNC_E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 CLOCK SYNC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this bit is set, then the PWM clock for each channel is created in synchronization with vsync.</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    SYNC Disable (Recommended)</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    SYNC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608641"/>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REG_WR_PROTECT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feature is used to protect write access to all internal registers except the MAX_ CURR_REF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set value, 0x155, means that the write access to all internal registers is allowable.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all set values other than 0x155 will prohibit all write accesses to all internal registers except the MAX_CURR_REF register.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743245"/>
                  </a:ext>
                </a:extLst>
              </a:tr>
            </a:tbl>
          </a:graphicData>
        </a:graphic>
      </p:graphicFrame>
      <p:graphicFrame>
        <p:nvGraphicFramePr>
          <p:cNvPr id="16" name="표 15">
            <a:extLst>
              <a:ext uri="{FF2B5EF4-FFF2-40B4-BE49-F238E27FC236}">
                <a16:creationId xmlns:a16="http://schemas.microsoft.com/office/drawing/2014/main" id="{BB66D3FD-2D64-2A97-14FC-BC92352A9553}"/>
              </a:ext>
            </a:extLst>
          </p:cNvPr>
          <p:cNvGraphicFramePr>
            <a:graphicFrameLocks noGrp="1"/>
          </p:cNvGraphicFramePr>
          <p:nvPr>
            <p:extLst>
              <p:ext uri="{D42A27DB-BD31-4B8C-83A1-F6EECF244321}">
                <p14:modId xmlns:p14="http://schemas.microsoft.com/office/powerpoint/2010/main" val="3277967266"/>
              </p:ext>
            </p:extLst>
          </p:nvPr>
        </p:nvGraphicFramePr>
        <p:xfrm>
          <a:off x="404818" y="2876533"/>
          <a:ext cx="6048619" cy="372600"/>
        </p:xfrm>
        <a:graphic>
          <a:graphicData uri="http://schemas.openxmlformats.org/drawingml/2006/table">
            <a:tbl>
              <a:tblPr firstRow="1" bandRow="1">
                <a:tableStyleId>{5C22544A-7EE6-4342-B048-85BDC9FD1C3A}</a:tableStyleId>
              </a:tblPr>
              <a:tblGrid>
                <a:gridCol w="317714">
                  <a:extLst>
                    <a:ext uri="{9D8B030D-6E8A-4147-A177-3AD203B41FA5}">
                      <a16:colId xmlns:a16="http://schemas.microsoft.com/office/drawing/2014/main" val="657570846"/>
                    </a:ext>
                  </a:extLst>
                </a:gridCol>
                <a:gridCol w="349339">
                  <a:extLst>
                    <a:ext uri="{9D8B030D-6E8A-4147-A177-3AD203B41FA5}">
                      <a16:colId xmlns:a16="http://schemas.microsoft.com/office/drawing/2014/main" val="3259894497"/>
                    </a:ext>
                  </a:extLst>
                </a:gridCol>
                <a:gridCol w="418554">
                  <a:extLst>
                    <a:ext uri="{9D8B030D-6E8A-4147-A177-3AD203B41FA5}">
                      <a16:colId xmlns:a16="http://schemas.microsoft.com/office/drawing/2014/main" val="4170535043"/>
                    </a:ext>
                  </a:extLst>
                </a:gridCol>
                <a:gridCol w="586067">
                  <a:extLst>
                    <a:ext uri="{9D8B030D-6E8A-4147-A177-3AD203B41FA5}">
                      <a16:colId xmlns:a16="http://schemas.microsoft.com/office/drawing/2014/main" val="2079070694"/>
                    </a:ext>
                  </a:extLst>
                </a:gridCol>
                <a:gridCol w="670605">
                  <a:extLst>
                    <a:ext uri="{9D8B030D-6E8A-4147-A177-3AD203B41FA5}">
                      <a16:colId xmlns:a16="http://schemas.microsoft.com/office/drawing/2014/main" val="4213315911"/>
                    </a:ext>
                  </a:extLst>
                </a:gridCol>
                <a:gridCol w="365949">
                  <a:extLst>
                    <a:ext uri="{9D8B030D-6E8A-4147-A177-3AD203B41FA5}">
                      <a16:colId xmlns:a16="http://schemas.microsoft.com/office/drawing/2014/main" val="2769999950"/>
                    </a:ext>
                  </a:extLst>
                </a:gridCol>
                <a:gridCol w="365949">
                  <a:extLst>
                    <a:ext uri="{9D8B030D-6E8A-4147-A177-3AD203B41FA5}">
                      <a16:colId xmlns:a16="http://schemas.microsoft.com/office/drawing/2014/main" val="135637185"/>
                    </a:ext>
                  </a:extLst>
                </a:gridCol>
                <a:gridCol w="365949">
                  <a:extLst>
                    <a:ext uri="{9D8B030D-6E8A-4147-A177-3AD203B41FA5}">
                      <a16:colId xmlns:a16="http://schemas.microsoft.com/office/drawing/2014/main" val="3038050475"/>
                    </a:ext>
                  </a:extLst>
                </a:gridCol>
                <a:gridCol w="412799">
                  <a:extLst>
                    <a:ext uri="{9D8B030D-6E8A-4147-A177-3AD203B41FA5}">
                      <a16:colId xmlns:a16="http://schemas.microsoft.com/office/drawing/2014/main" val="1979433044"/>
                    </a:ext>
                  </a:extLst>
                </a:gridCol>
                <a:gridCol w="365949">
                  <a:extLst>
                    <a:ext uri="{9D8B030D-6E8A-4147-A177-3AD203B41FA5}">
                      <a16:colId xmlns:a16="http://schemas.microsoft.com/office/drawing/2014/main" val="4270661649"/>
                    </a:ext>
                  </a:extLst>
                </a:gridCol>
                <a:gridCol w="365949">
                  <a:extLst>
                    <a:ext uri="{9D8B030D-6E8A-4147-A177-3AD203B41FA5}">
                      <a16:colId xmlns:a16="http://schemas.microsoft.com/office/drawing/2014/main" val="3027041370"/>
                    </a:ext>
                  </a:extLst>
                </a:gridCol>
                <a:gridCol w="365949">
                  <a:extLst>
                    <a:ext uri="{9D8B030D-6E8A-4147-A177-3AD203B41FA5}">
                      <a16:colId xmlns:a16="http://schemas.microsoft.com/office/drawing/2014/main" val="2852526216"/>
                    </a:ext>
                  </a:extLst>
                </a:gridCol>
                <a:gridCol w="365949">
                  <a:extLst>
                    <a:ext uri="{9D8B030D-6E8A-4147-A177-3AD203B41FA5}">
                      <a16:colId xmlns:a16="http://schemas.microsoft.com/office/drawing/2014/main" val="103420222"/>
                    </a:ext>
                  </a:extLst>
                </a:gridCol>
                <a:gridCol w="365949">
                  <a:extLst>
                    <a:ext uri="{9D8B030D-6E8A-4147-A177-3AD203B41FA5}">
                      <a16:colId xmlns:a16="http://schemas.microsoft.com/office/drawing/2014/main" val="1470405609"/>
                    </a:ext>
                  </a:extLst>
                </a:gridCol>
                <a:gridCol w="3659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0xD55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PCK_MODE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PCK_SYNC_E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REG_WR_PROTECT [9:0]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9155342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732383395"/>
              </p:ext>
            </p:extLst>
          </p:nvPr>
        </p:nvGraphicFramePr>
        <p:xfrm>
          <a:off x="395875" y="1734018"/>
          <a:ext cx="6063640" cy="381272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DDIO_DIS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TEST_EN=1, the D</a:t>
                      </a:r>
                      <a:r>
                        <a:rPr lang="en-US" altLang="ko-KR" sz="900" b="0" baseline="-25000" dirty="0">
                          <a:solidFill>
                            <a:schemeClr val="tx1"/>
                          </a:solidFill>
                          <a:latin typeface="Arial" panose="020B0604020202020204" pitchFamily="34" charset="0"/>
                          <a:ea typeface="+mn-ea"/>
                          <a:cs typeface="Arial" panose="020B0604020202020204" pitchFamily="34" charset="0"/>
                        </a:rPr>
                        <a:t>DIO </a:t>
                      </a:r>
                      <a:r>
                        <a:rPr lang="en-US" altLang="ko-KR" sz="900" b="0" dirty="0">
                          <a:solidFill>
                            <a:schemeClr val="tx1"/>
                          </a:solidFill>
                          <a:latin typeface="Arial" panose="020B0604020202020204" pitchFamily="34" charset="0"/>
                          <a:ea typeface="+mn-ea"/>
                          <a:cs typeface="Arial" panose="020B0604020202020204" pitchFamily="34" charset="0"/>
                        </a:rPr>
                        <a:t>pin’s output will be disabled so that the read access of registers is possible without any mulfunction even though the MCLK32 clock is driven on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9749921"/>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MCLK32_O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32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MAX_CURR_VREF register value is continuously output to all internal current control logics regardless of the vsync.</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0x3A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534791393"/>
              </p:ext>
            </p:extLst>
          </p:nvPr>
        </p:nvGraphicFramePr>
        <p:xfrm>
          <a:off x="404811" y="1258316"/>
          <a:ext cx="6057353"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480813">
                  <a:extLst>
                    <a:ext uri="{9D8B030D-6E8A-4147-A177-3AD203B41FA5}">
                      <a16:colId xmlns:a16="http://schemas.microsoft.com/office/drawing/2014/main" val="4213315911"/>
                    </a:ext>
                  </a:extLst>
                </a:gridCol>
                <a:gridCol w="390182">
                  <a:extLst>
                    <a:ext uri="{9D8B030D-6E8A-4147-A177-3AD203B41FA5}">
                      <a16:colId xmlns:a16="http://schemas.microsoft.com/office/drawing/2014/main" val="2769999950"/>
                    </a:ext>
                  </a:extLst>
                </a:gridCol>
                <a:gridCol w="504473">
                  <a:extLst>
                    <a:ext uri="{9D8B030D-6E8A-4147-A177-3AD203B41FA5}">
                      <a16:colId xmlns:a16="http://schemas.microsoft.com/office/drawing/2014/main" val="135637185"/>
                    </a:ext>
                  </a:extLst>
                </a:gridCol>
                <a:gridCol w="244449">
                  <a:extLst>
                    <a:ext uri="{9D8B030D-6E8A-4147-A177-3AD203B41FA5}">
                      <a16:colId xmlns:a16="http://schemas.microsoft.com/office/drawing/2014/main" val="3038050475"/>
                    </a:ext>
                  </a:extLst>
                </a:gridCol>
                <a:gridCol w="678291">
                  <a:extLst>
                    <a:ext uri="{9D8B030D-6E8A-4147-A177-3AD203B41FA5}">
                      <a16:colId xmlns:a16="http://schemas.microsoft.com/office/drawing/2014/main" val="1979433044"/>
                    </a:ext>
                  </a:extLst>
                </a:gridCol>
                <a:gridCol w="528895">
                  <a:extLst>
                    <a:ext uri="{9D8B030D-6E8A-4147-A177-3AD203B41FA5}">
                      <a16:colId xmlns:a16="http://schemas.microsoft.com/office/drawing/2014/main" val="4270661649"/>
                    </a:ext>
                  </a:extLst>
                </a:gridCol>
                <a:gridCol w="410409">
                  <a:extLst>
                    <a:ext uri="{9D8B030D-6E8A-4147-A177-3AD203B41FA5}">
                      <a16:colId xmlns:a16="http://schemas.microsoft.com/office/drawing/2014/main" val="3027041370"/>
                    </a:ext>
                  </a:extLst>
                </a:gridCol>
                <a:gridCol w="244449">
                  <a:extLst>
                    <a:ext uri="{9D8B030D-6E8A-4147-A177-3AD203B41FA5}">
                      <a16:colId xmlns:a16="http://schemas.microsoft.com/office/drawing/2014/main" val="2852526216"/>
                    </a:ext>
                  </a:extLst>
                </a:gridCol>
                <a:gridCol w="244449">
                  <a:extLst>
                    <a:ext uri="{9D8B030D-6E8A-4147-A177-3AD203B41FA5}">
                      <a16:colId xmlns:a16="http://schemas.microsoft.com/office/drawing/2014/main" val="103420222"/>
                    </a:ext>
                  </a:extLst>
                </a:gridCol>
                <a:gridCol w="244449">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DDIO_DIS</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MCLK32_O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395873" y="5681756"/>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988917884"/>
              </p:ext>
            </p:extLst>
          </p:nvPr>
        </p:nvGraphicFramePr>
        <p:xfrm>
          <a:off x="404813" y="7148051"/>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04813" y="6884965"/>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395876" y="7605929"/>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395876" y="8309360"/>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3480829460"/>
              </p:ext>
            </p:extLst>
          </p:nvPr>
        </p:nvGraphicFramePr>
        <p:xfrm>
          <a:off x="399529" y="8575976"/>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909199182"/>
              </p:ext>
            </p:extLst>
          </p:nvPr>
        </p:nvGraphicFramePr>
        <p:xfrm>
          <a:off x="395877" y="6400190"/>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3693139627"/>
              </p:ext>
            </p:extLst>
          </p:nvPr>
        </p:nvGraphicFramePr>
        <p:xfrm>
          <a:off x="395877" y="5953286"/>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3737829085"/>
              </p:ext>
            </p:extLst>
          </p:nvPr>
        </p:nvGraphicFramePr>
        <p:xfrm>
          <a:off x="399529" y="7871117"/>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Tree>
    <p:extLst>
      <p:ext uri="{BB962C8B-B14F-4D97-AF65-F5344CB8AC3E}">
        <p14:creationId xmlns:p14="http://schemas.microsoft.com/office/powerpoint/2010/main" val="207895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120787"/>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3433756438"/>
              </p:ext>
            </p:extLst>
          </p:nvPr>
        </p:nvGraphicFramePr>
        <p:xfrm>
          <a:off x="399057" y="3385561"/>
          <a:ext cx="6050312" cy="372600"/>
        </p:xfrm>
        <a:graphic>
          <a:graphicData uri="http://schemas.openxmlformats.org/drawingml/2006/table">
            <a:tbl>
              <a:tblPr firstRow="1" bandRow="1">
                <a:tableStyleId>{5C22544A-7EE6-4342-B048-85BDC9FD1C3A}</a:tableStyleId>
              </a:tblPr>
              <a:tblGrid>
                <a:gridCol w="339182">
                  <a:extLst>
                    <a:ext uri="{9D8B030D-6E8A-4147-A177-3AD203B41FA5}">
                      <a16:colId xmlns:a16="http://schemas.microsoft.com/office/drawing/2014/main" val="657570846"/>
                    </a:ext>
                  </a:extLst>
                </a:gridCol>
                <a:gridCol w="397916">
                  <a:extLst>
                    <a:ext uri="{9D8B030D-6E8A-4147-A177-3AD203B41FA5}">
                      <a16:colId xmlns:a16="http://schemas.microsoft.com/office/drawing/2014/main" val="3259894497"/>
                    </a:ext>
                  </a:extLst>
                </a:gridCol>
                <a:gridCol w="460444">
                  <a:extLst>
                    <a:ext uri="{9D8B030D-6E8A-4147-A177-3AD203B41FA5}">
                      <a16:colId xmlns:a16="http://schemas.microsoft.com/office/drawing/2014/main" val="4170535043"/>
                    </a:ext>
                  </a:extLst>
                </a:gridCol>
                <a:gridCol w="403599">
                  <a:extLst>
                    <a:ext uri="{9D8B030D-6E8A-4147-A177-3AD203B41FA5}">
                      <a16:colId xmlns:a16="http://schemas.microsoft.com/office/drawing/2014/main" val="2079070694"/>
                    </a:ext>
                  </a:extLst>
                </a:gridCol>
                <a:gridCol w="426336">
                  <a:extLst>
                    <a:ext uri="{9D8B030D-6E8A-4147-A177-3AD203B41FA5}">
                      <a16:colId xmlns:a16="http://schemas.microsoft.com/office/drawing/2014/main" val="4213315911"/>
                    </a:ext>
                  </a:extLst>
                </a:gridCol>
                <a:gridCol w="420652">
                  <a:extLst>
                    <a:ext uri="{9D8B030D-6E8A-4147-A177-3AD203B41FA5}">
                      <a16:colId xmlns:a16="http://schemas.microsoft.com/office/drawing/2014/main" val="2769999950"/>
                    </a:ext>
                  </a:extLst>
                </a:gridCol>
                <a:gridCol w="414968">
                  <a:extLst>
                    <a:ext uri="{9D8B030D-6E8A-4147-A177-3AD203B41FA5}">
                      <a16:colId xmlns:a16="http://schemas.microsoft.com/office/drawing/2014/main" val="135637185"/>
                    </a:ext>
                  </a:extLst>
                </a:gridCol>
                <a:gridCol w="420652">
                  <a:extLst>
                    <a:ext uri="{9D8B030D-6E8A-4147-A177-3AD203B41FA5}">
                      <a16:colId xmlns:a16="http://schemas.microsoft.com/office/drawing/2014/main" val="3038050475"/>
                    </a:ext>
                  </a:extLst>
                </a:gridCol>
                <a:gridCol w="414968">
                  <a:extLst>
                    <a:ext uri="{9D8B030D-6E8A-4147-A177-3AD203B41FA5}">
                      <a16:colId xmlns:a16="http://schemas.microsoft.com/office/drawing/2014/main" val="1979433044"/>
                    </a:ext>
                  </a:extLst>
                </a:gridCol>
                <a:gridCol w="393957">
                  <a:extLst>
                    <a:ext uri="{9D8B030D-6E8A-4147-A177-3AD203B41FA5}">
                      <a16:colId xmlns:a16="http://schemas.microsoft.com/office/drawing/2014/main" val="4270661649"/>
                    </a:ext>
                  </a:extLst>
                </a:gridCol>
                <a:gridCol w="423278">
                  <a:extLst>
                    <a:ext uri="{9D8B030D-6E8A-4147-A177-3AD203B41FA5}">
                      <a16:colId xmlns:a16="http://schemas.microsoft.com/office/drawing/2014/main" val="3027041370"/>
                    </a:ext>
                  </a:extLst>
                </a:gridCol>
                <a:gridCol w="423278">
                  <a:extLst>
                    <a:ext uri="{9D8B030D-6E8A-4147-A177-3AD203B41FA5}">
                      <a16:colId xmlns:a16="http://schemas.microsoft.com/office/drawing/2014/main" val="2852526216"/>
                    </a:ext>
                  </a:extLst>
                </a:gridCol>
                <a:gridCol w="423278">
                  <a:extLst>
                    <a:ext uri="{9D8B030D-6E8A-4147-A177-3AD203B41FA5}">
                      <a16:colId xmlns:a16="http://schemas.microsoft.com/office/drawing/2014/main" val="103420222"/>
                    </a:ext>
                  </a:extLst>
                </a:gridCol>
                <a:gridCol w="342442">
                  <a:extLst>
                    <a:ext uri="{9D8B030D-6E8A-4147-A177-3AD203B41FA5}">
                      <a16:colId xmlns:a16="http://schemas.microsoft.com/office/drawing/2014/main" val="1470405609"/>
                    </a:ext>
                  </a:extLst>
                </a:gridCol>
                <a:gridCol w="34536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1177929795"/>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OSC [5:0]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Tree>
    <p:extLst>
      <p:ext uri="{BB962C8B-B14F-4D97-AF65-F5344CB8AC3E}">
        <p14:creationId xmlns:p14="http://schemas.microsoft.com/office/powerpoint/2010/main" val="2259773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3821406666"/>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3883758506"/>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2441172095"/>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3927362796"/>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980406535"/>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3780845616"/>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133152123"/>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2646001020"/>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2744910554"/>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341961047"/>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2227908836"/>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690709076"/>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2085636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2044290852"/>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1669939130"/>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916114987"/>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2049329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84057"/>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1165019878"/>
              </p:ext>
            </p:extLst>
          </p:nvPr>
        </p:nvGraphicFramePr>
        <p:xfrm>
          <a:off x="887435" y="5002608"/>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775231"/>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88900" marR="4611" indent="-77788">
              <a:spcBef>
                <a:spcPts val="159"/>
              </a:spcBef>
            </a:pPr>
            <a:r>
              <a:rPr lang="en-US" sz="800" dirty="0">
                <a:latin typeface="Arial"/>
                <a:cs typeface="Arial"/>
              </a:rPr>
              <a:t>3. This document should serve as recommendation only. Other parameters may also affect soldering, so these profiles</a:t>
            </a:r>
          </a:p>
          <a:p>
            <a:pPr marL="88900" marR="4611" indent="-77788">
              <a:spcBef>
                <a:spcPts val="159"/>
              </a:spcBef>
            </a:pPr>
            <a:r>
              <a:rPr lang="en-US" sz="800" dirty="0">
                <a:latin typeface="Arial"/>
                <a:cs typeface="Arial"/>
              </a:rPr>
              <a:t>   do not guarantee absolute success.</a:t>
            </a:r>
          </a:p>
          <a:p>
            <a:pPr marL="88900" marR="4611" indent="-77788">
              <a:spcBef>
                <a:spcPts val="159"/>
              </a:spcBef>
            </a:pPr>
            <a:r>
              <a:rPr lang="en-US" sz="800" dirty="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dirty="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dirty="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821032"/>
            <a:ext cx="6048615" cy="215444"/>
          </a:xfrm>
          <a:prstGeom prst="rect">
            <a:avLst/>
          </a:prstGeom>
          <a:noFill/>
        </p:spPr>
        <p:txBody>
          <a:bodyPr vert="horz" wrap="square" lIns="0" tIns="0" rIns="0" bIns="0" rtlCol="0" anchor="ctr" anchorCtr="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9C60ED0E-AD57-0C1A-6F93-CC0040ACB422}"/>
              </a:ext>
            </a:extLst>
          </p:cNvPr>
          <p:cNvGrpSpPr/>
          <p:nvPr/>
        </p:nvGrpSpPr>
        <p:grpSpPr>
          <a:xfrm>
            <a:off x="950714" y="2048428"/>
            <a:ext cx="2017514" cy="2017631"/>
            <a:chOff x="934465" y="2137885"/>
            <a:chExt cx="1602000" cy="1602000"/>
          </a:xfrm>
        </p:grpSpPr>
        <p:sp>
          <p:nvSpPr>
            <p:cNvPr id="11" name="직사각형 10">
              <a:extLst>
                <a:ext uri="{FF2B5EF4-FFF2-40B4-BE49-F238E27FC236}">
                  <a16:creationId xmlns:a16="http://schemas.microsoft.com/office/drawing/2014/main" id="{3D19DF92-9F59-3044-EBFA-EF0F11AFF2A3}"/>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287340AB-B6AD-5634-ADF7-FE1FA3F09C12}"/>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2248BB79-0FCB-EFD4-CFAB-E3B39ACC1951}"/>
                </a:ext>
              </a:extLst>
            </p:cNvPr>
            <p:cNvSpPr txBox="1"/>
            <p:nvPr/>
          </p:nvSpPr>
          <p:spPr>
            <a:xfrm>
              <a:off x="951974" y="3353975"/>
              <a:ext cx="356656" cy="158844"/>
            </a:xfrm>
            <a:prstGeom prst="rect">
              <a:avLst/>
            </a:prstGeom>
            <a:noFill/>
            <a:ln w="12700">
              <a:noFill/>
            </a:ln>
          </p:spPr>
          <p:txBody>
            <a:bodyPr wrap="none" rtlCol="0">
              <a:spAutoFit/>
            </a:bodyPr>
            <a:lstStyle/>
            <a:p>
              <a:r>
                <a:rPr lang="en-US" altLang="ko-KR" sz="700" b="1" dirty="0">
                  <a:latin typeface="Arial" panose="020B0604020202020204" pitchFamily="34" charset="0"/>
                  <a:cs typeface="Arial" panose="020B0604020202020204" pitchFamily="34" charset="0"/>
                </a:rPr>
                <a:t>Pin #1</a:t>
              </a:r>
              <a:endParaRPr lang="ko-KR" altLang="en-US" sz="700" b="1" dirty="0">
                <a:latin typeface="Arial" panose="020B0604020202020204" pitchFamily="34" charset="0"/>
                <a:cs typeface="Arial" panose="020B0604020202020204" pitchFamily="34" charset="0"/>
              </a:endParaRPr>
            </a:p>
          </p:txBody>
        </p:sp>
      </p:grpSp>
      <p:cxnSp>
        <p:nvCxnSpPr>
          <p:cNvPr id="16" name="직선 연결선 15">
            <a:extLst>
              <a:ext uri="{FF2B5EF4-FFF2-40B4-BE49-F238E27FC236}">
                <a16:creationId xmlns:a16="http://schemas.microsoft.com/office/drawing/2014/main" id="{E19A48B9-465F-F4D6-3E89-3F5D2910A501}"/>
              </a:ext>
            </a:extLst>
          </p:cNvPr>
          <p:cNvCxnSpPr>
            <a:cxnSpLocks/>
          </p:cNvCxnSpPr>
          <p:nvPr/>
        </p:nvCxnSpPr>
        <p:spPr>
          <a:xfrm flipH="1">
            <a:off x="597482" y="2048428"/>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56C4A0A-FF8D-5068-A502-B7BAD42ED1C7}"/>
              </a:ext>
            </a:extLst>
          </p:cNvPr>
          <p:cNvCxnSpPr/>
          <p:nvPr/>
        </p:nvCxnSpPr>
        <p:spPr>
          <a:xfrm>
            <a:off x="719771" y="2070516"/>
            <a:ext cx="0" cy="1949621"/>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6D4D303-6224-F151-37E5-B0A4D8D7A78B}"/>
              </a:ext>
            </a:extLst>
          </p:cNvPr>
          <p:cNvCxnSpPr>
            <a:cxnSpLocks/>
          </p:cNvCxnSpPr>
          <p:nvPr/>
        </p:nvCxnSpPr>
        <p:spPr>
          <a:xfrm flipH="1">
            <a:off x="584089" y="4038652"/>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1E345FC-BBC1-3AB8-A8F7-63ED9CDE56BB}"/>
              </a:ext>
            </a:extLst>
          </p:cNvPr>
          <p:cNvCxnSpPr>
            <a:cxnSpLocks/>
          </p:cNvCxnSpPr>
          <p:nvPr/>
        </p:nvCxnSpPr>
        <p:spPr>
          <a:xfrm rot="5400000" flipH="1" flipV="1">
            <a:off x="829249" y="4247781"/>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A62870C1-DF60-9007-6351-2B99C6751217}"/>
              </a:ext>
            </a:extLst>
          </p:cNvPr>
          <p:cNvCxnSpPr>
            <a:cxnSpLocks/>
          </p:cNvCxnSpPr>
          <p:nvPr/>
        </p:nvCxnSpPr>
        <p:spPr>
          <a:xfrm rot="5400000" flipH="1" flipV="1">
            <a:off x="2836324" y="4246566"/>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D46AC9AF-AC12-D6DA-8BED-08211461B132}"/>
              </a:ext>
            </a:extLst>
          </p:cNvPr>
          <p:cNvCxnSpPr>
            <a:cxnSpLocks/>
          </p:cNvCxnSpPr>
          <p:nvPr/>
        </p:nvCxnSpPr>
        <p:spPr>
          <a:xfrm flipH="1">
            <a:off x="957663" y="4240456"/>
            <a:ext cx="1994845"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5F43BF8-D5E2-952B-D8F5-804FC641D419}"/>
              </a:ext>
            </a:extLst>
          </p:cNvPr>
          <p:cNvSpPr txBox="1"/>
          <p:nvPr/>
        </p:nvSpPr>
        <p:spPr>
          <a:xfrm>
            <a:off x="1911804" y="4155817"/>
            <a:ext cx="86562" cy="169277"/>
          </a:xfrm>
          <a:prstGeom prst="rect">
            <a:avLst/>
          </a:prstGeom>
          <a:solidFill>
            <a:schemeClr val="bg1"/>
          </a:solidFill>
        </p:spPr>
        <p:txBody>
          <a:bodyPr wrap="none" lIns="0" tIns="0" rIns="0" bIns="0" rtlCol="0" anchor="ctr" anchorCtr="0">
            <a:spAutoFit/>
          </a:bodyPr>
          <a:lstStyle/>
          <a:p>
            <a:r>
              <a:rPr lang="en-US" altLang="ko-KR" sz="1100" dirty="0"/>
              <a:t>D</a:t>
            </a:r>
            <a:endParaRPr lang="ko-KR" altLang="en-US" sz="1100" dirty="0"/>
          </a:p>
        </p:txBody>
      </p:sp>
      <p:graphicFrame>
        <p:nvGraphicFramePr>
          <p:cNvPr id="7" name="object 2">
            <a:extLst>
              <a:ext uri="{FF2B5EF4-FFF2-40B4-BE49-F238E27FC236}">
                <a16:creationId xmlns:a16="http://schemas.microsoft.com/office/drawing/2014/main" id="{0B9B7991-237F-E7E6-7D59-BFB5F34D7471}"/>
              </a:ext>
            </a:extLst>
          </p:cNvPr>
          <p:cNvGraphicFramePr>
            <a:graphicFrameLocks noGrp="1"/>
          </p:cNvGraphicFramePr>
          <p:nvPr>
            <p:extLst>
              <p:ext uri="{D42A27DB-BD31-4B8C-83A1-F6EECF244321}">
                <p14:modId xmlns:p14="http://schemas.microsoft.com/office/powerpoint/2010/main" val="2803515141"/>
              </p:ext>
            </p:extLst>
          </p:nvPr>
        </p:nvGraphicFramePr>
        <p:xfrm>
          <a:off x="3919794" y="4723738"/>
          <a:ext cx="2359085" cy="3561530"/>
        </p:xfrm>
        <a:graphic>
          <a:graphicData uri="http://schemas.openxmlformats.org/drawingml/2006/table">
            <a:tbl>
              <a:tblPr firstRow="1" bandRow="1">
                <a:tableStyleId>{2D5ABB26-0587-4C30-8999-92F81FD0307C}</a:tableStyleId>
              </a:tblPr>
              <a:tblGrid>
                <a:gridCol w="693962">
                  <a:extLst>
                    <a:ext uri="{9D8B030D-6E8A-4147-A177-3AD203B41FA5}">
                      <a16:colId xmlns:a16="http://schemas.microsoft.com/office/drawing/2014/main" val="20000"/>
                    </a:ext>
                  </a:extLst>
                </a:gridCol>
                <a:gridCol w="556456">
                  <a:extLst>
                    <a:ext uri="{9D8B030D-6E8A-4147-A177-3AD203B41FA5}">
                      <a16:colId xmlns:a16="http://schemas.microsoft.com/office/drawing/2014/main" val="20001"/>
                    </a:ext>
                  </a:extLst>
                </a:gridCol>
                <a:gridCol w="545379">
                  <a:extLst>
                    <a:ext uri="{9D8B030D-6E8A-4147-A177-3AD203B41FA5}">
                      <a16:colId xmlns:a16="http://schemas.microsoft.com/office/drawing/2014/main" val="4065758931"/>
                    </a:ext>
                  </a:extLst>
                </a:gridCol>
                <a:gridCol w="563288">
                  <a:extLst>
                    <a:ext uri="{9D8B030D-6E8A-4147-A177-3AD203B41FA5}">
                      <a16:colId xmlns:a16="http://schemas.microsoft.com/office/drawing/2014/main" val="20002"/>
                    </a:ext>
                  </a:extLst>
                </a:gridCol>
              </a:tblGrid>
              <a:tr h="229005">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9005">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extLst>
                  <a:ext uri="{0D108BD9-81ED-4DB2-BD59-A6C34878D82A}">
                    <a16:rowId xmlns:a16="http://schemas.microsoft.com/office/drawing/2014/main" val="232165706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15945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2" name="TextBox 11">
            <a:extLst>
              <a:ext uri="{FF2B5EF4-FFF2-40B4-BE49-F238E27FC236}">
                <a16:creationId xmlns:a16="http://schemas.microsoft.com/office/drawing/2014/main" id="{C0A64E1C-33EA-1238-5141-A68DDCF8FC0C}"/>
              </a:ext>
            </a:extLst>
          </p:cNvPr>
          <p:cNvSpPr txBox="1"/>
          <p:nvPr/>
        </p:nvSpPr>
        <p:spPr>
          <a:xfrm>
            <a:off x="1598278" y="4634214"/>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8" name="object 84">
            <a:extLst>
              <a:ext uri="{FF2B5EF4-FFF2-40B4-BE49-F238E27FC236}">
                <a16:creationId xmlns:a16="http://schemas.microsoft.com/office/drawing/2014/main" id="{1E9A1E01-6F1D-EB23-92C6-9C650F0B90D6}"/>
              </a:ext>
            </a:extLst>
          </p:cNvPr>
          <p:cNvSpPr txBox="1"/>
          <p:nvPr/>
        </p:nvSpPr>
        <p:spPr>
          <a:xfrm>
            <a:off x="2660200" y="8815546"/>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sp>
        <p:nvSpPr>
          <p:cNvPr id="28" name="object 3">
            <a:extLst>
              <a:ext uri="{FF2B5EF4-FFF2-40B4-BE49-F238E27FC236}">
                <a16:creationId xmlns:a16="http://schemas.microsoft.com/office/drawing/2014/main" id="{21C39B93-B2F1-FB91-1EEE-E0B3D0A972CA}"/>
              </a:ext>
            </a:extLst>
          </p:cNvPr>
          <p:cNvSpPr txBox="1"/>
          <p:nvPr/>
        </p:nvSpPr>
        <p:spPr>
          <a:xfrm>
            <a:off x="2363268" y="1188584"/>
            <a:ext cx="2062039" cy="169277"/>
          </a:xfrm>
          <a:prstGeom prst="rect">
            <a:avLst/>
          </a:prstGeom>
        </p:spPr>
        <p:txBody>
          <a:bodyPr vert="horz" wrap="none" lIns="0" tIns="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sp>
        <p:nvSpPr>
          <p:cNvPr id="24" name="TextBox 23">
            <a:extLst>
              <a:ext uri="{FF2B5EF4-FFF2-40B4-BE49-F238E27FC236}">
                <a16:creationId xmlns:a16="http://schemas.microsoft.com/office/drawing/2014/main" id="{6F1D99D7-953D-A0B1-E3C7-F81D54B49737}"/>
              </a:ext>
            </a:extLst>
          </p:cNvPr>
          <p:cNvSpPr txBox="1"/>
          <p:nvPr/>
        </p:nvSpPr>
        <p:spPr>
          <a:xfrm>
            <a:off x="683684" y="2939513"/>
            <a:ext cx="68930" cy="169277"/>
          </a:xfrm>
          <a:prstGeom prst="rect">
            <a:avLst/>
          </a:prstGeom>
          <a:solidFill>
            <a:schemeClr val="bg1"/>
          </a:solidFill>
        </p:spPr>
        <p:txBody>
          <a:bodyPr wrap="none" lIns="0" tIns="0" rIns="0" bIns="0" rtlCol="0" anchor="ctr" anchorCtr="0">
            <a:spAutoFit/>
          </a:bodyPr>
          <a:lstStyle/>
          <a:p>
            <a:r>
              <a:rPr lang="en-US" altLang="ko-KR" sz="1100" dirty="0"/>
              <a:t>E</a:t>
            </a:r>
            <a:endParaRPr lang="ko-KR" altLang="en-US" sz="1100" dirty="0"/>
          </a:p>
        </p:txBody>
      </p:sp>
      <p:pic>
        <p:nvPicPr>
          <p:cNvPr id="5" name="그림 4">
            <a:extLst>
              <a:ext uri="{FF2B5EF4-FFF2-40B4-BE49-F238E27FC236}">
                <a16:creationId xmlns:a16="http://schemas.microsoft.com/office/drawing/2014/main" id="{663B7B1A-304F-B0CE-AD67-2365D48781A7}"/>
              </a:ext>
            </a:extLst>
          </p:cNvPr>
          <p:cNvPicPr>
            <a:picLocks noChangeAspect="1"/>
          </p:cNvPicPr>
          <p:nvPr/>
        </p:nvPicPr>
        <p:blipFill>
          <a:blip r:embed="rId2"/>
          <a:srcRect l="5862" t="4574" r="3323"/>
          <a:stretch/>
        </p:blipFill>
        <p:spPr>
          <a:xfrm>
            <a:off x="3429000" y="1792205"/>
            <a:ext cx="3169411" cy="2742145"/>
          </a:xfrm>
          <a:prstGeom prst="rect">
            <a:avLst/>
          </a:prstGeom>
        </p:spPr>
      </p:pic>
      <p:sp>
        <p:nvSpPr>
          <p:cNvPr id="15" name="TextBox 14">
            <a:extLst>
              <a:ext uri="{FF2B5EF4-FFF2-40B4-BE49-F238E27FC236}">
                <a16:creationId xmlns:a16="http://schemas.microsoft.com/office/drawing/2014/main" id="{0CB09810-A151-C751-9644-0DADE9A706F0}"/>
              </a:ext>
            </a:extLst>
          </p:cNvPr>
          <p:cNvSpPr txBox="1"/>
          <p:nvPr/>
        </p:nvSpPr>
        <p:spPr>
          <a:xfrm>
            <a:off x="1598278" y="1591805"/>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40700C89-2519-CBD2-F48D-BD62E4479CF3}"/>
              </a:ext>
            </a:extLst>
          </p:cNvPr>
          <p:cNvSpPr txBox="1"/>
          <p:nvPr/>
        </p:nvSpPr>
        <p:spPr>
          <a:xfrm>
            <a:off x="4479475" y="1592262"/>
            <a:ext cx="910506"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pic>
        <p:nvPicPr>
          <p:cNvPr id="9" name="그림 8">
            <a:extLst>
              <a:ext uri="{FF2B5EF4-FFF2-40B4-BE49-F238E27FC236}">
                <a16:creationId xmlns:a16="http://schemas.microsoft.com/office/drawing/2014/main" id="{02FD8DDD-4218-E119-5947-7CFC848EC676}"/>
              </a:ext>
            </a:extLst>
          </p:cNvPr>
          <p:cNvPicPr>
            <a:picLocks noChangeAspect="1"/>
          </p:cNvPicPr>
          <p:nvPr/>
        </p:nvPicPr>
        <p:blipFill>
          <a:blip r:embed="rId3"/>
          <a:stretch>
            <a:fillRect/>
          </a:stretch>
        </p:blipFill>
        <p:spPr>
          <a:xfrm>
            <a:off x="404813" y="4943255"/>
            <a:ext cx="2684442" cy="989696"/>
          </a:xfrm>
          <a:prstGeom prst="rect">
            <a:avLst/>
          </a:prstGeom>
        </p:spPr>
      </p:pic>
      <p:sp>
        <p:nvSpPr>
          <p:cNvPr id="2" name="object 84">
            <a:extLst>
              <a:ext uri="{FF2B5EF4-FFF2-40B4-BE49-F238E27FC236}">
                <a16:creationId xmlns:a16="http://schemas.microsoft.com/office/drawing/2014/main" id="{49553C9C-3EB1-76D2-3EC1-977A0C15A833}"/>
              </a:ext>
            </a:extLst>
          </p:cNvPr>
          <p:cNvSpPr txBox="1"/>
          <p:nvPr/>
        </p:nvSpPr>
        <p:spPr>
          <a:xfrm>
            <a:off x="3556004" y="8313738"/>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dirty="0">
                <a:solidFill>
                  <a:srgbClr val="0000FF"/>
                </a:solidFill>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dirty="0">
                <a:solidFill>
                  <a:srgbClr val="0000FF"/>
                </a:solidFill>
                <a:latin typeface="Arial" panose="020B0604020202020204" pitchFamily="34" charset="0"/>
                <a:cs typeface="Arial" panose="020B0604020202020204" pitchFamily="34" charset="0"/>
              </a:rPr>
              <a:t>All Dimensions Do Not Include mold flash or Protrusions.</a:t>
            </a:r>
            <a:endParaRPr kumimoji="0" lang="en-US" sz="900" spc="15" dirty="0">
              <a:solidFill>
                <a:srgbClr val="0000F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31963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0DD466F-9B47-792A-F435-9A24E8AC7310}"/>
              </a:ext>
            </a:extLst>
          </p:cNvPr>
          <p:cNvPicPr>
            <a:picLocks noChangeAspect="1"/>
          </p:cNvPicPr>
          <p:nvPr/>
        </p:nvPicPr>
        <p:blipFill>
          <a:blip r:embed="rId2"/>
          <a:stretch>
            <a:fillRect/>
          </a:stretch>
        </p:blipFill>
        <p:spPr>
          <a:xfrm>
            <a:off x="336089" y="1497985"/>
            <a:ext cx="3493136" cy="2842803"/>
          </a:xfrm>
          <a:prstGeom prst="rect">
            <a:avLst/>
          </a:prstGeom>
        </p:spPr>
      </p:pic>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670" y="7896850"/>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aphicFrame>
        <p:nvGraphicFramePr>
          <p:cNvPr id="14" name="object 2">
            <a:extLst>
              <a:ext uri="{FF2B5EF4-FFF2-40B4-BE49-F238E27FC236}">
                <a16:creationId xmlns:a16="http://schemas.microsoft.com/office/drawing/2014/main" id="{0DA3FDB8-0BB8-62D3-FA2F-DE8AFC70CBAD}"/>
              </a:ext>
            </a:extLst>
          </p:cNvPr>
          <p:cNvGraphicFramePr>
            <a:graphicFrameLocks noGrp="1"/>
          </p:cNvGraphicFramePr>
          <p:nvPr>
            <p:extLst>
              <p:ext uri="{D42A27DB-BD31-4B8C-83A1-F6EECF244321}">
                <p14:modId xmlns:p14="http://schemas.microsoft.com/office/powerpoint/2010/main" val="1006928386"/>
              </p:ext>
            </p:extLst>
          </p:nvPr>
        </p:nvGraphicFramePr>
        <p:xfrm>
          <a:off x="4775344" y="1565464"/>
          <a:ext cx="1716147" cy="3331205"/>
        </p:xfrm>
        <a:graphic>
          <a:graphicData uri="http://schemas.openxmlformats.org/drawingml/2006/table">
            <a:tbl>
              <a:tblPr firstRow="1" bandRow="1">
                <a:tableStyleId>{2D5ABB26-0587-4C30-8999-92F81FD0307C}</a:tableStyleId>
              </a:tblPr>
              <a:tblGrid>
                <a:gridCol w="500380">
                  <a:extLst>
                    <a:ext uri="{9D8B030D-6E8A-4147-A177-3AD203B41FA5}">
                      <a16:colId xmlns:a16="http://schemas.microsoft.com/office/drawing/2014/main" val="20000"/>
                    </a:ext>
                  </a:extLst>
                </a:gridCol>
                <a:gridCol w="607830">
                  <a:extLst>
                    <a:ext uri="{9D8B030D-6E8A-4147-A177-3AD203B41FA5}">
                      <a16:colId xmlns:a16="http://schemas.microsoft.com/office/drawing/2014/main" val="20001"/>
                    </a:ext>
                  </a:extLst>
                </a:gridCol>
                <a:gridCol w="607937">
                  <a:extLst>
                    <a:ext uri="{9D8B030D-6E8A-4147-A177-3AD203B41FA5}">
                      <a16:colId xmlns:a16="http://schemas.microsoft.com/office/drawing/2014/main" val="20002"/>
                    </a:ext>
                  </a:extLst>
                </a:gridCol>
              </a:tblGrid>
              <a:tr h="296388">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50209">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5896170"/>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X</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Y</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C</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1.9</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1.6</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G</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G2</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b="0" spc="-15" dirty="0">
                          <a:latin typeface="Arial" panose="020B0604020202020204" pitchFamily="34" charset="0"/>
                          <a:cs typeface="Arial" panose="020B0604020202020204" pitchFamily="34" charset="0"/>
                        </a:rPr>
                        <a:t>G4</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bl>
          </a:graphicData>
        </a:graphic>
      </p:graphicFrame>
      <p:sp>
        <p:nvSpPr>
          <p:cNvPr id="18" name="object 84">
            <a:extLst>
              <a:ext uri="{FF2B5EF4-FFF2-40B4-BE49-F238E27FC236}">
                <a16:creationId xmlns:a16="http://schemas.microsoft.com/office/drawing/2014/main" id="{E30F228C-2DA5-3423-A961-6C3D1420DF3F}"/>
              </a:ext>
            </a:extLst>
          </p:cNvPr>
          <p:cNvSpPr txBox="1"/>
          <p:nvPr/>
        </p:nvSpPr>
        <p:spPr>
          <a:xfrm>
            <a:off x="1074047" y="4686880"/>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6F863B-59A5-4DCE-B63F-FE618623F17F}">
  <ds:schemaRefs>
    <ds:schemaRef ds:uri="http://purl.org/dc/terms/"/>
    <ds:schemaRef ds:uri="http://schemas.openxmlformats.org/package/2006/metadata/core-properties"/>
    <ds:schemaRef ds:uri="http://www.w3.org/XML/1998/namespace"/>
    <ds:schemaRef ds:uri="http://schemas.microsoft.com/office/2006/metadata/properties"/>
    <ds:schemaRef ds:uri="http://purl.org/dc/elements/1.1/"/>
    <ds:schemaRef ds:uri="http://purl.org/dc/dcmitype/"/>
    <ds:schemaRef ds:uri="b68af7c0-9cef-4e12-8243-523fceba86ee"/>
    <ds:schemaRef ds:uri="http://schemas.microsoft.com/office/2006/documentManagement/types"/>
    <ds:schemaRef ds:uri="http://schemas.microsoft.com/office/infopath/2007/PartnerControls"/>
  </ds:schemaRefs>
</ds:datastoreItem>
</file>

<file path=customXml/itemProps2.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3.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54053</TotalTime>
  <Words>10122</Words>
  <Application>Microsoft Office PowerPoint</Application>
  <PresentationFormat>A4 용지(210x297mm)</PresentationFormat>
  <Paragraphs>3247</Paragraphs>
  <Slides>33</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33</vt:i4>
      </vt:variant>
    </vt:vector>
  </HeadingPairs>
  <TitlesOfParts>
    <vt:vector size="39" baseType="lpstr">
      <vt:lpstr>Microsoft GothicNeo</vt:lpstr>
      <vt:lpstr>굴림</vt:lpstr>
      <vt:lpstr>맑은 고딕</vt:lpstr>
      <vt:lpstr>Arial</vt:lpstr>
      <vt:lpstr>Calibri</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엄 윤섭</cp:lastModifiedBy>
  <cp:revision>1884</cp:revision>
  <cp:lastPrinted>2023-08-01T07:21:23Z</cp:lastPrinted>
  <dcterms:created xsi:type="dcterms:W3CDTF">2020-06-17T04:27:48Z</dcterms:created>
  <dcterms:modified xsi:type="dcterms:W3CDTF">2025-07-25T04:32:26Z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