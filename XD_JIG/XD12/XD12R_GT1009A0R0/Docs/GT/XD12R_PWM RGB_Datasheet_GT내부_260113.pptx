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44"/>
  </p:notesMasterIdLst>
  <p:handoutMasterIdLst>
    <p:handoutMasterId r:id="rId45"/>
  </p:handoutMasterIdLst>
  <p:sldIdLst>
    <p:sldId id="266" r:id="rId5"/>
    <p:sldId id="385" r:id="rId6"/>
    <p:sldId id="277" r:id="rId7"/>
    <p:sldId id="278" r:id="rId8"/>
    <p:sldId id="279" r:id="rId9"/>
    <p:sldId id="420" r:id="rId10"/>
    <p:sldId id="276" r:id="rId11"/>
    <p:sldId id="417" r:id="rId12"/>
    <p:sldId id="418" r:id="rId13"/>
    <p:sldId id="287" r:id="rId14"/>
    <p:sldId id="434" r:id="rId15"/>
    <p:sldId id="419" r:id="rId16"/>
    <p:sldId id="433" r:id="rId17"/>
    <p:sldId id="719" r:id="rId18"/>
    <p:sldId id="722" r:id="rId19"/>
    <p:sldId id="717" r:id="rId20"/>
    <p:sldId id="718" r:id="rId21"/>
    <p:sldId id="432" r:id="rId22"/>
    <p:sldId id="293" r:id="rId23"/>
    <p:sldId id="427" r:id="rId24"/>
    <p:sldId id="330" r:id="rId25"/>
    <p:sldId id="414" r:id="rId26"/>
    <p:sldId id="412" r:id="rId27"/>
    <p:sldId id="407" r:id="rId28"/>
    <p:sldId id="723" r:id="rId29"/>
    <p:sldId id="409" r:id="rId30"/>
    <p:sldId id="422" r:id="rId31"/>
    <p:sldId id="720" r:id="rId32"/>
    <p:sldId id="721" r:id="rId33"/>
    <p:sldId id="415" r:id="rId34"/>
    <p:sldId id="410" r:id="rId35"/>
    <p:sldId id="425" r:id="rId36"/>
    <p:sldId id="426" r:id="rId37"/>
    <p:sldId id="413" r:id="rId38"/>
    <p:sldId id="714" r:id="rId39"/>
    <p:sldId id="715" r:id="rId40"/>
    <p:sldId id="716" r:id="rId41"/>
    <p:sldId id="421" r:id="rId42"/>
    <p:sldId id="348" r:id="rId43"/>
  </p:sldIdLst>
  <p:sldSz cx="6858000" cy="9906000" type="A4"/>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0" pos="346" userDrawn="1">
          <p15:clr>
            <a:srgbClr val="A4A3A4"/>
          </p15:clr>
        </p15:guide>
        <p15:guide id="14" pos="2659" userDrawn="1">
          <p15:clr>
            <a:srgbClr val="A4A3A4"/>
          </p15:clr>
        </p15:guide>
        <p15:guide id="20" orient="horz" pos="5433" userDrawn="1">
          <p15:clr>
            <a:srgbClr val="A4A3A4"/>
          </p15:clr>
        </p15:guide>
        <p15:guide id="22" orient="horz" pos="2916" userDrawn="1">
          <p15:clr>
            <a:srgbClr val="A4A3A4"/>
          </p15:clr>
        </p15:guide>
        <p15:guide id="24" pos="4065" userDrawn="1">
          <p15:clr>
            <a:srgbClr val="A4A3A4"/>
          </p15:clr>
        </p15:guide>
        <p15:guide id="25" pos="1911" userDrawn="1">
          <p15:clr>
            <a:srgbClr val="A4A3A4"/>
          </p15:clr>
        </p15:guide>
        <p15:guide id="26" orient="horz" pos="4345"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D5FA65B-5604-BE03-608B-F6122C8A8655}" name="dongil kim" initials="dk" userId="1a02b3e6538b5a48" providerId="Windows Live"/>
  <p188:author id="{C8DF6CCE-C23F-CF43-834D-8616D3F5DBC8}" name="Jaeeun Nam" initials="JE" userId="Jaeeun Nam" providerId="None"/>
  <p188:author id="{5E03ACD7-6916-F275-5442-2DA38665A9F9}" name="엄 윤섭" initials="윤엄" userId="S::yseom@solutionkorea.onmicrosoft.com::6f549fa0-d0b0-4839-be30-c990f199dea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on dongkook" initials="sd" lastIdx="1" clrIdx="0">
    <p:extLst>
      <p:ext uri="{19B8F6BF-5375-455C-9EA6-DF929625EA0E}">
        <p15:presenceInfo xmlns:p15="http://schemas.microsoft.com/office/powerpoint/2012/main" userId="99770237f39f986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EB"/>
    <a:srgbClr val="FFD1D1"/>
    <a:srgbClr val="FF00FF"/>
    <a:srgbClr val="BDD8FF"/>
    <a:srgbClr val="B3FFB3"/>
    <a:srgbClr val="FFC5FF"/>
    <a:srgbClr val="0066FF"/>
    <a:srgbClr val="CCFFFF"/>
    <a:srgbClr val="E6E6E6"/>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F9A9B3-F8AD-4F2A-88E9-1D56D6315FCB}" v="3" dt="2026-01-13T07:26:45.019"/>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322" autoAdjust="0"/>
    <p:restoredTop sz="95388" autoAdjust="0"/>
  </p:normalViewPr>
  <p:slideViewPr>
    <p:cSldViewPr snapToGrid="0">
      <p:cViewPr varScale="1">
        <p:scale>
          <a:sx n="77" d="100"/>
          <a:sy n="77" d="100"/>
        </p:scale>
        <p:origin x="3630" y="102"/>
      </p:cViewPr>
      <p:guideLst>
        <p:guide pos="346"/>
        <p:guide pos="2659"/>
        <p:guide orient="horz" pos="5433"/>
        <p:guide orient="horz" pos="2916"/>
        <p:guide pos="4065"/>
        <p:guide pos="1911"/>
        <p:guide orient="horz" pos="4345"/>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102" d="100"/>
          <a:sy n="102" d="100"/>
        </p:scale>
        <p:origin x="3028" y="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52"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6BD34A0D-62E5-4126-B420-4B8945E29C66}"/>
              </a:ext>
            </a:extLst>
          </p:cNvPr>
          <p:cNvSpPr>
            <a:spLocks noGrp="1"/>
          </p:cNvSpPr>
          <p:nvPr>
            <p:ph type="hdr" sz="quarter"/>
          </p:nvPr>
        </p:nvSpPr>
        <p:spPr>
          <a:xfrm>
            <a:off x="0" y="0"/>
            <a:ext cx="2946400" cy="496888"/>
          </a:xfrm>
          <a:prstGeom prst="rect">
            <a:avLst/>
          </a:prstGeom>
        </p:spPr>
        <p:txBody>
          <a:bodyPr vert="horz" lIns="91431" tIns="45715" rIns="91431" bIns="45715" rtlCol="0"/>
          <a:lstStyle>
            <a:lvl1pPr algn="l">
              <a:defRPr sz="1200"/>
            </a:lvl1pPr>
          </a:lstStyle>
          <a:p>
            <a:endParaRPr lang="ko-KR" altLang="en-US" dirty="0"/>
          </a:p>
        </p:txBody>
      </p:sp>
      <p:sp>
        <p:nvSpPr>
          <p:cNvPr id="3" name="날짜 개체 틀 2">
            <a:extLst>
              <a:ext uri="{FF2B5EF4-FFF2-40B4-BE49-F238E27FC236}">
                <a16:creationId xmlns:a16="http://schemas.microsoft.com/office/drawing/2014/main" id="{6CD09051-50E8-45CF-8F91-5640B4F504F1}"/>
              </a:ext>
            </a:extLst>
          </p:cNvPr>
          <p:cNvSpPr>
            <a:spLocks noGrp="1"/>
          </p:cNvSpPr>
          <p:nvPr>
            <p:ph type="dt" sz="quarter" idx="1"/>
          </p:nvPr>
        </p:nvSpPr>
        <p:spPr>
          <a:xfrm>
            <a:off x="3849688" y="0"/>
            <a:ext cx="2946400" cy="496888"/>
          </a:xfrm>
          <a:prstGeom prst="rect">
            <a:avLst/>
          </a:prstGeom>
        </p:spPr>
        <p:txBody>
          <a:bodyPr vert="horz" lIns="91431" tIns="45715" rIns="91431" bIns="45715" rtlCol="0"/>
          <a:lstStyle>
            <a:lvl1pPr algn="r">
              <a:defRPr sz="1200"/>
            </a:lvl1pPr>
          </a:lstStyle>
          <a:p>
            <a:fld id="{2281637F-B6E0-4E7F-AD60-C289DCB0986F}" type="datetimeFigureOut">
              <a:rPr lang="ko-KR" altLang="en-US" smtClean="0"/>
              <a:t>2026-01-13 (Tue)</a:t>
            </a:fld>
            <a:endParaRPr lang="ko-KR" altLang="en-US" dirty="0"/>
          </a:p>
        </p:txBody>
      </p:sp>
      <p:sp>
        <p:nvSpPr>
          <p:cNvPr id="4" name="바닥글 개체 틀 3">
            <a:extLst>
              <a:ext uri="{FF2B5EF4-FFF2-40B4-BE49-F238E27FC236}">
                <a16:creationId xmlns:a16="http://schemas.microsoft.com/office/drawing/2014/main" id="{DDF8D031-E1F4-4D34-8C66-5F846CCEFA41}"/>
              </a:ext>
            </a:extLst>
          </p:cNvPr>
          <p:cNvSpPr>
            <a:spLocks noGrp="1"/>
          </p:cNvSpPr>
          <p:nvPr>
            <p:ph type="ftr" sz="quarter" idx="2"/>
          </p:nvPr>
        </p:nvSpPr>
        <p:spPr>
          <a:xfrm>
            <a:off x="0" y="9429750"/>
            <a:ext cx="2946400" cy="496888"/>
          </a:xfrm>
          <a:prstGeom prst="rect">
            <a:avLst/>
          </a:prstGeom>
        </p:spPr>
        <p:txBody>
          <a:bodyPr vert="horz" lIns="91431" tIns="45715" rIns="91431" bIns="45715" rtlCol="0" anchor="b"/>
          <a:lstStyle>
            <a:lvl1pPr algn="l">
              <a:defRPr sz="1200"/>
            </a:lvl1pPr>
          </a:lstStyle>
          <a:p>
            <a:endParaRPr lang="ko-KR" altLang="en-US" dirty="0"/>
          </a:p>
        </p:txBody>
      </p:sp>
      <p:sp>
        <p:nvSpPr>
          <p:cNvPr id="5" name="슬라이드 번호 개체 틀 4">
            <a:extLst>
              <a:ext uri="{FF2B5EF4-FFF2-40B4-BE49-F238E27FC236}">
                <a16:creationId xmlns:a16="http://schemas.microsoft.com/office/drawing/2014/main" id="{4D21CD1D-D96D-4EBE-978F-F2636A42F1C9}"/>
              </a:ext>
            </a:extLst>
          </p:cNvPr>
          <p:cNvSpPr>
            <a:spLocks noGrp="1"/>
          </p:cNvSpPr>
          <p:nvPr>
            <p:ph type="sldNum" sz="quarter" idx="3"/>
          </p:nvPr>
        </p:nvSpPr>
        <p:spPr>
          <a:xfrm>
            <a:off x="3849688" y="9429750"/>
            <a:ext cx="2946400" cy="496888"/>
          </a:xfrm>
          <a:prstGeom prst="rect">
            <a:avLst/>
          </a:prstGeom>
        </p:spPr>
        <p:txBody>
          <a:bodyPr vert="horz" lIns="91431" tIns="45715" rIns="91431" bIns="45715" rtlCol="0" anchor="b"/>
          <a:lstStyle>
            <a:lvl1pPr algn="r">
              <a:defRPr sz="1200"/>
            </a:lvl1pPr>
          </a:lstStyle>
          <a:p>
            <a:fld id="{BB9A4DEB-4C72-49D7-9C33-58C15789186D}" type="slidenum">
              <a:rPr lang="ko-KR" altLang="en-US" smtClean="0"/>
              <a:t>‹#›</a:t>
            </a:fld>
            <a:endParaRPr lang="ko-KR" altLang="en-US" dirty="0"/>
          </a:p>
        </p:txBody>
      </p:sp>
    </p:spTree>
    <p:extLst>
      <p:ext uri="{BB962C8B-B14F-4D97-AF65-F5344CB8AC3E}">
        <p14:creationId xmlns:p14="http://schemas.microsoft.com/office/powerpoint/2010/main" val="3703748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45659" cy="498056"/>
          </a:xfrm>
          <a:prstGeom prst="rect">
            <a:avLst/>
          </a:prstGeom>
        </p:spPr>
        <p:txBody>
          <a:bodyPr vert="horz" lIns="91431" tIns="45715" rIns="91431" bIns="45715" rtlCol="0"/>
          <a:lstStyle>
            <a:lvl1pPr algn="l">
              <a:defRPr sz="1200"/>
            </a:lvl1pPr>
          </a:lstStyle>
          <a:p>
            <a:endParaRPr lang="ko-KR" altLang="en-US" dirty="0"/>
          </a:p>
        </p:txBody>
      </p:sp>
      <p:sp>
        <p:nvSpPr>
          <p:cNvPr id="3" name="날짜 개체 틀 2"/>
          <p:cNvSpPr>
            <a:spLocks noGrp="1"/>
          </p:cNvSpPr>
          <p:nvPr>
            <p:ph type="dt" idx="1"/>
          </p:nvPr>
        </p:nvSpPr>
        <p:spPr>
          <a:xfrm>
            <a:off x="3850444" y="0"/>
            <a:ext cx="2945659" cy="498056"/>
          </a:xfrm>
          <a:prstGeom prst="rect">
            <a:avLst/>
          </a:prstGeom>
        </p:spPr>
        <p:txBody>
          <a:bodyPr vert="horz" lIns="91431" tIns="45715" rIns="91431" bIns="45715" rtlCol="0"/>
          <a:lstStyle>
            <a:lvl1pPr algn="r">
              <a:defRPr sz="1200"/>
            </a:lvl1pPr>
          </a:lstStyle>
          <a:p>
            <a:fld id="{1905B5A4-DDD3-42F4-9B43-01BA73DC80EA}" type="datetimeFigureOut">
              <a:rPr lang="ko-KR" altLang="en-US" smtClean="0"/>
              <a:t>2026-01-13 (Tue)</a:t>
            </a:fld>
            <a:endParaRPr lang="ko-KR" altLang="en-US" dirty="0"/>
          </a:p>
        </p:txBody>
      </p:sp>
      <p:sp>
        <p:nvSpPr>
          <p:cNvPr id="4" name="슬라이드 이미지 개체 틀 3"/>
          <p:cNvSpPr>
            <a:spLocks noGrp="1" noRot="1" noChangeAspect="1"/>
          </p:cNvSpPr>
          <p:nvPr>
            <p:ph type="sldImg" idx="2"/>
          </p:nvPr>
        </p:nvSpPr>
        <p:spPr>
          <a:xfrm>
            <a:off x="2239963" y="1241425"/>
            <a:ext cx="2317750" cy="3349625"/>
          </a:xfrm>
          <a:prstGeom prst="rect">
            <a:avLst/>
          </a:prstGeom>
          <a:noFill/>
          <a:ln w="12700">
            <a:solidFill>
              <a:prstClr val="black"/>
            </a:solidFill>
          </a:ln>
        </p:spPr>
        <p:txBody>
          <a:bodyPr vert="horz" lIns="91431" tIns="45715" rIns="91431" bIns="45715" rtlCol="0" anchor="ctr"/>
          <a:lstStyle/>
          <a:p>
            <a:endParaRPr lang="ko-KR" altLang="en-US" dirty="0"/>
          </a:p>
        </p:txBody>
      </p:sp>
      <p:sp>
        <p:nvSpPr>
          <p:cNvPr id="5" name="슬라이드 노트 개체 틀 4"/>
          <p:cNvSpPr>
            <a:spLocks noGrp="1"/>
          </p:cNvSpPr>
          <p:nvPr>
            <p:ph type="body" sz="quarter" idx="3"/>
          </p:nvPr>
        </p:nvSpPr>
        <p:spPr>
          <a:xfrm>
            <a:off x="679768" y="4777195"/>
            <a:ext cx="5438140" cy="3908614"/>
          </a:xfrm>
          <a:prstGeom prst="rect">
            <a:avLst/>
          </a:prstGeom>
        </p:spPr>
        <p:txBody>
          <a:bodyPr vert="horz" lIns="91431" tIns="45715" rIns="91431" bIns="45715"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1" y="9428584"/>
            <a:ext cx="2945659" cy="498055"/>
          </a:xfrm>
          <a:prstGeom prst="rect">
            <a:avLst/>
          </a:prstGeom>
        </p:spPr>
        <p:txBody>
          <a:bodyPr vert="horz" lIns="91431" tIns="45715" rIns="91431" bIns="45715"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50444" y="9428584"/>
            <a:ext cx="2945659" cy="498055"/>
          </a:xfrm>
          <a:prstGeom prst="rect">
            <a:avLst/>
          </a:prstGeom>
        </p:spPr>
        <p:txBody>
          <a:bodyPr vert="horz" lIns="91431" tIns="45715" rIns="91431" bIns="45715" rtlCol="0" anchor="b"/>
          <a:lstStyle>
            <a:lvl1pPr algn="r">
              <a:defRPr sz="1200"/>
            </a:lvl1pPr>
          </a:lstStyle>
          <a:p>
            <a:fld id="{E0166A3B-8ACD-4EFC-80A7-344EDF6621A2}" type="slidenum">
              <a:rPr lang="ko-KR" altLang="en-US" smtClean="0"/>
              <a:t>‹#›</a:t>
            </a:fld>
            <a:endParaRPr lang="ko-KR" altLang="en-US" dirty="0"/>
          </a:p>
        </p:txBody>
      </p:sp>
    </p:spTree>
    <p:extLst>
      <p:ext uri="{BB962C8B-B14F-4D97-AF65-F5344CB8AC3E}">
        <p14:creationId xmlns:p14="http://schemas.microsoft.com/office/powerpoint/2010/main" val="283462906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04D46-4B2A-9E1F-11D2-26284FF0375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C85EC52-E0D7-5FE7-630E-C954D065424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58FF159-8DD8-88A5-46CB-D908EB1460F8}"/>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FC15CD71-73F2-BA5C-BD54-0F066053DEE6}"/>
              </a:ext>
            </a:extLst>
          </p:cNvPr>
          <p:cNvSpPr>
            <a:spLocks noGrp="1"/>
          </p:cNvSpPr>
          <p:nvPr>
            <p:ph type="sldNum" sz="quarter" idx="5"/>
          </p:nvPr>
        </p:nvSpPr>
        <p:spPr/>
        <p:txBody>
          <a:bodyPr/>
          <a:lstStyle/>
          <a:p>
            <a:pPr>
              <a:defRPr/>
            </a:pPr>
            <a:fld id="{27059158-E109-4140-9926-DB4714258AF8}" type="slidenum">
              <a:rPr lang="ko-KR" altLang="en-US" smtClean="0"/>
              <a:pPr>
                <a:defRPr/>
              </a:pPr>
              <a:t>36</a:t>
            </a:fld>
            <a:endParaRPr lang="ko-KR" altLang="en-US"/>
          </a:p>
        </p:txBody>
      </p:sp>
    </p:spTree>
    <p:extLst>
      <p:ext uri="{BB962C8B-B14F-4D97-AF65-F5344CB8AC3E}">
        <p14:creationId xmlns:p14="http://schemas.microsoft.com/office/powerpoint/2010/main" val="1786470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5850A-55D8-A2EE-198B-08097A46A63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15E6C10-B918-A52D-BFAE-A2923C0917D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31BA757-7A68-BBE4-23E9-B8F111642344}"/>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04ECA705-CF13-937E-3881-0E650889DD73}"/>
              </a:ext>
            </a:extLst>
          </p:cNvPr>
          <p:cNvSpPr>
            <a:spLocks noGrp="1"/>
          </p:cNvSpPr>
          <p:nvPr>
            <p:ph type="sldNum" sz="quarter" idx="5"/>
          </p:nvPr>
        </p:nvSpPr>
        <p:spPr/>
        <p:txBody>
          <a:bodyPr/>
          <a:lstStyle/>
          <a:p>
            <a:pPr>
              <a:defRPr/>
            </a:pPr>
            <a:fld id="{27059158-E109-4140-9926-DB4714258AF8}" type="slidenum">
              <a:rPr lang="ko-KR" altLang="en-US" smtClean="0"/>
              <a:pPr>
                <a:defRPr/>
              </a:pPr>
              <a:t>37</a:t>
            </a:fld>
            <a:endParaRPr lang="ko-KR" altLang="en-US"/>
          </a:p>
        </p:txBody>
      </p:sp>
    </p:spTree>
    <p:extLst>
      <p:ext uri="{BB962C8B-B14F-4D97-AF65-F5344CB8AC3E}">
        <p14:creationId xmlns:p14="http://schemas.microsoft.com/office/powerpoint/2010/main" val="33953167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3" name="Holder 3"/>
          <p:cNvSpPr>
            <a:spLocks noGrp="1"/>
          </p:cNvSpPr>
          <p:nvPr>
            <p:ph type="body" idx="1"/>
          </p:nvPr>
        </p:nvSpPr>
        <p:spPr>
          <a:xfrm>
            <a:off x="471488" y="2637014"/>
            <a:ext cx="5915025" cy="6285266"/>
          </a:xfrm>
          <a:prstGeom prst="rect">
            <a:avLst/>
          </a:prstGeom>
        </p:spPr>
        <p:txBody>
          <a:bodyPr lIns="0" tIns="0" rIns="0" bIns="0"/>
          <a:lstStyle>
            <a:lvl1pPr>
              <a:defRPr/>
            </a:lvl1pPr>
          </a:lstStyle>
          <a:p>
            <a:endParaRPr dirty="0"/>
          </a:p>
        </p:txBody>
      </p:sp>
      <p:grpSp>
        <p:nvGrpSpPr>
          <p:cNvPr id="8" name="그룹 7">
            <a:extLst>
              <a:ext uri="{FF2B5EF4-FFF2-40B4-BE49-F238E27FC236}">
                <a16:creationId xmlns:a16="http://schemas.microsoft.com/office/drawing/2014/main" id="{2FCD22CD-A9EE-E210-7AD8-AFD633C45516}"/>
              </a:ext>
            </a:extLst>
          </p:cNvPr>
          <p:cNvGrpSpPr/>
          <p:nvPr userDrawn="1"/>
        </p:nvGrpSpPr>
        <p:grpSpPr>
          <a:xfrm>
            <a:off x="4366818" y="433977"/>
            <a:ext cx="2088304" cy="752967"/>
            <a:chOff x="4136310" y="299116"/>
            <a:chExt cx="2597866" cy="873507"/>
          </a:xfrm>
        </p:grpSpPr>
        <p:pic>
          <p:nvPicPr>
            <p:cNvPr id="9" name="그림 8">
              <a:extLst>
                <a:ext uri="{FF2B5EF4-FFF2-40B4-BE49-F238E27FC236}">
                  <a16:creationId xmlns:a16="http://schemas.microsoft.com/office/drawing/2014/main" id="{7038390E-AB2E-9D84-6BA0-EE882BF9F9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10" name="TextBox 9">
              <a:extLst>
                <a:ext uri="{FF2B5EF4-FFF2-40B4-BE49-F238E27FC236}">
                  <a16:creationId xmlns:a16="http://schemas.microsoft.com/office/drawing/2014/main" id="{678F61E0-9BDD-6BD9-EB3D-41608A839E0B}"/>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875538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cxnSp>
        <p:nvCxnSpPr>
          <p:cNvPr id="7" name="직선 연결선 6">
            <a:extLst>
              <a:ext uri="{FF2B5EF4-FFF2-40B4-BE49-F238E27FC236}">
                <a16:creationId xmlns:a16="http://schemas.microsoft.com/office/drawing/2014/main" id="{FC6C40EC-0F6C-C824-EF25-F07C52217003}"/>
              </a:ext>
            </a:extLst>
          </p:cNvPr>
          <p:cNvCxnSpPr/>
          <p:nvPr userDrawn="1"/>
        </p:nvCxnSpPr>
        <p:spPr>
          <a:xfrm>
            <a:off x="404813" y="72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Holder 2">
            <a:extLst>
              <a:ext uri="{FF2B5EF4-FFF2-40B4-BE49-F238E27FC236}">
                <a16:creationId xmlns:a16="http://schemas.microsoft.com/office/drawing/2014/main" id="{56F15421-7FDC-AF5F-7050-18B6BB28B9AB}"/>
              </a:ext>
            </a:extLst>
          </p:cNvPr>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9" name="Holder 3">
            <a:extLst>
              <a:ext uri="{FF2B5EF4-FFF2-40B4-BE49-F238E27FC236}">
                <a16:creationId xmlns:a16="http://schemas.microsoft.com/office/drawing/2014/main" id="{F7D19935-977E-EB05-03F2-58E9B62E7215}"/>
              </a:ext>
            </a:extLst>
          </p:cNvPr>
          <p:cNvSpPr>
            <a:spLocks noGrp="1"/>
          </p:cNvSpPr>
          <p:nvPr>
            <p:ph type="body" idx="1"/>
          </p:nvPr>
        </p:nvSpPr>
        <p:spPr>
          <a:xfrm>
            <a:off x="342900" y="2278383"/>
            <a:ext cx="6172200" cy="276999"/>
          </a:xfrm>
          <a:prstGeom prst="rect">
            <a:avLst/>
          </a:prstGeom>
        </p:spPr>
        <p:txBody>
          <a:bodyPr lIns="0" tIns="0" rIns="0" bIns="0"/>
          <a:lstStyle>
            <a:lvl1pPr>
              <a:defRPr/>
            </a:lvl1pPr>
          </a:lstStyle>
          <a:p>
            <a:endParaRPr dirty="0"/>
          </a:p>
        </p:txBody>
      </p:sp>
      <p:sp>
        <p:nvSpPr>
          <p:cNvPr id="10" name="object 4">
            <a:extLst>
              <a:ext uri="{FF2B5EF4-FFF2-40B4-BE49-F238E27FC236}">
                <a16:creationId xmlns:a16="http://schemas.microsoft.com/office/drawing/2014/main" id="{2978683C-BA9C-6C5C-A746-031BC95F64E6}"/>
              </a:ext>
            </a:extLst>
          </p:cNvPr>
          <p:cNvSpPr txBox="1"/>
          <p:nvPr userDrawn="1"/>
        </p:nvSpPr>
        <p:spPr>
          <a:xfrm>
            <a:off x="464061" y="398874"/>
            <a:ext cx="1606039" cy="283400"/>
          </a:xfrm>
          <a:prstGeom prst="rect">
            <a:avLst/>
          </a:prstGeom>
        </p:spPr>
        <p:txBody>
          <a:bodyPr vert="horz" wrap="square" lIns="0" tIns="12435" rIns="0" bIns="0" rtlCol="0">
            <a:spAutoFit/>
          </a:bodyPr>
          <a:lstStyle/>
          <a:p>
            <a:pPr marL="12435" defTabSz="895327" fontAlgn="auto">
              <a:spcBef>
                <a:spcPts val="98"/>
              </a:spcBef>
              <a:spcAft>
                <a:spcPts val="0"/>
              </a:spcAft>
            </a:pPr>
            <a:r>
              <a:rPr lang="en-US" sz="1760" b="1" dirty="0">
                <a:solidFill>
                  <a:srgbClr val="7E7E7E"/>
                </a:solidFill>
                <a:latin typeface="Arial"/>
                <a:ea typeface="+mj-ea"/>
                <a:cs typeface="Arial"/>
              </a:rPr>
              <a:t>XD12R</a:t>
            </a:r>
            <a:endParaRPr sz="1760" b="1" dirty="0">
              <a:solidFill>
                <a:srgbClr val="0000FF"/>
              </a:solidFill>
              <a:latin typeface="Arial"/>
              <a:ea typeface="+mj-ea"/>
              <a:cs typeface="Arial"/>
            </a:endParaRPr>
          </a:p>
        </p:txBody>
      </p:sp>
    </p:spTree>
    <p:extLst>
      <p:ext uri="{BB962C8B-B14F-4D97-AF65-F5344CB8AC3E}">
        <p14:creationId xmlns:p14="http://schemas.microsoft.com/office/powerpoint/2010/main" val="2380017233"/>
      </p:ext>
    </p:extLst>
  </p:cSld>
  <p:clrMapOvr>
    <a:masterClrMapping/>
  </p:clrMapOvr>
  <p:extLst>
    <p:ext uri="{DCECCB84-F9BA-43D5-87BE-67443E8EF086}">
      <p15:sldGuideLst xmlns:p15="http://schemas.microsoft.com/office/powerpoint/2012/main">
        <p15:guide id="1" orient="horz" pos="3120">
          <p15:clr>
            <a:srgbClr val="FBAE40"/>
          </p15:clr>
        </p15:guide>
        <p15:guide id="2" pos="261">
          <p15:clr>
            <a:srgbClr val="FBAE40"/>
          </p15:clr>
        </p15:guide>
        <p15:guide id="3" pos="405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a:prstGeom prst="rect">
            <a:avLst/>
          </a:prstGeom>
        </p:spPr>
        <p:txBody>
          <a:bodyPr anchor="b"/>
          <a:lstStyle>
            <a:lvl1pPr algn="ctr">
              <a:defRPr sz="4500"/>
            </a:lvl1pPr>
          </a:lstStyle>
          <a:p>
            <a:r>
              <a:rPr lang="ko-KR" altLang="en-US"/>
              <a:t>마스터 제목 스타일 편집</a:t>
            </a:r>
            <a:endParaRPr lang="en-US" dirty="0"/>
          </a:p>
        </p:txBody>
      </p:sp>
      <p:sp>
        <p:nvSpPr>
          <p:cNvPr id="3" name="Subtitle 2"/>
          <p:cNvSpPr>
            <a:spLocks noGrp="1"/>
          </p:cNvSpPr>
          <p:nvPr>
            <p:ph type="subTitle" idx="1"/>
          </p:nvPr>
        </p:nvSpPr>
        <p:spPr>
          <a:xfrm>
            <a:off x="857250" y="5202944"/>
            <a:ext cx="5143500" cy="2391656"/>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ko-KR" altLang="en-US" dirty="0"/>
              <a:t>클릭하여 마스터 부제목 스타일 편집</a:t>
            </a:r>
            <a:endParaRPr lang="en-US" dirty="0"/>
          </a:p>
        </p:txBody>
      </p:sp>
    </p:spTree>
    <p:extLst>
      <p:ext uri="{BB962C8B-B14F-4D97-AF65-F5344CB8AC3E}">
        <p14:creationId xmlns:p14="http://schemas.microsoft.com/office/powerpoint/2010/main" val="2371163162"/>
      </p:ext>
    </p:extLst>
  </p:cSld>
  <p:clrMapOvr>
    <a:masterClrMapping/>
  </p:clrMapOvr>
  <p:extLst>
    <p:ext uri="{DCECCB84-F9BA-43D5-87BE-67443E8EF086}">
      <p15:sldGuideLst xmlns:p15="http://schemas.microsoft.com/office/powerpoint/2012/main">
        <p15:guide id="1" orient="horz" pos="3120" userDrawn="1">
          <p15:clr>
            <a:srgbClr val="FBAE40"/>
          </p15:clr>
        </p15:guide>
        <p15:guide id="2"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idx="1"/>
          </p:nvPr>
        </p:nvSpPr>
        <p:spPr>
          <a:xfrm>
            <a:off x="471488" y="2637014"/>
            <a:ext cx="5915025"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2026-01-13 (Tue)</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559610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a:prstGeom prst="rect">
            <a:avLst/>
          </a:prstGeom>
        </p:spPr>
        <p:txBody>
          <a:bodyPr anchor="b"/>
          <a:lstStyle>
            <a:lvl1pPr>
              <a:defRPr sz="4500"/>
            </a:lvl1pPr>
          </a:lstStyle>
          <a:p>
            <a:r>
              <a:rPr lang="ko-KR" altLang="en-US"/>
              <a:t>마스터 제목 스타일 편집</a:t>
            </a:r>
            <a:endParaRPr lang="en-US" dirty="0"/>
          </a:p>
        </p:txBody>
      </p:sp>
      <p:sp>
        <p:nvSpPr>
          <p:cNvPr id="3" name="Text Placeholder 2"/>
          <p:cNvSpPr>
            <a:spLocks noGrp="1"/>
          </p:cNvSpPr>
          <p:nvPr>
            <p:ph type="body" idx="1"/>
          </p:nvPr>
        </p:nvSpPr>
        <p:spPr>
          <a:xfrm>
            <a:off x="467916" y="6629226"/>
            <a:ext cx="5915025" cy="2166937"/>
          </a:xfrm>
          <a:prstGeom prst="rect">
            <a:avLst/>
          </a:prstGeo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2026-01-13 (Tue)</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58320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471488"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3471863"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2026-01-13 (Tue)</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507668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a:prstGeom prst="rect">
            <a:avLst/>
          </a:prstGeo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472381" y="2428347"/>
            <a:ext cx="2901255"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472381" y="3618442"/>
            <a:ext cx="2901255"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3471863" y="2428347"/>
            <a:ext cx="2915543"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3471863" y="3618442"/>
            <a:ext cx="2915543"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2026-01-13 (Tue)</a:t>
            </a:fld>
            <a:endParaRPr lang="ko-KR" altLang="en-US" dirty="0"/>
          </a:p>
        </p:txBody>
      </p:sp>
      <p:sp>
        <p:nvSpPr>
          <p:cNvPr id="8" name="Footer Placeholder 7"/>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9" name="Slide Number Placeholder 8"/>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702557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Date Placeholder 2"/>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2026-01-13 (Tue)</a:t>
            </a:fld>
            <a:endParaRPr lang="ko-KR" altLang="en-US" dirty="0"/>
          </a:p>
        </p:txBody>
      </p:sp>
      <p:sp>
        <p:nvSpPr>
          <p:cNvPr id="4" name="Footer Placeholder 3"/>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5" name="Slide Number Placeholder 4"/>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191415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2026-01-13 (Tue)</a:t>
            </a:fld>
            <a:endParaRPr lang="ko-KR" altLang="en-US" dirty="0"/>
          </a:p>
        </p:txBody>
      </p:sp>
      <p:sp>
        <p:nvSpPr>
          <p:cNvPr id="3" name="Footer Placeholder 2"/>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4" name="Slide Number Placeholder 3"/>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340858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Content Placeholder 2"/>
          <p:cNvSpPr>
            <a:spLocks noGrp="1"/>
          </p:cNvSpPr>
          <p:nvPr>
            <p:ph idx="1"/>
          </p:nvPr>
        </p:nvSpPr>
        <p:spPr>
          <a:xfrm>
            <a:off x="2915543" y="1426283"/>
            <a:ext cx="3471863" cy="7039681"/>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2026-01-13 (Tue)</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069352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2915543" y="1426283"/>
            <a:ext cx="3471863" cy="7039681"/>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dirty="0"/>
              <a:t>그림을 추가하려면 아이콘을 클릭하십시오</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2026-01-13 (Tue)</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805499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2637014"/>
            <a:ext cx="5915025" cy="6285266"/>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2026-01-13 (Tue)</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5154540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a:prstGeom prst="rect">
            <a:avLst/>
          </a:prstGeo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527403"/>
            <a:ext cx="4350544" cy="8394877"/>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2026-01-13 (Tue)</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955134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사용자 지정 레이아웃">
    <p:spTree>
      <p:nvGrpSpPr>
        <p:cNvPr id="1" name=""/>
        <p:cNvGrpSpPr/>
        <p:nvPr/>
      </p:nvGrpSpPr>
      <p:grpSpPr>
        <a:xfrm>
          <a:off x="0" y="0"/>
          <a:ext cx="0" cy="0"/>
          <a:chOff x="0" y="0"/>
          <a:chExt cx="0" cy="0"/>
        </a:xfrm>
      </p:grpSpPr>
    </p:spTree>
    <p:extLst>
      <p:ext uri="{BB962C8B-B14F-4D97-AF65-F5344CB8AC3E}">
        <p14:creationId xmlns:p14="http://schemas.microsoft.com/office/powerpoint/2010/main" val="553284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hyperlink" Target="http://glbltech.com/" TargetMode="Externa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object 9">
            <a:extLst>
              <a:ext uri="{FF2B5EF4-FFF2-40B4-BE49-F238E27FC236}">
                <a16:creationId xmlns:a16="http://schemas.microsoft.com/office/drawing/2014/main" id="{451BF618-E9B3-EC23-A10B-0CB97A947104}"/>
              </a:ext>
            </a:extLst>
          </p:cNvPr>
          <p:cNvSpPr txBox="1"/>
          <p:nvPr userDrawn="1"/>
        </p:nvSpPr>
        <p:spPr>
          <a:xfrm>
            <a:off x="414000" y="8981992"/>
            <a:ext cx="1990968" cy="283849"/>
          </a:xfrm>
          <a:prstGeom prst="rect">
            <a:avLst/>
          </a:prstGeom>
        </p:spPr>
        <p:txBody>
          <a:bodyPr vert="horz" wrap="square" lIns="0" tIns="12435" rIns="0" bIns="0" rtlCol="0">
            <a:spAutoFit/>
          </a:bodyPr>
          <a:lstStyle/>
          <a:p>
            <a:pPr marL="12435" defTabSz="895327" fontAlgn="auto">
              <a:spcBef>
                <a:spcPts val="98"/>
              </a:spcBef>
              <a:spcAft>
                <a:spcPts val="0"/>
              </a:spcAft>
            </a:pPr>
            <a:r>
              <a:rPr kumimoji="0" sz="1763" b="1" spc="-5" dirty="0">
                <a:solidFill>
                  <a:srgbClr val="FF0000"/>
                </a:solidFill>
                <a:latin typeface="Calibri"/>
                <a:ea typeface="+mn-ea"/>
                <a:cs typeface="Perpetua Titling MT"/>
              </a:rPr>
              <a:t>CONFIDENTIAL</a:t>
            </a:r>
            <a:endParaRPr kumimoji="0" sz="1763" dirty="0">
              <a:solidFill>
                <a:prstClr val="black"/>
              </a:solidFill>
              <a:latin typeface="Calibri"/>
              <a:ea typeface="+mn-ea"/>
              <a:cs typeface="Perpetua Titling MT"/>
            </a:endParaRPr>
          </a:p>
        </p:txBody>
      </p:sp>
      <p:sp>
        <p:nvSpPr>
          <p:cNvPr id="9" name="슬라이드 번호 개체 틀 3">
            <a:hlinkClick r:id="rId16"/>
            <a:extLst>
              <a:ext uri="{FF2B5EF4-FFF2-40B4-BE49-F238E27FC236}">
                <a16:creationId xmlns:a16="http://schemas.microsoft.com/office/drawing/2014/main" id="{7EEE58CB-7CB8-E53E-08F2-9ED6093EF097}"/>
              </a:ext>
            </a:extLst>
          </p:cNvPr>
          <p:cNvSpPr txBox="1">
            <a:spLocks/>
          </p:cNvSpPr>
          <p:nvPr userDrawn="1"/>
        </p:nvSpPr>
        <p:spPr>
          <a:xfrm>
            <a:off x="5115682" y="9408000"/>
            <a:ext cx="1327982" cy="180500"/>
          </a:xfrm>
          <a:prstGeom prst="rect">
            <a:avLst/>
          </a:prstGeom>
        </p:spPr>
        <p:txBody>
          <a:bodyPr vert="horz" lIns="0" tIns="0" rIns="0"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http://www.glbltech.com/</a:t>
            </a:r>
            <a:endParaRPr kumimoji="0" lang="ko-KR" alt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0" name="object 38">
            <a:extLst>
              <a:ext uri="{FF2B5EF4-FFF2-40B4-BE49-F238E27FC236}">
                <a16:creationId xmlns:a16="http://schemas.microsoft.com/office/drawing/2014/main" id="{1B5D1032-3349-06CD-5B46-8A6262F0EE24}"/>
              </a:ext>
            </a:extLst>
          </p:cNvPr>
          <p:cNvSpPr txBox="1">
            <a:spLocks/>
          </p:cNvSpPr>
          <p:nvPr userDrawn="1"/>
        </p:nvSpPr>
        <p:spPr>
          <a:xfrm>
            <a:off x="3311568" y="9452164"/>
            <a:ext cx="476888" cy="135550"/>
          </a:xfrm>
          <a:prstGeom prst="rect">
            <a:avLst/>
          </a:prstGeom>
        </p:spPr>
        <p:txBody>
          <a:bodyPr vert="horz" wrap="square" lIns="0" tIns="0" rIns="0" bIns="0" rtlCol="0">
            <a:no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defTabSz="447663" fontAlgn="auto" latinLnBrk="0">
              <a:spcBef>
                <a:spcPts val="0"/>
              </a:spcBef>
              <a:spcAft>
                <a:spcPts val="0"/>
              </a:spcAft>
              <a:defRPr/>
            </a:pPr>
            <a:r>
              <a:rPr kumimoji="0" 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rPr>
              <a:t>Page </a:t>
            </a:r>
            <a:fld id="{81D60167-4931-47E6-BA6A-407CBD079E47}" type="slidenum">
              <a:rPr kumimoji="0" sz="881">
                <a:solidFill>
                  <a:prstClr val="black"/>
                </a:solidFill>
                <a:latin typeface="Arial" panose="020B0604020202020204" pitchFamily="34" charset="0"/>
                <a:ea typeface="맑은 고딕" panose="020B0503020000020004" pitchFamily="50" charset="-127"/>
                <a:cs typeface="Arial" panose="020B0604020202020204" pitchFamily="34" charset="0"/>
              </a:rPr>
              <a:pPr algn="ctr" defTabSz="447663" fontAlgn="auto" latinLnBrk="0">
                <a:spcBef>
                  <a:spcPts val="0"/>
                </a:spcBef>
                <a:spcAft>
                  <a:spcPts val="0"/>
                </a:spcAft>
                <a:defRPr/>
              </a:pPr>
              <a:t>‹#›</a:t>
            </a:fld>
            <a:endParaRPr kumimoji="0"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1" name="슬라이드 번호 개체 틀 3">
            <a:extLst>
              <a:ext uri="{FF2B5EF4-FFF2-40B4-BE49-F238E27FC236}">
                <a16:creationId xmlns:a16="http://schemas.microsoft.com/office/drawing/2014/main" id="{64B1755F-10B5-8238-A9A8-9B4A613AC068}"/>
              </a:ext>
            </a:extLst>
          </p:cNvPr>
          <p:cNvSpPr txBox="1">
            <a:spLocks/>
          </p:cNvSpPr>
          <p:nvPr userDrawn="1"/>
        </p:nvSpPr>
        <p:spPr>
          <a:xfrm>
            <a:off x="404813" y="9425597"/>
            <a:ext cx="2310252" cy="192515"/>
          </a:xfrm>
          <a:prstGeom prst="rect">
            <a:avLst/>
          </a:prstGeom>
        </p:spPr>
        <p:txBody>
          <a:bodyPr vert="horz" lIns="0" tIns="0" rIns="89533"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Dated  2. Jan. 2026  Rev 0.1</a:t>
            </a:r>
            <a:endParaRPr kumimoji="0" lang="ko-KR" altLang="en-US" sz="881" dirty="0">
              <a:solidFill>
                <a:schemeClr val="accent2">
                  <a:lumMod val="75000"/>
                </a:schemeClr>
              </a:solidFill>
              <a:latin typeface="Arial" panose="020B0604020202020204" pitchFamily="34" charset="0"/>
              <a:ea typeface="맑은 고딕" panose="020B0503020000020004" pitchFamily="50" charset="-127"/>
              <a:cs typeface="Arial" panose="020B0604020202020204" pitchFamily="34" charset="0"/>
            </a:endParaRPr>
          </a:p>
        </p:txBody>
      </p:sp>
      <p:cxnSp>
        <p:nvCxnSpPr>
          <p:cNvPr id="12" name="직선 연결선 11">
            <a:extLst>
              <a:ext uri="{FF2B5EF4-FFF2-40B4-BE49-F238E27FC236}">
                <a16:creationId xmlns:a16="http://schemas.microsoft.com/office/drawing/2014/main" id="{BD0A5AB9-9B4F-97CA-0A77-1385281C935F}"/>
              </a:ext>
            </a:extLst>
          </p:cNvPr>
          <p:cNvCxnSpPr/>
          <p:nvPr userDrawn="1"/>
        </p:nvCxnSpPr>
        <p:spPr>
          <a:xfrm>
            <a:off x="404813" y="936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6224215-62C4-8FDE-7072-9FA0C92E6C97}"/>
              </a:ext>
            </a:extLst>
          </p:cNvPr>
          <p:cNvSpPr txBox="1"/>
          <p:nvPr userDrawn="1"/>
        </p:nvSpPr>
        <p:spPr>
          <a:xfrm rot="18900000">
            <a:off x="1431694" y="4537502"/>
            <a:ext cx="3759747" cy="830997"/>
          </a:xfrm>
          <a:prstGeom prst="rect">
            <a:avLst/>
          </a:prstGeom>
          <a:noFill/>
        </p:spPr>
        <p:txBody>
          <a:bodyPr wrap="none" lIns="0" tIns="0" rIns="0" bIns="0" rtlCol="0" anchor="ctr" anchorCtr="0">
            <a:spAutoFit/>
          </a:bodyPr>
          <a:lstStyle/>
          <a:p>
            <a:r>
              <a:rPr lang="en-US" altLang="ko-KR" sz="5400" b="1" dirty="0">
                <a:solidFill>
                  <a:srgbClr val="EFEFEF"/>
                </a:solidFill>
                <a:latin typeface="Arial" panose="020B0604020202020204" pitchFamily="34" charset="0"/>
                <a:ea typeface="+mn-ea"/>
                <a:cs typeface="Arial" panose="020B0604020202020204" pitchFamily="34" charset="0"/>
              </a:rPr>
              <a:t>Preliminary</a:t>
            </a:r>
            <a:endParaRPr lang="ko-KR" altLang="en-US" sz="5400" b="1" dirty="0">
              <a:solidFill>
                <a:srgbClr val="EFEFEF"/>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79806652"/>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6" r:id="rId14"/>
  </p:sldLayoutIdLst>
  <p:txStyles>
    <p:titleStyle>
      <a:lvl1pPr algn="l" defTabSz="685800" rtl="0" eaLnBrk="1" latinLnBrk="1"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1"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1"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1"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13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image" Target="../media/image8.emf"/><Relationship Id="rId4" Type="http://schemas.openxmlformats.org/officeDocument/2006/relationships/image" Target="../media/image7.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 Id="rId6" Type="http://schemas.openxmlformats.org/officeDocument/2006/relationships/image" Target="../media/image14.emf"/><Relationship Id="rId5" Type="http://schemas.openxmlformats.org/officeDocument/2006/relationships/image" Target="../media/image13.emf"/><Relationship Id="rId4" Type="http://schemas.openxmlformats.org/officeDocument/2006/relationships/image" Target="../media/image12.emf"/></Relationships>
</file>

<file path=ppt/slides/_rels/slide13.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14.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7" Type="http://schemas.microsoft.com/office/2007/relationships/hdphoto" Target="../media/hdphoto2.wdp"/><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33.png"/><Relationship Id="rId5" Type="http://schemas.openxmlformats.org/officeDocument/2006/relationships/image" Target="../media/image32.png"/><Relationship Id="rId4" Type="http://schemas.microsoft.com/office/2007/relationships/hdphoto" Target="../media/hdphoto1.wdp"/></Relationships>
</file>

<file path=ppt/slides/_rels/slide3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 Id="rId9" Type="http://schemas.openxmlformats.org/officeDocument/2006/relationships/image" Target="../media/image40.png"/></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3.xml"/><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A06CC78-9F83-436A-9A0F-12F273C5E8B4}"/>
              </a:ext>
            </a:extLst>
          </p:cNvPr>
          <p:cNvSpPr txBox="1"/>
          <p:nvPr/>
        </p:nvSpPr>
        <p:spPr>
          <a:xfrm>
            <a:off x="2622335" y="1624048"/>
            <a:ext cx="1322478" cy="492443"/>
          </a:xfrm>
          <a:prstGeom prst="rect">
            <a:avLst/>
          </a:prstGeom>
          <a:noFill/>
        </p:spPr>
        <p:txBody>
          <a:bodyPr wrap="none" lIns="0" tIns="0" rIns="0" bIns="0" rtlCol="0">
            <a:spAutoFit/>
          </a:bodyPr>
          <a:lstStyle/>
          <a:p>
            <a:r>
              <a:rPr lang="en-US" altLang="ko-KR" sz="3200" b="1" dirty="0">
                <a:solidFill>
                  <a:schemeClr val="bg1">
                    <a:lumMod val="50000"/>
                  </a:schemeClr>
                </a:solidFill>
                <a:latin typeface="Arial" panose="020B0604020202020204" pitchFamily="34" charset="0"/>
                <a:cs typeface="Arial" panose="020B0604020202020204" pitchFamily="34" charset="0"/>
              </a:rPr>
              <a:t>XD12R</a:t>
            </a:r>
            <a:endParaRPr lang="ko-KR" altLang="en-US" sz="3200" b="1" dirty="0">
              <a:solidFill>
                <a:schemeClr val="bg1">
                  <a:lumMod val="50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3351C546-D4C1-4FC4-9AD8-956625090B6D}"/>
              </a:ext>
            </a:extLst>
          </p:cNvPr>
          <p:cNvSpPr txBox="1"/>
          <p:nvPr/>
        </p:nvSpPr>
        <p:spPr>
          <a:xfrm>
            <a:off x="2633691" y="2211029"/>
            <a:ext cx="3190938" cy="307777"/>
          </a:xfrm>
          <a:prstGeom prst="rect">
            <a:avLst/>
          </a:prstGeom>
          <a:noFill/>
        </p:spPr>
        <p:txBody>
          <a:bodyPr wrap="none" lIns="0" rtlCol="0">
            <a:spAutoFit/>
          </a:bodyPr>
          <a:lstStyle/>
          <a:p>
            <a:r>
              <a:rPr lang="en-US" altLang="ko-KR" sz="1400" b="1" dirty="0">
                <a:solidFill>
                  <a:schemeClr val="bg1">
                    <a:lumMod val="50000"/>
                  </a:schemeClr>
                </a:solidFill>
                <a:latin typeface="Arial" panose="020B0604020202020204" pitchFamily="34" charset="0"/>
                <a:cs typeface="Arial" panose="020B0604020202020204" pitchFamily="34" charset="0"/>
              </a:rPr>
              <a:t>The RGB LED</a:t>
            </a:r>
            <a:r>
              <a:rPr lang="ko-KR" altLang="en-US" sz="1400" b="1" dirty="0">
                <a:solidFill>
                  <a:schemeClr val="bg1">
                    <a:lumMod val="50000"/>
                  </a:schemeClr>
                </a:solidFill>
                <a:latin typeface="Arial" panose="020B0604020202020204" pitchFamily="34" charset="0"/>
                <a:cs typeface="Arial" panose="020B0604020202020204" pitchFamily="34" charset="0"/>
              </a:rPr>
              <a:t> </a:t>
            </a:r>
            <a:r>
              <a:rPr lang="en-US" altLang="ko-KR" sz="1400" b="1" dirty="0">
                <a:solidFill>
                  <a:schemeClr val="bg1">
                    <a:lumMod val="50000"/>
                  </a:schemeClr>
                </a:solidFill>
                <a:latin typeface="Arial" panose="020B0604020202020204" pitchFamily="34" charset="0"/>
                <a:cs typeface="Arial" panose="020B0604020202020204" pitchFamily="34" charset="0"/>
              </a:rPr>
              <a:t>Current Sink Driver IC</a:t>
            </a:r>
            <a:endParaRPr lang="ko-KR" altLang="en-US" sz="1400" b="1" dirty="0">
              <a:solidFill>
                <a:schemeClr val="bg1">
                  <a:lumMod val="50000"/>
                </a:schemeClr>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05BB2A0-CA1A-4992-AAF9-F7F876D0920C}"/>
              </a:ext>
            </a:extLst>
          </p:cNvPr>
          <p:cNvSpPr txBox="1"/>
          <p:nvPr/>
        </p:nvSpPr>
        <p:spPr>
          <a:xfrm>
            <a:off x="374406" y="3204364"/>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General Description</a:t>
            </a:r>
            <a:endParaRPr lang="ko-KR" altLang="en-US" sz="1400" b="1"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6675BEFE-2745-40D7-8726-3D0F5317B01B}"/>
              </a:ext>
            </a:extLst>
          </p:cNvPr>
          <p:cNvSpPr txBox="1"/>
          <p:nvPr/>
        </p:nvSpPr>
        <p:spPr>
          <a:xfrm>
            <a:off x="2603285" y="3206080"/>
            <a:ext cx="3676234" cy="4154984"/>
          </a:xfrm>
          <a:prstGeom prst="rect">
            <a:avLst/>
          </a:prstGeom>
          <a:noFill/>
        </p:spPr>
        <p:txBody>
          <a:bodyPr wrap="square" lIns="0" tIns="0" rIns="0" bIns="0" rtlCol="0">
            <a:spAutoFit/>
          </a:bodyPr>
          <a:lstStyle/>
          <a:p>
            <a:pPr indent="88900" algn="just"/>
            <a:r>
              <a:rPr lang="en-US" altLang="ko-KR" sz="1000" dirty="0">
                <a:effectLst/>
                <a:latin typeface="Arial" panose="020B0604020202020204" pitchFamily="34" charset="0"/>
                <a:ea typeface="Arial" panose="020B0604020202020204" pitchFamily="34" charset="0"/>
                <a:cs typeface="Arial" panose="020B0604020202020204" pitchFamily="34" charset="0"/>
              </a:rPr>
              <a:t>The XD12R is a 12-channel constant </a:t>
            </a:r>
            <a:r>
              <a:rPr lang="en-US" altLang="ko-KR" sz="1000" dirty="0">
                <a:latin typeface="Arial" panose="020B0604020202020204" pitchFamily="34" charset="0"/>
                <a:ea typeface="Arial" panose="020B0604020202020204" pitchFamily="34" charset="0"/>
                <a:cs typeface="Arial" panose="020B0604020202020204" pitchFamily="34" charset="0"/>
              </a:rPr>
              <a:t>current sink RGB LED  driver for display  backlight systems.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While conventional RGB backlight systems require separate three channels for red, green, and blue LED pixels, the XD12R achieves multiplexed driving for full-color RGB backlight pixels with one or two channels.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This approach allows single-layer BLU implementation, significantly reducing PCB layers.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Each channel supports up to 40mA of output current and a maximum output voltage of 40V and can time-share up to            three LEDs per channel.</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This device can support max 14-bit PWM dimming resolution and a 12-bit DAC global brightness resolution.</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To ensure stable, flicker-free RGB time-sequential operation, the device features optimized subframe timing control and precise current regulation to effectively suppress flickering caused by rapid color transitions.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Integrated self-protection features include LED open/short detection and overheating shutdown. A feedback control function is also included to optimize the VLED voltage during LED operation, improving power efficiency.</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The XD12R can be controlled with several commands through a XC24R controller or directly by a MCU.  Multiple XD12R devices can be daisy-chained and controlled via a serial interface from a single XC24R, enabling scalable, high-channel-count RGB LED backlight systems for large-area displays.</a:t>
            </a:r>
          </a:p>
        </p:txBody>
      </p:sp>
      <p:sp>
        <p:nvSpPr>
          <p:cNvPr id="33" name="TextBox 32">
            <a:extLst>
              <a:ext uri="{FF2B5EF4-FFF2-40B4-BE49-F238E27FC236}">
                <a16:creationId xmlns:a16="http://schemas.microsoft.com/office/drawing/2014/main" id="{014AD39C-3B16-4EC8-B3D3-D8F1117370B5}"/>
              </a:ext>
            </a:extLst>
          </p:cNvPr>
          <p:cNvSpPr txBox="1"/>
          <p:nvPr/>
        </p:nvSpPr>
        <p:spPr>
          <a:xfrm>
            <a:off x="2622335" y="2580779"/>
            <a:ext cx="962764" cy="261610"/>
          </a:xfrm>
          <a:prstGeom prst="rect">
            <a:avLst/>
          </a:prstGeom>
          <a:noFill/>
        </p:spPr>
        <p:txBody>
          <a:bodyPr wrap="none" lIns="0" rtlCol="0">
            <a:spAutoFit/>
          </a:bodyPr>
          <a:lstStyle/>
          <a:p>
            <a:r>
              <a:rPr lang="en-US" altLang="ko-KR" sz="1100" b="1" dirty="0">
                <a:solidFill>
                  <a:schemeClr val="bg1">
                    <a:lumMod val="50000"/>
                  </a:schemeClr>
                </a:solidFill>
                <a:latin typeface="Arial" panose="020B0604020202020204" pitchFamily="34" charset="0"/>
                <a:cs typeface="Arial" panose="020B0604020202020204" pitchFamily="34" charset="0"/>
              </a:rPr>
              <a:t>12 Channels </a:t>
            </a:r>
            <a:endParaRPr lang="ko-KR" altLang="en-US" sz="1100" b="1" dirty="0">
              <a:solidFill>
                <a:schemeClr val="bg1">
                  <a:lumMod val="50000"/>
                </a:schemeClr>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0C9D8F7A-0457-48C9-9A23-F46C4BDD3432}"/>
              </a:ext>
            </a:extLst>
          </p:cNvPr>
          <p:cNvSpPr txBox="1"/>
          <p:nvPr/>
        </p:nvSpPr>
        <p:spPr>
          <a:xfrm>
            <a:off x="421856" y="8022179"/>
            <a:ext cx="1470444"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Application</a:t>
            </a:r>
            <a:endParaRPr lang="ko-KR" altLang="en-US" sz="1400" b="1"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D67C485-ABE7-4B33-85EE-599EA97A8C6B}"/>
              </a:ext>
            </a:extLst>
          </p:cNvPr>
          <p:cNvSpPr txBox="1"/>
          <p:nvPr/>
        </p:nvSpPr>
        <p:spPr>
          <a:xfrm>
            <a:off x="2586066" y="7995807"/>
            <a:ext cx="3946113" cy="615553"/>
          </a:xfrm>
          <a:prstGeom prst="rect">
            <a:avLst/>
          </a:prstGeom>
          <a:noFill/>
        </p:spPr>
        <p:txBody>
          <a:bodyPr wrap="square" lIns="0" tIns="0" rIns="0" bIns="0" rtlCol="0">
            <a:spAutoFit/>
          </a:bodyPr>
          <a:lstStyle/>
          <a:p>
            <a:pPr marL="171450" indent="-17145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RGB LED Backlight for TV and Monitor.</a:t>
            </a:r>
          </a:p>
          <a:p>
            <a:pPr marL="171450" indent="-17145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RGB Backlight for Automotive Display. </a:t>
            </a:r>
          </a:p>
          <a:p>
            <a:pPr marL="177800" lvl="1"/>
            <a:r>
              <a:rPr lang="en-US" altLang="ko-KR" sz="1000" dirty="0">
                <a:latin typeface="Arial" panose="020B0604020202020204" pitchFamily="34" charset="0"/>
                <a:cs typeface="Arial" panose="020B0604020202020204" pitchFamily="34" charset="0"/>
              </a:rPr>
              <a:t>  (Cluster, Center Information, Entertainment)</a:t>
            </a:r>
          </a:p>
        </p:txBody>
      </p:sp>
      <p:grpSp>
        <p:nvGrpSpPr>
          <p:cNvPr id="2" name="그룹 1">
            <a:extLst>
              <a:ext uri="{FF2B5EF4-FFF2-40B4-BE49-F238E27FC236}">
                <a16:creationId xmlns:a16="http://schemas.microsoft.com/office/drawing/2014/main" id="{6C3AE02B-FA85-D5E1-9E9A-4D744280F1E1}"/>
              </a:ext>
            </a:extLst>
          </p:cNvPr>
          <p:cNvGrpSpPr/>
          <p:nvPr/>
        </p:nvGrpSpPr>
        <p:grpSpPr>
          <a:xfrm>
            <a:off x="4366818" y="433977"/>
            <a:ext cx="2088304" cy="752967"/>
            <a:chOff x="4136310" y="299116"/>
            <a:chExt cx="2597866" cy="873507"/>
          </a:xfrm>
        </p:grpSpPr>
        <p:pic>
          <p:nvPicPr>
            <p:cNvPr id="3" name="그림 2">
              <a:extLst>
                <a:ext uri="{FF2B5EF4-FFF2-40B4-BE49-F238E27FC236}">
                  <a16:creationId xmlns:a16="http://schemas.microsoft.com/office/drawing/2014/main" id="{5E6E8B54-D78E-A385-9A5E-612DFC0BD92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7" name="TextBox 6">
              <a:extLst>
                <a:ext uri="{FF2B5EF4-FFF2-40B4-BE49-F238E27FC236}">
                  <a16:creationId xmlns:a16="http://schemas.microsoft.com/office/drawing/2014/main" id="{CD680508-1D21-B8C2-4122-C25AF38E9DCA}"/>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1814179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F3D50322-94E0-446F-9F13-DCD22B08D5D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Features</a:t>
            </a:r>
            <a:endParaRPr lang="ko-KR" altLang="en-US" sz="12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9EE0DD9E-9FC9-075A-1D58-E68C916D7964}"/>
              </a:ext>
            </a:extLst>
          </p:cNvPr>
          <p:cNvSpPr txBox="1"/>
          <p:nvPr/>
        </p:nvSpPr>
        <p:spPr>
          <a:xfrm>
            <a:off x="404813" y="1341458"/>
            <a:ext cx="6048621" cy="6488636"/>
          </a:xfrm>
          <a:prstGeom prst="rect">
            <a:avLst/>
          </a:prstGeom>
          <a:noFill/>
        </p:spPr>
        <p:txBody>
          <a:bodyPr wrap="square" lIns="0">
            <a:spAutoFit/>
          </a:bodyPr>
          <a:lstStyle/>
          <a:p>
            <a:pPr marL="279450" marR="137795" lvl="0" indent="-171450">
              <a:lnSpc>
                <a:spcPct val="150000"/>
              </a:lnSpc>
              <a:spcBef>
                <a:spcPts val="385"/>
              </a:spcBef>
              <a:spcAft>
                <a:spcPts val="0"/>
              </a:spcAft>
              <a:buFont typeface="Arial" panose="020B0604020202020204" pitchFamily="34" charset="0"/>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Specialized to support RGB backlight dimming</a:t>
            </a:r>
          </a:p>
          <a:p>
            <a:pPr marL="279450" marR="137795" lvl="0" indent="-171450">
              <a:lnSpc>
                <a:spcPct val="150000"/>
              </a:lnSpc>
              <a:spcBef>
                <a:spcPts val="385"/>
              </a:spcBef>
              <a:spcAft>
                <a:spcPts val="0"/>
              </a:spcAft>
              <a:buFont typeface="Arial" panose="020B0604020202020204" pitchFamily="34" charset="0"/>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Flexible for various LED pixel configuration: </a:t>
            </a:r>
          </a:p>
          <a:p>
            <a:pPr marL="108000" marR="137795" lvl="0">
              <a:lnSpc>
                <a:spcPct val="150000"/>
              </a:lnSpc>
              <a:spcBef>
                <a:spcPts val="385"/>
              </a:spcBef>
              <a:spcAft>
                <a:spcPts val="0"/>
              </a:spcAft>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Type-1(RGB, 12CH), Type-2(R/GB, 6CH), Type-3 (GB, 12CH)</a:t>
            </a:r>
          </a:p>
          <a:p>
            <a:pPr marL="279450" marR="137795" lvl="0" indent="-171450">
              <a:lnSpc>
                <a:spcPct val="150000"/>
              </a:lnSpc>
              <a:spcBef>
                <a:spcPts val="385"/>
              </a:spcBef>
              <a:spcAft>
                <a:spcPts val="0"/>
              </a:spcAft>
              <a:buFont typeface="Arial" panose="020B0604020202020204" pitchFamily="34" charset="0"/>
              <a:buChar char="•"/>
              <a:tabLst>
                <a:tab pos="460375" algn="l"/>
              </a:tabLst>
            </a:pPr>
            <a:r>
              <a:rPr lang="en-US" altLang="ko-KR" sz="1000" dirty="0">
                <a:latin typeface="Arial" panose="020B0604020202020204" pitchFamily="34" charset="0"/>
              </a:rPr>
              <a:t>Bi-directional 1-wire daisy chain (31 serial) connection with configurable data rate</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Support Interface parity function</a:t>
            </a:r>
            <a:endParaRPr lang="en-US" altLang="ko-KR" sz="1000" dirty="0">
              <a:latin typeface="Arial" panose="020B0604020202020204" pitchFamily="34" charset="0"/>
            </a:endParaRP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12-channel output sink drivers with programmable max. current 40mA</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12-bit global brightness control</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Configurable 12-bit PWM or 14-bit PWM </a:t>
            </a:r>
          </a:p>
          <a:p>
            <a:pPr marL="279450" lvl="0" indent="-171450">
              <a:lnSpc>
                <a:spcPct val="150000"/>
              </a:lnSpc>
              <a:spcBef>
                <a:spcPts val="325"/>
              </a:spcBef>
              <a:buFont typeface="Arial" panose="020B0604020202020204" pitchFamily="34" charset="0"/>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Support internal OSC frequency spread function for EMI rejection</a:t>
            </a:r>
            <a:endParaRPr lang="en-US" altLang="ko-KR" sz="1000" dirty="0">
              <a:latin typeface="Arial" panose="020B0604020202020204" pitchFamily="34" charset="0"/>
            </a:endParaRP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output headroom voltage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Configurable dimming directions, head shift lighting and tail shift lighting</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Sync controllability between daisied devices (sync-generation)</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Optimal IC pin configuration allows for single layer PCB</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Supply voltage 3.0 ~ 3.6V</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Maximum 40V output driver working (headroom) voltage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LED SHORT detection level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Enable/disable OPEN detection</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FEEDBACK detection level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Over-Temperature Shutdown (Typ. 130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Enable/disable Over/Under-Voltage detection</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Latch-up Immunity, I</a:t>
            </a:r>
            <a:r>
              <a:rPr lang="en-US" altLang="ko-KR" sz="1000" baseline="-25000" dirty="0">
                <a:latin typeface="Arial" panose="020B0604020202020204" pitchFamily="34" charset="0"/>
              </a:rPr>
              <a:t>LATCH</a:t>
            </a:r>
            <a:r>
              <a:rPr lang="en-US" altLang="ko-KR" sz="1000" dirty="0">
                <a:latin typeface="Arial" panose="020B0604020202020204" pitchFamily="34" charset="0"/>
              </a:rPr>
              <a:t> (JEDEC JESD78D Nov 2011) : ±100mA</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ESDHBM (JEDEC JS-001-2017 Human Body Model) : ±2KV</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Compact QFN3030-24 pin package</a:t>
            </a:r>
          </a:p>
        </p:txBody>
      </p:sp>
    </p:spTree>
    <p:extLst>
      <p:ext uri="{BB962C8B-B14F-4D97-AF65-F5344CB8AC3E}">
        <p14:creationId xmlns:p14="http://schemas.microsoft.com/office/powerpoint/2010/main" val="4229424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258D35A-631D-4626-90DE-C1C5A9445CDD}"/>
              </a:ext>
            </a:extLst>
          </p:cNvPr>
          <p:cNvSpPr txBox="1"/>
          <p:nvPr/>
        </p:nvSpPr>
        <p:spPr>
          <a:xfrm>
            <a:off x="404811" y="5598967"/>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Application Circuit</a:t>
            </a:r>
            <a:endParaRPr lang="ko-KR" altLang="en-US" sz="1200"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2"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Block Diagram</a:t>
            </a:r>
            <a:endParaRPr lang="ko-KR" altLang="en-US" sz="12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E78E9E8-011B-8E52-4EEB-9EF4FE4AC79C}"/>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7" name="object 84">
            <a:extLst>
              <a:ext uri="{FF2B5EF4-FFF2-40B4-BE49-F238E27FC236}">
                <a16:creationId xmlns:a16="http://schemas.microsoft.com/office/drawing/2014/main" id="{92C24942-18BA-F0B3-A66D-927A605E8108}"/>
              </a:ext>
            </a:extLst>
          </p:cNvPr>
          <p:cNvSpPr txBox="1"/>
          <p:nvPr/>
        </p:nvSpPr>
        <p:spPr>
          <a:xfrm>
            <a:off x="2735861" y="4947883"/>
            <a:ext cx="1411925"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  Block Diagram</a:t>
            </a:r>
          </a:p>
        </p:txBody>
      </p:sp>
      <p:sp>
        <p:nvSpPr>
          <p:cNvPr id="8" name="object 84">
            <a:extLst>
              <a:ext uri="{FF2B5EF4-FFF2-40B4-BE49-F238E27FC236}">
                <a16:creationId xmlns:a16="http://schemas.microsoft.com/office/drawing/2014/main" id="{7FEE2E92-D26D-E884-C2F8-559976A729A1}"/>
              </a:ext>
            </a:extLst>
          </p:cNvPr>
          <p:cNvSpPr txBox="1"/>
          <p:nvPr/>
        </p:nvSpPr>
        <p:spPr>
          <a:xfrm>
            <a:off x="2580328" y="8384388"/>
            <a:ext cx="1703672" cy="153567"/>
          </a:xfrm>
          <a:prstGeom prst="rect">
            <a:avLst/>
          </a:prstGeom>
        </p:spPr>
        <p:txBody>
          <a:bodyPr vert="horz" wrap="none" lIns="0" tIns="14922"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2.  Application scheme</a:t>
            </a:r>
          </a:p>
        </p:txBody>
      </p:sp>
      <p:pic>
        <p:nvPicPr>
          <p:cNvPr id="392" name="그림 391">
            <a:extLst>
              <a:ext uri="{FF2B5EF4-FFF2-40B4-BE49-F238E27FC236}">
                <a16:creationId xmlns:a16="http://schemas.microsoft.com/office/drawing/2014/main" id="{A3FF72A2-D2CA-84B7-D886-959B6F771B9F}"/>
              </a:ext>
            </a:extLst>
          </p:cNvPr>
          <p:cNvPicPr>
            <a:picLocks noChangeAspect="1"/>
          </p:cNvPicPr>
          <p:nvPr/>
        </p:nvPicPr>
        <p:blipFill>
          <a:blip r:embed="rId2"/>
          <a:stretch>
            <a:fillRect/>
          </a:stretch>
        </p:blipFill>
        <p:spPr>
          <a:xfrm>
            <a:off x="1504527" y="1088795"/>
            <a:ext cx="4190920" cy="3859088"/>
          </a:xfrm>
          <a:prstGeom prst="rect">
            <a:avLst/>
          </a:prstGeom>
        </p:spPr>
      </p:pic>
      <p:pic>
        <p:nvPicPr>
          <p:cNvPr id="2" name="그림 1">
            <a:extLst>
              <a:ext uri="{FF2B5EF4-FFF2-40B4-BE49-F238E27FC236}">
                <a16:creationId xmlns:a16="http://schemas.microsoft.com/office/drawing/2014/main" id="{FEEC336D-27B7-66F3-82DB-2A6D0A810277}"/>
              </a:ext>
            </a:extLst>
          </p:cNvPr>
          <p:cNvPicPr>
            <a:picLocks noChangeAspect="1"/>
          </p:cNvPicPr>
          <p:nvPr/>
        </p:nvPicPr>
        <p:blipFill>
          <a:blip r:embed="rId3"/>
          <a:stretch>
            <a:fillRect/>
          </a:stretch>
        </p:blipFill>
        <p:spPr>
          <a:xfrm>
            <a:off x="286765" y="6068333"/>
            <a:ext cx="6204726" cy="2251504"/>
          </a:xfrm>
          <a:prstGeom prst="rect">
            <a:avLst/>
          </a:prstGeom>
        </p:spPr>
      </p:pic>
    </p:spTree>
    <p:extLst>
      <p:ext uri="{BB962C8B-B14F-4D97-AF65-F5344CB8AC3E}">
        <p14:creationId xmlns:p14="http://schemas.microsoft.com/office/powerpoint/2010/main" val="74552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AC3E16D9-A788-49BA-8106-BEE884D02ED2}"/>
              </a:ext>
            </a:extLst>
          </p:cNvPr>
          <p:cNvSpPr txBox="1"/>
          <p:nvPr/>
        </p:nvSpPr>
        <p:spPr>
          <a:xfrm>
            <a:off x="410817" y="848197"/>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diagram (Top View)</a:t>
            </a:r>
          </a:p>
        </p:txBody>
      </p:sp>
      <p:sp>
        <p:nvSpPr>
          <p:cNvPr id="3" name="TextBox 2">
            <a:extLst>
              <a:ext uri="{FF2B5EF4-FFF2-40B4-BE49-F238E27FC236}">
                <a16:creationId xmlns:a16="http://schemas.microsoft.com/office/drawing/2014/main" id="{0673D932-0DC3-C4F2-313D-40C20553AED9}"/>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aphicFrame>
        <p:nvGraphicFramePr>
          <p:cNvPr id="5" name="표 4">
            <a:extLst>
              <a:ext uri="{FF2B5EF4-FFF2-40B4-BE49-F238E27FC236}">
                <a16:creationId xmlns:a16="http://schemas.microsoft.com/office/drawing/2014/main" id="{7366868F-F20C-0B60-EEBE-D115A91BDE1F}"/>
              </a:ext>
            </a:extLst>
          </p:cNvPr>
          <p:cNvGraphicFramePr>
            <a:graphicFrameLocks noGrp="1"/>
          </p:cNvGraphicFramePr>
          <p:nvPr>
            <p:extLst>
              <p:ext uri="{D42A27DB-BD31-4B8C-83A1-F6EECF244321}">
                <p14:modId xmlns:p14="http://schemas.microsoft.com/office/powerpoint/2010/main" val="1497035304"/>
              </p:ext>
            </p:extLst>
          </p:nvPr>
        </p:nvGraphicFramePr>
        <p:xfrm>
          <a:off x="422353" y="4922162"/>
          <a:ext cx="6042618" cy="3771049"/>
        </p:xfrm>
        <a:graphic>
          <a:graphicData uri="http://schemas.openxmlformats.org/drawingml/2006/table">
            <a:tbl>
              <a:tblPr>
                <a:tableStyleId>{5C22544A-7EE6-4342-B048-85BDC9FD1C3A}</a:tableStyleId>
              </a:tblPr>
              <a:tblGrid>
                <a:gridCol w="833869">
                  <a:extLst>
                    <a:ext uri="{9D8B030D-6E8A-4147-A177-3AD203B41FA5}">
                      <a16:colId xmlns:a16="http://schemas.microsoft.com/office/drawing/2014/main" val="1199541810"/>
                    </a:ext>
                  </a:extLst>
                </a:gridCol>
                <a:gridCol w="545282">
                  <a:extLst>
                    <a:ext uri="{9D8B030D-6E8A-4147-A177-3AD203B41FA5}">
                      <a16:colId xmlns:a16="http://schemas.microsoft.com/office/drawing/2014/main" val="2771136683"/>
                    </a:ext>
                  </a:extLst>
                </a:gridCol>
                <a:gridCol w="514124">
                  <a:extLst>
                    <a:ext uri="{9D8B030D-6E8A-4147-A177-3AD203B41FA5}">
                      <a16:colId xmlns:a16="http://schemas.microsoft.com/office/drawing/2014/main" val="112759525"/>
                    </a:ext>
                  </a:extLst>
                </a:gridCol>
                <a:gridCol w="911223">
                  <a:extLst>
                    <a:ext uri="{9D8B030D-6E8A-4147-A177-3AD203B41FA5}">
                      <a16:colId xmlns:a16="http://schemas.microsoft.com/office/drawing/2014/main" val="3900317923"/>
                    </a:ext>
                  </a:extLst>
                </a:gridCol>
                <a:gridCol w="1675956">
                  <a:extLst>
                    <a:ext uri="{9D8B030D-6E8A-4147-A177-3AD203B41FA5}">
                      <a16:colId xmlns:a16="http://schemas.microsoft.com/office/drawing/2014/main" val="3382103366"/>
                    </a:ext>
                  </a:extLst>
                </a:gridCol>
                <a:gridCol w="1562164">
                  <a:extLst>
                    <a:ext uri="{9D8B030D-6E8A-4147-A177-3AD203B41FA5}">
                      <a16:colId xmlns:a16="http://schemas.microsoft.com/office/drawing/2014/main" val="915546717"/>
                    </a:ext>
                  </a:extLst>
                </a:gridCol>
              </a:tblGrid>
              <a:tr h="260447">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7398132"/>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altLang="ko-KR" sz="9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6008213"/>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949854"/>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537586"/>
                  </a:ext>
                </a:extLst>
              </a:tr>
              <a:tr h="239063">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en-US"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8298388"/>
                  </a:ext>
                </a:extLst>
              </a:tr>
              <a:tr h="250328">
                <a:tc>
                  <a:txBody>
                    <a:bodyPr/>
                    <a:lstStyle/>
                    <a:p>
                      <a:pPr algn="ctr" fontAlgn="ct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SVI</a:t>
                      </a:r>
                      <a:endParaRPr lang="en-US" altLang="ko-KR" sz="900" b="0" i="0" u="none" strike="noStrike" baseline="30000" dirty="0">
                        <a:solidFill>
                          <a:schemeClr val="tx1"/>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lnSpc>
                          <a:spcPts val="800"/>
                        </a:lnSpc>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External sync. Input</a:t>
                      </a:r>
                      <a:endPar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External svsync (+</a:t>
                      </a:r>
                      <a:r>
                        <a:rPr lang="en-US" altLang="ko-KR" sz="900" b="0" i="0" u="none" strike="noStrike" dirty="0" err="1">
                          <a:solidFill>
                            <a:srgbClr val="000000"/>
                          </a:solidFill>
                          <a:effectLst/>
                          <a:latin typeface="Arial" panose="020B0604020202020204" pitchFamily="34" charset="0"/>
                          <a:ea typeface="굴림" panose="020B0600000101010101" pitchFamily="50" charset="-127"/>
                          <a:cs typeface="Arial" panose="020B0604020202020204" pitchFamily="34" charset="0"/>
                        </a:rPr>
                        <a:t>vsync</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315327"/>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O3</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3</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O4</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4</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O7</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7</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580614"/>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O8</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8</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0559267"/>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O11</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7978524"/>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O12</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7588335"/>
                  </a:ext>
                </a:extLst>
              </a:tr>
              <a:tr h="276560">
                <a:tc>
                  <a:txBody>
                    <a:bodyPr/>
                    <a:lstStyle/>
                    <a:p>
                      <a:pPr algn="ctr" fontAlgn="ctr"/>
                      <a:r>
                        <a:rPr lang="en-US" altLang="ko-KR" sz="900" b="0" i="0" u="none" strike="noStrike" kern="1200" baseline="0" dirty="0">
                          <a:solidFill>
                            <a:schemeClr val="tx1"/>
                          </a:solidFill>
                          <a:effectLst/>
                          <a:latin typeface="Arial" panose="020B0604020202020204" pitchFamily="34" charset="0"/>
                          <a:ea typeface="+mn-ea"/>
                          <a:cs typeface="Arial" panose="020B0604020202020204" pitchFamily="34" charset="0"/>
                        </a:rPr>
                        <a:t>SVO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685800" rtl="0" eaLnBrk="1" fontAlgn="ctr" latinLnBrk="1" hangingPunct="1">
                        <a:lnSpc>
                          <a:spcPts val="800"/>
                        </a:lnSpc>
                      </a:pPr>
                      <a:r>
                        <a:rPr lang="en-US" altLang="ko-KR" sz="900" b="0" i="0" u="none" strike="noStrike" kern="1200" baseline="0" dirty="0">
                          <a:solidFill>
                            <a:schemeClr val="tx1"/>
                          </a:solidFill>
                          <a:effectLst/>
                          <a:latin typeface="Arial" panose="020B0604020202020204" pitchFamily="34" charset="0"/>
                          <a:ea typeface="+mn-ea"/>
                          <a:cs typeface="Arial" panose="020B0604020202020204" pitchFamily="34" charset="0"/>
                        </a:rPr>
                        <a:t>External sync. Output</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External svsync (+</a:t>
                      </a:r>
                      <a:r>
                        <a:rPr lang="en-US" altLang="ko-KR" sz="900" b="0" i="0" u="none" strike="noStrike" dirty="0" err="1">
                          <a:solidFill>
                            <a:srgbClr val="000000"/>
                          </a:solidFill>
                          <a:effectLst/>
                          <a:latin typeface="Arial" panose="020B0604020202020204" pitchFamily="34" charset="0"/>
                          <a:ea typeface="굴림" panose="020B0600000101010101" pitchFamily="50" charset="-127"/>
                          <a:cs typeface="Arial" panose="020B0604020202020204" pitchFamily="34" charset="0"/>
                        </a:rPr>
                        <a:t>vsync</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1680076"/>
                  </a:ext>
                </a:extLst>
              </a:tr>
              <a:tr h="28695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en-US"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7811736"/>
                  </a:ext>
                </a:extLst>
              </a:tr>
            </a:tbl>
          </a:graphicData>
        </a:graphic>
      </p:graphicFrame>
      <p:sp>
        <p:nvSpPr>
          <p:cNvPr id="6" name="TextBox 5">
            <a:extLst>
              <a:ext uri="{FF2B5EF4-FFF2-40B4-BE49-F238E27FC236}">
                <a16:creationId xmlns:a16="http://schemas.microsoft.com/office/drawing/2014/main" id="{D7C30DE3-4D22-589E-192E-7C27E3DC89B9}"/>
              </a:ext>
            </a:extLst>
          </p:cNvPr>
          <p:cNvSpPr txBox="1"/>
          <p:nvPr/>
        </p:nvSpPr>
        <p:spPr>
          <a:xfrm>
            <a:off x="422353" y="4561737"/>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2" name="object 84">
            <a:extLst>
              <a:ext uri="{FF2B5EF4-FFF2-40B4-BE49-F238E27FC236}">
                <a16:creationId xmlns:a16="http://schemas.microsoft.com/office/drawing/2014/main" id="{1C14F43E-8172-A20E-E067-0C053869EA35}"/>
              </a:ext>
            </a:extLst>
          </p:cNvPr>
          <p:cNvSpPr txBox="1"/>
          <p:nvPr/>
        </p:nvSpPr>
        <p:spPr>
          <a:xfrm>
            <a:off x="2777556" y="4049803"/>
            <a:ext cx="1294585"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3.  Pin diagram </a:t>
            </a:r>
          </a:p>
        </p:txBody>
      </p:sp>
      <p:grpSp>
        <p:nvGrpSpPr>
          <p:cNvPr id="91" name="그룹 90">
            <a:extLst>
              <a:ext uri="{FF2B5EF4-FFF2-40B4-BE49-F238E27FC236}">
                <a16:creationId xmlns:a16="http://schemas.microsoft.com/office/drawing/2014/main" id="{E4092F61-0D32-82BF-0AEB-858C24BB3AD8}"/>
              </a:ext>
            </a:extLst>
          </p:cNvPr>
          <p:cNvGrpSpPr/>
          <p:nvPr/>
        </p:nvGrpSpPr>
        <p:grpSpPr>
          <a:xfrm>
            <a:off x="2171806" y="1281348"/>
            <a:ext cx="2616094" cy="2681051"/>
            <a:chOff x="2171806" y="1309289"/>
            <a:chExt cx="2434199" cy="2467950"/>
          </a:xfrm>
        </p:grpSpPr>
        <p:sp>
          <p:nvSpPr>
            <p:cNvPr id="4" name="직사각형 3">
              <a:extLst>
                <a:ext uri="{FF2B5EF4-FFF2-40B4-BE49-F238E27FC236}">
                  <a16:creationId xmlns:a16="http://schemas.microsoft.com/office/drawing/2014/main" id="{10BEFC6D-2279-90DD-5D1C-DDD376E75550}"/>
                </a:ext>
              </a:extLst>
            </p:cNvPr>
            <p:cNvSpPr/>
            <p:nvPr/>
          </p:nvSpPr>
          <p:spPr>
            <a:xfrm rot="5400000">
              <a:off x="2155660" y="1325931"/>
              <a:ext cx="2466976" cy="2433714"/>
            </a:xfrm>
            <a:prstGeom prst="rect">
              <a:avLst/>
            </a:prstGeom>
            <a:solidFill>
              <a:schemeClr val="accent1">
                <a:alpha val="3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7" name="직사각형 6">
              <a:extLst>
                <a:ext uri="{FF2B5EF4-FFF2-40B4-BE49-F238E27FC236}">
                  <a16:creationId xmlns:a16="http://schemas.microsoft.com/office/drawing/2014/main" id="{51A2092A-81D9-C96B-256D-80BE159E94B5}"/>
                </a:ext>
              </a:extLst>
            </p:cNvPr>
            <p:cNvSpPr/>
            <p:nvPr/>
          </p:nvSpPr>
          <p:spPr>
            <a:xfrm rot="5400000">
              <a:off x="4356202" y="1954037"/>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9" name="직사각형 8">
              <a:extLst>
                <a:ext uri="{FF2B5EF4-FFF2-40B4-BE49-F238E27FC236}">
                  <a16:creationId xmlns:a16="http://schemas.microsoft.com/office/drawing/2014/main" id="{4B7940B1-9224-DA86-1F10-7142A3E5A5DA}"/>
                </a:ext>
              </a:extLst>
            </p:cNvPr>
            <p:cNvSpPr/>
            <p:nvPr/>
          </p:nvSpPr>
          <p:spPr>
            <a:xfrm rot="5400000">
              <a:off x="4356202" y="2243994"/>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0" name="직사각형 9">
              <a:extLst>
                <a:ext uri="{FF2B5EF4-FFF2-40B4-BE49-F238E27FC236}">
                  <a16:creationId xmlns:a16="http://schemas.microsoft.com/office/drawing/2014/main" id="{77EFAC77-A846-E9D4-BB96-5115921B5AD4}"/>
                </a:ext>
              </a:extLst>
            </p:cNvPr>
            <p:cNvSpPr/>
            <p:nvPr/>
          </p:nvSpPr>
          <p:spPr>
            <a:xfrm rot="5400000">
              <a:off x="4356202" y="2533951"/>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1" name="직사각형 10">
              <a:extLst>
                <a:ext uri="{FF2B5EF4-FFF2-40B4-BE49-F238E27FC236}">
                  <a16:creationId xmlns:a16="http://schemas.microsoft.com/office/drawing/2014/main" id="{7121234D-8E03-EB17-0481-3C3E6430A4D5}"/>
                </a:ext>
              </a:extLst>
            </p:cNvPr>
            <p:cNvSpPr/>
            <p:nvPr/>
          </p:nvSpPr>
          <p:spPr>
            <a:xfrm rot="5400000">
              <a:off x="4356202" y="282390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2" name="순서도: 카드 11">
              <a:extLst>
                <a:ext uri="{FF2B5EF4-FFF2-40B4-BE49-F238E27FC236}">
                  <a16:creationId xmlns:a16="http://schemas.microsoft.com/office/drawing/2014/main" id="{CBF19FB9-0318-5E9B-3D5E-9A16AAC9565C}"/>
                </a:ext>
              </a:extLst>
            </p:cNvPr>
            <p:cNvSpPr/>
            <p:nvPr/>
          </p:nvSpPr>
          <p:spPr>
            <a:xfrm>
              <a:off x="2760341" y="1900239"/>
              <a:ext cx="1247715" cy="1269722"/>
            </a:xfrm>
            <a:prstGeom prst="flowChartPunchedCar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4" name="TextBox 13">
              <a:extLst>
                <a:ext uri="{FF2B5EF4-FFF2-40B4-BE49-F238E27FC236}">
                  <a16:creationId xmlns:a16="http://schemas.microsoft.com/office/drawing/2014/main" id="{977AF367-90F1-EF67-E297-B0382CBB77D2}"/>
                </a:ext>
              </a:extLst>
            </p:cNvPr>
            <p:cNvSpPr txBox="1"/>
            <p:nvPr/>
          </p:nvSpPr>
          <p:spPr>
            <a:xfrm>
              <a:off x="3155950" y="2328318"/>
              <a:ext cx="487634" cy="230832"/>
            </a:xfrm>
            <a:prstGeom prst="rect">
              <a:avLst/>
            </a:prstGeom>
            <a:noFill/>
          </p:spPr>
          <p:txBody>
            <a:bodyPr wrap="non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T-Pad</a:t>
              </a:r>
              <a:endParaRPr kumimoji="0" lang="ko-KR" altLang="en-US"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15" name="TextBox 14">
              <a:extLst>
                <a:ext uri="{FF2B5EF4-FFF2-40B4-BE49-F238E27FC236}">
                  <a16:creationId xmlns:a16="http://schemas.microsoft.com/office/drawing/2014/main" id="{5FEF45A0-843F-661E-2E42-4B0F5B2C07D2}"/>
                </a:ext>
              </a:extLst>
            </p:cNvPr>
            <p:cNvSpPr txBox="1"/>
            <p:nvPr/>
          </p:nvSpPr>
          <p:spPr>
            <a:xfrm>
              <a:off x="2500821" y="1788727"/>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6" name="TextBox 15">
              <a:extLst>
                <a:ext uri="{FF2B5EF4-FFF2-40B4-BE49-F238E27FC236}">
                  <a16:creationId xmlns:a16="http://schemas.microsoft.com/office/drawing/2014/main" id="{2525FEEA-3F67-C5AB-8FE1-3FB7089CBE4A}"/>
                </a:ext>
              </a:extLst>
            </p:cNvPr>
            <p:cNvSpPr txBox="1"/>
            <p:nvPr/>
          </p:nvSpPr>
          <p:spPr>
            <a:xfrm>
              <a:off x="2505554" y="2054057"/>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lang="en-US" altLang="ko-KR" sz="800" baseline="-25000" dirty="0">
                  <a:latin typeface="맑은 고딕" panose="020F0502020204030204"/>
                  <a:ea typeface="맑은 고딕" panose="020B0503020000020004" pitchFamily="50" charset="-127"/>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7" name="TextBox 16">
              <a:extLst>
                <a:ext uri="{FF2B5EF4-FFF2-40B4-BE49-F238E27FC236}">
                  <a16:creationId xmlns:a16="http://schemas.microsoft.com/office/drawing/2014/main" id="{D88471AD-D1D6-B114-9280-EBCDF5FE7A73}"/>
                </a:ext>
              </a:extLst>
            </p:cNvPr>
            <p:cNvSpPr txBox="1"/>
            <p:nvPr/>
          </p:nvSpPr>
          <p:spPr>
            <a:xfrm>
              <a:off x="2505554" y="2621656"/>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8" name="TextBox 17">
              <a:extLst>
                <a:ext uri="{FF2B5EF4-FFF2-40B4-BE49-F238E27FC236}">
                  <a16:creationId xmlns:a16="http://schemas.microsoft.com/office/drawing/2014/main" id="{07631044-789A-5C1B-A2FB-F056DCE6ED35}"/>
                </a:ext>
              </a:extLst>
            </p:cNvPr>
            <p:cNvSpPr txBox="1"/>
            <p:nvPr/>
          </p:nvSpPr>
          <p:spPr>
            <a:xfrm>
              <a:off x="3985164" y="3314227"/>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19" name="TextBox 18">
              <a:extLst>
                <a:ext uri="{FF2B5EF4-FFF2-40B4-BE49-F238E27FC236}">
                  <a16:creationId xmlns:a16="http://schemas.microsoft.com/office/drawing/2014/main" id="{15E810F4-A711-AA8C-381B-668A586A773B}"/>
                </a:ext>
              </a:extLst>
            </p:cNvPr>
            <p:cNvSpPr txBox="1"/>
            <p:nvPr/>
          </p:nvSpPr>
          <p:spPr>
            <a:xfrm>
              <a:off x="3723966" y="3317402"/>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0" name="TextBox 19">
              <a:extLst>
                <a:ext uri="{FF2B5EF4-FFF2-40B4-BE49-F238E27FC236}">
                  <a16:creationId xmlns:a16="http://schemas.microsoft.com/office/drawing/2014/main" id="{F93B1722-F04E-8A67-56C2-0E7659F834D2}"/>
                </a:ext>
              </a:extLst>
            </p:cNvPr>
            <p:cNvSpPr txBox="1"/>
            <p:nvPr/>
          </p:nvSpPr>
          <p:spPr>
            <a:xfrm>
              <a:off x="3471851" y="3315744"/>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O8</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1" name="TextBox 20">
              <a:extLst>
                <a:ext uri="{FF2B5EF4-FFF2-40B4-BE49-F238E27FC236}">
                  <a16:creationId xmlns:a16="http://schemas.microsoft.com/office/drawing/2014/main" id="{83120E85-652E-9928-17AE-51C24A8CCD23}"/>
                </a:ext>
              </a:extLst>
            </p:cNvPr>
            <p:cNvSpPr txBox="1"/>
            <p:nvPr/>
          </p:nvSpPr>
          <p:spPr>
            <a:xfrm>
              <a:off x="2896894" y="3328632"/>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O4</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2" name="TextBox 21">
              <a:extLst>
                <a:ext uri="{FF2B5EF4-FFF2-40B4-BE49-F238E27FC236}">
                  <a16:creationId xmlns:a16="http://schemas.microsoft.com/office/drawing/2014/main" id="{C2F2D16B-57F8-9D57-1BD7-1661170EA737}"/>
                </a:ext>
              </a:extLst>
            </p:cNvPr>
            <p:cNvSpPr txBox="1"/>
            <p:nvPr/>
          </p:nvSpPr>
          <p:spPr>
            <a:xfrm>
              <a:off x="2595356" y="1640683"/>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3" name="TextBox 22">
              <a:extLst>
                <a:ext uri="{FF2B5EF4-FFF2-40B4-BE49-F238E27FC236}">
                  <a16:creationId xmlns:a16="http://schemas.microsoft.com/office/drawing/2014/main" id="{AA1F2303-1144-1D28-5F95-DD86EFF755DD}"/>
                </a:ext>
              </a:extLst>
            </p:cNvPr>
            <p:cNvSpPr txBox="1"/>
            <p:nvPr/>
          </p:nvSpPr>
          <p:spPr>
            <a:xfrm>
              <a:off x="2886669" y="164440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4" name="TextBox 23">
              <a:extLst>
                <a:ext uri="{FF2B5EF4-FFF2-40B4-BE49-F238E27FC236}">
                  <a16:creationId xmlns:a16="http://schemas.microsoft.com/office/drawing/2014/main" id="{33EB95BB-C305-2FE1-2EDE-2B87C52AC43B}"/>
                </a:ext>
              </a:extLst>
            </p:cNvPr>
            <p:cNvSpPr txBox="1"/>
            <p:nvPr/>
          </p:nvSpPr>
          <p:spPr>
            <a:xfrm>
              <a:off x="3175554" y="1637951"/>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O5</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CCC4B4D3-E359-CFD9-9925-6DD71E5CA7F3}"/>
                </a:ext>
              </a:extLst>
            </p:cNvPr>
            <p:cNvSpPr txBox="1"/>
            <p:nvPr/>
          </p:nvSpPr>
          <p:spPr>
            <a:xfrm>
              <a:off x="3746653" y="164446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O9</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6" name="TextBox 25">
              <a:extLst>
                <a:ext uri="{FF2B5EF4-FFF2-40B4-BE49-F238E27FC236}">
                  <a16:creationId xmlns:a16="http://schemas.microsoft.com/office/drawing/2014/main" id="{73377BAF-EA54-530A-FE30-4651E615A217}"/>
                </a:ext>
              </a:extLst>
            </p:cNvPr>
            <p:cNvSpPr txBox="1"/>
            <p:nvPr/>
          </p:nvSpPr>
          <p:spPr>
            <a:xfrm>
              <a:off x="4066935" y="1767396"/>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7" name="TextBox 26">
              <a:extLst>
                <a:ext uri="{FF2B5EF4-FFF2-40B4-BE49-F238E27FC236}">
                  <a16:creationId xmlns:a16="http://schemas.microsoft.com/office/drawing/2014/main" id="{D3924879-37E2-4763-4869-0370C61A93C6}"/>
                </a:ext>
              </a:extLst>
            </p:cNvPr>
            <p:cNvSpPr txBox="1"/>
            <p:nvPr/>
          </p:nvSpPr>
          <p:spPr>
            <a:xfrm>
              <a:off x="4066935" y="2045550"/>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lang="en-US" altLang="ko-KR" sz="800" baseline="-25000" dirty="0">
                  <a:latin typeface="맑은 고딕" panose="020F0502020204030204"/>
                  <a:ea typeface="맑은 고딕" panose="020B0503020000020004" pitchFamily="50" charset="-127"/>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8" name="TextBox 27">
              <a:extLst>
                <a:ext uri="{FF2B5EF4-FFF2-40B4-BE49-F238E27FC236}">
                  <a16:creationId xmlns:a16="http://schemas.microsoft.com/office/drawing/2014/main" id="{7AA8826A-E6D0-64C6-925B-6BE00E4E9361}"/>
                </a:ext>
              </a:extLst>
            </p:cNvPr>
            <p:cNvSpPr txBox="1"/>
            <p:nvPr/>
          </p:nvSpPr>
          <p:spPr>
            <a:xfrm>
              <a:off x="4070791" y="2612661"/>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9" name="TextBox 28">
              <a:extLst>
                <a:ext uri="{FF2B5EF4-FFF2-40B4-BE49-F238E27FC236}">
                  <a16:creationId xmlns:a16="http://schemas.microsoft.com/office/drawing/2014/main" id="{764AA276-87BC-2310-5DAA-7268A22FFFB1}"/>
                </a:ext>
              </a:extLst>
            </p:cNvPr>
            <p:cNvSpPr txBox="1"/>
            <p:nvPr/>
          </p:nvSpPr>
          <p:spPr>
            <a:xfrm>
              <a:off x="4059981" y="2897602"/>
              <a:ext cx="19556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D</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0" name="TextBox 29">
              <a:extLst>
                <a:ext uri="{FF2B5EF4-FFF2-40B4-BE49-F238E27FC236}">
                  <a16:creationId xmlns:a16="http://schemas.microsoft.com/office/drawing/2014/main" id="{7E58AB70-6282-E8AE-6948-64AE7D746344}"/>
                </a:ext>
              </a:extLst>
            </p:cNvPr>
            <p:cNvSpPr txBox="1"/>
            <p:nvPr/>
          </p:nvSpPr>
          <p:spPr>
            <a:xfrm>
              <a:off x="3443662" y="1638801"/>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O6</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2" name="TextBox 31">
              <a:extLst>
                <a:ext uri="{FF2B5EF4-FFF2-40B4-BE49-F238E27FC236}">
                  <a16:creationId xmlns:a16="http://schemas.microsoft.com/office/drawing/2014/main" id="{6BD1F01D-C969-AE2B-C6CC-183888363E28}"/>
                </a:ext>
              </a:extLst>
            </p:cNvPr>
            <p:cNvSpPr txBox="1"/>
            <p:nvPr/>
          </p:nvSpPr>
          <p:spPr>
            <a:xfrm>
              <a:off x="3991514" y="1643588"/>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O10</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33" name="TextBox 32">
              <a:extLst>
                <a:ext uri="{FF2B5EF4-FFF2-40B4-BE49-F238E27FC236}">
                  <a16:creationId xmlns:a16="http://schemas.microsoft.com/office/drawing/2014/main" id="{4B6621BE-F7C9-EE6A-AAAA-755B6BE7500F}"/>
                </a:ext>
              </a:extLst>
            </p:cNvPr>
            <p:cNvSpPr txBox="1"/>
            <p:nvPr/>
          </p:nvSpPr>
          <p:spPr>
            <a:xfrm>
              <a:off x="4070791" y="2330476"/>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4" name="TextBox 33">
              <a:extLst>
                <a:ext uri="{FF2B5EF4-FFF2-40B4-BE49-F238E27FC236}">
                  <a16:creationId xmlns:a16="http://schemas.microsoft.com/office/drawing/2014/main" id="{AA9A12CE-BA60-7CDD-3EF7-E247E5C38DE8}"/>
                </a:ext>
              </a:extLst>
            </p:cNvPr>
            <p:cNvSpPr txBox="1"/>
            <p:nvPr/>
          </p:nvSpPr>
          <p:spPr>
            <a:xfrm>
              <a:off x="3179429" y="332105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O7</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5" name="TextBox 34">
              <a:extLst>
                <a:ext uri="{FF2B5EF4-FFF2-40B4-BE49-F238E27FC236}">
                  <a16:creationId xmlns:a16="http://schemas.microsoft.com/office/drawing/2014/main" id="{E8DE0AC4-5C71-2A0D-6122-8EC33D16C5EE}"/>
                </a:ext>
              </a:extLst>
            </p:cNvPr>
            <p:cNvSpPr txBox="1"/>
            <p:nvPr/>
          </p:nvSpPr>
          <p:spPr>
            <a:xfrm>
              <a:off x="2633269" y="3324761"/>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O3</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36" name="TextBox 35">
              <a:extLst>
                <a:ext uri="{FF2B5EF4-FFF2-40B4-BE49-F238E27FC236}">
                  <a16:creationId xmlns:a16="http://schemas.microsoft.com/office/drawing/2014/main" id="{0351176F-82C3-882C-FAFC-C315FA4372F3}"/>
                </a:ext>
              </a:extLst>
            </p:cNvPr>
            <p:cNvSpPr txBox="1"/>
            <p:nvPr/>
          </p:nvSpPr>
          <p:spPr>
            <a:xfrm>
              <a:off x="2505554" y="2338020"/>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7" name="TextBox 36">
              <a:extLst>
                <a:ext uri="{FF2B5EF4-FFF2-40B4-BE49-F238E27FC236}">
                  <a16:creationId xmlns:a16="http://schemas.microsoft.com/office/drawing/2014/main" id="{B6F9D90C-5322-5E22-26FD-7198EA69A60E}"/>
                </a:ext>
              </a:extLst>
            </p:cNvPr>
            <p:cNvSpPr txBox="1"/>
            <p:nvPr/>
          </p:nvSpPr>
          <p:spPr>
            <a:xfrm>
              <a:off x="2499306" y="2922330"/>
              <a:ext cx="145874"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D</a:t>
              </a:r>
              <a:r>
                <a:rPr lang="en-US" altLang="ko-KR" sz="800" baseline="-25000" dirty="0">
                  <a:latin typeface="맑은 고딕" panose="020F0502020204030204"/>
                  <a:ea typeface="맑은 고딕" panose="020B0503020000020004" pitchFamily="50" charset="-127"/>
                </a:rPr>
                <a:t>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9" name="직사각형 38">
              <a:extLst>
                <a:ext uri="{FF2B5EF4-FFF2-40B4-BE49-F238E27FC236}">
                  <a16:creationId xmlns:a16="http://schemas.microsoft.com/office/drawing/2014/main" id="{FA051048-6E56-1C06-FA00-88E848077C4D}"/>
                </a:ext>
              </a:extLst>
            </p:cNvPr>
            <p:cNvSpPr/>
            <p:nvPr/>
          </p:nvSpPr>
          <p:spPr>
            <a:xfrm rot="5400000">
              <a:off x="2232514" y="1954037"/>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0" name="직사각형 39">
              <a:extLst>
                <a:ext uri="{FF2B5EF4-FFF2-40B4-BE49-F238E27FC236}">
                  <a16:creationId xmlns:a16="http://schemas.microsoft.com/office/drawing/2014/main" id="{3727E2E1-037A-F2B2-591B-58FFF108E1B2}"/>
                </a:ext>
              </a:extLst>
            </p:cNvPr>
            <p:cNvSpPr/>
            <p:nvPr/>
          </p:nvSpPr>
          <p:spPr>
            <a:xfrm rot="5400000">
              <a:off x="2232514" y="2243994"/>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1" name="직사각형 40">
              <a:extLst>
                <a:ext uri="{FF2B5EF4-FFF2-40B4-BE49-F238E27FC236}">
                  <a16:creationId xmlns:a16="http://schemas.microsoft.com/office/drawing/2014/main" id="{3D09AB52-81CA-39E7-652C-8E1F5496EE66}"/>
                </a:ext>
              </a:extLst>
            </p:cNvPr>
            <p:cNvSpPr/>
            <p:nvPr/>
          </p:nvSpPr>
          <p:spPr>
            <a:xfrm rot="5400000">
              <a:off x="2232514" y="2533951"/>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2" name="직사각형 41">
              <a:extLst>
                <a:ext uri="{FF2B5EF4-FFF2-40B4-BE49-F238E27FC236}">
                  <a16:creationId xmlns:a16="http://schemas.microsoft.com/office/drawing/2014/main" id="{4BDDE61A-DD47-604A-2A8A-9D40158A90E9}"/>
                </a:ext>
              </a:extLst>
            </p:cNvPr>
            <p:cNvSpPr/>
            <p:nvPr/>
          </p:nvSpPr>
          <p:spPr>
            <a:xfrm rot="5400000">
              <a:off x="2232514" y="282390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7" name="사각형: 잘린 한쪽 모서리 46">
              <a:extLst>
                <a:ext uri="{FF2B5EF4-FFF2-40B4-BE49-F238E27FC236}">
                  <a16:creationId xmlns:a16="http://schemas.microsoft.com/office/drawing/2014/main" id="{BCD106BC-541B-5315-F1D4-4DF46DE22057}"/>
                </a:ext>
              </a:extLst>
            </p:cNvPr>
            <p:cNvSpPr/>
            <p:nvPr/>
          </p:nvSpPr>
          <p:spPr>
            <a:xfrm>
              <a:off x="2172769" y="1723703"/>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8" name="TextBox 47">
              <a:extLst>
                <a:ext uri="{FF2B5EF4-FFF2-40B4-BE49-F238E27FC236}">
                  <a16:creationId xmlns:a16="http://schemas.microsoft.com/office/drawing/2014/main" id="{84FE4F66-37EB-837A-7DDE-C20C479FCD08}"/>
                </a:ext>
              </a:extLst>
            </p:cNvPr>
            <p:cNvSpPr txBox="1"/>
            <p:nvPr/>
          </p:nvSpPr>
          <p:spPr>
            <a:xfrm>
              <a:off x="2213198" y="1701985"/>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5" name="사각형: 잘린 한쪽 모서리 44">
              <a:extLst>
                <a:ext uri="{FF2B5EF4-FFF2-40B4-BE49-F238E27FC236}">
                  <a16:creationId xmlns:a16="http://schemas.microsoft.com/office/drawing/2014/main" id="{D77BD9FB-05F1-DC04-B60E-6173FDA0DB97}"/>
                </a:ext>
              </a:extLst>
            </p:cNvPr>
            <p:cNvSpPr/>
            <p:nvPr/>
          </p:nvSpPr>
          <p:spPr>
            <a:xfrm rot="10800000" flipH="1">
              <a:off x="2171806" y="3169960"/>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6" name="TextBox 45">
              <a:extLst>
                <a:ext uri="{FF2B5EF4-FFF2-40B4-BE49-F238E27FC236}">
                  <a16:creationId xmlns:a16="http://schemas.microsoft.com/office/drawing/2014/main" id="{CB596575-8B5B-9B74-FF05-9CD56823AFEE}"/>
                </a:ext>
              </a:extLst>
            </p:cNvPr>
            <p:cNvSpPr txBox="1"/>
            <p:nvPr/>
          </p:nvSpPr>
          <p:spPr>
            <a:xfrm>
              <a:off x="2213199" y="3144125"/>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0" name="직사각형 49">
              <a:extLst>
                <a:ext uri="{FF2B5EF4-FFF2-40B4-BE49-F238E27FC236}">
                  <a16:creationId xmlns:a16="http://schemas.microsoft.com/office/drawing/2014/main" id="{962093A6-89CE-FC42-EA15-EC74914A138F}"/>
                </a:ext>
              </a:extLst>
            </p:cNvPr>
            <p:cNvSpPr/>
            <p:nvPr/>
          </p:nvSpPr>
          <p:spPr>
            <a:xfrm>
              <a:off x="2868198"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1" name="직사각형 50">
              <a:extLst>
                <a:ext uri="{FF2B5EF4-FFF2-40B4-BE49-F238E27FC236}">
                  <a16:creationId xmlns:a16="http://schemas.microsoft.com/office/drawing/2014/main" id="{AFCD6DD5-6741-1714-F968-22DED342FACD}"/>
                </a:ext>
              </a:extLst>
            </p:cNvPr>
            <p:cNvSpPr/>
            <p:nvPr/>
          </p:nvSpPr>
          <p:spPr>
            <a:xfrm>
              <a:off x="3158155"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2" name="직사각형 51">
              <a:extLst>
                <a:ext uri="{FF2B5EF4-FFF2-40B4-BE49-F238E27FC236}">
                  <a16:creationId xmlns:a16="http://schemas.microsoft.com/office/drawing/2014/main" id="{446E8FB4-6F3F-76B2-ABDE-83EBC5761753}"/>
                </a:ext>
              </a:extLst>
            </p:cNvPr>
            <p:cNvSpPr/>
            <p:nvPr/>
          </p:nvSpPr>
          <p:spPr>
            <a:xfrm>
              <a:off x="3448112"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3" name="직사각형 52">
              <a:extLst>
                <a:ext uri="{FF2B5EF4-FFF2-40B4-BE49-F238E27FC236}">
                  <a16:creationId xmlns:a16="http://schemas.microsoft.com/office/drawing/2014/main" id="{BE7DF7BE-6D66-EDCD-555F-0352B3A5B155}"/>
                </a:ext>
              </a:extLst>
            </p:cNvPr>
            <p:cNvSpPr/>
            <p:nvPr/>
          </p:nvSpPr>
          <p:spPr>
            <a:xfrm>
              <a:off x="3738069"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54" name="그룹 53">
              <a:extLst>
                <a:ext uri="{FF2B5EF4-FFF2-40B4-BE49-F238E27FC236}">
                  <a16:creationId xmlns:a16="http://schemas.microsoft.com/office/drawing/2014/main" id="{21401A0F-5406-77B3-0BD1-E5CC3CF2E23F}"/>
                </a:ext>
              </a:extLst>
            </p:cNvPr>
            <p:cNvGrpSpPr/>
            <p:nvPr/>
          </p:nvGrpSpPr>
          <p:grpSpPr>
            <a:xfrm>
              <a:off x="2559894" y="3469636"/>
              <a:ext cx="223838" cy="306640"/>
              <a:chOff x="2608988" y="3515561"/>
              <a:chExt cx="223838" cy="306640"/>
            </a:xfrm>
          </p:grpSpPr>
          <p:sp>
            <p:nvSpPr>
              <p:cNvPr id="58" name="사각형: 잘린 한쪽 모서리 57">
                <a:extLst>
                  <a:ext uri="{FF2B5EF4-FFF2-40B4-BE49-F238E27FC236}">
                    <a16:creationId xmlns:a16="http://schemas.microsoft.com/office/drawing/2014/main" id="{F6D47755-FF3E-4691-F42A-CFB9FA96DE4F}"/>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9" name="TextBox 58">
                <a:extLst>
                  <a:ext uri="{FF2B5EF4-FFF2-40B4-BE49-F238E27FC236}">
                    <a16:creationId xmlns:a16="http://schemas.microsoft.com/office/drawing/2014/main" id="{1CD36541-57A2-E7E9-C006-A38EC79DA65E}"/>
                  </a:ext>
                </a:extLst>
              </p:cNvPr>
              <p:cNvSpPr txBox="1"/>
              <p:nvPr/>
            </p:nvSpPr>
            <p:spPr>
              <a:xfrm>
                <a:off x="2608988"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55" name="그룹 54">
              <a:extLst>
                <a:ext uri="{FF2B5EF4-FFF2-40B4-BE49-F238E27FC236}">
                  <a16:creationId xmlns:a16="http://schemas.microsoft.com/office/drawing/2014/main" id="{D3D572E1-21DB-776C-B21D-D43D088A5CAD}"/>
                </a:ext>
              </a:extLst>
            </p:cNvPr>
            <p:cNvGrpSpPr/>
            <p:nvPr/>
          </p:nvGrpSpPr>
          <p:grpSpPr>
            <a:xfrm>
              <a:off x="4002033" y="3469638"/>
              <a:ext cx="223838" cy="307601"/>
              <a:chOff x="4051127" y="3515563"/>
              <a:chExt cx="223838" cy="307601"/>
            </a:xfrm>
          </p:grpSpPr>
          <p:sp>
            <p:nvSpPr>
              <p:cNvPr id="56" name="사각형: 잘린 한쪽 모서리 55">
                <a:extLst>
                  <a:ext uri="{FF2B5EF4-FFF2-40B4-BE49-F238E27FC236}">
                    <a16:creationId xmlns:a16="http://schemas.microsoft.com/office/drawing/2014/main" id="{5A9C65F6-948A-93BD-CCE5-BB69C3E6F946}"/>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7" name="TextBox 56">
                <a:extLst>
                  <a:ext uri="{FF2B5EF4-FFF2-40B4-BE49-F238E27FC236}">
                    <a16:creationId xmlns:a16="http://schemas.microsoft.com/office/drawing/2014/main" id="{42E2AD9D-DFE8-1BC3-C5FC-C22613341F19}"/>
                  </a:ext>
                </a:extLst>
              </p:cNvPr>
              <p:cNvSpPr txBox="1"/>
              <p:nvPr/>
            </p:nvSpPr>
            <p:spPr>
              <a:xfrm>
                <a:off x="4051127" y="3554437"/>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sp>
          <p:nvSpPr>
            <p:cNvPr id="61" name="직사각형 60">
              <a:extLst>
                <a:ext uri="{FF2B5EF4-FFF2-40B4-BE49-F238E27FC236}">
                  <a16:creationId xmlns:a16="http://schemas.microsoft.com/office/drawing/2014/main" id="{C6513BF3-3B8D-1A5B-8878-3E81D2C5241E}"/>
                </a:ext>
              </a:extLst>
            </p:cNvPr>
            <p:cNvSpPr/>
            <p:nvPr/>
          </p:nvSpPr>
          <p:spPr>
            <a:xfrm>
              <a:off x="3714806"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2" name="직사각형 61">
              <a:extLst>
                <a:ext uri="{FF2B5EF4-FFF2-40B4-BE49-F238E27FC236}">
                  <a16:creationId xmlns:a16="http://schemas.microsoft.com/office/drawing/2014/main" id="{D8FBE4BF-335D-34A9-4913-AC158259E933}"/>
                </a:ext>
              </a:extLst>
            </p:cNvPr>
            <p:cNvSpPr/>
            <p:nvPr/>
          </p:nvSpPr>
          <p:spPr>
            <a:xfrm>
              <a:off x="3424849"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3" name="직사각형 62">
              <a:extLst>
                <a:ext uri="{FF2B5EF4-FFF2-40B4-BE49-F238E27FC236}">
                  <a16:creationId xmlns:a16="http://schemas.microsoft.com/office/drawing/2014/main" id="{1906D30D-75DA-825E-A134-48FEA6D8E7C4}"/>
                </a:ext>
              </a:extLst>
            </p:cNvPr>
            <p:cNvSpPr/>
            <p:nvPr/>
          </p:nvSpPr>
          <p:spPr>
            <a:xfrm>
              <a:off x="3134892"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4" name="직사각형 63">
              <a:extLst>
                <a:ext uri="{FF2B5EF4-FFF2-40B4-BE49-F238E27FC236}">
                  <a16:creationId xmlns:a16="http://schemas.microsoft.com/office/drawing/2014/main" id="{798F4905-418B-7781-7097-8843328EC006}"/>
                </a:ext>
              </a:extLst>
            </p:cNvPr>
            <p:cNvSpPr/>
            <p:nvPr/>
          </p:nvSpPr>
          <p:spPr>
            <a:xfrm>
              <a:off x="2844935"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9" name="사각형: 잘린 한쪽 모서리 68">
              <a:extLst>
                <a:ext uri="{FF2B5EF4-FFF2-40B4-BE49-F238E27FC236}">
                  <a16:creationId xmlns:a16="http://schemas.microsoft.com/office/drawing/2014/main" id="{47BF5BD8-3BA4-5976-3128-182D9136BD46}"/>
                </a:ext>
              </a:extLst>
            </p:cNvPr>
            <p:cNvSpPr/>
            <p:nvPr/>
          </p:nvSpPr>
          <p:spPr>
            <a:xfrm rot="5400000">
              <a:off x="3944568" y="1369428"/>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0" name="TextBox 69">
              <a:extLst>
                <a:ext uri="{FF2B5EF4-FFF2-40B4-BE49-F238E27FC236}">
                  <a16:creationId xmlns:a16="http://schemas.microsoft.com/office/drawing/2014/main" id="{82492BF0-97F3-BB8D-4163-A4CF4E72910F}"/>
                </a:ext>
              </a:extLst>
            </p:cNvPr>
            <p:cNvSpPr txBox="1"/>
            <p:nvPr/>
          </p:nvSpPr>
          <p:spPr>
            <a:xfrm>
              <a:off x="3986415" y="1349566"/>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7" name="사각형: 잘린 한쪽 모서리 66">
              <a:extLst>
                <a:ext uri="{FF2B5EF4-FFF2-40B4-BE49-F238E27FC236}">
                  <a16:creationId xmlns:a16="http://schemas.microsoft.com/office/drawing/2014/main" id="{66327C7A-2876-6B74-AFD1-FCA8E35994B3}"/>
                </a:ext>
              </a:extLst>
            </p:cNvPr>
            <p:cNvSpPr/>
            <p:nvPr/>
          </p:nvSpPr>
          <p:spPr>
            <a:xfrm rot="16200000" flipH="1">
              <a:off x="2497831" y="1368945"/>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8" name="TextBox 67">
              <a:extLst>
                <a:ext uri="{FF2B5EF4-FFF2-40B4-BE49-F238E27FC236}">
                  <a16:creationId xmlns:a16="http://schemas.microsoft.com/office/drawing/2014/main" id="{A47D69D0-D209-38DF-46DD-BA45D95E56FC}"/>
                </a:ext>
              </a:extLst>
            </p:cNvPr>
            <p:cNvSpPr txBox="1"/>
            <p:nvPr/>
          </p:nvSpPr>
          <p:spPr>
            <a:xfrm>
              <a:off x="2544276" y="1349565"/>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2" name="사각형: 잘린 한쪽 모서리 71">
              <a:extLst>
                <a:ext uri="{FF2B5EF4-FFF2-40B4-BE49-F238E27FC236}">
                  <a16:creationId xmlns:a16="http://schemas.microsoft.com/office/drawing/2014/main" id="{344D9631-1509-6F9F-7501-BD3CA9C18B20}"/>
                </a:ext>
              </a:extLst>
            </p:cNvPr>
            <p:cNvSpPr/>
            <p:nvPr/>
          </p:nvSpPr>
          <p:spPr>
            <a:xfrm rot="10800000" flipV="1">
              <a:off x="4294445" y="1719788"/>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3" name="TextBox 72">
              <a:extLst>
                <a:ext uri="{FF2B5EF4-FFF2-40B4-BE49-F238E27FC236}">
                  <a16:creationId xmlns:a16="http://schemas.microsoft.com/office/drawing/2014/main" id="{F148FC04-966F-9876-126A-DA764CBD2B06}"/>
                </a:ext>
              </a:extLst>
            </p:cNvPr>
            <p:cNvSpPr txBox="1"/>
            <p:nvPr/>
          </p:nvSpPr>
          <p:spPr>
            <a:xfrm>
              <a:off x="4343266" y="1701985"/>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5" name="사각형: 잘린 한쪽 모서리 74">
              <a:extLst>
                <a:ext uri="{FF2B5EF4-FFF2-40B4-BE49-F238E27FC236}">
                  <a16:creationId xmlns:a16="http://schemas.microsoft.com/office/drawing/2014/main" id="{D02F29FC-05DF-7B55-A3F7-5FA06294CC4C}"/>
                </a:ext>
              </a:extLst>
            </p:cNvPr>
            <p:cNvSpPr/>
            <p:nvPr/>
          </p:nvSpPr>
          <p:spPr>
            <a:xfrm flipH="1" flipV="1">
              <a:off x="4297917" y="3173265"/>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6" name="TextBox 75">
              <a:extLst>
                <a:ext uri="{FF2B5EF4-FFF2-40B4-BE49-F238E27FC236}">
                  <a16:creationId xmlns:a16="http://schemas.microsoft.com/office/drawing/2014/main" id="{388A8235-8834-EB9E-D53A-9D4112DA65A7}"/>
                </a:ext>
              </a:extLst>
            </p:cNvPr>
            <p:cNvSpPr txBox="1"/>
            <p:nvPr/>
          </p:nvSpPr>
          <p:spPr>
            <a:xfrm>
              <a:off x="4340885" y="3144124"/>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r>
                <a:rPr lang="en-US" altLang="ko-KR" sz="900" dirty="0">
                  <a:latin typeface="맑은 고딕" panose="020F0502020204030204"/>
                  <a:ea typeface="맑은 고딕" panose="020B0503020000020004" pitchFamily="50" charset="-127"/>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7" name="TextBox 76">
              <a:extLst>
                <a:ext uri="{FF2B5EF4-FFF2-40B4-BE49-F238E27FC236}">
                  <a16:creationId xmlns:a16="http://schemas.microsoft.com/office/drawing/2014/main" id="{D8539796-98D7-4CFC-6D78-EEE30F169D38}"/>
                </a:ext>
              </a:extLst>
            </p:cNvPr>
            <p:cNvSpPr txBox="1"/>
            <p:nvPr/>
          </p:nvSpPr>
          <p:spPr>
            <a:xfrm>
              <a:off x="4048501" y="3213795"/>
              <a:ext cx="201978" cy="89768"/>
            </a:xfrm>
            <a:prstGeom prst="rect">
              <a:avLst/>
            </a:prstGeom>
            <a:noFill/>
          </p:spPr>
          <p:txBody>
            <a:bodyPr wrap="none" lIns="0" tIns="0" rIns="0" bIns="0" rtlCol="0">
              <a:spAutoFit/>
            </a:bodyPr>
            <a:lstStyle/>
            <a:p>
              <a:pPr algn="ctr" latinLnBrk="1">
                <a:lnSpc>
                  <a:spcPts val="700"/>
                </a:lnSpc>
                <a:defRPr/>
              </a:pPr>
              <a:r>
                <a:rPr lang="en-US" altLang="ko-KR" sz="800" dirty="0">
                  <a:latin typeface="+mn-ea"/>
                </a:rPr>
                <a:t>SVO</a:t>
              </a:r>
            </a:p>
          </p:txBody>
        </p:sp>
        <p:sp>
          <p:nvSpPr>
            <p:cNvPr id="78" name="TextBox 77">
              <a:extLst>
                <a:ext uri="{FF2B5EF4-FFF2-40B4-BE49-F238E27FC236}">
                  <a16:creationId xmlns:a16="http://schemas.microsoft.com/office/drawing/2014/main" id="{A3F06153-51CF-A070-1E79-384524A9E328}"/>
                </a:ext>
              </a:extLst>
            </p:cNvPr>
            <p:cNvSpPr txBox="1"/>
            <p:nvPr/>
          </p:nvSpPr>
          <p:spPr>
            <a:xfrm>
              <a:off x="2493111" y="3216065"/>
              <a:ext cx="149080" cy="89768"/>
            </a:xfrm>
            <a:prstGeom prst="rect">
              <a:avLst/>
            </a:prstGeom>
            <a:noFill/>
          </p:spPr>
          <p:txBody>
            <a:bodyPr wrap="none" lIns="0" tIns="0" rIns="0" bIns="0" rtlCol="0">
              <a:spAutoFit/>
            </a:bodyPr>
            <a:lstStyle/>
            <a:p>
              <a:pPr algn="ctr" latinLnBrk="1">
                <a:lnSpc>
                  <a:spcPts val="700"/>
                </a:lnSpc>
                <a:defRPr/>
              </a:pPr>
              <a:r>
                <a:rPr lang="en-US" altLang="ko-KR" sz="800" dirty="0">
                  <a:latin typeface="+mn-ea"/>
                </a:rPr>
                <a:t>SVI</a:t>
              </a:r>
            </a:p>
          </p:txBody>
        </p:sp>
        <p:sp>
          <p:nvSpPr>
            <p:cNvPr id="13" name="TextBox 12">
              <a:extLst>
                <a:ext uri="{FF2B5EF4-FFF2-40B4-BE49-F238E27FC236}">
                  <a16:creationId xmlns:a16="http://schemas.microsoft.com/office/drawing/2014/main" id="{C8C626C8-F415-6D40-6B19-73F26E2D5682}"/>
                </a:ext>
              </a:extLst>
            </p:cNvPr>
            <p:cNvSpPr txBox="1"/>
            <p:nvPr/>
          </p:nvSpPr>
          <p:spPr>
            <a:xfrm>
              <a:off x="2212632" y="1991841"/>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0" name="TextBox 79">
              <a:extLst>
                <a:ext uri="{FF2B5EF4-FFF2-40B4-BE49-F238E27FC236}">
                  <a16:creationId xmlns:a16="http://schemas.microsoft.com/office/drawing/2014/main" id="{CE764032-847F-60B3-3F90-98F5DFDD8555}"/>
                </a:ext>
              </a:extLst>
            </p:cNvPr>
            <p:cNvSpPr txBox="1"/>
            <p:nvPr/>
          </p:nvSpPr>
          <p:spPr>
            <a:xfrm>
              <a:off x="2207171" y="228072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1" name="TextBox 80">
              <a:extLst>
                <a:ext uri="{FF2B5EF4-FFF2-40B4-BE49-F238E27FC236}">
                  <a16:creationId xmlns:a16="http://schemas.microsoft.com/office/drawing/2014/main" id="{02059E8C-0320-A828-BF47-4CAD7779277B}"/>
                </a:ext>
              </a:extLst>
            </p:cNvPr>
            <p:cNvSpPr txBox="1"/>
            <p:nvPr/>
          </p:nvSpPr>
          <p:spPr>
            <a:xfrm>
              <a:off x="2207171" y="2564517"/>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2" name="TextBox 81">
              <a:extLst>
                <a:ext uri="{FF2B5EF4-FFF2-40B4-BE49-F238E27FC236}">
                  <a16:creationId xmlns:a16="http://schemas.microsoft.com/office/drawing/2014/main" id="{82AD2074-3EAD-5A1A-9DE8-B5520815FC83}"/>
                </a:ext>
              </a:extLst>
            </p:cNvPr>
            <p:cNvSpPr txBox="1"/>
            <p:nvPr/>
          </p:nvSpPr>
          <p:spPr>
            <a:xfrm>
              <a:off x="2207171" y="2858880"/>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3" name="TextBox 82">
              <a:extLst>
                <a:ext uri="{FF2B5EF4-FFF2-40B4-BE49-F238E27FC236}">
                  <a16:creationId xmlns:a16="http://schemas.microsoft.com/office/drawing/2014/main" id="{9C852FBD-27C3-9A2F-569B-C7BBE5939F08}"/>
                </a:ext>
              </a:extLst>
            </p:cNvPr>
            <p:cNvSpPr txBox="1"/>
            <p:nvPr/>
          </p:nvSpPr>
          <p:spPr>
            <a:xfrm>
              <a:off x="4343266" y="1991841"/>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5" name="TextBox 84">
              <a:extLst>
                <a:ext uri="{FF2B5EF4-FFF2-40B4-BE49-F238E27FC236}">
                  <a16:creationId xmlns:a16="http://schemas.microsoft.com/office/drawing/2014/main" id="{860FC2FA-762C-1F87-32D3-3A94DD0BF6E8}"/>
                </a:ext>
              </a:extLst>
            </p:cNvPr>
            <p:cNvSpPr txBox="1"/>
            <p:nvPr/>
          </p:nvSpPr>
          <p:spPr>
            <a:xfrm>
              <a:off x="4343266" y="2286173"/>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6" name="TextBox 85">
              <a:extLst>
                <a:ext uri="{FF2B5EF4-FFF2-40B4-BE49-F238E27FC236}">
                  <a16:creationId xmlns:a16="http://schemas.microsoft.com/office/drawing/2014/main" id="{F78BB64B-D32D-2ED6-4564-962FE1030A22}"/>
                </a:ext>
              </a:extLst>
            </p:cNvPr>
            <p:cNvSpPr txBox="1"/>
            <p:nvPr/>
          </p:nvSpPr>
          <p:spPr>
            <a:xfrm>
              <a:off x="4343266" y="2564394"/>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7" name="TextBox 86">
              <a:extLst>
                <a:ext uri="{FF2B5EF4-FFF2-40B4-BE49-F238E27FC236}">
                  <a16:creationId xmlns:a16="http://schemas.microsoft.com/office/drawing/2014/main" id="{5F141AA0-E529-C2FF-53F7-0A977948EDA2}"/>
                </a:ext>
              </a:extLst>
            </p:cNvPr>
            <p:cNvSpPr txBox="1"/>
            <p:nvPr/>
          </p:nvSpPr>
          <p:spPr>
            <a:xfrm>
              <a:off x="4343266" y="2858880"/>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spTree>
    <p:extLst>
      <p:ext uri="{BB962C8B-B14F-4D97-AF65-F5344CB8AC3E}">
        <p14:creationId xmlns:p14="http://schemas.microsoft.com/office/powerpoint/2010/main" val="1040848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CFAEEDD-4730-DFE8-E717-C1E7AA1F092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C7B47E05-986F-3DA1-318D-07E6AC8BE4BE}"/>
              </a:ext>
            </a:extLst>
          </p:cNvPr>
          <p:cNvGraphicFramePr>
            <a:graphicFrameLocks noGrp="1"/>
          </p:cNvGraphicFramePr>
          <p:nvPr>
            <p:extLst>
              <p:ext uri="{D42A27DB-BD31-4B8C-83A1-F6EECF244321}">
                <p14:modId xmlns:p14="http://schemas.microsoft.com/office/powerpoint/2010/main" val="3059795855"/>
              </p:ext>
            </p:extLst>
          </p:nvPr>
        </p:nvGraphicFramePr>
        <p:xfrm>
          <a:off x="404814" y="1276542"/>
          <a:ext cx="6048623" cy="2971811"/>
        </p:xfrm>
        <a:graphic>
          <a:graphicData uri="http://schemas.openxmlformats.org/drawingml/2006/table">
            <a:tbl>
              <a:tblPr>
                <a:tableStyleId>{5C22544A-7EE6-4342-B048-85BDC9FD1C3A}</a:tableStyleId>
              </a:tblPr>
              <a:tblGrid>
                <a:gridCol w="767909">
                  <a:extLst>
                    <a:ext uri="{9D8B030D-6E8A-4147-A177-3AD203B41FA5}">
                      <a16:colId xmlns:a16="http://schemas.microsoft.com/office/drawing/2014/main" val="1199541810"/>
                    </a:ext>
                  </a:extLst>
                </a:gridCol>
                <a:gridCol w="552817">
                  <a:extLst>
                    <a:ext uri="{9D8B030D-6E8A-4147-A177-3AD203B41FA5}">
                      <a16:colId xmlns:a16="http://schemas.microsoft.com/office/drawing/2014/main" val="2771136683"/>
                    </a:ext>
                  </a:extLst>
                </a:gridCol>
                <a:gridCol w="521227">
                  <a:extLst>
                    <a:ext uri="{9D8B030D-6E8A-4147-A177-3AD203B41FA5}">
                      <a16:colId xmlns:a16="http://schemas.microsoft.com/office/drawing/2014/main" val="112759525"/>
                    </a:ext>
                  </a:extLst>
                </a:gridCol>
                <a:gridCol w="923812">
                  <a:extLst>
                    <a:ext uri="{9D8B030D-6E8A-4147-A177-3AD203B41FA5}">
                      <a16:colId xmlns:a16="http://schemas.microsoft.com/office/drawing/2014/main" val="3900317923"/>
                    </a:ext>
                  </a:extLst>
                </a:gridCol>
                <a:gridCol w="1787697">
                  <a:extLst>
                    <a:ext uri="{9D8B030D-6E8A-4147-A177-3AD203B41FA5}">
                      <a16:colId xmlns:a16="http://schemas.microsoft.com/office/drawing/2014/main" val="3382103366"/>
                    </a:ext>
                  </a:extLst>
                </a:gridCol>
                <a:gridCol w="1495161">
                  <a:extLst>
                    <a:ext uri="{9D8B030D-6E8A-4147-A177-3AD203B41FA5}">
                      <a16:colId xmlns:a16="http://schemas.microsoft.com/office/drawing/2014/main" val="915546717"/>
                    </a:ext>
                  </a:extLst>
                </a:gridCol>
              </a:tblGrid>
              <a:tr h="329621">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53795"/>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06667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O10</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10</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0384047"/>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O9</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9</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425789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O6</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6</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6803458"/>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O5</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5</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7433265"/>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O2</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23</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4291"/>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2793209"/>
                  </a:ext>
                </a:extLst>
              </a:tr>
            </a:tbl>
          </a:graphicData>
        </a:graphic>
      </p:graphicFrame>
      <p:sp>
        <p:nvSpPr>
          <p:cNvPr id="5" name="TextBox 4">
            <a:extLst>
              <a:ext uri="{FF2B5EF4-FFF2-40B4-BE49-F238E27FC236}">
                <a16:creationId xmlns:a16="http://schemas.microsoft.com/office/drawing/2014/main" id="{C7B7094A-6A33-B023-7C26-494F8CD0256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15" name="object 11">
            <a:extLst>
              <a:ext uri="{FF2B5EF4-FFF2-40B4-BE49-F238E27FC236}">
                <a16:creationId xmlns:a16="http://schemas.microsoft.com/office/drawing/2014/main" id="{77924AB2-D427-3E11-9D10-6C2E350D7DF3}"/>
              </a:ext>
            </a:extLst>
          </p:cNvPr>
          <p:cNvSpPr txBox="1"/>
          <p:nvPr/>
        </p:nvSpPr>
        <p:spPr>
          <a:xfrm>
            <a:off x="2732912" y="4453995"/>
            <a:ext cx="1392176"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1</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Pin Description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18" name="TextBox 17">
            <a:extLst>
              <a:ext uri="{FF2B5EF4-FFF2-40B4-BE49-F238E27FC236}">
                <a16:creationId xmlns:a16="http://schemas.microsoft.com/office/drawing/2014/main" id="{4AE1DB68-DC7C-30B9-83A3-6628F8AC04B5}"/>
              </a:ext>
            </a:extLst>
          </p:cNvPr>
          <p:cNvSpPr txBox="1"/>
          <p:nvPr/>
        </p:nvSpPr>
        <p:spPr>
          <a:xfrm>
            <a:off x="404812" y="5668664"/>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graphicFrame>
        <p:nvGraphicFramePr>
          <p:cNvPr id="33" name="표 32">
            <a:extLst>
              <a:ext uri="{FF2B5EF4-FFF2-40B4-BE49-F238E27FC236}">
                <a16:creationId xmlns:a16="http://schemas.microsoft.com/office/drawing/2014/main" id="{4EFE9879-BEAF-4A4B-A230-E7915D1742CC}"/>
              </a:ext>
            </a:extLst>
          </p:cNvPr>
          <p:cNvGraphicFramePr>
            <a:graphicFrameLocks noGrp="1"/>
          </p:cNvGraphicFramePr>
          <p:nvPr>
            <p:extLst>
              <p:ext uri="{D42A27DB-BD31-4B8C-83A1-F6EECF244321}">
                <p14:modId xmlns:p14="http://schemas.microsoft.com/office/powerpoint/2010/main" val="368817279"/>
              </p:ext>
            </p:extLst>
          </p:nvPr>
        </p:nvGraphicFramePr>
        <p:xfrm>
          <a:off x="404812" y="6098728"/>
          <a:ext cx="6048623" cy="2454219"/>
        </p:xfrm>
        <a:graphic>
          <a:graphicData uri="http://schemas.openxmlformats.org/drawingml/2006/table">
            <a:tbl>
              <a:tblPr>
                <a:tableStyleId>{5C22544A-7EE6-4342-B048-85BDC9FD1C3A}</a:tableStyleId>
              </a:tblPr>
              <a:tblGrid>
                <a:gridCol w="748211">
                  <a:extLst>
                    <a:ext uri="{9D8B030D-6E8A-4147-A177-3AD203B41FA5}">
                      <a16:colId xmlns:a16="http://schemas.microsoft.com/office/drawing/2014/main" val="1199541810"/>
                    </a:ext>
                  </a:extLst>
                </a:gridCol>
                <a:gridCol w="558227">
                  <a:extLst>
                    <a:ext uri="{9D8B030D-6E8A-4147-A177-3AD203B41FA5}">
                      <a16:colId xmlns:a16="http://schemas.microsoft.com/office/drawing/2014/main" val="112759525"/>
                    </a:ext>
                  </a:extLst>
                </a:gridCol>
                <a:gridCol w="3236381">
                  <a:extLst>
                    <a:ext uri="{9D8B030D-6E8A-4147-A177-3AD203B41FA5}">
                      <a16:colId xmlns:a16="http://schemas.microsoft.com/office/drawing/2014/main" val="3900317923"/>
                    </a:ext>
                  </a:extLst>
                </a:gridCol>
                <a:gridCol w="1505804">
                  <a:extLst>
                    <a:ext uri="{9D8B030D-6E8A-4147-A177-3AD203B41FA5}">
                      <a16:colId xmlns:a16="http://schemas.microsoft.com/office/drawing/2014/main" val="3382103366"/>
                    </a:ext>
                  </a:extLst>
                </a:gridCol>
              </a:tblGrid>
              <a:tr h="346347">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03271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07515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bl>
          </a:graphicData>
        </a:graphic>
      </p:graphicFrame>
      <p:grpSp>
        <p:nvGrpSpPr>
          <p:cNvPr id="34" name="그룹 33">
            <a:extLst>
              <a:ext uri="{FF2B5EF4-FFF2-40B4-BE49-F238E27FC236}">
                <a16:creationId xmlns:a16="http://schemas.microsoft.com/office/drawing/2014/main" id="{3E2A5793-F414-E400-C253-67015BEC55E3}"/>
              </a:ext>
            </a:extLst>
          </p:cNvPr>
          <p:cNvGrpSpPr/>
          <p:nvPr/>
        </p:nvGrpSpPr>
        <p:grpSpPr>
          <a:xfrm>
            <a:off x="2794443" y="6553702"/>
            <a:ext cx="1026319" cy="836432"/>
            <a:chOff x="2838451" y="6667968"/>
            <a:chExt cx="1026319" cy="836432"/>
          </a:xfrm>
        </p:grpSpPr>
        <p:pic>
          <p:nvPicPr>
            <p:cNvPr id="35" name="그림 34">
              <a:extLst>
                <a:ext uri="{FF2B5EF4-FFF2-40B4-BE49-F238E27FC236}">
                  <a16:creationId xmlns:a16="http://schemas.microsoft.com/office/drawing/2014/main" id="{0C4DBECA-587E-8106-D972-7E714696ADF2}"/>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36" name="타원 35">
              <a:extLst>
                <a:ext uri="{FF2B5EF4-FFF2-40B4-BE49-F238E27FC236}">
                  <a16:creationId xmlns:a16="http://schemas.microsoft.com/office/drawing/2014/main" id="{E641740A-185A-A95A-337D-425C99750A71}"/>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7" name="직사각형 36">
              <a:extLst>
                <a:ext uri="{FF2B5EF4-FFF2-40B4-BE49-F238E27FC236}">
                  <a16:creationId xmlns:a16="http://schemas.microsoft.com/office/drawing/2014/main" id="{9D50A1A6-A5D1-CD49-12F8-9F5A53176F6F}"/>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38" name="연결선: 꺾임 37">
              <a:extLst>
                <a:ext uri="{FF2B5EF4-FFF2-40B4-BE49-F238E27FC236}">
                  <a16:creationId xmlns:a16="http://schemas.microsoft.com/office/drawing/2014/main" id="{680A9B78-5B12-3063-AD96-507CC628BBDF}"/>
                </a:ext>
              </a:extLst>
            </p:cNvPr>
            <p:cNvCxnSpPr>
              <a:cxnSpLocks/>
              <a:endCxn id="36"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9" name="직선 연결선 38">
              <a:extLst>
                <a:ext uri="{FF2B5EF4-FFF2-40B4-BE49-F238E27FC236}">
                  <a16:creationId xmlns:a16="http://schemas.microsoft.com/office/drawing/2014/main" id="{1CB796CF-64AC-99FE-7C60-76B8C190D919}"/>
                </a:ext>
              </a:extLst>
            </p:cNvPr>
            <p:cNvCxnSpPr>
              <a:cxnSpLocks/>
              <a:endCxn id="37"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0" name="이등변 삼각형 39">
              <a:extLst>
                <a:ext uri="{FF2B5EF4-FFF2-40B4-BE49-F238E27FC236}">
                  <a16:creationId xmlns:a16="http://schemas.microsoft.com/office/drawing/2014/main" id="{B25A69D2-2EE9-7399-9946-1E24DBA77054}"/>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1" name="연결선: 꺾임 40">
              <a:extLst>
                <a:ext uri="{FF2B5EF4-FFF2-40B4-BE49-F238E27FC236}">
                  <a16:creationId xmlns:a16="http://schemas.microsoft.com/office/drawing/2014/main" id="{02688D9F-181C-E23F-88CB-5E76D1E02977}"/>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2" name="이등변 삼각형 41">
              <a:extLst>
                <a:ext uri="{FF2B5EF4-FFF2-40B4-BE49-F238E27FC236}">
                  <a16:creationId xmlns:a16="http://schemas.microsoft.com/office/drawing/2014/main" id="{25B49EEF-4F90-A551-4C97-5BB30D70AAB1}"/>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3" name="직선 연결선 42">
              <a:extLst>
                <a:ext uri="{FF2B5EF4-FFF2-40B4-BE49-F238E27FC236}">
                  <a16:creationId xmlns:a16="http://schemas.microsoft.com/office/drawing/2014/main" id="{EF8DFF74-CC26-2106-D419-E7D91B841DBD}"/>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44" name="직선 연결선 43">
              <a:extLst>
                <a:ext uri="{FF2B5EF4-FFF2-40B4-BE49-F238E27FC236}">
                  <a16:creationId xmlns:a16="http://schemas.microsoft.com/office/drawing/2014/main" id="{BC7A1B47-AA5F-921C-2EC3-5F726A59645E}"/>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grpSp>
        <p:nvGrpSpPr>
          <p:cNvPr id="45" name="그룹 44">
            <a:extLst>
              <a:ext uri="{FF2B5EF4-FFF2-40B4-BE49-F238E27FC236}">
                <a16:creationId xmlns:a16="http://schemas.microsoft.com/office/drawing/2014/main" id="{C48B7183-5FB3-F49C-F2A6-E34520564AE1}"/>
              </a:ext>
            </a:extLst>
          </p:cNvPr>
          <p:cNvGrpSpPr/>
          <p:nvPr/>
        </p:nvGrpSpPr>
        <p:grpSpPr>
          <a:xfrm>
            <a:off x="2846114" y="7609619"/>
            <a:ext cx="1026319" cy="836432"/>
            <a:chOff x="2838451" y="6667968"/>
            <a:chExt cx="1026319" cy="836432"/>
          </a:xfrm>
        </p:grpSpPr>
        <p:pic>
          <p:nvPicPr>
            <p:cNvPr id="46" name="그림 45">
              <a:extLst>
                <a:ext uri="{FF2B5EF4-FFF2-40B4-BE49-F238E27FC236}">
                  <a16:creationId xmlns:a16="http://schemas.microsoft.com/office/drawing/2014/main" id="{19656803-4B62-41BF-91BE-D1C89903D7F9}"/>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47" name="타원 46">
              <a:extLst>
                <a:ext uri="{FF2B5EF4-FFF2-40B4-BE49-F238E27FC236}">
                  <a16:creationId xmlns:a16="http://schemas.microsoft.com/office/drawing/2014/main" id="{230033DF-E38D-4CB9-C4AD-977872FB9672}"/>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8" name="직사각형 47">
              <a:extLst>
                <a:ext uri="{FF2B5EF4-FFF2-40B4-BE49-F238E27FC236}">
                  <a16:creationId xmlns:a16="http://schemas.microsoft.com/office/drawing/2014/main" id="{C9504CFF-A9EA-42DC-0F0E-A34943B5028C}"/>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49" name="연결선: 꺾임 48">
              <a:extLst>
                <a:ext uri="{FF2B5EF4-FFF2-40B4-BE49-F238E27FC236}">
                  <a16:creationId xmlns:a16="http://schemas.microsoft.com/office/drawing/2014/main" id="{69D76A0F-D9A2-9370-8A16-7A6AD3A5CE7C}"/>
                </a:ext>
              </a:extLst>
            </p:cNvPr>
            <p:cNvCxnSpPr>
              <a:cxnSpLocks/>
              <a:endCxn id="47"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50" name="직선 연결선 49">
              <a:extLst>
                <a:ext uri="{FF2B5EF4-FFF2-40B4-BE49-F238E27FC236}">
                  <a16:creationId xmlns:a16="http://schemas.microsoft.com/office/drawing/2014/main" id="{4C44A390-3418-2C92-1DBD-D54CF6BA3A6A}"/>
                </a:ext>
              </a:extLst>
            </p:cNvPr>
            <p:cNvCxnSpPr>
              <a:cxnSpLocks/>
              <a:endCxn id="48"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51" name="이등변 삼각형 50">
              <a:extLst>
                <a:ext uri="{FF2B5EF4-FFF2-40B4-BE49-F238E27FC236}">
                  <a16:creationId xmlns:a16="http://schemas.microsoft.com/office/drawing/2014/main" id="{238892E4-BC4D-BCEC-7C2F-EB706AEDF11D}"/>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2" name="연결선: 꺾임 51">
              <a:extLst>
                <a:ext uri="{FF2B5EF4-FFF2-40B4-BE49-F238E27FC236}">
                  <a16:creationId xmlns:a16="http://schemas.microsoft.com/office/drawing/2014/main" id="{D3B86EBC-6142-4A5B-FA38-5B9A1F787CE6}"/>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53" name="이등변 삼각형 52">
              <a:extLst>
                <a:ext uri="{FF2B5EF4-FFF2-40B4-BE49-F238E27FC236}">
                  <a16:creationId xmlns:a16="http://schemas.microsoft.com/office/drawing/2014/main" id="{7155760E-AAAA-9E21-90D1-044D54BD619D}"/>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4" name="직선 연결선 53">
              <a:extLst>
                <a:ext uri="{FF2B5EF4-FFF2-40B4-BE49-F238E27FC236}">
                  <a16:creationId xmlns:a16="http://schemas.microsoft.com/office/drawing/2014/main" id="{6D5BA405-89AB-56D1-EE23-D1FEEA1F82A2}"/>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55" name="직선 연결선 54">
              <a:extLst>
                <a:ext uri="{FF2B5EF4-FFF2-40B4-BE49-F238E27FC236}">
                  <a16:creationId xmlns:a16="http://schemas.microsoft.com/office/drawing/2014/main" id="{CBCCD43F-DF85-6E33-7707-4D1861FBE3E5}"/>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664098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6F590-55FB-7BDF-C846-C8EB3EFD9069}"/>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6EF345C-8049-F1D7-B860-4C2175C8ECC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E11F6DD-1AF4-D115-8657-7872965735F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972CC83-802F-A2BC-0D24-27F85E48937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sp>
        <p:nvSpPr>
          <p:cNvPr id="56" name="object 84">
            <a:extLst>
              <a:ext uri="{FF2B5EF4-FFF2-40B4-BE49-F238E27FC236}">
                <a16:creationId xmlns:a16="http://schemas.microsoft.com/office/drawing/2014/main" id="{8B42C531-7D53-9F18-723B-DD406542ACCB}"/>
              </a:ext>
            </a:extLst>
          </p:cNvPr>
          <p:cNvSpPr txBox="1"/>
          <p:nvPr/>
        </p:nvSpPr>
        <p:spPr>
          <a:xfrm>
            <a:off x="2107127" y="7902935"/>
            <a:ext cx="267829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4  Equivalent Circuits of individual pins</a:t>
            </a:r>
          </a:p>
        </p:txBody>
      </p:sp>
      <p:graphicFrame>
        <p:nvGraphicFramePr>
          <p:cNvPr id="11" name="표 10">
            <a:extLst>
              <a:ext uri="{FF2B5EF4-FFF2-40B4-BE49-F238E27FC236}">
                <a16:creationId xmlns:a16="http://schemas.microsoft.com/office/drawing/2014/main" id="{32A16C21-C35C-B179-A30F-4E17D60E9CA8}"/>
              </a:ext>
            </a:extLst>
          </p:cNvPr>
          <p:cNvGraphicFramePr>
            <a:graphicFrameLocks noGrp="1"/>
          </p:cNvGraphicFramePr>
          <p:nvPr>
            <p:extLst>
              <p:ext uri="{D42A27DB-BD31-4B8C-83A1-F6EECF244321}">
                <p14:modId xmlns:p14="http://schemas.microsoft.com/office/powerpoint/2010/main" val="1222920610"/>
              </p:ext>
            </p:extLst>
          </p:nvPr>
        </p:nvGraphicFramePr>
        <p:xfrm>
          <a:off x="413544" y="1341152"/>
          <a:ext cx="6039891" cy="6307108"/>
        </p:xfrm>
        <a:graphic>
          <a:graphicData uri="http://schemas.openxmlformats.org/drawingml/2006/table">
            <a:tbl>
              <a:tblPr>
                <a:tableStyleId>{5C22544A-7EE6-4342-B048-85BDC9FD1C3A}</a:tableStyleId>
              </a:tblPr>
              <a:tblGrid>
                <a:gridCol w="814717">
                  <a:extLst>
                    <a:ext uri="{9D8B030D-6E8A-4147-A177-3AD203B41FA5}">
                      <a16:colId xmlns:a16="http://schemas.microsoft.com/office/drawing/2014/main" val="1199541810"/>
                    </a:ext>
                  </a:extLst>
                </a:gridCol>
                <a:gridCol w="550304">
                  <a:extLst>
                    <a:ext uri="{9D8B030D-6E8A-4147-A177-3AD203B41FA5}">
                      <a16:colId xmlns:a16="http://schemas.microsoft.com/office/drawing/2014/main" val="112759525"/>
                    </a:ext>
                  </a:extLst>
                </a:gridCol>
                <a:gridCol w="3190441">
                  <a:extLst>
                    <a:ext uri="{9D8B030D-6E8A-4147-A177-3AD203B41FA5}">
                      <a16:colId xmlns:a16="http://schemas.microsoft.com/office/drawing/2014/main" val="3900317923"/>
                    </a:ext>
                  </a:extLst>
                </a:gridCol>
                <a:gridCol w="1484429">
                  <a:extLst>
                    <a:ext uri="{9D8B030D-6E8A-4147-A177-3AD203B41FA5}">
                      <a16:colId xmlns:a16="http://schemas.microsoft.com/office/drawing/2014/main" val="3382103366"/>
                    </a:ext>
                  </a:extLst>
                </a:gridCol>
              </a:tblGrid>
              <a:tr h="359474">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127274">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O1 ~ O12</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VSS</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5912342"/>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SVI</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Schmit trigger</a:t>
                      </a: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790005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SVO</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TTL output</a:t>
                      </a: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9342348"/>
                  </a:ext>
                </a:extLst>
              </a:tr>
            </a:tbl>
          </a:graphicData>
        </a:graphic>
      </p:graphicFrame>
      <p:pic>
        <p:nvPicPr>
          <p:cNvPr id="57" name="그림 56">
            <a:extLst>
              <a:ext uri="{FF2B5EF4-FFF2-40B4-BE49-F238E27FC236}">
                <a16:creationId xmlns:a16="http://schemas.microsoft.com/office/drawing/2014/main" id="{D84355CA-83EC-9C13-79FB-75FECA5DCF90}"/>
              </a:ext>
            </a:extLst>
          </p:cNvPr>
          <p:cNvPicPr>
            <a:picLocks noChangeAspect="1"/>
          </p:cNvPicPr>
          <p:nvPr/>
        </p:nvPicPr>
        <p:blipFill>
          <a:blip r:embed="rId2"/>
          <a:stretch>
            <a:fillRect/>
          </a:stretch>
        </p:blipFill>
        <p:spPr>
          <a:xfrm>
            <a:off x="2721895" y="1846437"/>
            <a:ext cx="1123747" cy="765191"/>
          </a:xfrm>
          <a:prstGeom prst="rect">
            <a:avLst/>
          </a:prstGeom>
        </p:spPr>
      </p:pic>
      <p:grpSp>
        <p:nvGrpSpPr>
          <p:cNvPr id="58" name="그룹 57">
            <a:extLst>
              <a:ext uri="{FF2B5EF4-FFF2-40B4-BE49-F238E27FC236}">
                <a16:creationId xmlns:a16="http://schemas.microsoft.com/office/drawing/2014/main" id="{FF0D4A74-2A10-5F0C-F306-67DA01245C4F}"/>
              </a:ext>
            </a:extLst>
          </p:cNvPr>
          <p:cNvGrpSpPr/>
          <p:nvPr/>
        </p:nvGrpSpPr>
        <p:grpSpPr>
          <a:xfrm>
            <a:off x="2807104" y="4142420"/>
            <a:ext cx="1038538" cy="974255"/>
            <a:chOff x="2687819" y="3003631"/>
            <a:chExt cx="1094210" cy="1114062"/>
          </a:xfrm>
        </p:grpSpPr>
        <p:pic>
          <p:nvPicPr>
            <p:cNvPr id="59" name="그림 58">
              <a:extLst>
                <a:ext uri="{FF2B5EF4-FFF2-40B4-BE49-F238E27FC236}">
                  <a16:creationId xmlns:a16="http://schemas.microsoft.com/office/drawing/2014/main" id="{BBF3BF13-E6F5-3CFF-E1B6-C731C6EADD5A}"/>
                </a:ext>
              </a:extLst>
            </p:cNvPr>
            <p:cNvPicPr>
              <a:picLocks noChangeAspect="1"/>
            </p:cNvPicPr>
            <p:nvPr/>
          </p:nvPicPr>
          <p:blipFill>
            <a:blip r:embed="rId3"/>
            <a:stretch>
              <a:fillRect/>
            </a:stretch>
          </p:blipFill>
          <p:spPr>
            <a:xfrm>
              <a:off x="2687819" y="3036852"/>
              <a:ext cx="1094210" cy="1080841"/>
            </a:xfrm>
            <a:prstGeom prst="rect">
              <a:avLst/>
            </a:prstGeom>
          </p:spPr>
        </p:pic>
        <p:sp>
          <p:nvSpPr>
            <p:cNvPr id="60" name="TextBox 152">
              <a:extLst>
                <a:ext uri="{FF2B5EF4-FFF2-40B4-BE49-F238E27FC236}">
                  <a16:creationId xmlns:a16="http://schemas.microsoft.com/office/drawing/2014/main" id="{4B145E2B-9427-84E7-D956-78FB850120D2}"/>
                </a:ext>
              </a:extLst>
            </p:cNvPr>
            <p:cNvSpPr txBox="1"/>
            <p:nvPr/>
          </p:nvSpPr>
          <p:spPr>
            <a:xfrm>
              <a:off x="3004471" y="3003631"/>
              <a:ext cx="297480" cy="140348"/>
            </a:xfrm>
            <a:prstGeom prst="rect">
              <a:avLst/>
            </a:prstGeom>
            <a:solidFill>
              <a:schemeClr val="bg1"/>
            </a:solidFill>
          </p:spPr>
          <p:txBody>
            <a:bodyPr wrap="square" lIns="0" tIns="0" rIns="0" bIns="0" rtlCol="0" anchor="ctr" anchorCtr="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700" dirty="0">
                  <a:latin typeface="+mn-ea"/>
                </a:rPr>
                <a:t>V</a:t>
              </a:r>
              <a:r>
                <a:rPr lang="en-US" altLang="ko-KR" sz="700" baseline="-25000" dirty="0">
                  <a:latin typeface="+mn-ea"/>
                </a:rPr>
                <a:t>DD</a:t>
              </a:r>
              <a:endParaRPr lang="ko-KR" altLang="en-US" sz="700" baseline="-25000" dirty="0">
                <a:latin typeface="+mn-ea"/>
              </a:endParaRPr>
            </a:p>
          </p:txBody>
        </p:sp>
      </p:grpSp>
      <p:pic>
        <p:nvPicPr>
          <p:cNvPr id="61" name="그림 60">
            <a:extLst>
              <a:ext uri="{FF2B5EF4-FFF2-40B4-BE49-F238E27FC236}">
                <a16:creationId xmlns:a16="http://schemas.microsoft.com/office/drawing/2014/main" id="{F1202854-1F25-A9ED-4617-0D3076FA93B7}"/>
              </a:ext>
            </a:extLst>
          </p:cNvPr>
          <p:cNvPicPr>
            <a:picLocks noChangeAspect="1"/>
          </p:cNvPicPr>
          <p:nvPr/>
        </p:nvPicPr>
        <p:blipFill>
          <a:blip r:embed="rId2"/>
          <a:stretch>
            <a:fillRect/>
          </a:stretch>
        </p:blipFill>
        <p:spPr>
          <a:xfrm>
            <a:off x="2691104" y="2996114"/>
            <a:ext cx="1185328" cy="772701"/>
          </a:xfrm>
          <a:prstGeom prst="rect">
            <a:avLst/>
          </a:prstGeom>
        </p:spPr>
      </p:pic>
      <p:pic>
        <p:nvPicPr>
          <p:cNvPr id="6" name="그림 5">
            <a:extLst>
              <a:ext uri="{FF2B5EF4-FFF2-40B4-BE49-F238E27FC236}">
                <a16:creationId xmlns:a16="http://schemas.microsoft.com/office/drawing/2014/main" id="{B3895053-22A7-58C0-CFEE-4EFFA2BE6032}"/>
              </a:ext>
            </a:extLst>
          </p:cNvPr>
          <p:cNvPicPr>
            <a:picLocks noChangeAspect="1"/>
          </p:cNvPicPr>
          <p:nvPr/>
        </p:nvPicPr>
        <p:blipFill>
          <a:blip r:embed="rId4"/>
          <a:stretch>
            <a:fillRect/>
          </a:stretch>
        </p:blipFill>
        <p:spPr>
          <a:xfrm>
            <a:off x="2616203" y="5605602"/>
            <a:ext cx="1457696" cy="495840"/>
          </a:xfrm>
          <a:prstGeom prst="rect">
            <a:avLst/>
          </a:prstGeom>
        </p:spPr>
      </p:pic>
      <p:pic>
        <p:nvPicPr>
          <p:cNvPr id="8" name="그림 7">
            <a:extLst>
              <a:ext uri="{FF2B5EF4-FFF2-40B4-BE49-F238E27FC236}">
                <a16:creationId xmlns:a16="http://schemas.microsoft.com/office/drawing/2014/main" id="{FF1E76EE-6C56-5BB8-ED2D-2E485C9E7E4A}"/>
              </a:ext>
            </a:extLst>
          </p:cNvPr>
          <p:cNvPicPr>
            <a:picLocks noChangeAspect="1"/>
          </p:cNvPicPr>
          <p:nvPr/>
        </p:nvPicPr>
        <p:blipFill>
          <a:blip r:embed="rId5"/>
          <a:stretch>
            <a:fillRect/>
          </a:stretch>
        </p:blipFill>
        <p:spPr>
          <a:xfrm>
            <a:off x="2633259" y="6836059"/>
            <a:ext cx="1457695" cy="495840"/>
          </a:xfrm>
          <a:prstGeom prst="rect">
            <a:avLst/>
          </a:prstGeom>
        </p:spPr>
      </p:pic>
    </p:spTree>
    <p:extLst>
      <p:ext uri="{BB962C8B-B14F-4D97-AF65-F5344CB8AC3E}">
        <p14:creationId xmlns:p14="http://schemas.microsoft.com/office/powerpoint/2010/main" val="1723755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214AA83-7B99-5FBF-03E1-15B4E303CF9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C18EAC6-8FF4-4DC7-B3C5-B0BB5CC180C4}"/>
              </a:ext>
            </a:extLst>
          </p:cNvPr>
          <p:cNvSpPr txBox="1"/>
          <p:nvPr/>
        </p:nvSpPr>
        <p:spPr>
          <a:xfrm>
            <a:off x="40085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Maximum Absolute ratings </a:t>
            </a:r>
            <a:r>
              <a:rPr lang="en-US" altLang="ko-KR" sz="900" dirty="0">
                <a:latin typeface="Arial" panose="020B0604020202020204" pitchFamily="34" charset="0"/>
                <a:cs typeface="Arial" panose="020B0604020202020204" pitchFamily="34" charset="0"/>
              </a:rPr>
              <a:t>(Ta = 25℃ unless otherwise noted)</a:t>
            </a:r>
            <a:endParaRPr lang="ko-KR" altLang="en-US" sz="1200" dirty="0">
              <a:latin typeface="Arial" panose="020B0604020202020204" pitchFamily="34" charset="0"/>
              <a:cs typeface="Arial" panose="020B0604020202020204" pitchFamily="34" charset="0"/>
            </a:endParaRPr>
          </a:p>
        </p:txBody>
      </p:sp>
      <p:graphicFrame>
        <p:nvGraphicFramePr>
          <p:cNvPr id="7" name="표 6">
            <a:extLst>
              <a:ext uri="{FF2B5EF4-FFF2-40B4-BE49-F238E27FC236}">
                <a16:creationId xmlns:a16="http://schemas.microsoft.com/office/drawing/2014/main" id="{57099848-8D5D-8367-A689-701F7F20826F}"/>
              </a:ext>
            </a:extLst>
          </p:cNvPr>
          <p:cNvGraphicFramePr>
            <a:graphicFrameLocks noGrp="1"/>
          </p:cNvGraphicFramePr>
          <p:nvPr>
            <p:extLst>
              <p:ext uri="{D42A27DB-BD31-4B8C-83A1-F6EECF244321}">
                <p14:modId xmlns:p14="http://schemas.microsoft.com/office/powerpoint/2010/main" val="1314178204"/>
              </p:ext>
            </p:extLst>
          </p:nvPr>
        </p:nvGraphicFramePr>
        <p:xfrm>
          <a:off x="400854" y="1151755"/>
          <a:ext cx="6048620" cy="4280034"/>
        </p:xfrm>
        <a:graphic>
          <a:graphicData uri="http://schemas.openxmlformats.org/drawingml/2006/table">
            <a:tbl>
              <a:tblPr>
                <a:tableStyleId>{5C22544A-7EE6-4342-B048-85BDC9FD1C3A}</a:tableStyleId>
              </a:tblPr>
              <a:tblGrid>
                <a:gridCol w="2430328">
                  <a:extLst>
                    <a:ext uri="{9D8B030D-6E8A-4147-A177-3AD203B41FA5}">
                      <a16:colId xmlns:a16="http://schemas.microsoft.com/office/drawing/2014/main" val="1199541810"/>
                    </a:ext>
                  </a:extLst>
                </a:gridCol>
                <a:gridCol w="935844">
                  <a:extLst>
                    <a:ext uri="{9D8B030D-6E8A-4147-A177-3AD203B41FA5}">
                      <a16:colId xmlns:a16="http://schemas.microsoft.com/office/drawing/2014/main" val="2771136683"/>
                    </a:ext>
                  </a:extLst>
                </a:gridCol>
                <a:gridCol w="2119972">
                  <a:extLst>
                    <a:ext uri="{9D8B030D-6E8A-4147-A177-3AD203B41FA5}">
                      <a16:colId xmlns:a16="http://schemas.microsoft.com/office/drawing/2014/main" val="112759525"/>
                    </a:ext>
                  </a:extLst>
                </a:gridCol>
                <a:gridCol w="562476">
                  <a:extLst>
                    <a:ext uri="{9D8B030D-6E8A-4147-A177-3AD203B41FA5}">
                      <a16:colId xmlns:a16="http://schemas.microsoft.com/office/drawing/2014/main" val="3900317923"/>
                    </a:ext>
                  </a:extLst>
                </a:gridCol>
              </a:tblGrid>
              <a:tr h="315612">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Parameter</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Symbol</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Value</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Supply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-0.3 ~ 6.0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83173">
                <a:tc>
                  <a:txBody>
                    <a:bodyPr/>
                    <a:lstStyle/>
                    <a:p>
                      <a:pPr algn="ctr" fontAlgn="ctr"/>
                      <a:r>
                        <a:rPr lang="it-IT"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Sink output pin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40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Sink output current</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40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3604288"/>
                  </a:ext>
                </a:extLst>
              </a:tr>
              <a:tr h="283173">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DDIO</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768681"/>
                  </a:ext>
                </a:extLst>
              </a:tr>
              <a:tr h="283173">
                <a:tc>
                  <a:txBody>
                    <a:bodyPr/>
                    <a:lstStyle/>
                    <a:p>
                      <a:pPr marR="149860" algn="l">
                        <a:spcBef>
                          <a:spcPts val="115"/>
                        </a:spcBef>
                        <a:spcAft>
                          <a:spcPts val="0"/>
                        </a:spcAft>
                      </a:pPr>
                      <a:r>
                        <a:rPr lang="en-US" sz="900" dirty="0">
                          <a:solidFill>
                            <a:schemeClr val="tx1"/>
                          </a:solidFill>
                          <a:effectLst/>
                          <a:latin typeface="Arial" panose="020B0604020202020204" pitchFamily="34" charset="0"/>
                          <a:ea typeface="Arial" panose="020B0604020202020204" pitchFamily="34" charset="0"/>
                          <a:cs typeface="Arial" panose="020B0604020202020204" pitchFamily="34" charset="0"/>
                        </a:rPr>
                        <a:t> Thermal</a:t>
                      </a:r>
                      <a:r>
                        <a:rPr lang="en-US" sz="900" spc="-25" dirty="0">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sz="900" dirty="0">
                          <a:solidFill>
                            <a:schemeClr val="tx1"/>
                          </a:solidFill>
                          <a:effectLst/>
                          <a:latin typeface="Arial" panose="020B0604020202020204" pitchFamily="34" charset="0"/>
                          <a:ea typeface="Arial" panose="020B0604020202020204" pitchFamily="34" charset="0"/>
                          <a:cs typeface="Arial" panose="020B0604020202020204" pitchFamily="34" charset="0"/>
                        </a:rPr>
                        <a:t>Resistance</a:t>
                      </a:r>
                      <a:endParaRPr 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0" marR="0" marT="0" marB="0" anchor="ctr">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83173">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solidFill>
                            <a:schemeClr val="tx1"/>
                          </a:solidFill>
                          <a:effectLst/>
                          <a:latin typeface="Arial" panose="020B0604020202020204" pitchFamily="34" charset="0"/>
                          <a:ea typeface="Arial" panose="020B0604020202020204" pitchFamily="34" charset="0"/>
                          <a:cs typeface="Arial" panose="020B0604020202020204" pitchFamily="34" charset="0"/>
                        </a:rPr>
                        <a:t> Ambient </a:t>
                      </a:r>
                      <a:endParaRPr lang="ko-KR"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0" marR="7200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68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9172846"/>
                  </a:ext>
                </a:extLst>
              </a:tr>
              <a:tr h="283173">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solidFill>
                            <a:schemeClr val="tx1"/>
                          </a:solidFill>
                          <a:effectLst/>
                          <a:latin typeface="Arial" panose="020B0604020202020204" pitchFamily="34" charset="0"/>
                          <a:ea typeface="Arial" panose="020B0604020202020204" pitchFamily="34" charset="0"/>
                          <a:cs typeface="Arial" panose="020B0604020202020204" pitchFamily="34" charset="0"/>
                        </a:rPr>
                        <a:t> Case</a:t>
                      </a:r>
                      <a:endParaRPr lang="ko-KR"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9525" marR="72000"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JC</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4.0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27682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Power Dissipation on package</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TOT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1.0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Ambient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A</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3588514"/>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Junction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0151205"/>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Storage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STG</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-45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4738261"/>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Relative Humidity (non-condensing)</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RH</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NC</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349667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Moisture Sensitivity Level</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MSL</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Maximum Floor Life-time of 168 </a:t>
                      </a:r>
                      <a:r>
                        <a:rPr lang="en-US" sz="900" b="0" i="0" u="none" strike="noStrike" dirty="0" err="1">
                          <a:solidFill>
                            <a:schemeClr val="tx1"/>
                          </a:solidFill>
                          <a:effectLst/>
                          <a:latin typeface="Arial" panose="020B0604020202020204" pitchFamily="34" charset="0"/>
                          <a:ea typeface="굴림" panose="020B0600000101010101" pitchFamily="50" charset="-127"/>
                          <a:cs typeface="Arial" panose="020B0604020202020204" pitchFamily="34" charset="0"/>
                        </a:rPr>
                        <a:t>hr</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9059752"/>
                  </a:ext>
                </a:extLst>
              </a:tr>
            </a:tbl>
          </a:graphicData>
        </a:graphic>
      </p:graphicFrame>
      <p:sp>
        <p:nvSpPr>
          <p:cNvPr id="11" name="object 11">
            <a:extLst>
              <a:ext uri="{FF2B5EF4-FFF2-40B4-BE49-F238E27FC236}">
                <a16:creationId xmlns:a16="http://schemas.microsoft.com/office/drawing/2014/main" id="{55B9BB63-ABDA-30DF-1ADD-245600E5B925}"/>
              </a:ext>
            </a:extLst>
          </p:cNvPr>
          <p:cNvSpPr txBox="1"/>
          <p:nvPr/>
        </p:nvSpPr>
        <p:spPr>
          <a:xfrm>
            <a:off x="2412906" y="5591974"/>
            <a:ext cx="2020553"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lang="en-US" sz="900" b="1" dirty="0">
                <a:solidFill>
                  <a:prstClr val="black"/>
                </a:solidFill>
                <a:latin typeface="Arial" panose="020B0604020202020204" pitchFamily="34" charset="0"/>
                <a:cs typeface="Arial" panose="020B0604020202020204" pitchFamily="34" charset="0"/>
              </a:rPr>
              <a:t>2</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Maximum Absolute ratings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8" name="object 16">
            <a:extLst>
              <a:ext uri="{FF2B5EF4-FFF2-40B4-BE49-F238E27FC236}">
                <a16:creationId xmlns:a16="http://schemas.microsoft.com/office/drawing/2014/main" id="{43E2CD28-93DE-03DD-CB17-DC087DC8E39F}"/>
              </a:ext>
            </a:extLst>
          </p:cNvPr>
          <p:cNvSpPr txBox="1"/>
          <p:nvPr/>
        </p:nvSpPr>
        <p:spPr>
          <a:xfrm>
            <a:off x="400853" y="5677355"/>
            <a:ext cx="6044661" cy="605294"/>
          </a:xfrm>
          <a:prstGeom prst="rect">
            <a:avLst/>
          </a:prstGeom>
        </p:spPr>
        <p:txBody>
          <a:bodyPr vert="horz" wrap="square" lIns="0" tIns="12700" rIns="0" bIns="0" rtlCol="0">
            <a:spAutoFit/>
          </a:bodyPr>
          <a:lstStyle/>
          <a:p>
            <a:pPr marL="38100">
              <a:spcBef>
                <a:spcPts val="100"/>
              </a:spcBef>
            </a:pPr>
            <a:r>
              <a:rPr lang="en-US" altLang="ko-KR" sz="900" dirty="0">
                <a:latin typeface="Arial" panose="020B0604020202020204" pitchFamily="34" charset="0"/>
                <a:cs typeface="Arial" panose="020B0604020202020204" pitchFamily="34" charset="0"/>
              </a:rPr>
              <a:t>Note :</a:t>
            </a:r>
          </a:p>
          <a:p>
            <a:pPr marL="38100">
              <a:spcBef>
                <a:spcPts val="100"/>
              </a:spcBef>
            </a:pPr>
            <a:r>
              <a:rPr lang="en-US" altLang="ko-KR" sz="900" dirty="0">
                <a:latin typeface="Arial" panose="020B0604020202020204" pitchFamily="34" charset="0"/>
                <a:cs typeface="Arial" panose="020B0604020202020204" pitchFamily="34" charset="0"/>
              </a:rPr>
              <a:t>  1) Surface mounted on FR-4 substrate PC Board 1” x 1” inch 2-oz copper plate, V</a:t>
            </a:r>
            <a:r>
              <a:rPr lang="en-US" altLang="ko-KR" sz="900" baseline="-25000" dirty="0">
                <a:latin typeface="Arial" panose="020B0604020202020204" pitchFamily="34" charset="0"/>
                <a:cs typeface="Arial" panose="020B0604020202020204" pitchFamily="34" charset="0"/>
              </a:rPr>
              <a:t>HD</a:t>
            </a:r>
            <a:r>
              <a:rPr lang="en-US" altLang="ko-KR" sz="900" dirty="0">
                <a:latin typeface="Arial" panose="020B0604020202020204" pitchFamily="34" charset="0"/>
                <a:cs typeface="Arial" panose="020B0604020202020204" pitchFamily="34" charset="0"/>
              </a:rPr>
              <a:t> = 2.0V I</a:t>
            </a:r>
            <a:r>
              <a:rPr lang="en-US" altLang="ko-KR" sz="900" baseline="-25000" dirty="0">
                <a:latin typeface="Arial" panose="020B0604020202020204" pitchFamily="34" charset="0"/>
                <a:cs typeface="Arial" panose="020B0604020202020204" pitchFamily="34" charset="0"/>
              </a:rPr>
              <a:t>OUT</a:t>
            </a:r>
            <a:r>
              <a:rPr lang="en-US" altLang="ko-KR" sz="900" dirty="0">
                <a:latin typeface="Arial" panose="020B0604020202020204" pitchFamily="34" charset="0"/>
                <a:cs typeface="Arial" panose="020B0604020202020204" pitchFamily="34" charset="0"/>
              </a:rPr>
              <a:t>= 40mA T</a:t>
            </a:r>
            <a:r>
              <a:rPr lang="en-US" altLang="ko-KR" sz="900" baseline="-25000" dirty="0">
                <a:latin typeface="Arial" panose="020B0604020202020204" pitchFamily="34" charset="0"/>
                <a:cs typeface="Arial" panose="020B0604020202020204" pitchFamily="34" charset="0"/>
              </a:rPr>
              <a:t>A </a:t>
            </a:r>
            <a:r>
              <a:rPr lang="en-US" altLang="ko-KR" sz="900" dirty="0">
                <a:latin typeface="Arial" panose="020B0604020202020204" pitchFamily="34" charset="0"/>
                <a:cs typeface="Arial" panose="020B0604020202020204" pitchFamily="34" charset="0"/>
              </a:rPr>
              <a:t>= 55</a:t>
            </a:r>
            <a:r>
              <a:rPr lang="en-US" altLang="ko-KR" sz="900" dirty="0">
                <a:latin typeface="맑은 고딕" panose="020B0503020000020004" pitchFamily="50" charset="-127"/>
                <a:ea typeface="맑은 고딕" panose="020B0503020000020004" pitchFamily="50" charset="-127"/>
                <a:cs typeface="Arial" panose="020B0604020202020204" pitchFamily="34" charset="0"/>
              </a:rPr>
              <a:t>℃</a:t>
            </a:r>
            <a:endParaRPr lang="en-US" altLang="ko-KR" sz="900" spc="-5" dirty="0">
              <a:latin typeface="Arial" panose="020B0604020202020204" pitchFamily="34" charset="0"/>
              <a:cs typeface="Arial" panose="020B0604020202020204" pitchFamily="34" charset="0"/>
            </a:endParaRPr>
          </a:p>
          <a:p>
            <a:pPr marL="38100">
              <a:lnSpc>
                <a:spcPct val="100000"/>
              </a:lnSpc>
              <a:spcBef>
                <a:spcPts val="100"/>
              </a:spcBef>
            </a:pPr>
            <a:r>
              <a:rPr lang="en-US" sz="900" dirty="0">
                <a:latin typeface="Arial" panose="020B0604020202020204" pitchFamily="34" charset="0"/>
                <a:cs typeface="Arial" panose="020B0604020202020204" pitchFamily="34" charset="0"/>
              </a:rPr>
              <a:t>  2) Stresses beyond the Maximum Absolute ratings may cause permanent damage to the device</a:t>
            </a:r>
          </a:p>
          <a:p>
            <a:pPr marL="38100">
              <a:spcBef>
                <a:spcPts val="100"/>
              </a:spcBef>
            </a:pPr>
            <a:r>
              <a:rPr lang="en-US" altLang="ko-KR" sz="900" dirty="0">
                <a:latin typeface="Arial" panose="020B0604020202020204" pitchFamily="34" charset="0"/>
                <a:cs typeface="Arial" panose="020B0604020202020204" pitchFamily="34" charset="0"/>
              </a:rPr>
              <a:t>  3) Exposure to absolute maximum rating conditions for extended periods may affect device reliability.</a:t>
            </a:r>
            <a:r>
              <a:rPr lang="en-US" sz="900" dirty="0">
                <a:latin typeface="Arial" panose="020B0604020202020204" pitchFamily="34" charset="0"/>
                <a:cs typeface="Arial" panose="020B0604020202020204" pitchFamily="34" charset="0"/>
              </a:rPr>
              <a:t> </a:t>
            </a:r>
          </a:p>
        </p:txBody>
      </p:sp>
      <p:sp>
        <p:nvSpPr>
          <p:cNvPr id="2" name="TextBox 1">
            <a:extLst>
              <a:ext uri="{FF2B5EF4-FFF2-40B4-BE49-F238E27FC236}">
                <a16:creationId xmlns:a16="http://schemas.microsoft.com/office/drawing/2014/main" id="{35171D58-FBAA-278F-0693-FF3701305F6C}"/>
              </a:ext>
            </a:extLst>
          </p:cNvPr>
          <p:cNvSpPr txBox="1"/>
          <p:nvPr/>
        </p:nvSpPr>
        <p:spPr>
          <a:xfrm>
            <a:off x="400853" y="6950863"/>
            <a:ext cx="605258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ESD  Ratings</a:t>
            </a:r>
          </a:p>
        </p:txBody>
      </p:sp>
      <p:sp>
        <p:nvSpPr>
          <p:cNvPr id="6" name="object 11">
            <a:extLst>
              <a:ext uri="{FF2B5EF4-FFF2-40B4-BE49-F238E27FC236}">
                <a16:creationId xmlns:a16="http://schemas.microsoft.com/office/drawing/2014/main" id="{8D0E866E-8EFE-F4EE-2C3C-B4E8D0E5AC8F}"/>
              </a:ext>
            </a:extLst>
          </p:cNvPr>
          <p:cNvSpPr txBox="1"/>
          <p:nvPr/>
        </p:nvSpPr>
        <p:spPr>
          <a:xfrm>
            <a:off x="2554451" y="8626005"/>
            <a:ext cx="1167756"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3</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ESD r</a:t>
            </a:r>
            <a:r>
              <a:rPr lang="en-US" sz="900" b="1" dirty="0">
                <a:solidFill>
                  <a:prstClr val="black"/>
                </a:solidFill>
                <a:latin typeface="Arial" panose="020B0604020202020204" pitchFamily="34" charset="0"/>
                <a:cs typeface="Arial" panose="020B0604020202020204" pitchFamily="34" charset="0"/>
              </a:rPr>
              <a:t>atings</a:t>
            </a:r>
            <a:endParaRPr kumimoji="0" lang="en-US" sz="900" b="1" dirty="0">
              <a:solidFill>
                <a:prstClr val="black"/>
              </a:solidFill>
              <a:latin typeface="Arial" panose="020B0604020202020204" pitchFamily="34" charset="0"/>
              <a:ea typeface="+mn-ea"/>
              <a:cs typeface="Arial" panose="020B0604020202020204" pitchFamily="34" charset="0"/>
            </a:endParaRPr>
          </a:p>
        </p:txBody>
      </p:sp>
      <p:graphicFrame>
        <p:nvGraphicFramePr>
          <p:cNvPr id="12" name="표 11">
            <a:extLst>
              <a:ext uri="{FF2B5EF4-FFF2-40B4-BE49-F238E27FC236}">
                <a16:creationId xmlns:a16="http://schemas.microsoft.com/office/drawing/2014/main" id="{FB8DEE20-B587-D217-4F4F-5CA097B677A9}"/>
              </a:ext>
            </a:extLst>
          </p:cNvPr>
          <p:cNvGraphicFramePr>
            <a:graphicFrameLocks noGrp="1"/>
          </p:cNvGraphicFramePr>
          <p:nvPr>
            <p:extLst>
              <p:ext uri="{D42A27DB-BD31-4B8C-83A1-F6EECF244321}">
                <p14:modId xmlns:p14="http://schemas.microsoft.com/office/powerpoint/2010/main" val="22191625"/>
              </p:ext>
            </p:extLst>
          </p:nvPr>
        </p:nvGraphicFramePr>
        <p:xfrm>
          <a:off x="400853" y="7264937"/>
          <a:ext cx="6048621" cy="1122562"/>
        </p:xfrm>
        <a:graphic>
          <a:graphicData uri="http://schemas.openxmlformats.org/drawingml/2006/table">
            <a:tbl>
              <a:tblPr>
                <a:tableStyleId>{5C22544A-7EE6-4342-B048-85BDC9FD1C3A}</a:tableStyleId>
              </a:tblPr>
              <a:tblGrid>
                <a:gridCol w="2424503">
                  <a:extLst>
                    <a:ext uri="{9D8B030D-6E8A-4147-A177-3AD203B41FA5}">
                      <a16:colId xmlns:a16="http://schemas.microsoft.com/office/drawing/2014/main" val="1320303658"/>
                    </a:ext>
                  </a:extLst>
                </a:gridCol>
                <a:gridCol w="941668">
                  <a:extLst>
                    <a:ext uri="{9D8B030D-6E8A-4147-A177-3AD203B41FA5}">
                      <a16:colId xmlns:a16="http://schemas.microsoft.com/office/drawing/2014/main" val="1181630776"/>
                    </a:ext>
                  </a:extLst>
                </a:gridCol>
                <a:gridCol w="805877">
                  <a:extLst>
                    <a:ext uri="{9D8B030D-6E8A-4147-A177-3AD203B41FA5}">
                      <a16:colId xmlns:a16="http://schemas.microsoft.com/office/drawing/2014/main" val="3949318443"/>
                    </a:ext>
                  </a:extLst>
                </a:gridCol>
                <a:gridCol w="401076">
                  <a:extLst>
                    <a:ext uri="{9D8B030D-6E8A-4147-A177-3AD203B41FA5}">
                      <a16:colId xmlns:a16="http://schemas.microsoft.com/office/drawing/2014/main" val="3257084413"/>
                    </a:ext>
                  </a:extLst>
                </a:gridCol>
                <a:gridCol w="1475497">
                  <a:extLst>
                    <a:ext uri="{9D8B030D-6E8A-4147-A177-3AD203B41FA5}">
                      <a16:colId xmlns:a16="http://schemas.microsoft.com/office/drawing/2014/main" val="3840390301"/>
                    </a:ext>
                  </a:extLst>
                </a:gridCol>
              </a:tblGrid>
              <a:tr h="289490">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Parameter</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Symbol</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Value</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Remark</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316782134"/>
                  </a:ext>
                </a:extLst>
              </a:tr>
              <a:tr h="374962">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Electrostatic Discharge HBM</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HBM</a:t>
                      </a:r>
                      <a:endParaRPr lang="ko-KR" sz="900" kern="10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solidFill>
                            <a:schemeClr val="tx1"/>
                          </a:solidFill>
                          <a:effectLst/>
                          <a:latin typeface="Arial" panose="020B0604020202020204" pitchFamily="34" charset="0"/>
                          <a:ea typeface="MyriadPro-Regular"/>
                          <a:cs typeface="Arial" panose="020B0604020202020204" pitchFamily="34" charset="0"/>
                        </a:rPr>
                        <a:t>±</a:t>
                      </a: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2000</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Norm:</a:t>
                      </a:r>
                    </a:p>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JEDEC JS-001-2017</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251016"/>
                  </a:ext>
                </a:extLst>
              </a:tr>
              <a:tr h="458110">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Electrostatic Discharge CDM</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CDM</a:t>
                      </a:r>
                      <a:endParaRPr lang="ko-KR" sz="900" kern="10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solidFill>
                            <a:schemeClr val="tx1"/>
                          </a:solidFill>
                          <a:effectLst/>
                          <a:latin typeface="Arial" panose="020B0604020202020204" pitchFamily="34" charset="0"/>
                          <a:ea typeface="MyriadPro-Regular"/>
                          <a:cs typeface="Arial" panose="020B0604020202020204" pitchFamily="34" charset="0"/>
                        </a:rPr>
                        <a:t>±</a:t>
                      </a: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500</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Norm:</a:t>
                      </a:r>
                    </a:p>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 JEDEC JESD22-C101F Oct 2013</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2623322"/>
                  </a:ext>
                </a:extLst>
              </a:tr>
            </a:tbl>
          </a:graphicData>
        </a:graphic>
      </p:graphicFrame>
    </p:spTree>
    <p:extLst>
      <p:ext uri="{BB962C8B-B14F-4D97-AF65-F5344CB8AC3E}">
        <p14:creationId xmlns:p14="http://schemas.microsoft.com/office/powerpoint/2010/main" val="1793712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856DBA-E87C-4BBC-DFA5-64204302E04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941C9A0C-097D-EE08-29D9-040B16173601}"/>
              </a:ext>
            </a:extLst>
          </p:cNvPr>
          <p:cNvGraphicFramePr>
            <a:graphicFrameLocks noGrp="1"/>
          </p:cNvGraphicFramePr>
          <p:nvPr>
            <p:extLst>
              <p:ext uri="{D42A27DB-BD31-4B8C-83A1-F6EECF244321}">
                <p14:modId xmlns:p14="http://schemas.microsoft.com/office/powerpoint/2010/main" val="1188728685"/>
              </p:ext>
            </p:extLst>
          </p:nvPr>
        </p:nvGraphicFramePr>
        <p:xfrm>
          <a:off x="404814" y="1146143"/>
          <a:ext cx="6048621" cy="4753007"/>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199541810"/>
                    </a:ext>
                  </a:extLst>
                </a:gridCol>
                <a:gridCol w="684027">
                  <a:extLst>
                    <a:ext uri="{9D8B030D-6E8A-4147-A177-3AD203B41FA5}">
                      <a16:colId xmlns:a16="http://schemas.microsoft.com/office/drawing/2014/main" val="2771136683"/>
                    </a:ext>
                  </a:extLst>
                </a:gridCol>
                <a:gridCol w="1809616">
                  <a:extLst>
                    <a:ext uri="{9D8B030D-6E8A-4147-A177-3AD203B41FA5}">
                      <a16:colId xmlns:a16="http://schemas.microsoft.com/office/drawing/2014/main" val="112759525"/>
                    </a:ext>
                  </a:extLst>
                </a:gridCol>
                <a:gridCol w="529993">
                  <a:extLst>
                    <a:ext uri="{9D8B030D-6E8A-4147-A177-3AD203B41FA5}">
                      <a16:colId xmlns:a16="http://schemas.microsoft.com/office/drawing/2014/main" val="2315189607"/>
                    </a:ext>
                  </a:extLst>
                </a:gridCol>
                <a:gridCol w="529993">
                  <a:extLst>
                    <a:ext uri="{9D8B030D-6E8A-4147-A177-3AD203B41FA5}">
                      <a16:colId xmlns:a16="http://schemas.microsoft.com/office/drawing/2014/main" val="1695008994"/>
                    </a:ext>
                  </a:extLst>
                </a:gridCol>
                <a:gridCol w="529993">
                  <a:extLst>
                    <a:ext uri="{9D8B030D-6E8A-4147-A177-3AD203B41FA5}">
                      <a16:colId xmlns:a16="http://schemas.microsoft.com/office/drawing/2014/main" val="1448189180"/>
                    </a:ext>
                  </a:extLst>
                </a:gridCol>
                <a:gridCol w="562477">
                  <a:extLst>
                    <a:ext uri="{9D8B030D-6E8A-4147-A177-3AD203B41FA5}">
                      <a16:colId xmlns:a16="http://schemas.microsoft.com/office/drawing/2014/main" val="3900317923"/>
                    </a:ext>
                  </a:extLst>
                </a:gridCol>
              </a:tblGrid>
              <a:tr h="211673">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11673">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27951154"/>
                  </a:ext>
                </a:extLst>
              </a:tr>
              <a:tr h="211673">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Supply voltage</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1167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Operating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11673">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Supply current</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11673">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Quiescent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Standby state, No LED current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298844"/>
                  </a:ext>
                </a:extLst>
              </a:tr>
              <a:tr h="211673">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100% Independent of duty sink</a:t>
                      </a:r>
                      <a:endParaRPr lang="pt-B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3.00</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9015921"/>
                  </a:ext>
                </a:extLst>
              </a:tr>
              <a:tr h="211673">
                <a:tc>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Oscillator</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5929154"/>
                  </a:ext>
                </a:extLst>
              </a:tr>
              <a:tr h="21167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MCLK</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f</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OSC</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75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MHz</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3860487"/>
                  </a:ext>
                </a:extLst>
              </a:tr>
              <a:tr h="211673">
                <a:tc gridSpan="7">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In/Out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53795"/>
                  </a:ext>
                </a:extLst>
              </a:tr>
              <a:tr h="211673">
                <a:tc rowSpan="5">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9875898"/>
                  </a:ext>
                </a:extLst>
              </a:tr>
              <a:tr h="211673">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9128075"/>
                  </a:ext>
                </a:extLst>
              </a:tr>
              <a:tr h="211673">
                <a:tc vMerge="1">
                  <a:txBody>
                    <a:bodyPr/>
                    <a:lstStyle/>
                    <a:p>
                      <a:pPr algn="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0.5</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8477197"/>
                  </a:ext>
                </a:extLst>
              </a:tr>
              <a:tr h="211673">
                <a:tc vMerge="1">
                  <a:txBody>
                    <a:bodyPr/>
                    <a:lstStyle/>
                    <a:p>
                      <a:pPr latinLnBrk="1"/>
                      <a:endParaRPr lang="ko-KR" altLang="en-US"/>
                    </a:p>
                  </a:txBody>
                  <a:tcP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445929"/>
                  </a:ext>
                </a:extLst>
              </a:tr>
              <a:tr h="211673">
                <a:tc vMerge="1">
                  <a:txBody>
                    <a:bodyPr/>
                    <a:lstStyle/>
                    <a:p>
                      <a:pPr algn="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PD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Internal pull-down resistance</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KΩ</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4727661"/>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long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63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7985016"/>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short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endPar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1950318"/>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050380"/>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7501129"/>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6954028"/>
                  </a:ext>
                </a:extLst>
              </a:tr>
              <a:tr h="211673">
                <a:tc>
                  <a:txBody>
                    <a:bodyPr/>
                    <a:lstStyle/>
                    <a:p>
                      <a:pPr algn="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DSKEW_US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1244435"/>
                  </a:ext>
                </a:extLst>
              </a:tr>
              <a:tr h="235702">
                <a:tc>
                  <a:txBody>
                    <a:bodyPr/>
                    <a:lstStyle/>
                    <a:p>
                      <a:pPr algn="r" fontAlgn="ctr"/>
                      <a:endPar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4781886"/>
                  </a:ext>
                </a:extLst>
              </a:tr>
            </a:tbl>
          </a:graphicData>
        </a:graphic>
      </p:graphicFrame>
      <p:sp>
        <p:nvSpPr>
          <p:cNvPr id="5" name="TextBox 4">
            <a:extLst>
              <a:ext uri="{FF2B5EF4-FFF2-40B4-BE49-F238E27FC236}">
                <a16:creationId xmlns:a16="http://schemas.microsoft.com/office/drawing/2014/main" id="{CDBCC130-FE93-A842-A2C7-C233A8E608F3}"/>
              </a:ext>
            </a:extLst>
          </p:cNvPr>
          <p:cNvSpPr txBox="1"/>
          <p:nvPr/>
        </p:nvSpPr>
        <p:spPr>
          <a:xfrm>
            <a:off x="413545" y="774866"/>
            <a:ext cx="603090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=3.3V,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cxnSp>
        <p:nvCxnSpPr>
          <p:cNvPr id="6" name="직선 연결선 5">
            <a:extLst>
              <a:ext uri="{FF2B5EF4-FFF2-40B4-BE49-F238E27FC236}">
                <a16:creationId xmlns:a16="http://schemas.microsoft.com/office/drawing/2014/main" id="{E46F34CF-793E-C6A6-F89F-5AB77A74B8F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그룹 3">
            <a:extLst>
              <a:ext uri="{FF2B5EF4-FFF2-40B4-BE49-F238E27FC236}">
                <a16:creationId xmlns:a16="http://schemas.microsoft.com/office/drawing/2014/main" id="{BF73DC6A-7D1A-A91C-01A2-51DCA1E58AAF}"/>
              </a:ext>
            </a:extLst>
          </p:cNvPr>
          <p:cNvGrpSpPr/>
          <p:nvPr/>
        </p:nvGrpSpPr>
        <p:grpSpPr>
          <a:xfrm>
            <a:off x="2133600" y="6254750"/>
            <a:ext cx="3773277" cy="777436"/>
            <a:chOff x="1920695" y="7478240"/>
            <a:chExt cx="3333652" cy="718717"/>
          </a:xfrm>
        </p:grpSpPr>
        <p:grpSp>
          <p:nvGrpSpPr>
            <p:cNvPr id="40" name="그룹 39">
              <a:extLst>
                <a:ext uri="{FF2B5EF4-FFF2-40B4-BE49-F238E27FC236}">
                  <a16:creationId xmlns:a16="http://schemas.microsoft.com/office/drawing/2014/main" id="{15299747-B297-4F87-59CD-50CEF62594E1}"/>
                </a:ext>
              </a:extLst>
            </p:cNvPr>
            <p:cNvGrpSpPr/>
            <p:nvPr/>
          </p:nvGrpSpPr>
          <p:grpSpPr>
            <a:xfrm>
              <a:off x="1920695" y="7478240"/>
              <a:ext cx="3331009" cy="192972"/>
              <a:chOff x="1348682" y="5433237"/>
              <a:chExt cx="2215377" cy="212651"/>
            </a:xfrm>
          </p:grpSpPr>
          <p:cxnSp>
            <p:nvCxnSpPr>
              <p:cNvPr id="58" name="직선 연결선 57">
                <a:extLst>
                  <a:ext uri="{FF2B5EF4-FFF2-40B4-BE49-F238E27FC236}">
                    <a16:creationId xmlns:a16="http://schemas.microsoft.com/office/drawing/2014/main" id="{6461855A-3451-4590-5695-0E8F20EBC561}"/>
                  </a:ext>
                </a:extLst>
              </p:cNvPr>
              <p:cNvCxnSpPr/>
              <p:nvPr/>
            </p:nvCxnSpPr>
            <p:spPr>
              <a:xfrm>
                <a:off x="1398181"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직선 연결선 58">
                <a:extLst>
                  <a:ext uri="{FF2B5EF4-FFF2-40B4-BE49-F238E27FC236}">
                    <a16:creationId xmlns:a16="http://schemas.microsoft.com/office/drawing/2014/main" id="{B42B04BD-40BC-3DFD-D84F-5FBBB14A95B3}"/>
                  </a:ext>
                </a:extLst>
              </p:cNvPr>
              <p:cNvCxnSpPr/>
              <p:nvPr/>
            </p:nvCxnSpPr>
            <p:spPr>
              <a:xfrm>
                <a:off x="2081793"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직선 연결선 59">
                <a:extLst>
                  <a:ext uri="{FF2B5EF4-FFF2-40B4-BE49-F238E27FC236}">
                    <a16:creationId xmlns:a16="http://schemas.microsoft.com/office/drawing/2014/main" id="{8F8E5F6F-C2E0-7F8D-1089-5C71538748C2}"/>
                  </a:ext>
                </a:extLst>
              </p:cNvPr>
              <p:cNvCxnSpPr/>
              <p:nvPr/>
            </p:nvCxnSpPr>
            <p:spPr>
              <a:xfrm>
                <a:off x="248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직선 연결선 60">
                <a:extLst>
                  <a:ext uri="{FF2B5EF4-FFF2-40B4-BE49-F238E27FC236}">
                    <a16:creationId xmlns:a16="http://schemas.microsoft.com/office/drawing/2014/main" id="{2CDA9763-03E0-F627-5CE4-DF653124EC43}"/>
                  </a:ext>
                </a:extLst>
              </p:cNvPr>
              <p:cNvCxnSpPr>
                <a:cxnSpLocks/>
              </p:cNvCxnSpPr>
              <p:nvPr/>
            </p:nvCxnSpPr>
            <p:spPr>
              <a:xfrm flipH="1">
                <a:off x="1398181" y="5433237"/>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직선 연결선 61">
                <a:extLst>
                  <a:ext uri="{FF2B5EF4-FFF2-40B4-BE49-F238E27FC236}">
                    <a16:creationId xmlns:a16="http://schemas.microsoft.com/office/drawing/2014/main" id="{0955A057-191B-B3B6-8067-EF21A2D1DF92}"/>
                  </a:ext>
                </a:extLst>
              </p:cNvPr>
              <p:cNvCxnSpPr>
                <a:cxnSpLocks/>
              </p:cNvCxnSpPr>
              <p:nvPr/>
            </p:nvCxnSpPr>
            <p:spPr>
              <a:xfrm flipH="1">
                <a:off x="2081793" y="5645888"/>
                <a:ext cx="4070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직선 연결선 62">
                <a:extLst>
                  <a:ext uri="{FF2B5EF4-FFF2-40B4-BE49-F238E27FC236}">
                    <a16:creationId xmlns:a16="http://schemas.microsoft.com/office/drawing/2014/main" id="{CBE87C2A-939F-3B7D-5D89-FAAB43FE3A54}"/>
                  </a:ext>
                </a:extLst>
              </p:cNvPr>
              <p:cNvCxnSpPr>
                <a:cxnSpLocks/>
              </p:cNvCxnSpPr>
              <p:nvPr/>
            </p:nvCxnSpPr>
            <p:spPr>
              <a:xfrm flipH="1">
                <a:off x="2484059" y="5433237"/>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직선 연결선 63">
                <a:extLst>
                  <a:ext uri="{FF2B5EF4-FFF2-40B4-BE49-F238E27FC236}">
                    <a16:creationId xmlns:a16="http://schemas.microsoft.com/office/drawing/2014/main" id="{3E1088ED-0614-039D-E804-6ADFB942D991}"/>
                  </a:ext>
                </a:extLst>
              </p:cNvPr>
              <p:cNvCxnSpPr/>
              <p:nvPr/>
            </p:nvCxnSpPr>
            <p:spPr>
              <a:xfrm>
                <a:off x="2880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연결선 64">
                <a:extLst>
                  <a:ext uri="{FF2B5EF4-FFF2-40B4-BE49-F238E27FC236}">
                    <a16:creationId xmlns:a16="http://schemas.microsoft.com/office/drawing/2014/main" id="{52AAD3C7-90FD-D0B1-3416-5457AE2E2AEE}"/>
                  </a:ext>
                </a:extLst>
              </p:cNvPr>
              <p:cNvCxnSpPr>
                <a:cxnSpLocks/>
              </p:cNvCxnSpPr>
              <p:nvPr/>
            </p:nvCxnSpPr>
            <p:spPr>
              <a:xfrm flipH="1">
                <a:off x="2880059" y="5645888"/>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직선 연결선 65">
                <a:extLst>
                  <a:ext uri="{FF2B5EF4-FFF2-40B4-BE49-F238E27FC236}">
                    <a16:creationId xmlns:a16="http://schemas.microsoft.com/office/drawing/2014/main" id="{DD2CE96A-9CDA-8BFF-37F1-93DC77AF5567}"/>
                  </a:ext>
                </a:extLst>
              </p:cNvPr>
              <p:cNvCxnSpPr>
                <a:cxnSpLocks/>
              </p:cNvCxnSpPr>
              <p:nvPr/>
            </p:nvCxnSpPr>
            <p:spPr>
              <a:xfrm flipH="1">
                <a:off x="1348682" y="5645888"/>
                <a:ext cx="4788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직선 연결선 66">
                <a:extLst>
                  <a:ext uri="{FF2B5EF4-FFF2-40B4-BE49-F238E27FC236}">
                    <a16:creationId xmlns:a16="http://schemas.microsoft.com/office/drawing/2014/main" id="{E5CB9FFF-19DD-03B4-CAE7-C2F54E47A6A2}"/>
                  </a:ext>
                </a:extLst>
              </p:cNvPr>
              <p:cNvCxnSpPr/>
              <p:nvPr/>
            </p:nvCxnSpPr>
            <p:spPr>
              <a:xfrm>
                <a:off x="356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1" name="직선 연결선 40">
              <a:extLst>
                <a:ext uri="{FF2B5EF4-FFF2-40B4-BE49-F238E27FC236}">
                  <a16:creationId xmlns:a16="http://schemas.microsoft.com/office/drawing/2014/main" id="{5257A64E-4119-74A6-35B3-6BF3E7E709D9}"/>
                </a:ext>
              </a:extLst>
            </p:cNvPr>
            <p:cNvCxnSpPr>
              <a:cxnSpLocks/>
            </p:cNvCxnSpPr>
            <p:nvPr/>
          </p:nvCxnSpPr>
          <p:spPr>
            <a:xfrm>
              <a:off x="1993167" y="7701492"/>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FD274CD4-A04C-5EC8-EB4B-F6610D0122AE}"/>
                </a:ext>
              </a:extLst>
            </p:cNvPr>
            <p:cNvCxnSpPr>
              <a:cxnSpLocks/>
            </p:cNvCxnSpPr>
            <p:nvPr/>
          </p:nvCxnSpPr>
          <p:spPr>
            <a:xfrm>
              <a:off x="3627693" y="7706761"/>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3" name="직선 연결선 42">
              <a:extLst>
                <a:ext uri="{FF2B5EF4-FFF2-40B4-BE49-F238E27FC236}">
                  <a16:creationId xmlns:a16="http://schemas.microsoft.com/office/drawing/2014/main" id="{8DEA26B2-D184-8616-7FEC-18F3A704626F}"/>
                </a:ext>
              </a:extLst>
            </p:cNvPr>
            <p:cNvCxnSpPr>
              <a:cxnSpLocks/>
            </p:cNvCxnSpPr>
            <p:nvPr/>
          </p:nvCxnSpPr>
          <p:spPr>
            <a:xfrm>
              <a:off x="5251693" y="7701496"/>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4" name="직선 연결선 43">
              <a:extLst>
                <a:ext uri="{FF2B5EF4-FFF2-40B4-BE49-F238E27FC236}">
                  <a16:creationId xmlns:a16="http://schemas.microsoft.com/office/drawing/2014/main" id="{7CD762D1-DE19-9574-7183-454B727DD440}"/>
                </a:ext>
              </a:extLst>
            </p:cNvPr>
            <p:cNvCxnSpPr>
              <a:cxnSpLocks/>
            </p:cNvCxnSpPr>
            <p:nvPr/>
          </p:nvCxnSpPr>
          <p:spPr>
            <a:xfrm>
              <a:off x="3010242" y="7881396"/>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5" name="직선 연결선 44">
              <a:extLst>
                <a:ext uri="{FF2B5EF4-FFF2-40B4-BE49-F238E27FC236}">
                  <a16:creationId xmlns:a16="http://schemas.microsoft.com/office/drawing/2014/main" id="{008276A4-1CA6-9C1C-DDEE-DE12D517B084}"/>
                </a:ext>
              </a:extLst>
            </p:cNvPr>
            <p:cNvCxnSpPr>
              <a:cxnSpLocks/>
            </p:cNvCxnSpPr>
            <p:nvPr/>
          </p:nvCxnSpPr>
          <p:spPr>
            <a:xfrm flipH="1">
              <a:off x="1993167" y="7866398"/>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6" name="직선 연결선 45">
              <a:extLst>
                <a:ext uri="{FF2B5EF4-FFF2-40B4-BE49-F238E27FC236}">
                  <a16:creationId xmlns:a16="http://schemas.microsoft.com/office/drawing/2014/main" id="{53755FAE-B53A-95EC-3054-C51F410600AB}"/>
                </a:ext>
              </a:extLst>
            </p:cNvPr>
            <p:cNvCxnSpPr>
              <a:cxnSpLocks/>
            </p:cNvCxnSpPr>
            <p:nvPr/>
          </p:nvCxnSpPr>
          <p:spPr>
            <a:xfrm>
              <a:off x="4237292" y="7879900"/>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7" name="직선 연결선 46">
              <a:extLst>
                <a:ext uri="{FF2B5EF4-FFF2-40B4-BE49-F238E27FC236}">
                  <a16:creationId xmlns:a16="http://schemas.microsoft.com/office/drawing/2014/main" id="{234DAB4B-662E-0732-7334-148B31CC6C47}"/>
                </a:ext>
              </a:extLst>
            </p:cNvPr>
            <p:cNvCxnSpPr>
              <a:cxnSpLocks/>
            </p:cNvCxnSpPr>
            <p:nvPr/>
          </p:nvCxnSpPr>
          <p:spPr>
            <a:xfrm flipH="1">
              <a:off x="3634347" y="7871664"/>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1FA71382-C523-1327-4896-2372C86CC265}"/>
                </a:ext>
              </a:extLst>
            </p:cNvPr>
            <p:cNvSpPr txBox="1"/>
            <p:nvPr/>
          </p:nvSpPr>
          <p:spPr>
            <a:xfrm>
              <a:off x="2540301" y="7683917"/>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‘1’</a:t>
              </a:r>
              <a:endParaRPr lang="ko-KR" altLang="en-US" sz="900" dirty="0">
                <a:latin typeface="Arial" panose="020B0604020202020204" pitchFamily="34" charset="0"/>
                <a:cs typeface="Arial" panose="020B0604020202020204" pitchFamily="34" charset="0"/>
              </a:endParaRPr>
            </a:p>
          </p:txBody>
        </p:sp>
        <p:cxnSp>
          <p:nvCxnSpPr>
            <p:cNvPr id="50" name="직선 연결선 49">
              <a:extLst>
                <a:ext uri="{FF2B5EF4-FFF2-40B4-BE49-F238E27FC236}">
                  <a16:creationId xmlns:a16="http://schemas.microsoft.com/office/drawing/2014/main" id="{93B3BA29-219B-75A1-D3B4-A42224F8388E}"/>
                </a:ext>
              </a:extLst>
            </p:cNvPr>
            <p:cNvCxnSpPr>
              <a:cxnSpLocks/>
            </p:cNvCxnSpPr>
            <p:nvPr/>
          </p:nvCxnSpPr>
          <p:spPr>
            <a:xfrm flipH="1">
              <a:off x="1994505" y="8060566"/>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1" name="직선 연결선 50">
              <a:extLst>
                <a:ext uri="{FF2B5EF4-FFF2-40B4-BE49-F238E27FC236}">
                  <a16:creationId xmlns:a16="http://schemas.microsoft.com/office/drawing/2014/main" id="{C64D935C-7E73-0591-22CD-FD6AFBA95834}"/>
                </a:ext>
              </a:extLst>
            </p:cNvPr>
            <p:cNvCxnSpPr>
              <a:cxnSpLocks/>
            </p:cNvCxnSpPr>
            <p:nvPr/>
          </p:nvCxnSpPr>
          <p:spPr>
            <a:xfrm flipH="1">
              <a:off x="3014932" y="8060565"/>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614D738E-9BDE-EC53-96D8-8E59588A7436}"/>
                </a:ext>
              </a:extLst>
            </p:cNvPr>
            <p:cNvCxnSpPr>
              <a:cxnSpLocks/>
            </p:cNvCxnSpPr>
            <p:nvPr/>
          </p:nvCxnSpPr>
          <p:spPr>
            <a:xfrm flipH="1">
              <a:off x="4242608" y="8068162"/>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0A68376A-62D7-EFDA-F00F-1B02CDD5C1C3}"/>
                </a:ext>
              </a:extLst>
            </p:cNvPr>
            <p:cNvCxnSpPr>
              <a:cxnSpLocks/>
            </p:cNvCxnSpPr>
            <p:nvPr/>
          </p:nvCxnSpPr>
          <p:spPr>
            <a:xfrm flipH="1">
              <a:off x="3628643" y="8058234"/>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D8FA8C19-B523-E75F-B7A0-423C71206334}"/>
                </a:ext>
              </a:extLst>
            </p:cNvPr>
            <p:cNvSpPr txBox="1"/>
            <p:nvPr/>
          </p:nvSpPr>
          <p:spPr>
            <a:xfrm>
              <a:off x="2352065" y="7889160"/>
              <a:ext cx="242621"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a:t>
              </a:r>
              <a:endParaRPr lang="ko-KR" altLang="en-US" sz="900" baseline="-25000" dirty="0">
                <a:latin typeface="Arial" panose="020B0604020202020204" pitchFamily="34" charset="0"/>
                <a:cs typeface="Arial" panose="020B0604020202020204" pitchFamily="34" charset="0"/>
              </a:endParaRPr>
            </a:p>
          </p:txBody>
        </p:sp>
        <p:sp>
          <p:nvSpPr>
            <p:cNvPr id="55" name="TextBox 54">
              <a:extLst>
                <a:ext uri="{FF2B5EF4-FFF2-40B4-BE49-F238E27FC236}">
                  <a16:creationId xmlns:a16="http://schemas.microsoft.com/office/drawing/2014/main" id="{2C1D04F1-A159-3CEA-6966-2E2309702EB6}"/>
                </a:ext>
              </a:extLst>
            </p:cNvPr>
            <p:cNvSpPr txBox="1"/>
            <p:nvPr/>
          </p:nvSpPr>
          <p:spPr>
            <a:xfrm>
              <a:off x="3197218" y="7923981"/>
              <a:ext cx="231060" cy="262985"/>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1L</a:t>
              </a:r>
              <a:endParaRPr lang="ko-KR" altLang="en-US" sz="900" baseline="-25000" dirty="0">
                <a:latin typeface="Arial" panose="020B0604020202020204" pitchFamily="34" charset="0"/>
                <a:cs typeface="Arial" panose="020B0604020202020204" pitchFamily="34" charset="0"/>
              </a:endParaRPr>
            </a:p>
          </p:txBody>
        </p:sp>
        <p:sp>
          <p:nvSpPr>
            <p:cNvPr id="56" name="TextBox 55">
              <a:extLst>
                <a:ext uri="{FF2B5EF4-FFF2-40B4-BE49-F238E27FC236}">
                  <a16:creationId xmlns:a16="http://schemas.microsoft.com/office/drawing/2014/main" id="{C302D1FC-56F7-2C23-C381-ABFDC84D383A}"/>
                </a:ext>
              </a:extLst>
            </p:cNvPr>
            <p:cNvSpPr txBox="1"/>
            <p:nvPr/>
          </p:nvSpPr>
          <p:spPr>
            <a:xfrm>
              <a:off x="3816832" y="7914375"/>
              <a:ext cx="243955" cy="262985"/>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0H</a:t>
              </a:r>
              <a:endParaRPr lang="ko-KR" altLang="en-US" sz="900" baseline="-25000" dirty="0">
                <a:latin typeface="Arial" panose="020B0604020202020204" pitchFamily="34" charset="0"/>
                <a:cs typeface="Arial" panose="020B0604020202020204" pitchFamily="34" charset="0"/>
              </a:endParaRPr>
            </a:p>
          </p:txBody>
        </p:sp>
        <p:sp>
          <p:nvSpPr>
            <p:cNvPr id="57" name="TextBox 56">
              <a:extLst>
                <a:ext uri="{FF2B5EF4-FFF2-40B4-BE49-F238E27FC236}">
                  <a16:creationId xmlns:a16="http://schemas.microsoft.com/office/drawing/2014/main" id="{4C174387-0F99-DBE5-FC65-E4E8157B1736}"/>
                </a:ext>
              </a:extLst>
            </p:cNvPr>
            <p:cNvSpPr txBox="1"/>
            <p:nvPr/>
          </p:nvSpPr>
          <p:spPr>
            <a:xfrm>
              <a:off x="4669527" y="7895133"/>
              <a:ext cx="2297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0L</a:t>
              </a:r>
              <a:endParaRPr lang="ko-KR" altLang="en-US" sz="900" baseline="-25000" dirty="0">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CD03792F-3D61-CA84-6804-84267920C59E}"/>
                </a:ext>
              </a:extLst>
            </p:cNvPr>
            <p:cNvSpPr txBox="1"/>
            <p:nvPr/>
          </p:nvSpPr>
          <p:spPr>
            <a:xfrm>
              <a:off x="4208664" y="7713002"/>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‘0’</a:t>
              </a:r>
              <a:endParaRPr lang="ko-KR" altLang="en-US" sz="900" dirty="0">
                <a:latin typeface="Arial" panose="020B0604020202020204" pitchFamily="34" charset="0"/>
                <a:cs typeface="Arial" panose="020B0604020202020204" pitchFamily="34" charset="0"/>
              </a:endParaRPr>
            </a:p>
          </p:txBody>
        </p:sp>
      </p:grpSp>
      <p:sp>
        <p:nvSpPr>
          <p:cNvPr id="7" name="TextBox 6">
            <a:extLst>
              <a:ext uri="{FF2B5EF4-FFF2-40B4-BE49-F238E27FC236}">
                <a16:creationId xmlns:a16="http://schemas.microsoft.com/office/drawing/2014/main" id="{27E8CB22-5C14-6BD9-34DA-1ECD33A81E0B}"/>
              </a:ext>
            </a:extLst>
          </p:cNvPr>
          <p:cNvSpPr txBox="1"/>
          <p:nvPr/>
        </p:nvSpPr>
        <p:spPr>
          <a:xfrm>
            <a:off x="404813" y="7421974"/>
            <a:ext cx="5888038" cy="895117"/>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1) The operation below V</a:t>
            </a:r>
            <a:r>
              <a:rPr lang="en-US" altLang="ko-KR" baseline="-25000" dirty="0"/>
              <a:t>DD</a:t>
            </a:r>
            <a:r>
              <a:rPr lang="en-US" altLang="ko-KR" dirty="0"/>
              <a:t>, 3.3V will limit a maximum LED sinking current and affect a current variation.</a:t>
            </a:r>
          </a:p>
          <a:p>
            <a:pPr algn="just"/>
            <a:r>
              <a:rPr lang="en-US" altLang="ko-KR" dirty="0"/>
              <a:t>            2) The conditions, </a:t>
            </a:r>
            <a:r>
              <a:rPr lang="en-US" altLang="ko-KR" dirty="0">
                <a:latin typeface="맑은 고딕" panose="020B0503020000020004" pitchFamily="50" charset="-127"/>
                <a:ea typeface="맑은 고딕" panose="020B0503020000020004" pitchFamily="50" charset="-127"/>
              </a:rPr>
              <a:t>①</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1H </a:t>
            </a:r>
            <a:r>
              <a:rPr lang="en-US" altLang="ko-KR" sz="800" dirty="0">
                <a:solidFill>
                  <a:srgbClr val="000000"/>
                </a:solidFill>
                <a:ea typeface="굴림" panose="020B0600000101010101" pitchFamily="50" charset="-127"/>
              </a:rPr>
              <a:t> ≥ T</a:t>
            </a:r>
            <a:r>
              <a:rPr lang="en-US" altLang="ko-KR" sz="800" baseline="-25000" dirty="0">
                <a:solidFill>
                  <a:srgbClr val="000000"/>
                </a:solidFill>
                <a:ea typeface="굴림" panose="020B0600000101010101" pitchFamily="50" charset="-127"/>
              </a:rPr>
              <a:t>0H</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②</a:t>
            </a:r>
            <a:r>
              <a:rPr lang="en-US" altLang="ko-KR" sz="800" baseline="-25000" dirty="0">
                <a:solidFill>
                  <a:srgbClr val="000000"/>
                </a:solidFill>
                <a:ea typeface="굴림" panose="020B0600000101010101" pitchFamily="50" charset="-127"/>
              </a:rPr>
              <a:t> </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0L</a:t>
            </a:r>
            <a:r>
              <a:rPr lang="en-US" altLang="ko-KR" sz="800" dirty="0">
                <a:solidFill>
                  <a:srgbClr val="000000"/>
                </a:solidFill>
                <a:ea typeface="굴림" panose="020B0600000101010101" pitchFamily="50" charset="-127"/>
              </a:rPr>
              <a:t> ≥ T</a:t>
            </a:r>
            <a:r>
              <a:rPr lang="en-US" altLang="ko-KR" sz="800" baseline="-25000" dirty="0">
                <a:solidFill>
                  <a:srgbClr val="000000"/>
                </a:solidFill>
                <a:ea typeface="굴림" panose="020B0600000101010101" pitchFamily="50" charset="-127"/>
              </a:rPr>
              <a:t>1L</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③ </a:t>
            </a:r>
            <a:r>
              <a:rPr lang="en-US" altLang="ko-KR" dirty="0">
                <a:solidFill>
                  <a:srgbClr val="000000"/>
                </a:solidFill>
                <a:ea typeface="굴림" panose="020B0600000101010101" pitchFamily="50" charset="-127"/>
              </a:rPr>
              <a:t>(</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1H </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0H</a:t>
            </a:r>
            <a:r>
              <a:rPr lang="en-US" altLang="ko-KR" sz="800" dirty="0">
                <a:solidFill>
                  <a:srgbClr val="000000"/>
                </a:solidFill>
                <a:ea typeface="굴림" panose="020B0600000101010101" pitchFamily="50" charset="-127"/>
              </a:rPr>
              <a:t>) = (T</a:t>
            </a:r>
            <a:r>
              <a:rPr lang="en-US" altLang="ko-KR" sz="800" baseline="-25000" dirty="0">
                <a:solidFill>
                  <a:srgbClr val="000000"/>
                </a:solidFill>
                <a:ea typeface="굴림" panose="020B0600000101010101" pitchFamily="50" charset="-127"/>
              </a:rPr>
              <a:t>0L</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1L</a:t>
            </a:r>
            <a:r>
              <a:rPr lang="en-US" altLang="ko-KR" dirty="0">
                <a:solidFill>
                  <a:srgbClr val="000000"/>
                </a:solidFill>
                <a:ea typeface="굴림" panose="020B0600000101010101" pitchFamily="50" charset="-127"/>
              </a:rPr>
              <a:t>) &lt; 90 are normally recommended.</a:t>
            </a:r>
          </a:p>
          <a:p>
            <a:pPr algn="just"/>
            <a:r>
              <a:rPr lang="en-US" altLang="ko-KR" dirty="0">
                <a:solidFill>
                  <a:srgbClr val="000000"/>
                </a:solidFill>
                <a:ea typeface="굴림" panose="020B0600000101010101" pitchFamily="50" charset="-127"/>
              </a:rPr>
              <a:t>                 However, the value depends on the baud-rate of the XC.</a:t>
            </a:r>
            <a:endParaRPr lang="en-US" altLang="ko-KR" baseline="-25000" dirty="0">
              <a:solidFill>
                <a:srgbClr val="000000"/>
              </a:solidFill>
              <a:ea typeface="굴림" panose="020B0600000101010101" pitchFamily="50" charset="-127"/>
            </a:endParaRPr>
          </a:p>
          <a:p>
            <a:pPr marL="539750" indent="-501650"/>
            <a:r>
              <a:rPr lang="en-US" altLang="ko-KR" dirty="0">
                <a:solidFill>
                  <a:srgbClr val="000000"/>
                </a:solidFill>
                <a:ea typeface="굴림" panose="020B0600000101010101" pitchFamily="50" charset="-127"/>
              </a:rPr>
              <a:t>            3)  On downstreaming (or upstreaming), the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baseline="-25000" dirty="0">
                <a:ea typeface="굴림" panose="020B0600000101010101" pitchFamily="50" charset="-127"/>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is shorted as many as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dirty="0">
                <a:solidFill>
                  <a:srgbClr val="000000"/>
                </a:solidFill>
                <a:ea typeface="굴림" panose="020B0600000101010101" pitchFamily="50" charset="-127"/>
              </a:rPr>
              <a:t>(</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or</a:t>
            </a:r>
            <a:r>
              <a:rPr lang="en-US" altLang="ko-KR" baseline="0" dirty="0">
                <a:solidFill>
                  <a:srgbClr val="000000"/>
                </a:solidFill>
                <a:ea typeface="굴림" panose="020B0600000101010101" pitchFamily="50" charset="-127"/>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r>
              <a:rPr lang="en-US" altLang="ko-KR" dirty="0">
                <a:solidFill>
                  <a:srgbClr val="000000"/>
                </a:solidFill>
                <a:ea typeface="굴림" panose="020B0600000101010101" pitchFamily="50" charset="-127"/>
              </a:rPr>
              <a:t>), but the total of 1 bit cycle will remain the same. </a:t>
            </a:r>
          </a:p>
          <a:p>
            <a:pPr marL="539750"/>
            <a:r>
              <a:rPr lang="en-US" altLang="ko-KR" i="1" dirty="0">
                <a:solidFill>
                  <a:srgbClr val="000000"/>
                </a:solidFill>
                <a:ea typeface="굴림" panose="020B0600000101010101" pitchFamily="50" charset="-127"/>
              </a:rPr>
              <a:t>So, the proper value for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1H</a:t>
            </a:r>
            <a:r>
              <a:rPr lang="en-US" altLang="ko-KR" i="1" dirty="0">
                <a:solidFill>
                  <a:srgbClr val="000000"/>
                </a:solidFill>
                <a:ea typeface="굴림" panose="020B0600000101010101" pitchFamily="50" charset="-127"/>
              </a:rPr>
              <a:t>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and 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0L </a:t>
            </a:r>
            <a:r>
              <a:rPr lang="en-US" altLang="ko-KR" b="0" i="1" dirty="0">
                <a:solidFill>
                  <a:srgbClr val="000000"/>
                </a:solidFill>
              </a:rPr>
              <a:t>must be </a:t>
            </a:r>
            <a:r>
              <a:rPr lang="en-US" altLang="ko-KR" i="1" dirty="0">
                <a:solidFill>
                  <a:srgbClr val="000000"/>
                </a:solidFill>
              </a:rPr>
              <a:t> </a:t>
            </a:r>
            <a:r>
              <a:rPr lang="en-US" altLang="ko-KR" b="0" i="1" dirty="0">
                <a:solidFill>
                  <a:srgbClr val="000000"/>
                </a:solidFill>
              </a:rPr>
              <a:t>carefully determined based on the daisy size.</a:t>
            </a:r>
            <a:endParaRPr lang="en-US" altLang="ko-KR" sz="900" b="0" i="1" u="none" strike="noStrike" baseline="0" dirty="0">
              <a:solidFill>
                <a:srgbClr val="000000"/>
              </a:solidFill>
              <a:ea typeface="굴림" panose="020B0600000101010101" pitchFamily="50" charset="-127"/>
            </a:endParaRPr>
          </a:p>
        </p:txBody>
      </p:sp>
    </p:spTree>
    <p:extLst>
      <p:ext uri="{BB962C8B-B14F-4D97-AF65-F5344CB8AC3E}">
        <p14:creationId xmlns:p14="http://schemas.microsoft.com/office/powerpoint/2010/main" val="3554956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DEC4F87-9C9B-4C8F-A819-F5F816D1E76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194F41DE-B425-A9B6-A8E9-61365B8A5C6E}"/>
              </a:ext>
            </a:extLst>
          </p:cNvPr>
          <p:cNvSpPr txBox="1"/>
          <p:nvPr/>
        </p:nvSpPr>
        <p:spPr>
          <a:xfrm>
            <a:off x="404811" y="774866"/>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=3.3V,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23" name="표 22">
            <a:extLst>
              <a:ext uri="{FF2B5EF4-FFF2-40B4-BE49-F238E27FC236}">
                <a16:creationId xmlns:a16="http://schemas.microsoft.com/office/drawing/2014/main" id="{95AE7A5D-C563-E454-C9F4-1BA985CEA979}"/>
              </a:ext>
            </a:extLst>
          </p:cNvPr>
          <p:cNvGraphicFramePr>
            <a:graphicFrameLocks noGrp="1"/>
          </p:cNvGraphicFramePr>
          <p:nvPr>
            <p:extLst>
              <p:ext uri="{D42A27DB-BD31-4B8C-83A1-F6EECF244321}">
                <p14:modId xmlns:p14="http://schemas.microsoft.com/office/powerpoint/2010/main" val="1078263586"/>
              </p:ext>
            </p:extLst>
          </p:nvPr>
        </p:nvGraphicFramePr>
        <p:xfrm>
          <a:off x="333544" y="1136650"/>
          <a:ext cx="6169522" cy="6645372"/>
        </p:xfrm>
        <a:graphic>
          <a:graphicData uri="http://schemas.openxmlformats.org/drawingml/2006/table">
            <a:tbl>
              <a:tblPr>
                <a:tableStyleId>{5C22544A-7EE6-4342-B048-85BDC9FD1C3A}</a:tableStyleId>
              </a:tblPr>
              <a:tblGrid>
                <a:gridCol w="1430556">
                  <a:extLst>
                    <a:ext uri="{9D8B030D-6E8A-4147-A177-3AD203B41FA5}">
                      <a16:colId xmlns:a16="http://schemas.microsoft.com/office/drawing/2014/main" val="1783343538"/>
                    </a:ext>
                  </a:extLst>
                </a:gridCol>
                <a:gridCol w="697700">
                  <a:extLst>
                    <a:ext uri="{9D8B030D-6E8A-4147-A177-3AD203B41FA5}">
                      <a16:colId xmlns:a16="http://schemas.microsoft.com/office/drawing/2014/main" val="3180006436"/>
                    </a:ext>
                  </a:extLst>
                </a:gridCol>
                <a:gridCol w="1845786">
                  <a:extLst>
                    <a:ext uri="{9D8B030D-6E8A-4147-A177-3AD203B41FA5}">
                      <a16:colId xmlns:a16="http://schemas.microsoft.com/office/drawing/2014/main" val="1629708029"/>
                    </a:ext>
                  </a:extLst>
                </a:gridCol>
                <a:gridCol w="540587">
                  <a:extLst>
                    <a:ext uri="{9D8B030D-6E8A-4147-A177-3AD203B41FA5}">
                      <a16:colId xmlns:a16="http://schemas.microsoft.com/office/drawing/2014/main" val="3514095092"/>
                    </a:ext>
                  </a:extLst>
                </a:gridCol>
                <a:gridCol w="540587">
                  <a:extLst>
                    <a:ext uri="{9D8B030D-6E8A-4147-A177-3AD203B41FA5}">
                      <a16:colId xmlns:a16="http://schemas.microsoft.com/office/drawing/2014/main" val="2256908222"/>
                    </a:ext>
                  </a:extLst>
                </a:gridCol>
                <a:gridCol w="540587">
                  <a:extLst>
                    <a:ext uri="{9D8B030D-6E8A-4147-A177-3AD203B41FA5}">
                      <a16:colId xmlns:a16="http://schemas.microsoft.com/office/drawing/2014/main" val="2915946677"/>
                    </a:ext>
                  </a:extLst>
                </a:gridCol>
                <a:gridCol w="573719">
                  <a:extLst>
                    <a:ext uri="{9D8B030D-6E8A-4147-A177-3AD203B41FA5}">
                      <a16:colId xmlns:a16="http://schemas.microsoft.com/office/drawing/2014/main" val="2559142005"/>
                    </a:ext>
                  </a:extLst>
                </a:gridCol>
              </a:tblGrid>
              <a:tr h="244676">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44676">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Output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886170">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Driving voltage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5880" marR="46355" indent="281940">
                        <a:lnSpc>
                          <a:spcPct val="100000"/>
                        </a:lnSpc>
                        <a:spcBef>
                          <a:spcPts val="85"/>
                        </a:spcBef>
                      </a:pPr>
                      <a:r>
                        <a:rPr lang="it-IT" altLang="ko-KR" sz="900" b="0" spc="-5" dirty="0">
                          <a:solidFill>
                            <a:schemeClr val="tx1"/>
                          </a:solidFill>
                          <a:latin typeface="Arial"/>
                          <a:cs typeface="Arial"/>
                        </a:rPr>
                        <a:t>Headroom voltage V</a:t>
                      </a:r>
                      <a:r>
                        <a:rPr lang="it-IT" altLang="ko-KR" sz="900" b="0" spc="-7" baseline="-18518" dirty="0">
                          <a:solidFill>
                            <a:schemeClr val="tx1"/>
                          </a:solidFill>
                          <a:latin typeface="Arial"/>
                          <a:cs typeface="Arial"/>
                        </a:rPr>
                        <a:t>HD</a:t>
                      </a:r>
                      <a:r>
                        <a:rPr lang="it-IT" altLang="ko-KR" sz="900" b="0" baseline="-18518" dirty="0">
                          <a:solidFill>
                            <a:schemeClr val="tx1"/>
                          </a:solidFill>
                          <a:latin typeface="Arial"/>
                          <a:cs typeface="Arial"/>
                        </a:rPr>
                        <a:t> </a:t>
                      </a:r>
                      <a:r>
                        <a:rPr lang="it-IT" altLang="ko-KR" sz="900" b="0" dirty="0">
                          <a:solidFill>
                            <a:schemeClr val="tx1"/>
                          </a:solidFill>
                          <a:latin typeface="Arial"/>
                          <a:cs typeface="Arial"/>
                        </a:rPr>
                        <a:t>: </a:t>
                      </a:r>
                      <a:r>
                        <a:rPr lang="it-IT" altLang="ko-KR" sz="900" b="0" spc="5" dirty="0">
                          <a:solidFill>
                            <a:schemeClr val="tx1"/>
                          </a:solidFill>
                          <a:latin typeface="Arial"/>
                          <a:cs typeface="Arial"/>
                        </a:rPr>
                        <a:t> </a:t>
                      </a:r>
                      <a:r>
                        <a:rPr lang="it-IT" altLang="ko-KR" sz="820" b="0" spc="-5" dirty="0">
                          <a:solidFill>
                            <a:schemeClr val="tx1"/>
                          </a:solidFill>
                          <a:latin typeface="Arial"/>
                          <a:cs typeface="Arial"/>
                        </a:rPr>
                        <a:t>0.38V@</a:t>
                      </a:r>
                      <a:r>
                        <a:rPr lang="it-IT" altLang="ko-KR" sz="820" b="0" spc="-15"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 </a:t>
                      </a:r>
                      <a:r>
                        <a:rPr lang="it-IT" altLang="ko-KR" sz="820" b="0" dirty="0">
                          <a:solidFill>
                            <a:schemeClr val="tx1"/>
                          </a:solidFill>
                          <a:latin typeface="Arial"/>
                          <a:cs typeface="Arial"/>
                        </a:rPr>
                        <a:t>4mA,    0.40V@</a:t>
                      </a:r>
                      <a:r>
                        <a:rPr lang="it-IT" altLang="ko-KR" sz="820" b="0" spc="-15"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 </a:t>
                      </a:r>
                      <a:r>
                        <a:rPr lang="it-IT" altLang="ko-KR" sz="820" b="0" spc="195" baseline="-18518" dirty="0">
                          <a:solidFill>
                            <a:schemeClr val="tx1"/>
                          </a:solidFill>
                          <a:latin typeface="Arial"/>
                          <a:cs typeface="Arial"/>
                        </a:rPr>
                        <a:t> </a:t>
                      </a:r>
                      <a:r>
                        <a:rPr lang="it-IT" altLang="ko-KR" sz="820" b="0" dirty="0">
                          <a:solidFill>
                            <a:schemeClr val="tx1"/>
                          </a:solidFill>
                          <a:latin typeface="Arial"/>
                          <a:cs typeface="Arial"/>
                        </a:rPr>
                        <a:t>8mA</a:t>
                      </a:r>
                    </a:p>
                    <a:p>
                      <a:pPr marL="54610">
                        <a:lnSpc>
                          <a:spcPct val="100000"/>
                        </a:lnSpc>
                      </a:pPr>
                      <a:r>
                        <a:rPr lang="it-IT" altLang="ko-KR" sz="820" b="0" spc="-5" dirty="0">
                          <a:solidFill>
                            <a:schemeClr val="tx1"/>
                          </a:solidFill>
                          <a:latin typeface="Arial"/>
                          <a:cs typeface="Arial"/>
                        </a:rPr>
                        <a:t>0.43V@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12mA,  </a:t>
                      </a:r>
                      <a:r>
                        <a:rPr lang="it-IT" altLang="ko-KR" sz="820" b="0" spc="-40" dirty="0">
                          <a:solidFill>
                            <a:schemeClr val="tx1"/>
                          </a:solidFill>
                          <a:latin typeface="Arial"/>
                          <a:cs typeface="Arial"/>
                        </a:rPr>
                        <a:t>0.45V</a:t>
                      </a:r>
                      <a:r>
                        <a:rPr lang="it-IT" altLang="ko-KR" sz="820" b="0" dirty="0">
                          <a:solidFill>
                            <a:schemeClr val="tx1"/>
                          </a:solidFill>
                          <a:latin typeface="Arial"/>
                          <a:cs typeface="Arial"/>
                        </a:rPr>
                        <a:t>@</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16mA</a:t>
                      </a:r>
                    </a:p>
                    <a:p>
                      <a:pPr marL="54610" marR="0" lvl="0" indent="0" algn="l" defTabSz="685800" rtl="0" eaLnBrk="1" fontAlgn="auto" latinLnBrk="1" hangingPunct="1">
                        <a:lnSpc>
                          <a:spcPct val="100000"/>
                        </a:lnSpc>
                        <a:spcBef>
                          <a:spcPts val="0"/>
                        </a:spcBef>
                        <a:spcAft>
                          <a:spcPts val="0"/>
                        </a:spcAft>
                        <a:buClrTx/>
                        <a:buSzTx/>
                        <a:buFontTx/>
                        <a:buNone/>
                        <a:tabLst/>
                        <a:defRPr/>
                      </a:pPr>
                      <a:r>
                        <a:rPr lang="it-IT" altLang="ko-KR" sz="820" b="0" spc="-5" dirty="0">
                          <a:solidFill>
                            <a:schemeClr val="tx1"/>
                          </a:solidFill>
                          <a:latin typeface="Arial"/>
                          <a:cs typeface="Arial"/>
                        </a:rPr>
                        <a:t>0.47V@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20mA,  0.50V@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24mA</a:t>
                      </a:r>
                      <a:r>
                        <a:rPr lang="it-IT" altLang="ko-KR" sz="820" b="0" spc="-20" dirty="0">
                          <a:solidFill>
                            <a:schemeClr val="tx1"/>
                          </a:solidFill>
                          <a:latin typeface="Arial"/>
                          <a:cs typeface="Arial"/>
                        </a:rPr>
                        <a:t> </a:t>
                      </a:r>
                      <a:r>
                        <a:rPr lang="it-IT" altLang="ko-KR" sz="820" b="0" spc="-5" dirty="0">
                          <a:solidFill>
                            <a:schemeClr val="tx1"/>
                          </a:solidFill>
                          <a:latin typeface="Arial"/>
                          <a:cs typeface="Arial"/>
                        </a:rPr>
                        <a:t>0.52V@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28mA,</a:t>
                      </a:r>
                      <a:r>
                        <a:rPr lang="it-IT" altLang="ko-KR" sz="820" b="0" spc="-40" dirty="0">
                          <a:solidFill>
                            <a:schemeClr val="tx1"/>
                          </a:solidFill>
                          <a:latin typeface="Arial"/>
                          <a:cs typeface="Arial"/>
                        </a:rPr>
                        <a:t>   </a:t>
                      </a:r>
                      <a:r>
                        <a:rPr lang="it-IT" altLang="ko-KR" sz="820" b="0" dirty="0">
                          <a:solidFill>
                            <a:schemeClr val="tx1"/>
                          </a:solidFill>
                          <a:latin typeface="Arial"/>
                          <a:cs typeface="Arial"/>
                        </a:rPr>
                        <a:t>0.55V@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32mA</a:t>
                      </a:r>
                    </a:p>
                    <a:p>
                      <a:pPr marL="54610" marR="0" lvl="0" indent="0" algn="l" defTabSz="685800" rtl="0" eaLnBrk="1" fontAlgn="auto" latinLnBrk="1" hangingPunct="1">
                        <a:lnSpc>
                          <a:spcPct val="100000"/>
                        </a:lnSpc>
                        <a:spcBef>
                          <a:spcPts val="0"/>
                        </a:spcBef>
                        <a:spcAft>
                          <a:spcPts val="0"/>
                        </a:spcAft>
                        <a:buClrTx/>
                        <a:buSzTx/>
                        <a:buFontTx/>
                        <a:buNone/>
                        <a:tabLst/>
                        <a:defRPr/>
                      </a:pPr>
                      <a:r>
                        <a:rPr lang="it-IT" altLang="ko-KR" sz="820" b="0" dirty="0">
                          <a:solidFill>
                            <a:schemeClr val="tx1"/>
                          </a:solidFill>
                          <a:latin typeface="Arial"/>
                          <a:cs typeface="Arial"/>
                        </a:rPr>
                        <a:t>0.57V@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36mA,</a:t>
                      </a:r>
                      <a:r>
                        <a:rPr lang="it-IT" altLang="ko-KR" sz="820" b="0" spc="-40" dirty="0">
                          <a:solidFill>
                            <a:schemeClr val="tx1"/>
                          </a:solidFill>
                          <a:latin typeface="Arial"/>
                          <a:cs typeface="Arial"/>
                        </a:rPr>
                        <a:t>   </a:t>
                      </a:r>
                      <a:r>
                        <a:rPr lang="it-IT" altLang="ko-KR" sz="820" b="0" dirty="0">
                          <a:solidFill>
                            <a:schemeClr val="tx1"/>
                          </a:solidFill>
                          <a:latin typeface="Arial"/>
                          <a:cs typeface="Arial"/>
                        </a:rPr>
                        <a:t>0.60V@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40mA</a:t>
                      </a:r>
                    </a:p>
                  </a:txBody>
                  <a:tcPr marL="0" marR="0" marT="1079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HD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823301">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Short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75590" marR="241300" indent="33020" algn="l">
                        <a:lnSpc>
                          <a:spcPct val="100000"/>
                        </a:lnSpc>
                        <a:spcBef>
                          <a:spcPts val="160"/>
                        </a:spcBef>
                      </a:pPr>
                      <a:r>
                        <a:rPr sz="800" spc="-15" dirty="0">
                          <a:solidFill>
                            <a:schemeClr val="tx1"/>
                          </a:solidFill>
                          <a:latin typeface="Arial"/>
                          <a:cs typeface="Arial"/>
                        </a:rPr>
                        <a:t>S</a:t>
                      </a:r>
                      <a:r>
                        <a:rPr sz="800" spc="-10" dirty="0">
                          <a:solidFill>
                            <a:schemeClr val="tx1"/>
                          </a:solidFill>
                          <a:latin typeface="Arial"/>
                          <a:cs typeface="Arial"/>
                        </a:rPr>
                        <a:t>ho</a:t>
                      </a:r>
                      <a:r>
                        <a:rPr sz="800" spc="-15" dirty="0">
                          <a:solidFill>
                            <a:schemeClr val="tx1"/>
                          </a:solidFill>
                          <a:latin typeface="Arial"/>
                          <a:cs typeface="Arial"/>
                        </a:rPr>
                        <a:t>r</a:t>
                      </a:r>
                      <a:r>
                        <a:rPr sz="800" dirty="0">
                          <a:solidFill>
                            <a:schemeClr val="tx1"/>
                          </a:solidFill>
                          <a:latin typeface="Arial"/>
                          <a:cs typeface="Arial"/>
                        </a:rPr>
                        <a:t>t</a:t>
                      </a:r>
                      <a:r>
                        <a:rPr sz="800" spc="-60" dirty="0">
                          <a:solidFill>
                            <a:schemeClr val="tx1"/>
                          </a:solidFill>
                          <a:latin typeface="Arial"/>
                          <a:cs typeface="Arial"/>
                        </a:rPr>
                        <a:t> </a:t>
                      </a:r>
                      <a:r>
                        <a:rPr sz="800" spc="-10" dirty="0">
                          <a:solidFill>
                            <a:schemeClr val="tx1"/>
                          </a:solidFill>
                          <a:latin typeface="Arial"/>
                          <a:cs typeface="Arial"/>
                        </a:rPr>
                        <a:t>detecti</a:t>
                      </a:r>
                      <a:r>
                        <a:rPr sz="800" spc="-25" dirty="0">
                          <a:solidFill>
                            <a:schemeClr val="tx1"/>
                          </a:solidFill>
                          <a:latin typeface="Arial"/>
                          <a:cs typeface="Arial"/>
                        </a:rPr>
                        <a:t>o</a:t>
                      </a:r>
                      <a:r>
                        <a:rPr sz="800" dirty="0">
                          <a:solidFill>
                            <a:schemeClr val="tx1"/>
                          </a:solidFill>
                          <a:latin typeface="Arial"/>
                          <a:cs typeface="Arial"/>
                        </a:rPr>
                        <a:t>n</a:t>
                      </a:r>
                      <a:r>
                        <a:rPr sz="800" spc="-70" dirty="0">
                          <a:solidFill>
                            <a:schemeClr val="tx1"/>
                          </a:solidFill>
                          <a:latin typeface="Arial"/>
                          <a:cs typeface="Arial"/>
                        </a:rPr>
                        <a:t> </a:t>
                      </a:r>
                      <a:r>
                        <a:rPr sz="800" spc="-10" dirty="0">
                          <a:solidFill>
                            <a:schemeClr val="tx1"/>
                          </a:solidFill>
                          <a:latin typeface="Arial"/>
                          <a:cs typeface="Arial"/>
                        </a:rPr>
                        <a:t>le</a:t>
                      </a:r>
                      <a:r>
                        <a:rPr sz="800" spc="-20" dirty="0">
                          <a:solidFill>
                            <a:schemeClr val="tx1"/>
                          </a:solidFill>
                          <a:latin typeface="Arial"/>
                          <a:cs typeface="Arial"/>
                        </a:rPr>
                        <a:t>v</a:t>
                      </a:r>
                      <a:r>
                        <a:rPr sz="800" spc="-10" dirty="0">
                          <a:solidFill>
                            <a:schemeClr val="tx1"/>
                          </a:solidFill>
                          <a:latin typeface="Arial"/>
                          <a:cs typeface="Arial"/>
                        </a:rPr>
                        <a:t>e</a:t>
                      </a:r>
                      <a:r>
                        <a:rPr sz="800" dirty="0">
                          <a:solidFill>
                            <a:schemeClr val="tx1"/>
                          </a:solidFill>
                          <a:latin typeface="Arial"/>
                          <a:cs typeface="Arial"/>
                        </a:rPr>
                        <a:t>l</a:t>
                      </a:r>
                      <a:r>
                        <a:rPr sz="800" spc="-30" dirty="0">
                          <a:solidFill>
                            <a:schemeClr val="tx1"/>
                          </a:solidFill>
                          <a:latin typeface="Arial"/>
                          <a:cs typeface="Arial"/>
                        </a:rPr>
                        <a:t> </a:t>
                      </a:r>
                      <a:r>
                        <a:rPr sz="800" spc="-5" dirty="0">
                          <a:solidFill>
                            <a:schemeClr val="tx1"/>
                          </a:solidFill>
                          <a:latin typeface="Arial"/>
                          <a:cs typeface="Arial"/>
                        </a:rPr>
                        <a:t>V</a:t>
                      </a:r>
                      <a:r>
                        <a:rPr sz="800" spc="-7" baseline="-18518" dirty="0">
                          <a:solidFill>
                            <a:schemeClr val="tx1"/>
                          </a:solidFill>
                          <a:latin typeface="Arial"/>
                          <a:cs typeface="Arial"/>
                        </a:rPr>
                        <a:t>S</a:t>
                      </a:r>
                      <a:r>
                        <a:rPr sz="800" baseline="-18518" dirty="0">
                          <a:solidFill>
                            <a:schemeClr val="tx1"/>
                          </a:solidFill>
                          <a:latin typeface="Arial"/>
                          <a:cs typeface="Arial"/>
                        </a:rPr>
                        <a:t>D</a:t>
                      </a:r>
                      <a:r>
                        <a:rPr lang="ko-KR" altLang="en-US" sz="800" baseline="-18518" dirty="0">
                          <a:solidFill>
                            <a:schemeClr val="tx1"/>
                          </a:solidFill>
                          <a:latin typeface="Arial"/>
                          <a:cs typeface="Arial"/>
                        </a:rPr>
                        <a:t> </a:t>
                      </a:r>
                      <a:r>
                        <a:rPr lang="en-US" altLang="ko-KR" sz="800" dirty="0">
                          <a:solidFill>
                            <a:schemeClr val="tx1"/>
                          </a:solidFill>
                          <a:latin typeface="Arial"/>
                          <a:cs typeface="Arial"/>
                        </a:rPr>
                        <a:t>:</a:t>
                      </a:r>
                      <a:r>
                        <a:rPr lang="ko-KR" altLang="en-US" sz="800" dirty="0">
                          <a:solidFill>
                            <a:schemeClr val="tx1"/>
                          </a:solidFill>
                          <a:latin typeface="Arial"/>
                          <a:cs typeface="Arial"/>
                        </a:rPr>
                        <a:t>  </a:t>
                      </a:r>
                      <a:endParaRPr lang="en-US" sz="800" dirty="0">
                        <a:solidFill>
                          <a:schemeClr val="tx1"/>
                        </a:solidFill>
                        <a:latin typeface="Arial"/>
                        <a:cs typeface="Arial"/>
                      </a:endParaRPr>
                    </a:p>
                    <a:p>
                      <a:pPr marL="275590" marR="241300" indent="33020" algn="l">
                        <a:lnSpc>
                          <a:spcPct val="100000"/>
                        </a:lnSpc>
                        <a:spcBef>
                          <a:spcPts val="160"/>
                        </a:spcBef>
                      </a:pPr>
                      <a:r>
                        <a:rPr lang="en-US" sz="800" dirty="0">
                          <a:solidFill>
                            <a:schemeClr val="tx1"/>
                          </a:solidFill>
                          <a:latin typeface="Arial"/>
                          <a:cs typeface="Arial"/>
                        </a:rPr>
                        <a:t>3b’000=3.5V,</a:t>
                      </a:r>
                      <a:r>
                        <a:rPr lang="en-US" sz="800" spc="160" dirty="0">
                          <a:solidFill>
                            <a:schemeClr val="tx1"/>
                          </a:solidFill>
                          <a:latin typeface="Arial"/>
                          <a:cs typeface="Arial"/>
                        </a:rPr>
                        <a:t> </a:t>
                      </a:r>
                      <a:r>
                        <a:rPr lang="en-US" sz="800" dirty="0">
                          <a:solidFill>
                            <a:schemeClr val="tx1"/>
                          </a:solidFill>
                          <a:latin typeface="Arial"/>
                          <a:cs typeface="Arial"/>
                        </a:rPr>
                        <a:t>3b’001=4.5V</a:t>
                      </a:r>
                    </a:p>
                    <a:p>
                      <a:pPr marL="275590" algn="l">
                        <a:lnSpc>
                          <a:spcPct val="100000"/>
                        </a:lnSpc>
                      </a:pPr>
                      <a:r>
                        <a:rPr lang="en-US" sz="800" dirty="0">
                          <a:solidFill>
                            <a:schemeClr val="tx1"/>
                          </a:solidFill>
                          <a:latin typeface="Arial"/>
                          <a:cs typeface="Arial"/>
                        </a:rPr>
                        <a:t> </a:t>
                      </a:r>
                      <a:r>
                        <a:rPr sz="800" dirty="0">
                          <a:solidFill>
                            <a:schemeClr val="tx1"/>
                          </a:solidFill>
                          <a:latin typeface="Arial"/>
                          <a:cs typeface="Arial"/>
                        </a:rPr>
                        <a:t>3b’0</a:t>
                      </a:r>
                      <a:r>
                        <a:rPr lang="en-US" sz="800" dirty="0">
                          <a:solidFill>
                            <a:schemeClr val="tx1"/>
                          </a:solidFill>
                          <a:latin typeface="Arial"/>
                          <a:cs typeface="Arial"/>
                        </a:rPr>
                        <a:t>10</a:t>
                      </a:r>
                      <a:r>
                        <a:rPr sz="800" dirty="0">
                          <a:solidFill>
                            <a:schemeClr val="tx1"/>
                          </a:solidFill>
                          <a:latin typeface="Arial"/>
                          <a:cs typeface="Arial"/>
                        </a:rPr>
                        <a:t>=</a:t>
                      </a:r>
                      <a:r>
                        <a:rPr lang="en-US" sz="800" dirty="0">
                          <a:solidFill>
                            <a:schemeClr val="tx1"/>
                          </a:solidFill>
                          <a:latin typeface="Arial"/>
                          <a:cs typeface="Arial"/>
                        </a:rPr>
                        <a:t>6.5</a:t>
                      </a:r>
                      <a:r>
                        <a:rPr sz="800" dirty="0">
                          <a:solidFill>
                            <a:schemeClr val="tx1"/>
                          </a:solidFill>
                          <a:latin typeface="Arial"/>
                          <a:cs typeface="Arial"/>
                        </a:rPr>
                        <a:t>V,</a:t>
                      </a:r>
                      <a:r>
                        <a:rPr sz="800" spc="125" dirty="0">
                          <a:solidFill>
                            <a:schemeClr val="tx1"/>
                          </a:solidFill>
                          <a:latin typeface="Arial"/>
                          <a:cs typeface="Arial"/>
                        </a:rPr>
                        <a:t> </a:t>
                      </a:r>
                      <a:r>
                        <a:rPr sz="800" dirty="0">
                          <a:solidFill>
                            <a:schemeClr val="tx1"/>
                          </a:solidFill>
                          <a:latin typeface="Arial"/>
                          <a:cs typeface="Arial"/>
                        </a:rPr>
                        <a:t>3b’</a:t>
                      </a:r>
                      <a:r>
                        <a:rPr lang="en-US" sz="800" dirty="0">
                          <a:solidFill>
                            <a:schemeClr val="tx1"/>
                          </a:solidFill>
                          <a:latin typeface="Arial"/>
                          <a:cs typeface="Arial"/>
                        </a:rPr>
                        <a:t>011</a:t>
                      </a:r>
                      <a:r>
                        <a:rPr sz="800" dirty="0">
                          <a:solidFill>
                            <a:schemeClr val="tx1"/>
                          </a:solidFill>
                          <a:latin typeface="Arial"/>
                          <a:cs typeface="Arial"/>
                        </a:rPr>
                        <a:t>=</a:t>
                      </a:r>
                      <a:r>
                        <a:rPr lang="en-US" sz="800" dirty="0">
                          <a:solidFill>
                            <a:schemeClr val="tx1"/>
                          </a:solidFill>
                          <a:latin typeface="Arial"/>
                          <a:cs typeface="Arial"/>
                        </a:rPr>
                        <a:t>9.0</a:t>
                      </a:r>
                      <a:r>
                        <a:rPr sz="800" dirty="0">
                          <a:solidFill>
                            <a:schemeClr val="tx1"/>
                          </a:solidFill>
                          <a:latin typeface="Arial"/>
                          <a:cs typeface="Arial"/>
                        </a:rPr>
                        <a:t>V</a:t>
                      </a:r>
                    </a:p>
                    <a:p>
                      <a:pPr marL="275590" algn="l">
                        <a:lnSpc>
                          <a:spcPct val="100000"/>
                        </a:lnSpc>
                      </a:pPr>
                      <a:r>
                        <a:rPr lang="en-US" sz="800" spc="-5" dirty="0">
                          <a:solidFill>
                            <a:schemeClr val="tx1"/>
                          </a:solidFill>
                          <a:latin typeface="Arial"/>
                          <a:cs typeface="Arial"/>
                        </a:rPr>
                        <a:t> </a:t>
                      </a:r>
                      <a:r>
                        <a:rPr sz="800" spc="-5" dirty="0">
                          <a:solidFill>
                            <a:schemeClr val="tx1"/>
                          </a:solidFill>
                          <a:latin typeface="Arial"/>
                          <a:cs typeface="Arial"/>
                        </a:rPr>
                        <a:t>3b’</a:t>
                      </a:r>
                      <a:r>
                        <a:rPr lang="en-US" sz="800" spc="-5" dirty="0">
                          <a:solidFill>
                            <a:schemeClr val="tx1"/>
                          </a:solidFill>
                          <a:latin typeface="Arial"/>
                          <a:cs typeface="Arial"/>
                        </a:rPr>
                        <a:t>100</a:t>
                      </a:r>
                      <a:r>
                        <a:rPr sz="800" spc="-5" dirty="0">
                          <a:solidFill>
                            <a:schemeClr val="tx1"/>
                          </a:solidFill>
                          <a:latin typeface="Arial"/>
                          <a:cs typeface="Arial"/>
                        </a:rPr>
                        <a:t>=</a:t>
                      </a:r>
                      <a:r>
                        <a:rPr lang="en-US" sz="800" spc="-5" dirty="0">
                          <a:solidFill>
                            <a:schemeClr val="tx1"/>
                          </a:solidFill>
                          <a:latin typeface="Arial"/>
                          <a:cs typeface="Arial"/>
                        </a:rPr>
                        <a:t>13.5</a:t>
                      </a:r>
                      <a:r>
                        <a:rPr sz="800" spc="-5" dirty="0">
                          <a:solidFill>
                            <a:schemeClr val="tx1"/>
                          </a:solidFill>
                          <a:latin typeface="Arial"/>
                          <a:cs typeface="Arial"/>
                        </a:rPr>
                        <a:t>V,3b’1</a:t>
                      </a:r>
                      <a:r>
                        <a:rPr lang="en-US" sz="800" spc="-5" dirty="0">
                          <a:solidFill>
                            <a:schemeClr val="tx1"/>
                          </a:solidFill>
                          <a:latin typeface="Arial"/>
                          <a:cs typeface="Arial"/>
                        </a:rPr>
                        <a:t>01</a:t>
                      </a:r>
                      <a:r>
                        <a:rPr sz="800" spc="-5" dirty="0">
                          <a:solidFill>
                            <a:schemeClr val="tx1"/>
                          </a:solidFill>
                          <a:latin typeface="Arial"/>
                          <a:cs typeface="Arial"/>
                        </a:rPr>
                        <a:t>=</a:t>
                      </a:r>
                      <a:r>
                        <a:rPr lang="en-US" sz="800" spc="-5" dirty="0">
                          <a:solidFill>
                            <a:schemeClr val="tx1"/>
                          </a:solidFill>
                          <a:latin typeface="Arial"/>
                          <a:cs typeface="Arial"/>
                        </a:rPr>
                        <a:t>17.5</a:t>
                      </a:r>
                      <a:r>
                        <a:rPr sz="800" spc="-5" dirty="0">
                          <a:solidFill>
                            <a:schemeClr val="tx1"/>
                          </a:solidFill>
                          <a:latin typeface="Arial"/>
                          <a:cs typeface="Arial"/>
                        </a:rPr>
                        <a:t>V</a:t>
                      </a:r>
                      <a:endParaRPr sz="800" dirty="0">
                        <a:solidFill>
                          <a:schemeClr val="tx1"/>
                        </a:solidFill>
                        <a:latin typeface="Arial"/>
                        <a:cs typeface="Arial"/>
                      </a:endParaRPr>
                    </a:p>
                    <a:p>
                      <a:pPr marL="275590" algn="l">
                        <a:lnSpc>
                          <a:spcPct val="100000"/>
                        </a:lnSpc>
                        <a:spcBef>
                          <a:spcPts val="5"/>
                        </a:spcBef>
                      </a:pPr>
                      <a:r>
                        <a:rPr lang="en-US" sz="800" dirty="0">
                          <a:solidFill>
                            <a:schemeClr val="tx1"/>
                          </a:solidFill>
                          <a:latin typeface="Arial"/>
                          <a:cs typeface="Arial"/>
                        </a:rPr>
                        <a:t> </a:t>
                      </a:r>
                      <a:r>
                        <a:rPr sz="800" dirty="0">
                          <a:solidFill>
                            <a:schemeClr val="tx1"/>
                          </a:solidFill>
                          <a:latin typeface="Arial"/>
                          <a:cs typeface="Arial"/>
                        </a:rPr>
                        <a:t>3b’</a:t>
                      </a:r>
                      <a:r>
                        <a:rPr lang="en-US" sz="800" dirty="0">
                          <a:solidFill>
                            <a:schemeClr val="tx1"/>
                          </a:solidFill>
                          <a:latin typeface="Arial"/>
                          <a:cs typeface="Arial"/>
                        </a:rPr>
                        <a:t>110</a:t>
                      </a:r>
                      <a:r>
                        <a:rPr sz="800" dirty="0">
                          <a:solidFill>
                            <a:schemeClr val="tx1"/>
                          </a:solidFill>
                          <a:latin typeface="Arial"/>
                          <a:cs typeface="Arial"/>
                        </a:rPr>
                        <a:t>=</a:t>
                      </a:r>
                      <a:r>
                        <a:rPr lang="en-US" sz="800" dirty="0">
                          <a:solidFill>
                            <a:schemeClr val="tx1"/>
                          </a:solidFill>
                          <a:latin typeface="Arial"/>
                          <a:cs typeface="Arial"/>
                        </a:rPr>
                        <a:t>26</a:t>
                      </a:r>
                      <a:r>
                        <a:rPr sz="800" dirty="0">
                          <a:solidFill>
                            <a:schemeClr val="tx1"/>
                          </a:solidFill>
                          <a:latin typeface="Arial"/>
                          <a:cs typeface="Arial"/>
                        </a:rPr>
                        <a:t>V,</a:t>
                      </a:r>
                      <a:r>
                        <a:rPr lang="en-US" sz="800" dirty="0">
                          <a:solidFill>
                            <a:schemeClr val="tx1"/>
                          </a:solidFill>
                          <a:latin typeface="Arial"/>
                          <a:cs typeface="Arial"/>
                        </a:rPr>
                        <a:t> </a:t>
                      </a:r>
                      <a:r>
                        <a:rPr sz="800" spc="125" dirty="0">
                          <a:solidFill>
                            <a:schemeClr val="tx1"/>
                          </a:solidFill>
                          <a:latin typeface="Arial"/>
                          <a:cs typeface="Arial"/>
                        </a:rPr>
                        <a:t> </a:t>
                      </a:r>
                      <a:r>
                        <a:rPr sz="800" dirty="0">
                          <a:solidFill>
                            <a:schemeClr val="tx1"/>
                          </a:solidFill>
                          <a:latin typeface="Arial"/>
                          <a:cs typeface="Arial"/>
                        </a:rPr>
                        <a:t>3b’111=3</a:t>
                      </a:r>
                      <a:r>
                        <a:rPr lang="en-US" sz="800" dirty="0">
                          <a:solidFill>
                            <a:schemeClr val="tx1"/>
                          </a:solidFill>
                          <a:latin typeface="Arial"/>
                          <a:cs typeface="Arial"/>
                        </a:rPr>
                        <a:t>2</a:t>
                      </a:r>
                      <a:r>
                        <a:rPr sz="800" dirty="0">
                          <a:solidFill>
                            <a:schemeClr val="tx1"/>
                          </a:solidFill>
                          <a:latin typeface="Arial"/>
                          <a:cs typeface="Arial"/>
                        </a:rPr>
                        <a:t>V</a:t>
                      </a:r>
                    </a:p>
                  </a:txBody>
                  <a:tcPr marL="0" marR="0" marT="203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3359649"/>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Open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838160">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Device max current level :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endParaRPr>
                    </a:p>
                    <a:p>
                      <a:pPr marL="67945" algn="l">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4’b0000 =   4mA, 4’b0001 =   8mA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4’b0010 = 12mA, 4’b0011 = 16mA</a:t>
                      </a:r>
                    </a:p>
                    <a:p>
                      <a:pPr marL="67945" algn="l">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4’b0100 = 20mA, 4’b0101 = 24mA</a:t>
                      </a:r>
                    </a:p>
                    <a:p>
                      <a:pPr marL="67945" algn="l">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4’b0110 = 28mA, 4’b0111 = 32mA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4’b1000 = 12mA, 4’b1001 = 16mA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4’b1010 = 20mA, 4’b1011 = 24mA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4’b1100 = 28mA, 4’b1101 = 32mA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4’b1110 = 36mA, 4’b1111 = 40mA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263857">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Current accuracy </a:t>
                      </a:r>
                      <a:r>
                        <a:rPr kumimoji="0" lang="en-US" altLang="ko-KR" sz="900" b="0" i="0" u="none" strike="noStrike" kern="1200" cap="none" spc="0" normalizeH="0" baseline="30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endPar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318770" indent="0" algn="ctr">
                        <a:lnSpc>
                          <a:spcPct val="100000"/>
                        </a:lnSpc>
                        <a:spcBef>
                          <a:spcPts val="120"/>
                        </a:spcBef>
                      </a:pPr>
                      <a:r>
                        <a:rPr lang="en-US" altLang="ko-KR" sz="900" spc="-7" baseline="3968" dirty="0">
                          <a:solidFill>
                            <a:schemeClr val="tx1"/>
                          </a:solidFill>
                          <a:latin typeface="Arial"/>
                          <a:cs typeface="Arial"/>
                        </a:rPr>
                        <a:t>@ </a:t>
                      </a:r>
                      <a:r>
                        <a:rPr lang="en-US" altLang="ko-KR" sz="900" dirty="0">
                          <a:solidFill>
                            <a:schemeClr val="tx1"/>
                          </a:solidFill>
                          <a:latin typeface="Arial"/>
                          <a:cs typeface="Arial"/>
                        </a:rPr>
                        <a:t>a trimmed point</a:t>
                      </a:r>
                    </a:p>
                    <a:p>
                      <a:pPr marL="0" marR="318770" indent="0" algn="ctr">
                        <a:lnSpc>
                          <a:spcPct val="100000"/>
                        </a:lnSpc>
                        <a:spcBef>
                          <a:spcPts val="120"/>
                        </a:spcBef>
                      </a:pPr>
                      <a:r>
                        <a:rPr lang="en-US" altLang="ko-KR" sz="900" dirty="0">
                          <a:solidFill>
                            <a:schemeClr val="tx1"/>
                          </a:solidFill>
                          <a:latin typeface="Arial"/>
                          <a:cs typeface="Arial"/>
                        </a:rPr>
                        <a:t>(Room temperature at 25℃) </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lang="en-US" sz="900" dirty="0">
                          <a:solidFill>
                            <a:schemeClr val="tx1"/>
                          </a:solidFill>
                          <a:latin typeface="Arial"/>
                          <a:cs typeface="Arial"/>
                        </a:rPr>
                        <a:t>-1.5</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59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a:ea typeface="맑은 고딕" panose="020B0503020000020004" pitchFamily="50" charset="-127"/>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lang="en-US" sz="900" dirty="0">
                          <a:solidFill>
                            <a:schemeClr val="tx1"/>
                          </a:solidFill>
                          <a:latin typeface="Arial"/>
                          <a:cs typeface="Arial"/>
                        </a:rPr>
                        <a:t>+1.5</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7959294"/>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LED off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OFF</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1270" algn="ctr">
                        <a:lnSpc>
                          <a:spcPct val="100000"/>
                        </a:lnSpc>
                        <a:spcBef>
                          <a:spcPts val="490"/>
                        </a:spcBef>
                      </a:pPr>
                      <a:r>
                        <a:rPr sz="900" spc="-5" dirty="0">
                          <a:solidFill>
                            <a:schemeClr val="tx1"/>
                          </a:solidFill>
                          <a:latin typeface="Arial"/>
                          <a:cs typeface="Arial"/>
                        </a:rPr>
                        <a:t>Vo</a:t>
                      </a:r>
                      <a:r>
                        <a:rPr sz="900" spc="-35" dirty="0">
                          <a:solidFill>
                            <a:schemeClr val="tx1"/>
                          </a:solidFill>
                          <a:latin typeface="Arial"/>
                          <a:cs typeface="Arial"/>
                        </a:rPr>
                        <a:t> </a:t>
                      </a:r>
                      <a:r>
                        <a:rPr sz="900" dirty="0">
                          <a:solidFill>
                            <a:schemeClr val="tx1"/>
                          </a:solidFill>
                          <a:latin typeface="Arial"/>
                          <a:cs typeface="Arial"/>
                        </a:rPr>
                        <a:t>=</a:t>
                      </a:r>
                      <a:r>
                        <a:rPr sz="900" spc="-25" dirty="0">
                          <a:solidFill>
                            <a:schemeClr val="tx1"/>
                          </a:solidFill>
                          <a:latin typeface="Arial"/>
                          <a:cs typeface="Arial"/>
                        </a:rPr>
                        <a:t> </a:t>
                      </a:r>
                      <a:r>
                        <a:rPr lang="en-US" sz="900" spc="-5" dirty="0">
                          <a:solidFill>
                            <a:schemeClr val="tx1"/>
                          </a:solidFill>
                          <a:latin typeface="Arial"/>
                          <a:cs typeface="Arial"/>
                        </a:rPr>
                        <a:t>40</a:t>
                      </a:r>
                      <a:r>
                        <a:rPr sz="900" spc="-5" dirty="0">
                          <a:solidFill>
                            <a:schemeClr val="tx1"/>
                          </a:solidFill>
                          <a:latin typeface="Arial"/>
                          <a:cs typeface="Arial"/>
                        </a:rPr>
                        <a:t>V</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635" algn="ctr">
                        <a:lnSpc>
                          <a:spcPct val="100000"/>
                        </a:lnSpc>
                        <a:spcBef>
                          <a:spcPts val="490"/>
                        </a:spcBef>
                      </a:pPr>
                      <a:r>
                        <a:rPr sz="900" spc="-5" dirty="0">
                          <a:solidFill>
                            <a:schemeClr val="tx1"/>
                          </a:solidFill>
                          <a:latin typeface="Arial"/>
                          <a:cs typeface="Arial"/>
                        </a:rPr>
                        <a:t>300</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5414234"/>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Feedback</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6727051"/>
                  </a:ext>
                </a:extLst>
              </a:tr>
              <a:tr h="85046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threshold voltage</a:t>
                      </a:r>
                    </a:p>
                    <a:p>
                      <a:pPr marL="0" marR="0" lvl="0" indent="0" algn="r" defTabSz="685800" rtl="0" eaLnBrk="1" fontAlgn="ctr" latinLnBrk="1"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Logically ORed for 12-ch)</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level 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3’b000 = 0.45V,  3’b001 = 0.55V</a:t>
                      </a:r>
                    </a:p>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3’b010 = 0.65V,  3’b011 = 0.75V</a:t>
                      </a:r>
                    </a:p>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3’b100 = 0.90V,  3’b101 = 1.05V</a:t>
                      </a:r>
                    </a:p>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3’b110 = 1.20V,  3’b111 = 1.35V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383751"/>
                  </a:ext>
                </a:extLst>
              </a:tr>
              <a:tr h="244676">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hysteresis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60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110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mV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5651753"/>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Thermal protection</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11483299"/>
                  </a:ext>
                </a:extLst>
              </a:tr>
              <a:tr h="331615">
                <a:tc>
                  <a:txBody>
                    <a:bodyPr/>
                    <a:lstStyle/>
                    <a:p>
                      <a:pPr marL="0" marR="64135" indent="0" algn="r">
                        <a:lnSpc>
                          <a:spcPct val="100000"/>
                        </a:lnSpc>
                        <a:spcBef>
                          <a:spcPts val="0"/>
                        </a:spcBef>
                      </a:pPr>
                      <a:r>
                        <a:rPr lang="en-US" sz="900" spc="-10" dirty="0">
                          <a:latin typeface="Arial"/>
                          <a:cs typeface="Arial"/>
                        </a:rPr>
                        <a:t>T</a:t>
                      </a:r>
                      <a:r>
                        <a:rPr lang="en-US" sz="900" dirty="0">
                          <a:latin typeface="Arial"/>
                          <a:cs typeface="Arial"/>
                        </a:rPr>
                        <a:t>her</a:t>
                      </a:r>
                      <a:r>
                        <a:rPr lang="en-US" sz="900" spc="5" dirty="0">
                          <a:latin typeface="Arial"/>
                          <a:cs typeface="Arial"/>
                        </a:rPr>
                        <a:t>m</a:t>
                      </a:r>
                      <a:r>
                        <a:rPr lang="en-US" sz="900" dirty="0">
                          <a:latin typeface="Arial"/>
                          <a:cs typeface="Arial"/>
                        </a:rPr>
                        <a:t>al cut off </a:t>
                      </a:r>
                      <a:r>
                        <a:rPr lang="en-US" sz="900" spc="-5" dirty="0">
                          <a:latin typeface="Arial"/>
                          <a:cs typeface="Arial"/>
                        </a:rPr>
                        <a:t>@T</a:t>
                      </a:r>
                      <a:r>
                        <a:rPr lang="en-US" sz="900" spc="-7" baseline="-9259" dirty="0">
                          <a:latin typeface="Arial"/>
                          <a:cs typeface="Arial"/>
                        </a:rPr>
                        <a:t>J</a:t>
                      </a:r>
                      <a:endParaRPr lang="en-US" sz="900" baseline="-9259" dirty="0">
                        <a:latin typeface="Arial"/>
                        <a:cs typeface="Arial"/>
                      </a:endParaRPr>
                    </a:p>
                  </a:txBody>
                  <a:tcPr marL="0" marR="0" marT="36000" marB="3600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227965" lvl="0" indent="0" algn="r" defTabSz="914400" eaLnBrk="1" fontAlgn="auto" latinLnBrk="0" hangingPunct="1">
                        <a:lnSpc>
                          <a:spcPct val="100000"/>
                        </a:lnSpc>
                        <a:spcBef>
                          <a:spcPts val="605"/>
                        </a:spcBef>
                        <a:spcAft>
                          <a:spcPts val="0"/>
                        </a:spcAft>
                        <a:buClrTx/>
                        <a:buSzTx/>
                        <a:buFontTx/>
                        <a:buNone/>
                        <a:tabLst/>
                        <a:defRPr/>
                      </a:pPr>
                      <a:r>
                        <a:rPr kumimoji="0" lang="en-US" altLang="ko-KR" sz="1350" b="0" i="0" u="none" strike="noStrike" kern="0" cap="none" spc="-7" normalizeH="0" baseline="6172" noProof="0" dirty="0">
                          <a:ln>
                            <a:noFill/>
                          </a:ln>
                          <a:solidFill>
                            <a:prstClr val="black"/>
                          </a:solidFill>
                          <a:effectLst/>
                          <a:uLnTx/>
                          <a:uFillTx/>
                          <a:latin typeface="Arial"/>
                          <a:ea typeface="+mn-ea"/>
                          <a:cs typeface="Arial"/>
                        </a:rPr>
                        <a:t>T</a:t>
                      </a:r>
                      <a:r>
                        <a:rPr kumimoji="0" lang="en-US" altLang="ko-KR" sz="600" b="0" i="0" u="none" strike="noStrike" kern="0" cap="none" spc="-5" normalizeH="0" baseline="0" noProof="0" dirty="0">
                          <a:ln>
                            <a:noFill/>
                          </a:ln>
                          <a:solidFill>
                            <a:prstClr val="black"/>
                          </a:solidFill>
                          <a:effectLst/>
                          <a:uLnTx/>
                          <a:uFillTx/>
                          <a:latin typeface="Arial"/>
                          <a:ea typeface="+mn-ea"/>
                          <a:cs typeface="Arial"/>
                        </a:rPr>
                        <a:t>CUT</a:t>
                      </a:r>
                      <a:endParaRPr kumimoji="0" lang="en-US" altLang="ko-KR" sz="600" b="0" i="0" u="none" strike="noStrike" kern="0" cap="none" spc="0" normalizeH="0" baseline="0" noProof="0" dirty="0">
                        <a:ln>
                          <a:noFill/>
                        </a:ln>
                        <a:solidFill>
                          <a:prstClr val="black"/>
                        </a:solidFill>
                        <a:effectLst/>
                        <a:uLnTx/>
                        <a:uFillTx/>
                        <a:latin typeface="Arial"/>
                        <a:ea typeface="+mn-ea"/>
                        <a:cs typeface="Arial"/>
                      </a:endParaRPr>
                    </a:p>
                  </a:txBody>
                  <a:tcPr marL="0" marR="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altLang="ko-KR" sz="900" dirty="0">
                          <a:solidFill>
                            <a:schemeClr val="tx1"/>
                          </a:solidFill>
                          <a:latin typeface="Arial" panose="020B0604020202020204" pitchFamily="34" charset="0"/>
                          <a:cs typeface="Arial" panose="020B0604020202020204" pitchFamily="34" charset="0"/>
                        </a:rPr>
                        <a:t>Default OFS_TEMP [3:0] = 0x8</a:t>
                      </a:r>
                    </a:p>
                  </a:txBody>
                  <a:tcPr marL="0" marR="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marR="0" lvl="0" indent="0" algn="ctr"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905" algn="ctr">
                        <a:lnSpc>
                          <a:spcPct val="100000"/>
                        </a:lnSpc>
                        <a:spcBef>
                          <a:spcPts val="815"/>
                        </a:spcBef>
                      </a:pPr>
                      <a:r>
                        <a:rPr lang="en-US" sz="900" dirty="0">
                          <a:solidFill>
                            <a:schemeClr val="tx1"/>
                          </a:solidFill>
                          <a:latin typeface="Arial" panose="020B0604020202020204" pitchFamily="34" charset="0"/>
                          <a:cs typeface="Arial" panose="020B0604020202020204" pitchFamily="34" charset="0"/>
                        </a:rPr>
                        <a:t>130</a:t>
                      </a:r>
                      <a:endParaRPr sz="900" dirty="0">
                        <a:solidFill>
                          <a:schemeClr val="tx1"/>
                        </a:solidFill>
                        <a:latin typeface="Arial" panose="020B0604020202020204" pitchFamily="34" charset="0"/>
                        <a:cs typeface="Arial" panose="020B0604020202020204" pitchFamily="34" charset="0"/>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algn="ctr">
                        <a:lnSpc>
                          <a:spcPct val="100000"/>
                        </a:lnSpc>
                      </a:pPr>
                      <a:r>
                        <a:rPr lang="en-US" altLang="ko-KR" sz="900" dirty="0">
                          <a:solidFill>
                            <a:schemeClr val="tx1"/>
                          </a:solidFill>
                          <a:latin typeface="Arial" panose="020B0604020202020204" pitchFamily="34" charset="0"/>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19075" algn="r">
                        <a:lnSpc>
                          <a:spcPct val="100000"/>
                        </a:lnSpc>
                      </a:pPr>
                      <a:r>
                        <a:rPr sz="900" dirty="0">
                          <a:solidFill>
                            <a:schemeClr val="tx1"/>
                          </a:solidFill>
                          <a:latin typeface="Arial" panose="020B0604020202020204" pitchFamily="34" charset="0"/>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179033"/>
                  </a:ext>
                </a:extLst>
              </a:tr>
              <a:tr h="228065">
                <a:tc>
                  <a:txBody>
                    <a:bodyPr/>
                    <a:lstStyle/>
                    <a:p>
                      <a:pPr marL="0" marR="66040" indent="0" algn="r">
                        <a:lnSpc>
                          <a:spcPct val="100000"/>
                        </a:lnSpc>
                      </a:pPr>
                      <a:r>
                        <a:rPr sz="900" spc="-5" dirty="0">
                          <a:latin typeface="Arial"/>
                          <a:cs typeface="Arial"/>
                        </a:rPr>
                        <a:t>Thermal</a:t>
                      </a:r>
                      <a:r>
                        <a:rPr sz="900" spc="-40" dirty="0">
                          <a:latin typeface="Arial"/>
                          <a:cs typeface="Arial"/>
                        </a:rPr>
                        <a:t> </a:t>
                      </a:r>
                      <a:r>
                        <a:rPr lang="en-US" sz="900" dirty="0">
                          <a:latin typeface="Arial"/>
                          <a:cs typeface="Arial"/>
                        </a:rPr>
                        <a:t>cut off </a:t>
                      </a:r>
                      <a:r>
                        <a:rPr sz="900" dirty="0">
                          <a:latin typeface="Arial"/>
                          <a:cs typeface="Arial"/>
                        </a:rPr>
                        <a:t>h</a:t>
                      </a:r>
                      <a:r>
                        <a:rPr sz="900" spc="-10" dirty="0">
                          <a:latin typeface="Arial"/>
                          <a:cs typeface="Arial"/>
                        </a:rPr>
                        <a:t>y</a:t>
                      </a:r>
                      <a:r>
                        <a:rPr sz="900" spc="5" dirty="0">
                          <a:latin typeface="Arial"/>
                          <a:cs typeface="Arial"/>
                        </a:rPr>
                        <a:t>s</a:t>
                      </a:r>
                      <a:r>
                        <a:rPr sz="900" dirty="0">
                          <a:latin typeface="Arial"/>
                          <a:cs typeface="Arial"/>
                        </a:rPr>
                        <a:t>tere</a:t>
                      </a:r>
                      <a:r>
                        <a:rPr sz="900" spc="5" dirty="0">
                          <a:latin typeface="Arial"/>
                          <a:cs typeface="Arial"/>
                        </a:rPr>
                        <a:t>s</a:t>
                      </a:r>
                      <a:r>
                        <a:rPr sz="900" dirty="0">
                          <a:latin typeface="Arial"/>
                          <a:cs typeface="Arial"/>
                        </a:rPr>
                        <a:t>is</a:t>
                      </a:r>
                      <a:r>
                        <a:rPr sz="900" spc="-30" dirty="0">
                          <a:latin typeface="Arial"/>
                          <a:cs typeface="Arial"/>
                        </a:rPr>
                        <a:t> </a:t>
                      </a:r>
                      <a:r>
                        <a:rPr kumimoji="0" lang="en-US" altLang="ko-KR" sz="900" b="0" i="0" u="none" strike="noStrike" kern="1200" cap="none" spc="-5" normalizeH="0" baseline="0" noProof="0" dirty="0">
                          <a:ln>
                            <a:noFill/>
                          </a:ln>
                          <a:solidFill>
                            <a:prstClr val="black"/>
                          </a:solidFill>
                          <a:effectLst/>
                          <a:uLnTx/>
                          <a:uFillTx/>
                          <a:latin typeface="Arial"/>
                          <a:ea typeface="+mn-ea"/>
                          <a:cs typeface="Arial"/>
                        </a:rPr>
                        <a:t>@T</a:t>
                      </a:r>
                      <a:r>
                        <a:rPr kumimoji="0" lang="en-US" altLang="ko-KR" sz="900" b="0" i="0" u="none" strike="noStrike" kern="1200" cap="none" spc="-7" normalizeH="0" baseline="-9259" noProof="0" dirty="0">
                          <a:ln>
                            <a:noFill/>
                          </a:ln>
                          <a:solidFill>
                            <a:prstClr val="black"/>
                          </a:solidFill>
                          <a:effectLst/>
                          <a:uLnTx/>
                          <a:uFillTx/>
                          <a:latin typeface="Arial"/>
                          <a:ea typeface="+mn-ea"/>
                          <a:cs typeface="Arial"/>
                        </a:rPr>
                        <a:t>J</a:t>
                      </a:r>
                      <a:endParaRPr sz="900" dirty="0">
                        <a:latin typeface="Arial"/>
                        <a:cs typeface="Arial"/>
                      </a:endParaRPr>
                    </a:p>
                  </a:txBody>
                  <a:tcPr marL="0" marR="0" marT="63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27965" algn="r">
                        <a:lnSpc>
                          <a:spcPct val="100000"/>
                        </a:lnSpc>
                      </a:pPr>
                      <a:r>
                        <a:rPr sz="1350" spc="-7" baseline="6172" dirty="0">
                          <a:latin typeface="Arial"/>
                          <a:cs typeface="Arial"/>
                        </a:rPr>
                        <a:t>T</a:t>
                      </a:r>
                      <a:r>
                        <a:rPr sz="600" spc="-5" dirty="0">
                          <a:latin typeface="Arial"/>
                          <a:cs typeface="Arial"/>
                        </a:rPr>
                        <a:t>HYS</a:t>
                      </a:r>
                      <a:endParaRPr sz="600" dirty="0">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0180">
                        <a:lnSpc>
                          <a:spcPct val="100000"/>
                        </a:lnSpc>
                      </a:pPr>
                      <a:r>
                        <a:rPr lang="en-US" sz="900" spc="-5" dirty="0">
                          <a:solidFill>
                            <a:schemeClr val="tx1"/>
                          </a:solidFill>
                          <a:latin typeface="Arial" panose="020B0604020202020204" pitchFamily="34" charset="0"/>
                          <a:cs typeface="Arial" panose="020B0604020202020204" pitchFamily="34" charset="0"/>
                        </a:rPr>
                        <a:t>1</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8575" algn="ctr">
                        <a:lnSpc>
                          <a:spcPct val="100000"/>
                        </a:lnSpc>
                      </a:pPr>
                      <a:r>
                        <a:rPr lang="en-US" sz="900" spc="-5" dirty="0">
                          <a:solidFill>
                            <a:schemeClr val="tx1"/>
                          </a:solidFill>
                          <a:latin typeface="Arial" panose="020B0604020202020204" pitchFamily="34" charset="0"/>
                          <a:cs typeface="Arial" panose="020B0604020202020204" pitchFamily="34" charset="0"/>
                        </a:rPr>
                        <a:t>2</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54610" algn="ctr">
                        <a:lnSpc>
                          <a:spcPct val="100000"/>
                        </a:lnSpc>
                      </a:pPr>
                      <a:r>
                        <a:rPr lang="en-US" sz="900" spc="-5" dirty="0">
                          <a:solidFill>
                            <a:schemeClr val="tx1"/>
                          </a:solidFill>
                          <a:latin typeface="Arial" panose="020B0604020202020204" pitchFamily="34" charset="0"/>
                          <a:cs typeface="Arial" panose="020B0604020202020204" pitchFamily="34" charset="0"/>
                        </a:rPr>
                        <a:t>3</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19075" algn="r">
                        <a:lnSpc>
                          <a:spcPct val="100000"/>
                        </a:lnSpc>
                        <a:spcBef>
                          <a:spcPts val="5"/>
                        </a:spcBef>
                      </a:pPr>
                      <a:r>
                        <a:rPr sz="900" dirty="0">
                          <a:solidFill>
                            <a:schemeClr val="tx1"/>
                          </a:solidFill>
                          <a:latin typeface="Arial" panose="020B0604020202020204" pitchFamily="34" charset="0"/>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3532953"/>
                  </a:ext>
                </a:extLst>
              </a:tr>
            </a:tbl>
          </a:graphicData>
        </a:graphic>
      </p:graphicFrame>
      <p:sp>
        <p:nvSpPr>
          <p:cNvPr id="27" name="TextBox 26">
            <a:extLst>
              <a:ext uri="{FF2B5EF4-FFF2-40B4-BE49-F238E27FC236}">
                <a16:creationId xmlns:a16="http://schemas.microsoft.com/office/drawing/2014/main" id="{452D1314-BC31-7B60-4CC5-E2C29C04329B}"/>
              </a:ext>
            </a:extLst>
          </p:cNvPr>
          <p:cNvSpPr txBox="1"/>
          <p:nvPr/>
        </p:nvSpPr>
        <p:spPr>
          <a:xfrm>
            <a:off x="428208" y="7898910"/>
            <a:ext cx="6048620" cy="428322"/>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pPr>
              <a:spcBef>
                <a:spcPts val="0"/>
              </a:spcBef>
            </a:pPr>
            <a:r>
              <a:rPr lang="en-US" altLang="ko-KR" dirty="0"/>
              <a:t>Note :  4) If LED open or short event is happened, the corresponding channel will be turned-off under the function</a:t>
            </a:r>
          </a:p>
          <a:p>
            <a:pPr>
              <a:spcBef>
                <a:spcPts val="0"/>
              </a:spcBef>
            </a:pPr>
            <a:r>
              <a:rPr lang="en-US" altLang="ko-KR" dirty="0"/>
              <a:t>                enabled.  If the thermal is happened, all channels output will be turned-off under the function enabled.</a:t>
            </a:r>
          </a:p>
          <a:p>
            <a:pPr>
              <a:spcBef>
                <a:spcPts val="0"/>
              </a:spcBef>
            </a:pPr>
            <a:r>
              <a:rPr lang="en-US" altLang="ko-KR" dirty="0"/>
              <a:t>            5) Under satisfying the power dissipation specification.</a:t>
            </a:r>
          </a:p>
        </p:txBody>
      </p:sp>
    </p:spTree>
    <p:extLst>
      <p:ext uri="{BB962C8B-B14F-4D97-AF65-F5344CB8AC3E}">
        <p14:creationId xmlns:p14="http://schemas.microsoft.com/office/powerpoint/2010/main" val="3648400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C3916792-B67B-C24F-7514-0BB2E0D95B83}"/>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=3.3V,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85F45CBA-C544-3782-6F74-8205667D9603}"/>
              </a:ext>
            </a:extLst>
          </p:cNvPr>
          <p:cNvGraphicFramePr>
            <a:graphicFrameLocks noGrp="1"/>
          </p:cNvGraphicFramePr>
          <p:nvPr>
            <p:extLst>
              <p:ext uri="{D42A27DB-BD31-4B8C-83A1-F6EECF244321}">
                <p14:modId xmlns:p14="http://schemas.microsoft.com/office/powerpoint/2010/main" val="3535739944"/>
              </p:ext>
            </p:extLst>
          </p:nvPr>
        </p:nvGraphicFramePr>
        <p:xfrm>
          <a:off x="404811" y="1146851"/>
          <a:ext cx="6048622" cy="3163712"/>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783343538"/>
                    </a:ext>
                  </a:extLst>
                </a:gridCol>
                <a:gridCol w="684027">
                  <a:extLst>
                    <a:ext uri="{9D8B030D-6E8A-4147-A177-3AD203B41FA5}">
                      <a16:colId xmlns:a16="http://schemas.microsoft.com/office/drawing/2014/main" val="3180006436"/>
                    </a:ext>
                  </a:extLst>
                </a:gridCol>
                <a:gridCol w="1809617">
                  <a:extLst>
                    <a:ext uri="{9D8B030D-6E8A-4147-A177-3AD203B41FA5}">
                      <a16:colId xmlns:a16="http://schemas.microsoft.com/office/drawing/2014/main" val="1629708029"/>
                    </a:ext>
                  </a:extLst>
                </a:gridCol>
                <a:gridCol w="529993">
                  <a:extLst>
                    <a:ext uri="{9D8B030D-6E8A-4147-A177-3AD203B41FA5}">
                      <a16:colId xmlns:a16="http://schemas.microsoft.com/office/drawing/2014/main" val="3514095092"/>
                    </a:ext>
                  </a:extLst>
                </a:gridCol>
                <a:gridCol w="529993">
                  <a:extLst>
                    <a:ext uri="{9D8B030D-6E8A-4147-A177-3AD203B41FA5}">
                      <a16:colId xmlns:a16="http://schemas.microsoft.com/office/drawing/2014/main" val="2256908222"/>
                    </a:ext>
                  </a:extLst>
                </a:gridCol>
                <a:gridCol w="529993">
                  <a:extLst>
                    <a:ext uri="{9D8B030D-6E8A-4147-A177-3AD203B41FA5}">
                      <a16:colId xmlns:a16="http://schemas.microsoft.com/office/drawing/2014/main" val="2915946677"/>
                    </a:ext>
                  </a:extLst>
                </a:gridCol>
                <a:gridCol w="562477">
                  <a:extLst>
                    <a:ext uri="{9D8B030D-6E8A-4147-A177-3AD203B41FA5}">
                      <a16:colId xmlns:a16="http://schemas.microsoft.com/office/drawing/2014/main" val="2559142005"/>
                    </a:ext>
                  </a:extLst>
                </a:gridCol>
              </a:tblGrid>
              <a:tr h="269132">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69132">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69132">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Ramp up and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LED </a:t>
                      </a:r>
                      <a:r>
                        <a:rPr lang="en-US" altLang="ko-KR"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Start</a:t>
                      </a:r>
                      <a:endParaRPr lang="en-US"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241376">
                <a:tc>
                  <a:txBody>
                    <a:bodyPr/>
                    <a:lstStyle/>
                    <a:p>
                      <a:pPr algn="r" fontAlgn="ct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baseline="0" dirty="0">
                          <a:latin typeface="Arial" panose="020B0604020202020204" pitchFamily="34" charset="0"/>
                          <a:cs typeface="Arial" panose="020B0604020202020204" pitchFamily="34" charset="0"/>
                        </a:rPr>
                        <a:t>Ramp up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VDD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from 0 to stable 3.3V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241376">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LED </a:t>
                      </a:r>
                      <a:r>
                        <a:rPr lang="en-US" altLang="ko-KR" sz="900" baseline="0" dirty="0">
                          <a:latin typeface="Arial" panose="020B0604020202020204" pitchFamily="34" charset="0"/>
                          <a:cs typeface="Arial" panose="020B0604020202020204" pitchFamily="34" charset="0"/>
                        </a:rPr>
                        <a:t>Start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6)</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6363831"/>
                  </a:ext>
                </a:extLst>
              </a:tr>
              <a:tr h="241376">
                <a:tc gridSpan="2">
                  <a:txBody>
                    <a:bodyPr/>
                    <a:lstStyle/>
                    <a:p>
                      <a:pPr algn="l"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Initialization after 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5V stable</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0927470"/>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Initial time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from stable 3.3V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100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8014195"/>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Allowed 1</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command</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FCMD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2860677"/>
                  </a:ext>
                </a:extLst>
              </a:tr>
              <a:tr h="457355">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Timeout : Internal timer starts after completing to receive a read-back command and stops after first response bit</a:t>
                      </a:r>
                    </a:p>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from a last daisied device.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This depends on the frequency of MCLK.</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Timeout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7)</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TIMEOUT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131,071</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239087">
                <a:tc gridSpan="7">
                  <a:txBody>
                    <a:bodyPr/>
                    <a:lstStyle/>
                    <a:p>
                      <a:pPr algn="l" fontAlgn="ctr"/>
                      <a:r>
                        <a:rPr lang="en-US" altLang="ko-KR" sz="900" dirty="0">
                          <a:solidFill>
                            <a:schemeClr val="tx1"/>
                          </a:solidFill>
                          <a:latin typeface="Arial" panose="020B0604020202020204" pitchFamily="34" charset="0"/>
                          <a:cs typeface="Arial" panose="020B0604020202020204" pitchFamily="34" charset="0"/>
                        </a:rPr>
                        <a:t>  VSYNC daisy out @ EXT_VS_E = 1</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4697295"/>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VSYNCO delay</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VSOD</a:t>
                      </a:r>
                      <a:endParaRPr lang="ko-KR" altLang="en-US" sz="900" baseline="-25000" dirty="0">
                        <a:latin typeface="Arial" panose="020B0604020202020204" pitchFamily="34" charset="0"/>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b="0" dirty="0">
                          <a:solidFill>
                            <a:schemeClr val="tx1"/>
                          </a:solidFill>
                          <a:latin typeface="Arial" panose="020B0604020202020204" pitchFamily="34" charset="0"/>
                          <a:ea typeface="+mn-ea"/>
                          <a:cs typeface="Arial" panose="020B0604020202020204" pitchFamily="34" charset="0"/>
                        </a:rPr>
                        <a:t>from VSYNCI to VSYNCO</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1353266"/>
                  </a:ext>
                </a:extLst>
              </a:tr>
            </a:tbl>
          </a:graphicData>
        </a:graphic>
      </p:graphicFrame>
      <p:sp>
        <p:nvSpPr>
          <p:cNvPr id="11" name="TextBox 10">
            <a:extLst>
              <a:ext uri="{FF2B5EF4-FFF2-40B4-BE49-F238E27FC236}">
                <a16:creationId xmlns:a16="http://schemas.microsoft.com/office/drawing/2014/main" id="{8E81A0E5-C9FD-B1F0-011E-9F623516D97A}"/>
              </a:ext>
            </a:extLst>
          </p:cNvPr>
          <p:cNvSpPr txBox="1"/>
          <p:nvPr/>
        </p:nvSpPr>
        <p:spPr>
          <a:xfrm>
            <a:off x="404811" y="4408249"/>
            <a:ext cx="6048622" cy="453970"/>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6</a:t>
            </a:r>
            <a:r>
              <a:rPr lang="en-US" altLang="ko-KR" dirty="0">
                <a:solidFill>
                  <a:srgbClr val="000000"/>
                </a:solidFill>
                <a:ea typeface="굴림" panose="020B0600000101010101" pitchFamily="50" charset="-127"/>
              </a:rPr>
              <a:t>) The time depends on the system configuration, the daisied XD12R  number and Baud-rate.</a:t>
            </a:r>
            <a:endParaRPr lang="en-US" altLang="ko-KR" dirty="0"/>
          </a:p>
          <a:p>
            <a:r>
              <a:rPr lang="en-US" altLang="ko-KR" dirty="0"/>
              <a:t>            7) If the timeout will be expired, the internal communication logic will go to an initial state, so new command</a:t>
            </a:r>
          </a:p>
          <a:p>
            <a:r>
              <a:rPr lang="en-US" altLang="ko-KR" dirty="0"/>
              <a:t>                transaction will be possible. The timeout function is configurable.</a:t>
            </a:r>
          </a:p>
        </p:txBody>
      </p:sp>
      <p:sp>
        <p:nvSpPr>
          <p:cNvPr id="58" name="object 2">
            <a:extLst>
              <a:ext uri="{FF2B5EF4-FFF2-40B4-BE49-F238E27FC236}">
                <a16:creationId xmlns:a16="http://schemas.microsoft.com/office/drawing/2014/main" id="{EFC8002C-164B-D20F-12B2-2D4FEA5ACB5E}"/>
              </a:ext>
            </a:extLst>
          </p:cNvPr>
          <p:cNvSpPr txBox="1"/>
          <p:nvPr/>
        </p:nvSpPr>
        <p:spPr>
          <a:xfrm>
            <a:off x="404811" y="6391381"/>
            <a:ext cx="6039642" cy="215444"/>
          </a:xfrm>
          <a:prstGeom prst="rect">
            <a:avLst/>
          </a:prstGeom>
        </p:spPr>
        <p:txBody>
          <a:bodyPr vert="horz" wrap="square" lIns="0" tIns="0" rIns="0" bIns="0" rtlCol="0" anchor="ctr">
            <a:spAutoFit/>
          </a:bodyPr>
          <a:lstStyle/>
          <a:p>
            <a:pPr>
              <a:lnSpc>
                <a:spcPct val="100000"/>
              </a:lnSpc>
              <a:spcBef>
                <a:spcPts val="0"/>
              </a:spcBef>
            </a:pPr>
            <a:r>
              <a:rPr sz="1400" b="1" spc="-10" dirty="0">
                <a:latin typeface="Arial" panose="020B0604020202020204" pitchFamily="34" charset="0"/>
                <a:cs typeface="Arial" panose="020B0604020202020204" pitchFamily="34" charset="0"/>
              </a:rPr>
              <a:t>Power</a:t>
            </a:r>
            <a:r>
              <a:rPr sz="1400" b="1" spc="-25" dirty="0">
                <a:latin typeface="Arial" panose="020B0604020202020204" pitchFamily="34" charset="0"/>
                <a:cs typeface="Arial" panose="020B0604020202020204" pitchFamily="34" charset="0"/>
              </a:rPr>
              <a:t> </a:t>
            </a:r>
            <a:r>
              <a:rPr sz="1400" b="1" spc="-5" dirty="0">
                <a:latin typeface="Arial" panose="020B0604020202020204" pitchFamily="34" charset="0"/>
                <a:cs typeface="Arial" panose="020B0604020202020204" pitchFamily="34" charset="0"/>
              </a:rPr>
              <a:t>Sequence</a:t>
            </a:r>
            <a:endParaRPr sz="1400" dirty="0">
              <a:latin typeface="Arial" panose="020B0604020202020204" pitchFamily="34" charset="0"/>
              <a:cs typeface="Arial" panose="020B0604020202020204" pitchFamily="34" charset="0"/>
            </a:endParaRPr>
          </a:p>
        </p:txBody>
      </p:sp>
      <p:sp>
        <p:nvSpPr>
          <p:cNvPr id="2" name="object 9">
            <a:extLst>
              <a:ext uri="{FF2B5EF4-FFF2-40B4-BE49-F238E27FC236}">
                <a16:creationId xmlns:a16="http://schemas.microsoft.com/office/drawing/2014/main" id="{17686023-33A1-566F-9593-E0B3E1A831BB}"/>
              </a:ext>
            </a:extLst>
          </p:cNvPr>
          <p:cNvSpPr txBox="1"/>
          <p:nvPr/>
        </p:nvSpPr>
        <p:spPr>
          <a:xfrm>
            <a:off x="420038" y="5344120"/>
            <a:ext cx="4571161" cy="329662"/>
          </a:xfrm>
          <a:prstGeom prst="rect">
            <a:avLst/>
          </a:prstGeom>
        </p:spPr>
        <p:txBody>
          <a:bodyPr vert="horz" wrap="square" lIns="0" tIns="49741" rIns="0" bIns="0" rtlCol="0">
            <a:spAutoFit/>
          </a:bodyPr>
          <a:lstStyle/>
          <a:p>
            <a:pPr marL="12435" defTabSz="895327" fontAlgn="auto">
              <a:spcBef>
                <a:spcPts val="392"/>
              </a:spcBef>
              <a:spcAft>
                <a:spcPts val="0"/>
              </a:spcAft>
            </a:pPr>
            <a:r>
              <a:rPr kumimoji="0" sz="783" b="1" spc="-5" dirty="0">
                <a:solidFill>
                  <a:prstClr val="black"/>
                </a:solidFill>
                <a:latin typeface="Arial" panose="020B0604020202020204" pitchFamily="34" charset="0"/>
                <a:ea typeface="+mn-ea"/>
                <a:cs typeface="Arial" panose="020B0604020202020204" pitchFamily="34" charset="0"/>
              </a:rPr>
              <a:t>Important</a:t>
            </a:r>
            <a:r>
              <a:rPr kumimoji="0" sz="783" b="1" spc="-15" dirty="0">
                <a:solidFill>
                  <a:prstClr val="black"/>
                </a:solidFill>
                <a:latin typeface="Arial" panose="020B0604020202020204" pitchFamily="34" charset="0"/>
                <a:ea typeface="+mn-ea"/>
                <a:cs typeface="Arial" panose="020B0604020202020204" pitchFamily="34" charset="0"/>
              </a:rPr>
              <a:t> </a:t>
            </a:r>
            <a:r>
              <a:rPr kumimoji="0" sz="783" b="1" spc="-5" dirty="0">
                <a:solidFill>
                  <a:prstClr val="black"/>
                </a:solidFill>
                <a:latin typeface="Arial" panose="020B0604020202020204" pitchFamily="34" charset="0"/>
                <a:ea typeface="+mn-ea"/>
                <a:cs typeface="Arial" panose="020B0604020202020204" pitchFamily="34" charset="0"/>
              </a:rPr>
              <a:t>statement</a:t>
            </a:r>
            <a:endParaRPr kumimoji="0" sz="783" dirty="0">
              <a:solidFill>
                <a:prstClr val="black"/>
              </a:solidFill>
              <a:latin typeface="Arial" panose="020B0604020202020204" pitchFamily="34" charset="0"/>
              <a:ea typeface="+mn-ea"/>
              <a:cs typeface="Arial" panose="020B0604020202020204" pitchFamily="34" charset="0"/>
            </a:endParaRPr>
          </a:p>
          <a:p>
            <a:pPr marL="12435" defTabSz="895327" fontAlgn="auto">
              <a:spcBef>
                <a:spcPts val="298"/>
              </a:spcBef>
              <a:spcAft>
                <a:spcPts val="0"/>
              </a:spcAft>
            </a:pPr>
            <a:r>
              <a:rPr kumimoji="0" lang="en-US" sz="783" spc="-5" dirty="0">
                <a:solidFill>
                  <a:prstClr val="black"/>
                </a:solidFill>
                <a:latin typeface="Arial" panose="020B0604020202020204" pitchFamily="34" charset="0"/>
                <a:ea typeface="+mn-ea"/>
                <a:cs typeface="Arial" panose="020B0604020202020204" pitchFamily="34" charset="0"/>
              </a:rPr>
              <a:t>Global Technologies </a:t>
            </a:r>
            <a:r>
              <a:rPr kumimoji="0" sz="783" spc="-15" dirty="0">
                <a:solidFill>
                  <a:prstClr val="black"/>
                </a:solidFill>
                <a:latin typeface="Arial" panose="020B0604020202020204" pitchFamily="34" charset="0"/>
                <a:ea typeface="+mn-ea"/>
                <a:cs typeface="Arial" panose="020B0604020202020204" pitchFamily="34" charset="0"/>
              </a:rPr>
              <a:t> </a:t>
            </a:r>
            <a:r>
              <a:rPr kumimoji="0" sz="783" dirty="0">
                <a:solidFill>
                  <a:prstClr val="black"/>
                </a:solidFill>
                <a:latin typeface="Arial" panose="020B0604020202020204" pitchFamily="34" charset="0"/>
                <a:ea typeface="+mn-ea"/>
                <a:cs typeface="Arial" panose="020B0604020202020204" pitchFamily="34" charset="0"/>
              </a:rPr>
              <a:t>reserves</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right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to</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change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above-mentioned</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information</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without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prior</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notice.</a:t>
            </a:r>
            <a:endParaRPr kumimoji="0" sz="783" dirty="0">
              <a:solidFill>
                <a:prstClr val="black"/>
              </a:solidFill>
              <a:latin typeface="Arial" panose="020B0604020202020204" pitchFamily="34" charset="0"/>
              <a:ea typeface="+mn-ea"/>
              <a:cs typeface="Arial" panose="020B0604020202020204" pitchFamily="34" charset="0"/>
            </a:endParaRPr>
          </a:p>
        </p:txBody>
      </p:sp>
      <p:sp>
        <p:nvSpPr>
          <p:cNvPr id="4" name="object 11">
            <a:extLst>
              <a:ext uri="{FF2B5EF4-FFF2-40B4-BE49-F238E27FC236}">
                <a16:creationId xmlns:a16="http://schemas.microsoft.com/office/drawing/2014/main" id="{09C8C6CA-A315-EABA-B5A5-AA4D06AB695F}"/>
              </a:ext>
            </a:extLst>
          </p:cNvPr>
          <p:cNvSpPr txBox="1"/>
          <p:nvPr/>
        </p:nvSpPr>
        <p:spPr>
          <a:xfrm>
            <a:off x="2494505" y="5077139"/>
            <a:ext cx="1860253" cy="128240"/>
          </a:xfrm>
          <a:prstGeom prst="rect">
            <a:avLst/>
          </a:prstGeom>
          <a:noFill/>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4</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Electrical Characteristic </a:t>
            </a:r>
          </a:p>
        </p:txBody>
      </p:sp>
      <p:sp>
        <p:nvSpPr>
          <p:cNvPr id="7" name="object 84">
            <a:extLst>
              <a:ext uri="{FF2B5EF4-FFF2-40B4-BE49-F238E27FC236}">
                <a16:creationId xmlns:a16="http://schemas.microsoft.com/office/drawing/2014/main" id="{EF1B4940-31CF-BB96-8F02-0667EAA66371}"/>
              </a:ext>
            </a:extLst>
          </p:cNvPr>
          <p:cNvSpPr txBox="1"/>
          <p:nvPr/>
        </p:nvSpPr>
        <p:spPr>
          <a:xfrm>
            <a:off x="2067508" y="8351505"/>
            <a:ext cx="273279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5. Power up sequence </a:t>
            </a:r>
            <a:r>
              <a:rPr lang="en-US" sz="900" b="1" spc="15" dirty="0">
                <a:solidFill>
                  <a:prstClr val="black"/>
                </a:solidFill>
                <a:latin typeface="Arial" panose="020B0604020202020204" pitchFamily="34" charset="0"/>
                <a:cs typeface="Arial" panose="020B0604020202020204" pitchFamily="34" charset="0"/>
              </a:rPr>
              <a:t>and Ramp-up time</a:t>
            </a:r>
            <a:endParaRPr kumimoji="0" lang="en-US" sz="900" b="1" spc="15" dirty="0">
              <a:solidFill>
                <a:prstClr val="black"/>
              </a:solidFill>
              <a:latin typeface="Arial" panose="020B0604020202020204" pitchFamily="34" charset="0"/>
              <a:ea typeface="+mn-ea"/>
              <a:cs typeface="Arial" panose="020B0604020202020204" pitchFamily="34" charset="0"/>
            </a:endParaRPr>
          </a:p>
        </p:txBody>
      </p:sp>
      <p:grpSp>
        <p:nvGrpSpPr>
          <p:cNvPr id="12" name="그룹 11">
            <a:extLst>
              <a:ext uri="{FF2B5EF4-FFF2-40B4-BE49-F238E27FC236}">
                <a16:creationId xmlns:a16="http://schemas.microsoft.com/office/drawing/2014/main" id="{017DC189-0ED6-198E-1EF4-76528ECFE7B1}"/>
              </a:ext>
            </a:extLst>
          </p:cNvPr>
          <p:cNvGrpSpPr/>
          <p:nvPr/>
        </p:nvGrpSpPr>
        <p:grpSpPr>
          <a:xfrm>
            <a:off x="404812" y="6826252"/>
            <a:ext cx="5993913" cy="1423788"/>
            <a:chOff x="203750" y="5928093"/>
            <a:chExt cx="5993913" cy="1423788"/>
          </a:xfrm>
        </p:grpSpPr>
        <p:sp>
          <p:nvSpPr>
            <p:cNvPr id="14" name="TextBox 13">
              <a:extLst>
                <a:ext uri="{FF2B5EF4-FFF2-40B4-BE49-F238E27FC236}">
                  <a16:creationId xmlns:a16="http://schemas.microsoft.com/office/drawing/2014/main" id="{02897404-666A-E8F7-44CA-CF9F47B527A1}"/>
                </a:ext>
              </a:extLst>
            </p:cNvPr>
            <p:cNvSpPr txBox="1"/>
            <p:nvPr/>
          </p:nvSpPr>
          <p:spPr>
            <a:xfrm>
              <a:off x="1885330" y="5928093"/>
              <a:ext cx="592076" cy="138499"/>
            </a:xfrm>
            <a:prstGeom prst="rect">
              <a:avLst/>
            </a:prstGeom>
            <a:solidFill>
              <a:schemeClr val="bg1"/>
            </a:solidFill>
          </p:spPr>
          <p:txBody>
            <a:bodyPr wrap="none" lIns="36000" tIns="0" rIns="36000" bIns="0" rtlCol="0" anchor="ctr" anchorCtr="0">
              <a:spAutoFit/>
            </a:bodyPr>
            <a:lstStyle/>
            <a:p>
              <a:r>
                <a:rPr lang="en-US" altLang="ko-KR" sz="900" dirty="0"/>
                <a:t>3.3V stable</a:t>
              </a:r>
              <a:endParaRPr lang="ko-KR" altLang="en-US" sz="900" dirty="0"/>
            </a:p>
          </p:txBody>
        </p:sp>
        <p:cxnSp>
          <p:nvCxnSpPr>
            <p:cNvPr id="17" name="직선 연결선 16">
              <a:extLst>
                <a:ext uri="{FF2B5EF4-FFF2-40B4-BE49-F238E27FC236}">
                  <a16:creationId xmlns:a16="http://schemas.microsoft.com/office/drawing/2014/main" id="{571CC60A-7453-1D74-CE95-4E52E78A234A}"/>
                </a:ext>
              </a:extLst>
            </p:cNvPr>
            <p:cNvCxnSpPr>
              <a:cxnSpLocks/>
            </p:cNvCxnSpPr>
            <p:nvPr/>
          </p:nvCxnSpPr>
          <p:spPr>
            <a:xfrm flipH="1">
              <a:off x="1606602" y="6065491"/>
              <a:ext cx="281318" cy="136938"/>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8A2FB2C2-323A-252F-1D18-E68F59A4415B}"/>
                </a:ext>
              </a:extLst>
            </p:cNvPr>
            <p:cNvCxnSpPr>
              <a:cxnSpLocks/>
            </p:cNvCxnSpPr>
            <p:nvPr/>
          </p:nvCxnSpPr>
          <p:spPr>
            <a:xfrm flipH="1">
              <a:off x="1887980" y="6062544"/>
              <a:ext cx="424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579F1DA8-8E1D-4ED9-DA43-622A88491E6C}"/>
                </a:ext>
              </a:extLst>
            </p:cNvPr>
            <p:cNvCxnSpPr>
              <a:cxnSpLocks/>
            </p:cNvCxnSpPr>
            <p:nvPr/>
          </p:nvCxnSpPr>
          <p:spPr>
            <a:xfrm flipH="1">
              <a:off x="1231190" y="6201382"/>
              <a:ext cx="37541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CA1751B-C676-1440-DEAD-9FEC6EA2FFB7}"/>
                </a:ext>
              </a:extLst>
            </p:cNvPr>
            <p:cNvSpPr txBox="1"/>
            <p:nvPr/>
          </p:nvSpPr>
          <p:spPr>
            <a:xfrm>
              <a:off x="945940" y="6006061"/>
              <a:ext cx="346570" cy="230832"/>
            </a:xfrm>
            <a:prstGeom prst="rect">
              <a:avLst/>
            </a:prstGeom>
            <a:noFill/>
          </p:spPr>
          <p:txBody>
            <a:bodyPr wrap="none" rtlCol="0">
              <a:spAutoFit/>
            </a:bodyPr>
            <a:lstStyle/>
            <a:p>
              <a:r>
                <a:rPr lang="en-US" altLang="ko-KR" sz="900"/>
                <a:t>V</a:t>
              </a:r>
              <a:r>
                <a:rPr lang="en-US" altLang="ko-KR" sz="900" baseline="-25000"/>
                <a:t>DD</a:t>
              </a:r>
              <a:endParaRPr lang="ko-KR" altLang="en-US" sz="900" baseline="-25000" dirty="0"/>
            </a:p>
          </p:txBody>
        </p:sp>
        <p:cxnSp>
          <p:nvCxnSpPr>
            <p:cNvPr id="25" name="직선 연결선 24">
              <a:extLst>
                <a:ext uri="{FF2B5EF4-FFF2-40B4-BE49-F238E27FC236}">
                  <a16:creationId xmlns:a16="http://schemas.microsoft.com/office/drawing/2014/main" id="{5DA83720-7307-5591-228D-FB5C7DA7CBED}"/>
                </a:ext>
              </a:extLst>
            </p:cNvPr>
            <p:cNvCxnSpPr>
              <a:cxnSpLocks/>
            </p:cNvCxnSpPr>
            <p:nvPr/>
          </p:nvCxnSpPr>
          <p:spPr>
            <a:xfrm>
              <a:off x="1606602" y="6111319"/>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E2BFA36C-F3F1-ECDC-CAFE-7C9673329A9F}"/>
                </a:ext>
              </a:extLst>
            </p:cNvPr>
            <p:cNvCxnSpPr>
              <a:cxnSpLocks/>
            </p:cNvCxnSpPr>
            <p:nvPr/>
          </p:nvCxnSpPr>
          <p:spPr>
            <a:xfrm flipH="1">
              <a:off x="1227566" y="6522366"/>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직사각형 27">
              <a:extLst>
                <a:ext uri="{FF2B5EF4-FFF2-40B4-BE49-F238E27FC236}">
                  <a16:creationId xmlns:a16="http://schemas.microsoft.com/office/drawing/2014/main" id="{2EAE4153-5CAC-DC08-DBE6-1A93B882C1E1}"/>
                </a:ext>
              </a:extLst>
            </p:cNvPr>
            <p:cNvSpPr/>
            <p:nvPr/>
          </p:nvSpPr>
          <p:spPr>
            <a:xfrm>
              <a:off x="3885934" y="6307327"/>
              <a:ext cx="2270722"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a:solidFill>
                    <a:schemeClr val="tx1"/>
                  </a:solidFill>
                  <a:latin typeface="Arial" panose="020B0604020202020204" pitchFamily="34" charset="0"/>
                  <a:cs typeface="Arial" panose="020B0604020202020204" pitchFamily="34" charset="0"/>
                </a:rPr>
                <a:t>accessible</a:t>
              </a:r>
              <a:endParaRPr lang="ko-KR" altLang="en-US" sz="900" dirty="0">
                <a:solidFill>
                  <a:schemeClr val="tx1"/>
                </a:solidFill>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78A69567-8F8C-E76B-F429-F3E7FB595582}"/>
                </a:ext>
              </a:extLst>
            </p:cNvPr>
            <p:cNvSpPr txBox="1"/>
            <p:nvPr/>
          </p:nvSpPr>
          <p:spPr>
            <a:xfrm>
              <a:off x="1639935" y="6278601"/>
              <a:ext cx="234038"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endParaRPr lang="ko-KR" altLang="en-US" sz="900" dirty="0"/>
            </a:p>
          </p:txBody>
        </p:sp>
        <p:sp>
          <p:nvSpPr>
            <p:cNvPr id="30" name="TextBox 29">
              <a:extLst>
                <a:ext uri="{FF2B5EF4-FFF2-40B4-BE49-F238E27FC236}">
                  <a16:creationId xmlns:a16="http://schemas.microsoft.com/office/drawing/2014/main" id="{D0393DD9-2F4E-96A3-BD80-FEA11D8C9A61}"/>
                </a:ext>
              </a:extLst>
            </p:cNvPr>
            <p:cNvSpPr txBox="1"/>
            <p:nvPr/>
          </p:nvSpPr>
          <p:spPr>
            <a:xfrm>
              <a:off x="925194" y="6955010"/>
              <a:ext cx="367408" cy="230832"/>
            </a:xfrm>
            <a:prstGeom prst="rect">
              <a:avLst/>
            </a:prstGeom>
            <a:noFill/>
          </p:spPr>
          <p:txBody>
            <a:bodyPr wrap="none" rtlCol="0">
              <a:spAutoFit/>
            </a:bodyPr>
            <a:lstStyle/>
            <a:p>
              <a:r>
                <a:rPr lang="en-US" altLang="ko-KR" sz="900"/>
                <a:t>V</a:t>
              </a:r>
              <a:r>
                <a:rPr lang="en-US" altLang="ko-KR" sz="900" baseline="-25000"/>
                <a:t>LED</a:t>
              </a:r>
              <a:endParaRPr lang="ko-KR" altLang="en-US" sz="900" baseline="-25000" dirty="0"/>
            </a:p>
          </p:txBody>
        </p:sp>
        <p:cxnSp>
          <p:nvCxnSpPr>
            <p:cNvPr id="31" name="직선 연결선 30">
              <a:extLst>
                <a:ext uri="{FF2B5EF4-FFF2-40B4-BE49-F238E27FC236}">
                  <a16:creationId xmlns:a16="http://schemas.microsoft.com/office/drawing/2014/main" id="{220D2312-886A-4471-407E-176942B964D1}"/>
                </a:ext>
              </a:extLst>
            </p:cNvPr>
            <p:cNvCxnSpPr>
              <a:cxnSpLocks/>
            </p:cNvCxnSpPr>
            <p:nvPr/>
          </p:nvCxnSpPr>
          <p:spPr>
            <a:xfrm>
              <a:off x="1606602" y="6267569"/>
              <a:ext cx="2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2" name="직선 연결선 31">
              <a:extLst>
                <a:ext uri="{FF2B5EF4-FFF2-40B4-BE49-F238E27FC236}">
                  <a16:creationId xmlns:a16="http://schemas.microsoft.com/office/drawing/2014/main" id="{6181F0E6-6E01-9EEC-59F9-8020D481B74E}"/>
                </a:ext>
              </a:extLst>
            </p:cNvPr>
            <p:cNvCxnSpPr>
              <a:cxnSpLocks/>
            </p:cNvCxnSpPr>
            <p:nvPr/>
          </p:nvCxnSpPr>
          <p:spPr>
            <a:xfrm>
              <a:off x="1894602" y="6110518"/>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5" name="직선 연결선 34">
              <a:extLst>
                <a:ext uri="{FF2B5EF4-FFF2-40B4-BE49-F238E27FC236}">
                  <a16:creationId xmlns:a16="http://schemas.microsoft.com/office/drawing/2014/main" id="{11FC79D0-8B93-8C0D-C226-7E9765D078EA}"/>
                </a:ext>
              </a:extLst>
            </p:cNvPr>
            <p:cNvCxnSpPr>
              <a:cxnSpLocks/>
            </p:cNvCxnSpPr>
            <p:nvPr/>
          </p:nvCxnSpPr>
          <p:spPr>
            <a:xfrm>
              <a:off x="1894602" y="6267569"/>
              <a:ext cx="1386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3C6F123-3717-49B5-612B-AD442D80A1B4}"/>
                </a:ext>
              </a:extLst>
            </p:cNvPr>
            <p:cNvSpPr txBox="1"/>
            <p:nvPr/>
          </p:nvSpPr>
          <p:spPr>
            <a:xfrm>
              <a:off x="2490816" y="6289928"/>
              <a:ext cx="214802"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INIT</a:t>
              </a:r>
              <a:endParaRPr lang="ko-KR" altLang="en-US" sz="900" dirty="0"/>
            </a:p>
          </p:txBody>
        </p:sp>
        <p:sp>
          <p:nvSpPr>
            <p:cNvPr id="42" name="TextBox 41">
              <a:extLst>
                <a:ext uri="{FF2B5EF4-FFF2-40B4-BE49-F238E27FC236}">
                  <a16:creationId xmlns:a16="http://schemas.microsoft.com/office/drawing/2014/main" id="{AC00BBB9-5F9E-7D24-3355-091892545144}"/>
                </a:ext>
              </a:extLst>
            </p:cNvPr>
            <p:cNvSpPr txBox="1"/>
            <p:nvPr/>
          </p:nvSpPr>
          <p:spPr>
            <a:xfrm>
              <a:off x="203750" y="6348203"/>
              <a:ext cx="1292341" cy="230832"/>
            </a:xfrm>
            <a:prstGeom prst="rect">
              <a:avLst/>
            </a:prstGeom>
            <a:noFill/>
          </p:spPr>
          <p:txBody>
            <a:bodyPr wrap="none" rtlCol="0">
              <a:spAutoFit/>
            </a:bodyPr>
            <a:lstStyle/>
            <a:p>
              <a:r>
                <a:rPr lang="en-US" altLang="ko-KR" sz="900" dirty="0"/>
                <a:t>1</a:t>
              </a:r>
              <a:r>
                <a:rPr lang="en-US" altLang="ko-KR" sz="900" baseline="30000" dirty="0"/>
                <a:t>st</a:t>
              </a:r>
              <a:r>
                <a:rPr lang="en-US" altLang="ko-KR" sz="900" dirty="0"/>
                <a:t> Command to XD12R </a:t>
              </a:r>
              <a:endParaRPr lang="ko-KR" altLang="en-US" sz="900" baseline="-25000" dirty="0"/>
            </a:p>
          </p:txBody>
        </p:sp>
        <p:cxnSp>
          <p:nvCxnSpPr>
            <p:cNvPr id="45" name="직선 연결선 44">
              <a:extLst>
                <a:ext uri="{FF2B5EF4-FFF2-40B4-BE49-F238E27FC236}">
                  <a16:creationId xmlns:a16="http://schemas.microsoft.com/office/drawing/2014/main" id="{C1F640F3-75A6-F96E-35AD-D3106A77327C}"/>
                </a:ext>
              </a:extLst>
            </p:cNvPr>
            <p:cNvCxnSpPr>
              <a:cxnSpLocks/>
            </p:cNvCxnSpPr>
            <p:nvPr/>
          </p:nvCxnSpPr>
          <p:spPr>
            <a:xfrm>
              <a:off x="3880304" y="6922617"/>
              <a:ext cx="11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9809A9F6-7850-F729-99F9-D8910D7D781E}"/>
                </a:ext>
              </a:extLst>
            </p:cNvPr>
            <p:cNvCxnSpPr>
              <a:cxnSpLocks/>
            </p:cNvCxnSpPr>
            <p:nvPr/>
          </p:nvCxnSpPr>
          <p:spPr>
            <a:xfrm flipH="1">
              <a:off x="5112508" y="6944977"/>
              <a:ext cx="157001" cy="18960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8BFF7BF1-D6B5-DE69-B2C5-5648C0BEDBB6}"/>
                </a:ext>
              </a:extLst>
            </p:cNvPr>
            <p:cNvCxnSpPr>
              <a:cxnSpLocks/>
            </p:cNvCxnSpPr>
            <p:nvPr/>
          </p:nvCxnSpPr>
          <p:spPr>
            <a:xfrm flipH="1">
              <a:off x="5268358" y="6944977"/>
              <a:ext cx="900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직선 연결선 54">
              <a:extLst>
                <a:ext uri="{FF2B5EF4-FFF2-40B4-BE49-F238E27FC236}">
                  <a16:creationId xmlns:a16="http://schemas.microsoft.com/office/drawing/2014/main" id="{E0FEE038-002F-39B6-044A-BA014F580A33}"/>
                </a:ext>
              </a:extLst>
            </p:cNvPr>
            <p:cNvCxnSpPr>
              <a:cxnSpLocks/>
            </p:cNvCxnSpPr>
            <p:nvPr/>
          </p:nvCxnSpPr>
          <p:spPr>
            <a:xfrm flipH="1">
              <a:off x="1224508" y="7140909"/>
              <a:ext cx="388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직선 연결선 55">
              <a:extLst>
                <a:ext uri="{FF2B5EF4-FFF2-40B4-BE49-F238E27FC236}">
                  <a16:creationId xmlns:a16="http://schemas.microsoft.com/office/drawing/2014/main" id="{6F4B8019-CCD1-6261-8B66-379AE6178A66}"/>
                </a:ext>
              </a:extLst>
            </p:cNvPr>
            <p:cNvCxnSpPr>
              <a:cxnSpLocks/>
            </p:cNvCxnSpPr>
            <p:nvPr/>
          </p:nvCxnSpPr>
          <p:spPr>
            <a:xfrm>
              <a:off x="5064356" y="6850210"/>
              <a:ext cx="0" cy="25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E093530F-488B-BD7C-731C-0D74F81E5CDD}"/>
                </a:ext>
              </a:extLst>
            </p:cNvPr>
            <p:cNvSpPr txBox="1"/>
            <p:nvPr/>
          </p:nvSpPr>
          <p:spPr>
            <a:xfrm>
              <a:off x="4296150" y="6866324"/>
              <a:ext cx="362279"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SU</a:t>
              </a:r>
              <a:r>
                <a:rPr lang="en-US" altLang="ko-KR" sz="900" baseline="-25000">
                  <a:solidFill>
                    <a:srgbClr val="000000"/>
                  </a:solidFill>
                  <a:latin typeface="Arial" panose="020B0604020202020204" pitchFamily="34" charset="0"/>
                  <a:ea typeface="굴림" panose="020B0600000101010101" pitchFamily="50" charset="-127"/>
                  <a:cs typeface="Arial" panose="020B0604020202020204" pitchFamily="34" charset="0"/>
                </a:rPr>
                <a:t>_</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DIM</a:t>
              </a:r>
              <a:endParaRPr lang="ko-KR" altLang="en-US" sz="900" dirty="0"/>
            </a:p>
          </p:txBody>
        </p:sp>
        <p:sp>
          <p:nvSpPr>
            <p:cNvPr id="60" name="TextBox 59">
              <a:extLst>
                <a:ext uri="{FF2B5EF4-FFF2-40B4-BE49-F238E27FC236}">
                  <a16:creationId xmlns:a16="http://schemas.microsoft.com/office/drawing/2014/main" id="{89F3131F-A506-B9AC-682C-361EDB5275A7}"/>
                </a:ext>
              </a:extLst>
            </p:cNvPr>
            <p:cNvSpPr txBox="1"/>
            <p:nvPr/>
          </p:nvSpPr>
          <p:spPr>
            <a:xfrm>
              <a:off x="203750" y="6627633"/>
              <a:ext cx="1120820" cy="230832"/>
            </a:xfrm>
            <a:prstGeom prst="rect">
              <a:avLst/>
            </a:prstGeom>
            <a:noFill/>
          </p:spPr>
          <p:txBody>
            <a:bodyPr wrap="none" rtlCol="0">
              <a:spAutoFit/>
            </a:bodyPr>
            <a:lstStyle/>
            <a:p>
              <a:r>
                <a:rPr lang="en-US" altLang="ko-KR" sz="900" dirty="0"/>
                <a:t>Set-up for dimming</a:t>
              </a:r>
              <a:endParaRPr lang="ko-KR" altLang="en-US" sz="900" baseline="-25000" dirty="0"/>
            </a:p>
          </p:txBody>
        </p:sp>
        <p:cxnSp>
          <p:nvCxnSpPr>
            <p:cNvPr id="73" name="직선 연결선 72">
              <a:extLst>
                <a:ext uri="{FF2B5EF4-FFF2-40B4-BE49-F238E27FC236}">
                  <a16:creationId xmlns:a16="http://schemas.microsoft.com/office/drawing/2014/main" id="{853271C2-44DA-7FEB-D068-9C89CE555B07}"/>
                </a:ext>
              </a:extLst>
            </p:cNvPr>
            <p:cNvCxnSpPr>
              <a:cxnSpLocks/>
            </p:cNvCxnSpPr>
            <p:nvPr/>
          </p:nvCxnSpPr>
          <p:spPr>
            <a:xfrm flipH="1">
              <a:off x="1239105" y="6828472"/>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직사각형 73">
              <a:extLst>
                <a:ext uri="{FF2B5EF4-FFF2-40B4-BE49-F238E27FC236}">
                  <a16:creationId xmlns:a16="http://schemas.microsoft.com/office/drawing/2014/main" id="{8DDD917A-D863-C7F3-9A42-D4E100E4F051}"/>
                </a:ext>
              </a:extLst>
            </p:cNvPr>
            <p:cNvSpPr/>
            <p:nvPr/>
          </p:nvSpPr>
          <p:spPr>
            <a:xfrm>
              <a:off x="3886754" y="6611367"/>
              <a:ext cx="1201734"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800" dirty="0">
                  <a:solidFill>
                    <a:schemeClr val="tx1"/>
                  </a:solidFill>
                  <a:latin typeface="Arial" panose="020B0604020202020204" pitchFamily="34" charset="0"/>
                  <a:cs typeface="Arial" panose="020B0604020202020204" pitchFamily="34" charset="0"/>
                </a:rPr>
                <a:t>XD12R  setup for dimming</a:t>
              </a:r>
              <a:endParaRPr lang="ko-KR" altLang="en-US" sz="800" dirty="0">
                <a:solidFill>
                  <a:schemeClr val="tx1"/>
                </a:solidFill>
                <a:latin typeface="Arial" panose="020B0604020202020204" pitchFamily="34" charset="0"/>
                <a:cs typeface="Arial" panose="020B0604020202020204" pitchFamily="34" charset="0"/>
              </a:endParaRPr>
            </a:p>
          </p:txBody>
        </p:sp>
        <p:sp>
          <p:nvSpPr>
            <p:cNvPr id="77" name="직사각형 76">
              <a:extLst>
                <a:ext uri="{FF2B5EF4-FFF2-40B4-BE49-F238E27FC236}">
                  <a16:creationId xmlns:a16="http://schemas.microsoft.com/office/drawing/2014/main" id="{9D234B0B-2196-84A7-4CB1-FA92BF00B00B}"/>
                </a:ext>
              </a:extLst>
            </p:cNvPr>
            <p:cNvSpPr/>
            <p:nvPr/>
          </p:nvSpPr>
          <p:spPr>
            <a:xfrm>
              <a:off x="6140013" y="6017838"/>
              <a:ext cx="57650" cy="1334043"/>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solidFill>
                  <a:schemeClr val="tx1"/>
                </a:solidFill>
                <a:latin typeface="Arial" panose="020B0604020202020204" pitchFamily="34" charset="0"/>
                <a:cs typeface="Arial" panose="020B0604020202020204" pitchFamily="34" charset="0"/>
              </a:endParaRPr>
            </a:p>
          </p:txBody>
        </p:sp>
        <p:cxnSp>
          <p:nvCxnSpPr>
            <p:cNvPr id="78" name="직선 연결선 77">
              <a:extLst>
                <a:ext uri="{FF2B5EF4-FFF2-40B4-BE49-F238E27FC236}">
                  <a16:creationId xmlns:a16="http://schemas.microsoft.com/office/drawing/2014/main" id="{F4058BC3-3DEB-D334-471D-0A45813774D7}"/>
                </a:ext>
              </a:extLst>
            </p:cNvPr>
            <p:cNvCxnSpPr>
              <a:cxnSpLocks/>
            </p:cNvCxnSpPr>
            <p:nvPr/>
          </p:nvCxnSpPr>
          <p:spPr>
            <a:xfrm>
              <a:off x="3275331" y="6194203"/>
              <a:ext cx="0" cy="18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9" name="직선 연결선 78">
              <a:extLst>
                <a:ext uri="{FF2B5EF4-FFF2-40B4-BE49-F238E27FC236}">
                  <a16:creationId xmlns:a16="http://schemas.microsoft.com/office/drawing/2014/main" id="{93C1148F-246C-6228-0430-A5C084F59DA6}"/>
                </a:ext>
              </a:extLst>
            </p:cNvPr>
            <p:cNvCxnSpPr>
              <a:cxnSpLocks/>
            </p:cNvCxnSpPr>
            <p:nvPr/>
          </p:nvCxnSpPr>
          <p:spPr>
            <a:xfrm>
              <a:off x="3275331" y="6267569"/>
              <a:ext cx="612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0" name="직선 연결선 79">
              <a:extLst>
                <a:ext uri="{FF2B5EF4-FFF2-40B4-BE49-F238E27FC236}">
                  <a16:creationId xmlns:a16="http://schemas.microsoft.com/office/drawing/2014/main" id="{EB46DCFB-F740-6B3F-5699-29AE28C47C32}"/>
                </a:ext>
              </a:extLst>
            </p:cNvPr>
            <p:cNvCxnSpPr>
              <a:cxnSpLocks/>
            </p:cNvCxnSpPr>
            <p:nvPr/>
          </p:nvCxnSpPr>
          <p:spPr>
            <a:xfrm>
              <a:off x="3884441" y="6201382"/>
              <a:ext cx="0" cy="79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9D920C7E-4C07-232B-E49B-F9E8A6394460}"/>
                </a:ext>
              </a:extLst>
            </p:cNvPr>
            <p:cNvSpPr txBox="1"/>
            <p:nvPr/>
          </p:nvSpPr>
          <p:spPr>
            <a:xfrm>
              <a:off x="3490632" y="6289723"/>
              <a:ext cx="293350"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FCMD</a:t>
              </a:r>
              <a:endParaRPr lang="ko-KR" altLang="en-US" sz="900" dirty="0"/>
            </a:p>
          </p:txBody>
        </p:sp>
      </p:grpSp>
    </p:spTree>
    <p:extLst>
      <p:ext uri="{BB962C8B-B14F-4D97-AF65-F5344CB8AC3E}">
        <p14:creationId xmlns:p14="http://schemas.microsoft.com/office/powerpoint/2010/main" val="1861681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54E0D-0D97-8AC6-1238-21318C285BB6}"/>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AB215879-26F5-B770-E03A-646C749F4476}"/>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58E4F52-55DA-FAF2-2D79-B74AC578F072}"/>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3DCF4DE-CFB3-5366-D892-071ABF42F47F}"/>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Layout for Power Lane for single-layer PCB</a:t>
            </a:r>
            <a:endParaRPr lang="ko-KR" altLang="en-US" sz="12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5228E66B-49BF-A516-78A2-5D69EA4D91D2}"/>
              </a:ext>
            </a:extLst>
          </p:cNvPr>
          <p:cNvSpPr txBox="1"/>
          <p:nvPr/>
        </p:nvSpPr>
        <p:spPr>
          <a:xfrm>
            <a:off x="413545" y="1348337"/>
            <a:ext cx="6039903"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As shown in the figure below, it is recommended that a bypass capacitor should be placed as close to the pin 1 and  pin 18 as possible in below.</a:t>
            </a:r>
          </a:p>
        </p:txBody>
      </p:sp>
      <p:sp>
        <p:nvSpPr>
          <p:cNvPr id="2" name="TextBox 1">
            <a:extLst>
              <a:ext uri="{FF2B5EF4-FFF2-40B4-BE49-F238E27FC236}">
                <a16:creationId xmlns:a16="http://schemas.microsoft.com/office/drawing/2014/main" id="{FF18CDC6-F1E4-6F3B-CC74-4E610E1B6E19}"/>
              </a:ext>
            </a:extLst>
          </p:cNvPr>
          <p:cNvSpPr txBox="1"/>
          <p:nvPr/>
        </p:nvSpPr>
        <p:spPr>
          <a:xfrm>
            <a:off x="323850" y="2007941"/>
            <a:ext cx="4911090" cy="27699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200" b="1"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XD12R</a:t>
            </a:r>
            <a:r>
              <a:rPr kumimoji="0" lang="ko-KR" altLang="en-US" sz="1200" b="1"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a:t>
            </a:r>
            <a:r>
              <a:rPr kumimoji="0" lang="en-US" altLang="ko-KR" sz="10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(Example) Recommended Routing Guidelines for single layer PCB</a:t>
            </a:r>
            <a:endParaRPr kumimoji="0" lang="ko-KR" altLang="en-US" sz="12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24" name="TextBox 23">
            <a:extLst>
              <a:ext uri="{FF2B5EF4-FFF2-40B4-BE49-F238E27FC236}">
                <a16:creationId xmlns:a16="http://schemas.microsoft.com/office/drawing/2014/main" id="{1853815E-6839-9E21-F2FA-7EE2B7613B3D}"/>
              </a:ext>
            </a:extLst>
          </p:cNvPr>
          <p:cNvSpPr txBox="1"/>
          <p:nvPr/>
        </p:nvSpPr>
        <p:spPr>
          <a:xfrm>
            <a:off x="553680" y="2427418"/>
            <a:ext cx="5899508" cy="2099870"/>
          </a:xfrm>
          <a:prstGeom prst="rect">
            <a:avLst/>
          </a:prstGeom>
          <a:noFill/>
        </p:spPr>
        <p:txBody>
          <a:bodyPr wrap="square" lIns="0" tIns="0" rIns="0" bIns="0" rtlCol="0">
            <a:spAutoFit/>
          </a:bodyPr>
          <a:lstStyle/>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PCB</a:t>
            </a:r>
            <a:r>
              <a:rPr lang="ko-KR" altLang="en-US" sz="1000" b="1" dirty="0">
                <a:solidFill>
                  <a:prstClr val="black"/>
                </a:solidFill>
                <a:latin typeface="맑은 고딕" panose="020F0502020204030204"/>
              </a:rPr>
              <a:t> </a:t>
            </a:r>
            <a:r>
              <a:rPr lang="en-US" altLang="ko-KR" sz="1000" b="1" dirty="0">
                <a:solidFill>
                  <a:prstClr val="black"/>
                </a:solidFill>
                <a:latin typeface="맑은 고딕" panose="020F0502020204030204"/>
              </a:rPr>
              <a:t>: single layer</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PSR over lab area size :  </a:t>
            </a:r>
            <a:r>
              <a:rPr lang="en-US" altLang="ko-KR" sz="1000" dirty="0">
                <a:solidFill>
                  <a:prstClr val="black"/>
                </a:solidFill>
                <a:latin typeface="맑은 고딕" panose="020F0502020204030204"/>
              </a:rPr>
              <a:t>2.2 x 0.7 mm</a:t>
            </a:r>
          </a:p>
          <a:p>
            <a:pPr marL="171450" marR="0" lvl="0" indent="-171450" algn="l" defTabSz="914400" rtl="0" eaLnBrk="1" fontAlgn="auto" latinLnBrk="1" hangingPunct="1">
              <a:lnSpc>
                <a:spcPct val="150000"/>
              </a:lnSpc>
              <a:spcBef>
                <a:spcPts val="0"/>
              </a:spcBef>
              <a:spcAft>
                <a:spcPts val="0"/>
              </a:spcAft>
              <a:buClrTx/>
              <a:buSzTx/>
              <a:buFont typeface="Wingdings" panose="05000000000000000000" pitchFamily="2" charset="2"/>
              <a:buChar char="ü"/>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PSR thickness : 25~35um</a:t>
            </a:r>
            <a:r>
              <a:rPr kumimoji="0" lang="ko-KR" altLang="en-US"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To ensure insulation in the overlapping area between the T-PAD and </a:t>
            </a:r>
          </a:p>
          <a:p>
            <a:pPr marL="0" marR="0" lvl="0" indent="0" algn="l" defTabSz="914400" rtl="0" eaLnBrk="1" fontAlgn="auto" latinLnBrk="1" hangingPunct="1">
              <a:lnSpc>
                <a:spcPct val="15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the Power V</a:t>
            </a:r>
            <a:r>
              <a:rPr kumimoji="0" lang="en-US" altLang="ko-KR" sz="800" b="0" i="0" u="none" strike="noStrike" kern="1200" cap="none" spc="0" normalizeH="0" baseline="-25000" noProof="0" dirty="0">
                <a:ln>
                  <a:noFill/>
                </a:ln>
                <a:solidFill>
                  <a:prstClr val="black"/>
                </a:solidFill>
                <a:effectLst/>
                <a:uLnTx/>
                <a:uFillTx/>
                <a:latin typeface="맑은 고딕" panose="020F0502020204030204"/>
                <a:ea typeface="맑은 고딕" panose="020B0503020000020004" pitchFamily="50" charset="-127"/>
                <a:cs typeface="+mn-cs"/>
              </a:rPr>
              <a:t>DD</a:t>
            </a: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pattern, a PSR thickness of 25 to 35 µm or more is recommended.)</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Clearance : Min 0.17mm </a:t>
            </a:r>
            <a:r>
              <a:rPr lang="ko-KR" altLang="en-US" sz="1000" b="1" dirty="0">
                <a:solidFill>
                  <a:prstClr val="black"/>
                </a:solidFill>
                <a:latin typeface="맑은 고딕" panose="020F0502020204030204"/>
              </a:rPr>
              <a:t>↑ </a:t>
            </a:r>
            <a:r>
              <a:rPr lang="en-US" altLang="ko-KR" sz="800" dirty="0">
                <a:solidFill>
                  <a:prstClr val="black"/>
                </a:solidFill>
                <a:latin typeface="맑은 고딕" panose="020F0502020204030204"/>
              </a:rPr>
              <a:t>(PAD to PAD, PAD to Pattern, Pattern to Pattern)</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Power Pattern width </a:t>
            </a:r>
            <a:r>
              <a:rPr lang="en-US" altLang="ko-KR" sz="1000" dirty="0">
                <a:solidFill>
                  <a:prstClr val="black"/>
                </a:solidFill>
                <a:latin typeface="맑은 고딕" panose="020F0502020204030204"/>
              </a:rPr>
              <a:t>:  </a:t>
            </a:r>
            <a:r>
              <a:rPr lang="en-US" altLang="ko-KR" sz="800" dirty="0">
                <a:solidFill>
                  <a:prstClr val="black"/>
                </a:solidFill>
                <a:latin typeface="맑은 고딕" panose="020F0502020204030204"/>
              </a:rPr>
              <a:t>Please design the power pattern thickness to the maximum thickness as shown in the image  </a:t>
            </a:r>
          </a:p>
          <a:p>
            <a:pPr defTabSz="914400" latinLnBrk="1">
              <a:lnSpc>
                <a:spcPct val="150000"/>
              </a:lnSpc>
              <a:defRPr/>
            </a:pPr>
            <a:r>
              <a:rPr lang="en-US" altLang="ko-KR" sz="800" dirty="0">
                <a:solidFill>
                  <a:prstClr val="black"/>
                </a:solidFill>
                <a:latin typeface="맑은 고딕" panose="020F0502020204030204"/>
              </a:rPr>
              <a:t>	                 below.</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Test Pin location </a:t>
            </a:r>
            <a:r>
              <a:rPr lang="en-US" altLang="ko-KR" sz="1000" dirty="0">
                <a:solidFill>
                  <a:prstClr val="black"/>
                </a:solidFill>
                <a:latin typeface="맑은 고딕" panose="020F0502020204030204"/>
              </a:rPr>
              <a:t>: </a:t>
            </a:r>
            <a:r>
              <a:rPr lang="en-US" altLang="ko-KR" sz="800" dirty="0">
                <a:solidFill>
                  <a:prstClr val="black"/>
                </a:solidFill>
                <a:latin typeface="맑은 고딕" panose="020F0502020204030204"/>
              </a:rPr>
              <a:t>It is recommended to place the test point (TP) for the LED output pin within 30 mm of the IC, </a:t>
            </a:r>
          </a:p>
          <a:p>
            <a:pPr defTabSz="914400" latinLnBrk="1">
              <a:lnSpc>
                <a:spcPct val="150000"/>
              </a:lnSpc>
              <a:defRPr/>
            </a:pPr>
            <a:r>
              <a:rPr lang="en-US" altLang="ko-KR" sz="800" dirty="0">
                <a:solidFill>
                  <a:prstClr val="black"/>
                </a:solidFill>
                <a:latin typeface="맑은 고딕" panose="020F0502020204030204"/>
              </a:rPr>
              <a:t>                                    as it should be located close to the IC. </a:t>
            </a:r>
          </a:p>
          <a:p>
            <a:pPr defTabSz="914400" latinLnBrk="1">
              <a:lnSpc>
                <a:spcPct val="150000"/>
              </a:lnSpc>
              <a:defRPr/>
            </a:pPr>
            <a:r>
              <a:rPr lang="en-US" altLang="ko-KR" sz="800" dirty="0">
                <a:solidFill>
                  <a:prstClr val="black"/>
                </a:solidFill>
                <a:latin typeface="맑은 고딕" panose="020F0502020204030204"/>
              </a:rPr>
              <a:t>	          The test point for control signal lines can be placed anywhere along the net.</a:t>
            </a:r>
            <a:endParaRPr lang="ko-KR" altLang="en-US" sz="800" dirty="0">
              <a:solidFill>
                <a:prstClr val="black"/>
              </a:solidFill>
              <a:latin typeface="맑은 고딕" panose="020F0502020204030204"/>
            </a:endParaRPr>
          </a:p>
        </p:txBody>
      </p:sp>
      <p:pic>
        <p:nvPicPr>
          <p:cNvPr id="6" name="그림 5" descr="텍스트, 도표, 평면도, 스크린샷이(가) 표시된 사진&#10;&#10;AI 생성 콘텐츠는 정확하지 않을 수 있습니다.">
            <a:extLst>
              <a:ext uri="{FF2B5EF4-FFF2-40B4-BE49-F238E27FC236}">
                <a16:creationId xmlns:a16="http://schemas.microsoft.com/office/drawing/2014/main" id="{7B0712A9-49EF-F3CE-6954-BC489B76F803}"/>
              </a:ext>
            </a:extLst>
          </p:cNvPr>
          <p:cNvPicPr>
            <a:picLocks noChangeAspect="1"/>
          </p:cNvPicPr>
          <p:nvPr/>
        </p:nvPicPr>
        <p:blipFill>
          <a:blip r:embed="rId2"/>
          <a:stretch>
            <a:fillRect/>
          </a:stretch>
        </p:blipFill>
        <p:spPr>
          <a:xfrm>
            <a:off x="549275" y="5124450"/>
            <a:ext cx="5903913" cy="2270358"/>
          </a:xfrm>
          <a:prstGeom prst="rect">
            <a:avLst/>
          </a:prstGeom>
        </p:spPr>
      </p:pic>
    </p:spTree>
    <p:extLst>
      <p:ext uri="{BB962C8B-B14F-4D97-AF65-F5344CB8AC3E}">
        <p14:creationId xmlns:p14="http://schemas.microsoft.com/office/powerpoint/2010/main" val="3302785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그림 20">
            <a:extLst>
              <a:ext uri="{FF2B5EF4-FFF2-40B4-BE49-F238E27FC236}">
                <a16:creationId xmlns:a16="http://schemas.microsoft.com/office/drawing/2014/main" id="{41287EC4-54EE-5E4F-1ED3-9CE8DF4F3F37}"/>
              </a:ext>
            </a:extLst>
          </p:cNvPr>
          <p:cNvPicPr>
            <a:picLocks noChangeAspect="1"/>
          </p:cNvPicPr>
          <p:nvPr/>
        </p:nvPicPr>
        <p:blipFill>
          <a:blip r:embed="rId2"/>
          <a:stretch>
            <a:fillRect/>
          </a:stretch>
        </p:blipFill>
        <p:spPr>
          <a:xfrm>
            <a:off x="1368507" y="5753697"/>
            <a:ext cx="3882786" cy="833175"/>
          </a:xfrm>
          <a:prstGeom prst="rect">
            <a:avLst/>
          </a:prstGeom>
        </p:spPr>
      </p:pic>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CB7AE3D-BA30-C6F2-087A-E709735D09E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 name="TextBox 1">
            <a:extLst>
              <a:ext uri="{FF2B5EF4-FFF2-40B4-BE49-F238E27FC236}">
                <a16:creationId xmlns:a16="http://schemas.microsoft.com/office/drawing/2014/main" id="{175E654F-AF3A-88EC-8A43-C6279D3F9C67}"/>
              </a:ext>
            </a:extLst>
          </p:cNvPr>
          <p:cNvSpPr txBox="1"/>
          <p:nvPr/>
        </p:nvSpPr>
        <p:spPr>
          <a:xfrm>
            <a:off x="407554" y="1556966"/>
            <a:ext cx="6039903" cy="461665"/>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XD12R can be controlled with several commands through a XC24R controller or directly by MCU. </a:t>
            </a:r>
          </a:p>
          <a:p>
            <a:pPr algn="just"/>
            <a:r>
              <a:rPr lang="en-US" altLang="ko-KR" sz="1000" dirty="0">
                <a:latin typeface="Arial" panose="020B0604020202020204" pitchFamily="34" charset="0"/>
                <a:cs typeface="Arial" panose="020B0604020202020204" pitchFamily="34" charset="0"/>
              </a:rPr>
              <a:t>The access protocol and frame format are as follows and if several XD12R is connected in daisy, the commands should be repeated successively as many as the XD12R  number in daisy chain.</a:t>
            </a:r>
          </a:p>
        </p:txBody>
      </p:sp>
      <p:sp>
        <p:nvSpPr>
          <p:cNvPr id="16" name="TextBox 15">
            <a:extLst>
              <a:ext uri="{FF2B5EF4-FFF2-40B4-BE49-F238E27FC236}">
                <a16:creationId xmlns:a16="http://schemas.microsoft.com/office/drawing/2014/main" id="{9668DAC1-64C9-BE97-5D44-E43D959AC827}"/>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Serial Communication Protocol</a:t>
            </a:r>
          </a:p>
        </p:txBody>
      </p:sp>
      <p:sp>
        <p:nvSpPr>
          <p:cNvPr id="4" name="TextBox 3">
            <a:extLst>
              <a:ext uri="{FF2B5EF4-FFF2-40B4-BE49-F238E27FC236}">
                <a16:creationId xmlns:a16="http://schemas.microsoft.com/office/drawing/2014/main" id="{07ED3BEC-0215-1816-CA0B-2AE844A1C552}"/>
              </a:ext>
            </a:extLst>
          </p:cNvPr>
          <p:cNvSpPr txBox="1"/>
          <p:nvPr/>
        </p:nvSpPr>
        <p:spPr>
          <a:xfrm>
            <a:off x="2015319" y="5070075"/>
            <a:ext cx="2911053"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5. Serial communication protocol @ PC_EN = 0</a:t>
            </a:r>
          </a:p>
        </p:txBody>
      </p:sp>
      <p:sp>
        <p:nvSpPr>
          <p:cNvPr id="13" name="TextBox 12">
            <a:extLst>
              <a:ext uri="{FF2B5EF4-FFF2-40B4-BE49-F238E27FC236}">
                <a16:creationId xmlns:a16="http://schemas.microsoft.com/office/drawing/2014/main" id="{19077734-E651-A0AB-3F15-7C73D1EB6DC7}"/>
              </a:ext>
            </a:extLst>
          </p:cNvPr>
          <p:cNvSpPr txBox="1"/>
          <p:nvPr/>
        </p:nvSpPr>
        <p:spPr>
          <a:xfrm>
            <a:off x="341096" y="5534874"/>
            <a:ext cx="6039903" cy="153888"/>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serial communication protocol and the packet formats are shown in below for more details.</a:t>
            </a:r>
          </a:p>
        </p:txBody>
      </p:sp>
      <p:grpSp>
        <p:nvGrpSpPr>
          <p:cNvPr id="36" name="그룹 35">
            <a:extLst>
              <a:ext uri="{FF2B5EF4-FFF2-40B4-BE49-F238E27FC236}">
                <a16:creationId xmlns:a16="http://schemas.microsoft.com/office/drawing/2014/main" id="{E0904E6D-4CF6-A0AD-47E9-FC75A62F07DE}"/>
              </a:ext>
            </a:extLst>
          </p:cNvPr>
          <p:cNvGrpSpPr/>
          <p:nvPr/>
        </p:nvGrpSpPr>
        <p:grpSpPr>
          <a:xfrm>
            <a:off x="238088" y="6657762"/>
            <a:ext cx="6245917" cy="2582404"/>
            <a:chOff x="2976563" y="2832662"/>
            <a:chExt cx="6245917" cy="2582404"/>
          </a:xfrm>
        </p:grpSpPr>
        <p:grpSp>
          <p:nvGrpSpPr>
            <p:cNvPr id="37" name="그룹 36">
              <a:extLst>
                <a:ext uri="{FF2B5EF4-FFF2-40B4-BE49-F238E27FC236}">
                  <a16:creationId xmlns:a16="http://schemas.microsoft.com/office/drawing/2014/main" id="{B8C6F0F3-CA28-C49C-C089-2CA8D6D71CFC}"/>
                </a:ext>
              </a:extLst>
            </p:cNvPr>
            <p:cNvGrpSpPr/>
            <p:nvPr/>
          </p:nvGrpSpPr>
          <p:grpSpPr>
            <a:xfrm>
              <a:off x="2976563" y="2832662"/>
              <a:ext cx="6245917" cy="2582404"/>
              <a:chOff x="2976563" y="2832662"/>
              <a:chExt cx="6245917" cy="2582404"/>
            </a:xfrm>
          </p:grpSpPr>
          <p:pic>
            <p:nvPicPr>
              <p:cNvPr id="42" name="그림 41">
                <a:extLst>
                  <a:ext uri="{FF2B5EF4-FFF2-40B4-BE49-F238E27FC236}">
                    <a16:creationId xmlns:a16="http://schemas.microsoft.com/office/drawing/2014/main" id="{B660E06E-B47C-8C73-E431-EBF3B63C64B8}"/>
                  </a:ext>
                </a:extLst>
              </p:cNvPr>
              <p:cNvPicPr>
                <a:picLocks noChangeAspect="1"/>
              </p:cNvPicPr>
              <p:nvPr/>
            </p:nvPicPr>
            <p:blipFill>
              <a:blip r:embed="rId3"/>
              <a:stretch>
                <a:fillRect/>
              </a:stretch>
            </p:blipFill>
            <p:spPr>
              <a:xfrm>
                <a:off x="3030480" y="2832662"/>
                <a:ext cx="6192000" cy="2582404"/>
              </a:xfrm>
              <a:prstGeom prst="rect">
                <a:avLst/>
              </a:prstGeom>
            </p:spPr>
          </p:pic>
          <p:sp>
            <p:nvSpPr>
              <p:cNvPr id="43" name="TextBox 42">
                <a:extLst>
                  <a:ext uri="{FF2B5EF4-FFF2-40B4-BE49-F238E27FC236}">
                    <a16:creationId xmlns:a16="http://schemas.microsoft.com/office/drawing/2014/main" id="{F082A479-7322-F623-B706-A2AFED89662E}"/>
                  </a:ext>
                </a:extLst>
              </p:cNvPr>
              <p:cNvSpPr txBox="1"/>
              <p:nvPr/>
            </p:nvSpPr>
            <p:spPr>
              <a:xfrm>
                <a:off x="2976563" y="3196709"/>
                <a:ext cx="6143624" cy="36933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ko-KR" altLang="en-US" sz="1100" b="0" i="0" u="none" strike="noStrike" kern="0" cap="none" spc="0" normalizeH="0" baseline="0" noProof="0" dirty="0">
                    <a:ln>
                      <a:noFill/>
                    </a:ln>
                    <a:solidFill>
                      <a:srgbClr val="000000"/>
                    </a:solidFill>
                    <a:effectLst/>
                    <a:uLnTx/>
                    <a:uFillTx/>
                    <a:latin typeface="맑은 고딕" panose="020B0503020000020004" pitchFamily="50" charset="-127"/>
                  </a:rPr>
                  <a:t>　</a:t>
                </a:r>
                <a:r>
                  <a:rPr kumimoji="0" lang="ko-KR" altLang="en-US" sz="1800" b="0" i="0" u="none" strike="noStrike" kern="0" cap="none" spc="0" normalizeH="0" baseline="0" noProof="0" dirty="0">
                    <a:ln>
                      <a:noFill/>
                    </a:ln>
                    <a:solidFill>
                      <a:prstClr val="black"/>
                    </a:solidFill>
                    <a:effectLst/>
                    <a:uLnTx/>
                    <a:uFillTx/>
                  </a:rPr>
                  <a:t> </a:t>
                </a:r>
              </a:p>
            </p:txBody>
          </p:sp>
          <p:sp>
            <p:nvSpPr>
              <p:cNvPr id="44" name="TextBox 43">
                <a:extLst>
                  <a:ext uri="{FF2B5EF4-FFF2-40B4-BE49-F238E27FC236}">
                    <a16:creationId xmlns:a16="http://schemas.microsoft.com/office/drawing/2014/main" id="{02044831-AF37-4022-CA7B-D9343FCA40AA}"/>
                  </a:ext>
                </a:extLst>
              </p:cNvPr>
              <p:cNvSpPr txBox="1"/>
              <p:nvPr/>
            </p:nvSpPr>
            <p:spPr>
              <a:xfrm>
                <a:off x="2976563" y="3196709"/>
                <a:ext cx="6143624" cy="36933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ko-KR" altLang="en-US" sz="1100" b="0" i="0" u="none" strike="noStrike" kern="0" cap="none" spc="0" normalizeH="0" baseline="0" noProof="0" dirty="0">
                    <a:ln>
                      <a:noFill/>
                    </a:ln>
                    <a:solidFill>
                      <a:srgbClr val="000000"/>
                    </a:solidFill>
                    <a:effectLst/>
                    <a:uLnTx/>
                    <a:uFillTx/>
                    <a:latin typeface="맑은 고딕" panose="020B0503020000020004" pitchFamily="50" charset="-127"/>
                  </a:rPr>
                  <a:t>　</a:t>
                </a:r>
                <a:r>
                  <a:rPr kumimoji="0" lang="ko-KR" altLang="en-US" sz="1800" b="0" i="0" u="none" strike="noStrike" kern="0" cap="none" spc="0" normalizeH="0" baseline="0" noProof="0" dirty="0">
                    <a:ln>
                      <a:noFill/>
                    </a:ln>
                    <a:solidFill>
                      <a:prstClr val="black"/>
                    </a:solidFill>
                    <a:effectLst/>
                    <a:uLnTx/>
                    <a:uFillTx/>
                  </a:rPr>
                  <a:t> </a:t>
                </a:r>
              </a:p>
            </p:txBody>
          </p:sp>
          <p:sp>
            <p:nvSpPr>
              <p:cNvPr id="45" name="직사각형 44">
                <a:extLst>
                  <a:ext uri="{FF2B5EF4-FFF2-40B4-BE49-F238E27FC236}">
                    <a16:creationId xmlns:a16="http://schemas.microsoft.com/office/drawing/2014/main" id="{0A4AC433-3D9E-ACD5-4DA1-FF5281C5B070}"/>
                  </a:ext>
                </a:extLst>
              </p:cNvPr>
              <p:cNvSpPr/>
              <p:nvPr/>
            </p:nvSpPr>
            <p:spPr>
              <a:xfrm>
                <a:off x="3597506" y="4637088"/>
                <a:ext cx="71767"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nvGrpSpPr>
              <p:cNvPr id="46" name="그룹 45">
                <a:extLst>
                  <a:ext uri="{FF2B5EF4-FFF2-40B4-BE49-F238E27FC236}">
                    <a16:creationId xmlns:a16="http://schemas.microsoft.com/office/drawing/2014/main" id="{84D4B7F5-9EC6-B8F6-FE07-BAEF6E495E56}"/>
                  </a:ext>
                </a:extLst>
              </p:cNvPr>
              <p:cNvGrpSpPr/>
              <p:nvPr/>
            </p:nvGrpSpPr>
            <p:grpSpPr>
              <a:xfrm>
                <a:off x="3877597" y="4599160"/>
                <a:ext cx="260886" cy="169277"/>
                <a:chOff x="2366536" y="4364341"/>
                <a:chExt cx="242374" cy="169277"/>
              </a:xfrm>
            </p:grpSpPr>
            <p:sp>
              <p:nvSpPr>
                <p:cNvPr id="56" name="직사각형 55">
                  <a:extLst>
                    <a:ext uri="{FF2B5EF4-FFF2-40B4-BE49-F238E27FC236}">
                      <a16:creationId xmlns:a16="http://schemas.microsoft.com/office/drawing/2014/main" id="{720CA0CD-A73E-5C01-B1A4-6E3B4046CEDD}"/>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7" name="TextBox 56">
                  <a:extLst>
                    <a:ext uri="{FF2B5EF4-FFF2-40B4-BE49-F238E27FC236}">
                      <a16:creationId xmlns:a16="http://schemas.microsoft.com/office/drawing/2014/main" id="{EB31CE00-A201-4310-28CB-2989D79616BD}"/>
                    </a:ext>
                  </a:extLst>
                </p:cNvPr>
                <p:cNvSpPr txBox="1"/>
                <p:nvPr/>
              </p:nvSpPr>
              <p:spPr>
                <a:xfrm>
                  <a:off x="2366536" y="4364341"/>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47" name="그룹 46">
                <a:extLst>
                  <a:ext uri="{FF2B5EF4-FFF2-40B4-BE49-F238E27FC236}">
                    <a16:creationId xmlns:a16="http://schemas.microsoft.com/office/drawing/2014/main" id="{175EC060-98F9-49E0-509C-7840B372A676}"/>
                  </a:ext>
                </a:extLst>
              </p:cNvPr>
              <p:cNvGrpSpPr/>
              <p:nvPr/>
            </p:nvGrpSpPr>
            <p:grpSpPr>
              <a:xfrm>
                <a:off x="5333396" y="4601034"/>
                <a:ext cx="260886" cy="169277"/>
                <a:chOff x="2368127" y="4366470"/>
                <a:chExt cx="242374" cy="169277"/>
              </a:xfrm>
            </p:grpSpPr>
            <p:sp>
              <p:nvSpPr>
                <p:cNvPr id="54" name="직사각형 53">
                  <a:extLst>
                    <a:ext uri="{FF2B5EF4-FFF2-40B4-BE49-F238E27FC236}">
                      <a16:creationId xmlns:a16="http://schemas.microsoft.com/office/drawing/2014/main" id="{8FE04E59-1C9B-5BAF-6B1D-FDC7FC2874D8}"/>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5" name="TextBox 54">
                  <a:extLst>
                    <a:ext uri="{FF2B5EF4-FFF2-40B4-BE49-F238E27FC236}">
                      <a16:creationId xmlns:a16="http://schemas.microsoft.com/office/drawing/2014/main" id="{46852FA9-8FF6-CD7A-F7C4-A832EFF1CAB3}"/>
                    </a:ext>
                  </a:extLst>
                </p:cNvPr>
                <p:cNvSpPr txBox="1"/>
                <p:nvPr/>
              </p:nvSpPr>
              <p:spPr>
                <a:xfrm>
                  <a:off x="2368127" y="4366470"/>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48" name="그룹 47">
                <a:extLst>
                  <a:ext uri="{FF2B5EF4-FFF2-40B4-BE49-F238E27FC236}">
                    <a16:creationId xmlns:a16="http://schemas.microsoft.com/office/drawing/2014/main" id="{C504E94B-8DB1-083C-70BD-821C64B08FC2}"/>
                  </a:ext>
                </a:extLst>
              </p:cNvPr>
              <p:cNvGrpSpPr/>
              <p:nvPr/>
            </p:nvGrpSpPr>
            <p:grpSpPr>
              <a:xfrm>
                <a:off x="5708109" y="4599572"/>
                <a:ext cx="260886" cy="169277"/>
                <a:chOff x="2369602" y="4366470"/>
                <a:chExt cx="242374" cy="169277"/>
              </a:xfrm>
            </p:grpSpPr>
            <p:sp>
              <p:nvSpPr>
                <p:cNvPr id="52" name="직사각형 51">
                  <a:extLst>
                    <a:ext uri="{FF2B5EF4-FFF2-40B4-BE49-F238E27FC236}">
                      <a16:creationId xmlns:a16="http://schemas.microsoft.com/office/drawing/2014/main" id="{01BC7672-428E-CBD7-5F31-3E9717DF49AA}"/>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3" name="TextBox 52">
                  <a:extLst>
                    <a:ext uri="{FF2B5EF4-FFF2-40B4-BE49-F238E27FC236}">
                      <a16:creationId xmlns:a16="http://schemas.microsoft.com/office/drawing/2014/main" id="{7FF2FDBE-80CB-D8B7-F1F8-5180E4CAE5EE}"/>
                    </a:ext>
                  </a:extLst>
                </p:cNvPr>
                <p:cNvSpPr txBox="1"/>
                <p:nvPr/>
              </p:nvSpPr>
              <p:spPr>
                <a:xfrm>
                  <a:off x="2369602" y="4366470"/>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49" name="그룹 48">
                <a:extLst>
                  <a:ext uri="{FF2B5EF4-FFF2-40B4-BE49-F238E27FC236}">
                    <a16:creationId xmlns:a16="http://schemas.microsoft.com/office/drawing/2014/main" id="{C6C325BF-500A-D9F8-4AF2-D90FE75FBB47}"/>
                  </a:ext>
                </a:extLst>
              </p:cNvPr>
              <p:cNvGrpSpPr/>
              <p:nvPr/>
            </p:nvGrpSpPr>
            <p:grpSpPr>
              <a:xfrm>
                <a:off x="6407956" y="4599572"/>
                <a:ext cx="260886" cy="169277"/>
                <a:chOff x="2369602" y="4366470"/>
                <a:chExt cx="242374" cy="169277"/>
              </a:xfrm>
            </p:grpSpPr>
            <p:sp>
              <p:nvSpPr>
                <p:cNvPr id="50" name="직사각형 49">
                  <a:extLst>
                    <a:ext uri="{FF2B5EF4-FFF2-40B4-BE49-F238E27FC236}">
                      <a16:creationId xmlns:a16="http://schemas.microsoft.com/office/drawing/2014/main" id="{3C6053EE-7882-F119-419B-C35522E6C728}"/>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1" name="TextBox 50">
                  <a:extLst>
                    <a:ext uri="{FF2B5EF4-FFF2-40B4-BE49-F238E27FC236}">
                      <a16:creationId xmlns:a16="http://schemas.microsoft.com/office/drawing/2014/main" id="{F2B62981-DE58-3108-DC4C-E547FEC86E0C}"/>
                    </a:ext>
                  </a:extLst>
                </p:cNvPr>
                <p:cNvSpPr txBox="1"/>
                <p:nvPr/>
              </p:nvSpPr>
              <p:spPr>
                <a:xfrm>
                  <a:off x="2369602" y="4366470"/>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sp>
          <p:nvSpPr>
            <p:cNvPr id="38" name="TextBox 37">
              <a:extLst>
                <a:ext uri="{FF2B5EF4-FFF2-40B4-BE49-F238E27FC236}">
                  <a16:creationId xmlns:a16="http://schemas.microsoft.com/office/drawing/2014/main" id="{0F10D927-E1D0-F296-32EE-103DD5022558}"/>
                </a:ext>
              </a:extLst>
            </p:cNvPr>
            <p:cNvSpPr txBox="1"/>
            <p:nvPr/>
          </p:nvSpPr>
          <p:spPr>
            <a:xfrm>
              <a:off x="3503085" y="4599572"/>
              <a:ext cx="260886"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nvGrpSpPr>
            <p:cNvPr id="39" name="그룹 38">
              <a:extLst>
                <a:ext uri="{FF2B5EF4-FFF2-40B4-BE49-F238E27FC236}">
                  <a16:creationId xmlns:a16="http://schemas.microsoft.com/office/drawing/2014/main" id="{DA628397-4D50-01FE-1104-94C7B14FE9CF}"/>
                </a:ext>
              </a:extLst>
            </p:cNvPr>
            <p:cNvGrpSpPr/>
            <p:nvPr/>
          </p:nvGrpSpPr>
          <p:grpSpPr>
            <a:xfrm>
              <a:off x="4659234" y="4599443"/>
              <a:ext cx="260886" cy="169277"/>
              <a:chOff x="2590723" y="3781880"/>
              <a:chExt cx="260886" cy="169277"/>
            </a:xfrm>
          </p:grpSpPr>
          <p:sp>
            <p:nvSpPr>
              <p:cNvPr id="40" name="직사각형 39">
                <a:extLst>
                  <a:ext uri="{FF2B5EF4-FFF2-40B4-BE49-F238E27FC236}">
                    <a16:creationId xmlns:a16="http://schemas.microsoft.com/office/drawing/2014/main" id="{17AB5496-28FC-C755-809B-7D305DA1A36A}"/>
                  </a:ext>
                </a:extLst>
              </p:cNvPr>
              <p:cNvSpPr/>
              <p:nvPr/>
            </p:nvSpPr>
            <p:spPr>
              <a:xfrm>
                <a:off x="2685283" y="3820563"/>
                <a:ext cx="71767"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1" name="TextBox 40">
                <a:extLst>
                  <a:ext uri="{FF2B5EF4-FFF2-40B4-BE49-F238E27FC236}">
                    <a16:creationId xmlns:a16="http://schemas.microsoft.com/office/drawing/2014/main" id="{628D10A9-0E86-8357-B8A4-A7D6FBDEC567}"/>
                  </a:ext>
                </a:extLst>
              </p:cNvPr>
              <p:cNvSpPr txBox="1"/>
              <p:nvPr/>
            </p:nvSpPr>
            <p:spPr>
              <a:xfrm>
                <a:off x="2590723" y="3781880"/>
                <a:ext cx="260886"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pic>
        <p:nvPicPr>
          <p:cNvPr id="58" name="그림 57">
            <a:extLst>
              <a:ext uri="{FF2B5EF4-FFF2-40B4-BE49-F238E27FC236}">
                <a16:creationId xmlns:a16="http://schemas.microsoft.com/office/drawing/2014/main" id="{10EE5529-44E7-F073-8CBB-1EA2B5220D59}"/>
              </a:ext>
            </a:extLst>
          </p:cNvPr>
          <p:cNvPicPr>
            <a:picLocks noChangeAspect="1"/>
          </p:cNvPicPr>
          <p:nvPr/>
        </p:nvPicPr>
        <p:blipFill>
          <a:blip r:embed="rId4"/>
          <a:stretch>
            <a:fillRect/>
          </a:stretch>
        </p:blipFill>
        <p:spPr>
          <a:xfrm>
            <a:off x="495300" y="2245434"/>
            <a:ext cx="5911073" cy="2754488"/>
          </a:xfrm>
          <a:prstGeom prst="rect">
            <a:avLst/>
          </a:prstGeom>
        </p:spPr>
      </p:pic>
      <p:pic>
        <p:nvPicPr>
          <p:cNvPr id="5" name="그림 4">
            <a:extLst>
              <a:ext uri="{FF2B5EF4-FFF2-40B4-BE49-F238E27FC236}">
                <a16:creationId xmlns:a16="http://schemas.microsoft.com/office/drawing/2014/main" id="{88B5AA3B-B2BE-680A-F405-06257B222258}"/>
              </a:ext>
            </a:extLst>
          </p:cNvPr>
          <p:cNvPicPr>
            <a:picLocks noChangeAspect="1"/>
          </p:cNvPicPr>
          <p:nvPr/>
        </p:nvPicPr>
        <p:blipFill>
          <a:blip r:embed="rId5"/>
          <a:stretch>
            <a:fillRect/>
          </a:stretch>
        </p:blipFill>
        <p:spPr>
          <a:xfrm>
            <a:off x="2969634" y="7951044"/>
            <a:ext cx="3379353" cy="425745"/>
          </a:xfrm>
          <a:prstGeom prst="rect">
            <a:avLst/>
          </a:prstGeom>
        </p:spPr>
      </p:pic>
      <p:sp>
        <p:nvSpPr>
          <p:cNvPr id="8" name="TextBox 7">
            <a:extLst>
              <a:ext uri="{FF2B5EF4-FFF2-40B4-BE49-F238E27FC236}">
                <a16:creationId xmlns:a16="http://schemas.microsoft.com/office/drawing/2014/main" id="{BFF0FC8A-C219-447C-C734-912727F02E98}"/>
              </a:ext>
            </a:extLst>
          </p:cNvPr>
          <p:cNvSpPr txBox="1"/>
          <p:nvPr/>
        </p:nvSpPr>
        <p:spPr>
          <a:xfrm>
            <a:off x="1462481" y="8304440"/>
            <a:ext cx="955711" cy="184666"/>
          </a:xfrm>
          <a:prstGeom prst="rect">
            <a:avLst/>
          </a:prstGeom>
          <a:noFill/>
        </p:spPr>
        <p:txBody>
          <a:bodyPr wrap="none" rtlCol="0">
            <a:spAutoFit/>
          </a:bodyPr>
          <a:lstStyle/>
          <a:p>
            <a:r>
              <a:rPr lang="en-US" altLang="ko-KR" sz="600" dirty="0"/>
              <a:t>LD_TYP=01,PWM_RES=1</a:t>
            </a:r>
            <a:endParaRPr lang="ko-KR" altLang="en-US" sz="600" dirty="0"/>
          </a:p>
        </p:txBody>
      </p:sp>
      <p:sp>
        <p:nvSpPr>
          <p:cNvPr id="7" name="TextBox 6">
            <a:extLst>
              <a:ext uri="{FF2B5EF4-FFF2-40B4-BE49-F238E27FC236}">
                <a16:creationId xmlns:a16="http://schemas.microsoft.com/office/drawing/2014/main" id="{CD831342-4F10-E99B-91E2-727BBD971028}"/>
              </a:ext>
            </a:extLst>
          </p:cNvPr>
          <p:cNvSpPr txBox="1"/>
          <p:nvPr/>
        </p:nvSpPr>
        <p:spPr>
          <a:xfrm>
            <a:off x="1549400" y="6007099"/>
            <a:ext cx="393700" cy="323165"/>
          </a:xfrm>
          <a:prstGeom prst="rect">
            <a:avLst/>
          </a:prstGeom>
          <a:solidFill>
            <a:schemeClr val="accent5">
              <a:lumMod val="20000"/>
              <a:lumOff val="80000"/>
            </a:schemeClr>
          </a:solidFill>
        </p:spPr>
        <p:txBody>
          <a:bodyPr wrap="square" lIns="0" tIns="0" rIns="0" bIns="0" rtlCol="0">
            <a:spAutoFit/>
          </a:bodyPr>
          <a:lstStyle/>
          <a:p>
            <a:pPr algn="ctr"/>
            <a:r>
              <a:rPr lang="en-US" altLang="ko-KR" sz="700" b="1" dirty="0">
                <a:latin typeface="Arial" panose="020B0604020202020204" pitchFamily="34" charset="0"/>
                <a:cs typeface="Arial" panose="020B0604020202020204" pitchFamily="34" charset="0"/>
              </a:rPr>
              <a:t>XC24R</a:t>
            </a:r>
          </a:p>
          <a:p>
            <a:pPr algn="ctr"/>
            <a:r>
              <a:rPr lang="en-US" altLang="ko-KR" sz="700" b="1" dirty="0">
                <a:latin typeface="Arial" panose="020B0604020202020204" pitchFamily="34" charset="0"/>
                <a:cs typeface="Arial" panose="020B0604020202020204" pitchFamily="34" charset="0"/>
              </a:rPr>
              <a:t>or</a:t>
            </a:r>
          </a:p>
          <a:p>
            <a:pPr algn="ctr"/>
            <a:r>
              <a:rPr lang="en-US" altLang="ko-KR" sz="700" b="1" dirty="0">
                <a:latin typeface="Arial" panose="020B0604020202020204" pitchFamily="34" charset="0"/>
                <a:cs typeface="Arial" panose="020B0604020202020204" pitchFamily="34" charset="0"/>
              </a:rPr>
              <a:t>MCU</a:t>
            </a:r>
            <a:endParaRPr lang="ko-KR" altLang="en-US" sz="700" b="1" dirty="0">
              <a:latin typeface="Arial" panose="020B0604020202020204" pitchFamily="34" charset="0"/>
              <a:cs typeface="Arial" panose="020B0604020202020204" pitchFamily="34" charset="0"/>
            </a:endParaRPr>
          </a:p>
        </p:txBody>
      </p:sp>
      <p:sp>
        <p:nvSpPr>
          <p:cNvPr id="9" name="직사각형 8">
            <a:extLst>
              <a:ext uri="{FF2B5EF4-FFF2-40B4-BE49-F238E27FC236}">
                <a16:creationId xmlns:a16="http://schemas.microsoft.com/office/drawing/2014/main" id="{F2BB9B86-FFB5-C1E4-04AB-BAD8EF1BCB01}"/>
              </a:ext>
            </a:extLst>
          </p:cNvPr>
          <p:cNvSpPr/>
          <p:nvPr/>
        </p:nvSpPr>
        <p:spPr>
          <a:xfrm>
            <a:off x="3508375" y="4438650"/>
            <a:ext cx="1895475" cy="4500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0" name="그림 9">
            <a:extLst>
              <a:ext uri="{FF2B5EF4-FFF2-40B4-BE49-F238E27FC236}">
                <a16:creationId xmlns:a16="http://schemas.microsoft.com/office/drawing/2014/main" id="{7B8E68EA-FF68-5B99-4712-A6BFB6A98555}"/>
              </a:ext>
            </a:extLst>
          </p:cNvPr>
          <p:cNvPicPr>
            <a:picLocks noChangeAspect="1"/>
          </p:cNvPicPr>
          <p:nvPr/>
        </p:nvPicPr>
        <p:blipFill>
          <a:blip r:embed="rId6"/>
          <a:stretch>
            <a:fillRect/>
          </a:stretch>
        </p:blipFill>
        <p:spPr>
          <a:xfrm>
            <a:off x="3533775" y="4433254"/>
            <a:ext cx="3181350" cy="437084"/>
          </a:xfrm>
          <a:prstGeom prst="rect">
            <a:avLst/>
          </a:prstGeom>
        </p:spPr>
      </p:pic>
    </p:spTree>
    <p:extLst>
      <p:ext uri="{BB962C8B-B14F-4D97-AF65-F5344CB8AC3E}">
        <p14:creationId xmlns:p14="http://schemas.microsoft.com/office/powerpoint/2010/main" val="2113197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0DD6E-1A42-6ED0-F928-E5FEC9ABD594}"/>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D38BB34-2343-755C-7DF7-80A370D1842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3D8806C-98E0-CDDA-F177-28DDB4A93803}"/>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3B36140B-3424-2995-257D-CCB96A0ADFC9}"/>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16" name="TextBox 15">
            <a:extLst>
              <a:ext uri="{FF2B5EF4-FFF2-40B4-BE49-F238E27FC236}">
                <a16:creationId xmlns:a16="http://schemas.microsoft.com/office/drawing/2014/main" id="{AEF16286-08B3-729B-D151-DA4A3F4438EB}"/>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PWM Configuration</a:t>
            </a:r>
          </a:p>
        </p:txBody>
      </p:sp>
      <p:sp>
        <p:nvSpPr>
          <p:cNvPr id="27" name="TextBox 26">
            <a:extLst>
              <a:ext uri="{FF2B5EF4-FFF2-40B4-BE49-F238E27FC236}">
                <a16:creationId xmlns:a16="http://schemas.microsoft.com/office/drawing/2014/main" id="{EC4EB98B-9AD1-3C74-EDD4-668FEA5F57EA}"/>
              </a:ext>
            </a:extLst>
          </p:cNvPr>
          <p:cNvSpPr txBox="1"/>
          <p:nvPr/>
        </p:nvSpPr>
        <p:spPr>
          <a:xfrm>
            <a:off x="2683059" y="4823817"/>
            <a:ext cx="1532471"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6. PWM Configuration</a:t>
            </a:r>
          </a:p>
        </p:txBody>
      </p:sp>
      <p:sp>
        <p:nvSpPr>
          <p:cNvPr id="28" name="TextBox 27">
            <a:extLst>
              <a:ext uri="{FF2B5EF4-FFF2-40B4-BE49-F238E27FC236}">
                <a16:creationId xmlns:a16="http://schemas.microsoft.com/office/drawing/2014/main" id="{ABCC5226-F24D-989E-083B-BBD53191AAED}"/>
              </a:ext>
            </a:extLst>
          </p:cNvPr>
          <p:cNvSpPr txBox="1"/>
          <p:nvPr/>
        </p:nvSpPr>
        <p:spPr>
          <a:xfrm>
            <a:off x="407554" y="1556966"/>
            <a:ext cx="6039903"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PWM behavior</a:t>
            </a:r>
            <a:r>
              <a:rPr lang="ko-KR" altLang="en-US" sz="1000" dirty="0">
                <a:latin typeface="Arial" panose="020B0604020202020204" pitchFamily="34" charset="0"/>
                <a:cs typeface="Arial" panose="020B0604020202020204" pitchFamily="34" charset="0"/>
              </a:rPr>
              <a:t> </a:t>
            </a:r>
            <a:r>
              <a:rPr lang="en-US" altLang="ko-KR" sz="1000" dirty="0">
                <a:latin typeface="Arial" panose="020B0604020202020204" pitchFamily="34" charset="0"/>
                <a:cs typeface="Arial" panose="020B0604020202020204" pitchFamily="34" charset="0"/>
              </a:rPr>
              <a:t>depends on PWM configuration set to the PWM_RES and SUB-FRAME</a:t>
            </a:r>
          </a:p>
          <a:p>
            <a:pPr algn="just"/>
            <a:r>
              <a:rPr lang="en-US" altLang="ko-KR" sz="1000" dirty="0">
                <a:latin typeface="Arial" panose="020B0604020202020204" pitchFamily="34" charset="0"/>
                <a:cs typeface="Arial" panose="020B0604020202020204" pitchFamily="34" charset="0"/>
              </a:rPr>
              <a:t>(ex: LD_TYPE =1, </a:t>
            </a:r>
            <a:r>
              <a:rPr lang="en-US" altLang="ko-KR" sz="1000" dirty="0" err="1">
                <a:latin typeface="Arial" panose="020B0604020202020204" pitchFamily="34" charset="0"/>
                <a:cs typeface="Arial" panose="020B0604020202020204" pitchFamily="34" charset="0"/>
              </a:rPr>
              <a:t>svsync</a:t>
            </a:r>
            <a:r>
              <a:rPr lang="en-US" altLang="ko-KR" sz="1000" dirty="0">
                <a:latin typeface="Arial" panose="020B0604020202020204" pitchFamily="34" charset="0"/>
                <a:cs typeface="Arial" panose="020B0604020202020204" pitchFamily="34" charset="0"/>
              </a:rPr>
              <a:t> / 3) </a:t>
            </a:r>
            <a:r>
              <a:rPr lang="en-US" altLang="ko-KR" sz="1000" b="0" i="0" dirty="0">
                <a:solidFill>
                  <a:srgbClr val="000000"/>
                </a:solidFill>
                <a:effectLst/>
                <a:latin typeface="Arial" panose="020B0604020202020204" pitchFamily="34" charset="0"/>
                <a:cs typeface="Arial" panose="020B0604020202020204" pitchFamily="34" charset="0"/>
              </a:rPr>
              <a:t>as shown in the Table 6. LD data is applied to the next frame.</a:t>
            </a:r>
            <a:endParaRPr lang="en-US" altLang="ko-KR" sz="1000" dirty="0">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B1741DE8-4988-2A5B-D396-15D9314EDF97}"/>
              </a:ext>
            </a:extLst>
          </p:cNvPr>
          <p:cNvSpPr txBox="1"/>
          <p:nvPr/>
        </p:nvSpPr>
        <p:spPr>
          <a:xfrm>
            <a:off x="4216054" y="4575448"/>
            <a:ext cx="660758" cy="230832"/>
          </a:xfrm>
          <a:prstGeom prst="rect">
            <a:avLst/>
          </a:prstGeom>
          <a:noFill/>
        </p:spPr>
        <p:txBody>
          <a:bodyPr wrap="none" rtlCol="0">
            <a:spAutoFit/>
          </a:bodyPr>
          <a:lstStyle/>
          <a:p>
            <a:r>
              <a:rPr lang="en-US" altLang="ko-KR" sz="900" dirty="0"/>
              <a:t>don’t care</a:t>
            </a:r>
            <a:endParaRPr lang="ko-KR" altLang="en-US" sz="900" dirty="0"/>
          </a:p>
        </p:txBody>
      </p:sp>
      <p:sp>
        <p:nvSpPr>
          <p:cNvPr id="31" name="직사각형 30">
            <a:extLst>
              <a:ext uri="{FF2B5EF4-FFF2-40B4-BE49-F238E27FC236}">
                <a16:creationId xmlns:a16="http://schemas.microsoft.com/office/drawing/2014/main" id="{521FA51C-743C-2E95-B8B8-B7BF5BABAB4C}"/>
              </a:ext>
            </a:extLst>
          </p:cNvPr>
          <p:cNvSpPr/>
          <p:nvPr/>
        </p:nvSpPr>
        <p:spPr>
          <a:xfrm>
            <a:off x="4161530" y="4636864"/>
            <a:ext cx="108000" cy="108000"/>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dirty="0">
                <a:solidFill>
                  <a:schemeClr val="tx1"/>
                </a:solidFill>
              </a:rPr>
              <a:t>x</a:t>
            </a:r>
            <a:endParaRPr lang="ko-KR" altLang="en-US" sz="900" dirty="0">
              <a:solidFill>
                <a:schemeClr val="tx1"/>
              </a:solidFill>
            </a:endParaRPr>
          </a:p>
        </p:txBody>
      </p:sp>
      <p:sp>
        <p:nvSpPr>
          <p:cNvPr id="32" name="직사각형 31">
            <a:extLst>
              <a:ext uri="{FF2B5EF4-FFF2-40B4-BE49-F238E27FC236}">
                <a16:creationId xmlns:a16="http://schemas.microsoft.com/office/drawing/2014/main" id="{AA271FD9-B1E1-A297-4469-3BABB8CA947B}"/>
              </a:ext>
            </a:extLst>
          </p:cNvPr>
          <p:cNvSpPr/>
          <p:nvPr/>
        </p:nvSpPr>
        <p:spPr>
          <a:xfrm>
            <a:off x="4154644" y="4193332"/>
            <a:ext cx="108000" cy="108000"/>
          </a:xfrm>
          <a:prstGeom prst="rect">
            <a:avLst/>
          </a:prstGeom>
          <a:solidFill>
            <a:srgbClr val="FFD1D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33" name="TextBox 32">
            <a:extLst>
              <a:ext uri="{FF2B5EF4-FFF2-40B4-BE49-F238E27FC236}">
                <a16:creationId xmlns:a16="http://schemas.microsoft.com/office/drawing/2014/main" id="{3620F059-6CBA-93F4-979B-3BB964E28E95}"/>
              </a:ext>
            </a:extLst>
          </p:cNvPr>
          <p:cNvSpPr txBox="1"/>
          <p:nvPr/>
        </p:nvSpPr>
        <p:spPr>
          <a:xfrm>
            <a:off x="4212879" y="4131916"/>
            <a:ext cx="1519968" cy="230832"/>
          </a:xfrm>
          <a:prstGeom prst="rect">
            <a:avLst/>
          </a:prstGeom>
          <a:noFill/>
        </p:spPr>
        <p:txBody>
          <a:bodyPr wrap="none" rtlCol="0">
            <a:spAutoFit/>
          </a:bodyPr>
          <a:lstStyle/>
          <a:p>
            <a:r>
              <a:rPr lang="en-US" altLang="ko-KR" sz="900" dirty="0"/>
              <a:t>sub-frames # with max. duty</a:t>
            </a:r>
            <a:endParaRPr lang="ko-KR" altLang="en-US" sz="900" dirty="0"/>
          </a:p>
        </p:txBody>
      </p:sp>
      <p:sp>
        <p:nvSpPr>
          <p:cNvPr id="4" name="직사각형 3">
            <a:extLst>
              <a:ext uri="{FF2B5EF4-FFF2-40B4-BE49-F238E27FC236}">
                <a16:creationId xmlns:a16="http://schemas.microsoft.com/office/drawing/2014/main" id="{061104FD-AD21-5CA5-7E04-0675F32B9840}"/>
              </a:ext>
            </a:extLst>
          </p:cNvPr>
          <p:cNvSpPr/>
          <p:nvPr/>
        </p:nvSpPr>
        <p:spPr>
          <a:xfrm>
            <a:off x="4152997" y="4422289"/>
            <a:ext cx="108000" cy="108000"/>
          </a:xfrm>
          <a:prstGeom prst="rect">
            <a:avLst/>
          </a:prstGeom>
          <a:solidFill>
            <a:srgbClr val="FFFFEB"/>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5" name="TextBox 4">
            <a:extLst>
              <a:ext uri="{FF2B5EF4-FFF2-40B4-BE49-F238E27FC236}">
                <a16:creationId xmlns:a16="http://schemas.microsoft.com/office/drawing/2014/main" id="{69981FEB-C62F-4D7C-CB57-D1355462018F}"/>
              </a:ext>
            </a:extLst>
          </p:cNvPr>
          <p:cNvSpPr txBox="1"/>
          <p:nvPr/>
        </p:nvSpPr>
        <p:spPr>
          <a:xfrm>
            <a:off x="4210794" y="4360873"/>
            <a:ext cx="1985543" cy="230832"/>
          </a:xfrm>
          <a:prstGeom prst="rect">
            <a:avLst/>
          </a:prstGeom>
          <a:noFill/>
        </p:spPr>
        <p:txBody>
          <a:bodyPr wrap="square" rtlCol="0">
            <a:spAutoFit/>
          </a:bodyPr>
          <a:lstStyle/>
          <a:p>
            <a:r>
              <a:rPr lang="en-US" altLang="ko-KR" sz="900" dirty="0"/>
              <a:t>s</a:t>
            </a:r>
            <a:r>
              <a:rPr lang="en-US" altLang="ko-KR" sz="900"/>
              <a:t>tep </a:t>
            </a:r>
            <a:r>
              <a:rPr lang="en-US" altLang="ko-KR" sz="900" dirty="0"/>
              <a:t># in sub-frame without max. duty</a:t>
            </a:r>
            <a:endParaRPr lang="ko-KR" altLang="en-US" sz="900" dirty="0"/>
          </a:p>
        </p:txBody>
      </p:sp>
      <p:graphicFrame>
        <p:nvGraphicFramePr>
          <p:cNvPr id="7" name="표 6">
            <a:extLst>
              <a:ext uri="{FF2B5EF4-FFF2-40B4-BE49-F238E27FC236}">
                <a16:creationId xmlns:a16="http://schemas.microsoft.com/office/drawing/2014/main" id="{CF220927-9715-9E60-E80C-49659DADF5E0}"/>
              </a:ext>
            </a:extLst>
          </p:cNvPr>
          <p:cNvGraphicFramePr>
            <a:graphicFrameLocks noGrp="1"/>
          </p:cNvGraphicFramePr>
          <p:nvPr>
            <p:extLst>
              <p:ext uri="{D42A27DB-BD31-4B8C-83A1-F6EECF244321}">
                <p14:modId xmlns:p14="http://schemas.microsoft.com/office/powerpoint/2010/main" val="1715536233"/>
              </p:ext>
            </p:extLst>
          </p:nvPr>
        </p:nvGraphicFramePr>
        <p:xfrm>
          <a:off x="465944" y="2236036"/>
          <a:ext cx="5915026" cy="1834464"/>
        </p:xfrm>
        <a:graphic>
          <a:graphicData uri="http://schemas.openxmlformats.org/drawingml/2006/table">
            <a:tbl>
              <a:tblPr/>
              <a:tblGrid>
                <a:gridCol w="430436">
                  <a:extLst>
                    <a:ext uri="{9D8B030D-6E8A-4147-A177-3AD203B41FA5}">
                      <a16:colId xmlns:a16="http://schemas.microsoft.com/office/drawing/2014/main" val="3531318785"/>
                    </a:ext>
                  </a:extLst>
                </a:gridCol>
                <a:gridCol w="430436">
                  <a:extLst>
                    <a:ext uri="{9D8B030D-6E8A-4147-A177-3AD203B41FA5}">
                      <a16:colId xmlns:a16="http://schemas.microsoft.com/office/drawing/2014/main" val="2912788013"/>
                    </a:ext>
                  </a:extLst>
                </a:gridCol>
                <a:gridCol w="361011">
                  <a:extLst>
                    <a:ext uri="{9D8B030D-6E8A-4147-A177-3AD203B41FA5}">
                      <a16:colId xmlns:a16="http://schemas.microsoft.com/office/drawing/2014/main" val="693301796"/>
                    </a:ext>
                  </a:extLst>
                </a:gridCol>
                <a:gridCol w="361011">
                  <a:extLst>
                    <a:ext uri="{9D8B030D-6E8A-4147-A177-3AD203B41FA5}">
                      <a16:colId xmlns:a16="http://schemas.microsoft.com/office/drawing/2014/main" val="2052919037"/>
                    </a:ext>
                  </a:extLst>
                </a:gridCol>
                <a:gridCol w="361011">
                  <a:extLst>
                    <a:ext uri="{9D8B030D-6E8A-4147-A177-3AD203B41FA5}">
                      <a16:colId xmlns:a16="http://schemas.microsoft.com/office/drawing/2014/main" val="4087507781"/>
                    </a:ext>
                  </a:extLst>
                </a:gridCol>
                <a:gridCol w="361011">
                  <a:extLst>
                    <a:ext uri="{9D8B030D-6E8A-4147-A177-3AD203B41FA5}">
                      <a16:colId xmlns:a16="http://schemas.microsoft.com/office/drawing/2014/main" val="127666806"/>
                    </a:ext>
                  </a:extLst>
                </a:gridCol>
                <a:gridCol w="361011">
                  <a:extLst>
                    <a:ext uri="{9D8B030D-6E8A-4147-A177-3AD203B41FA5}">
                      <a16:colId xmlns:a16="http://schemas.microsoft.com/office/drawing/2014/main" val="3361233993"/>
                    </a:ext>
                  </a:extLst>
                </a:gridCol>
                <a:gridCol w="361011">
                  <a:extLst>
                    <a:ext uri="{9D8B030D-6E8A-4147-A177-3AD203B41FA5}">
                      <a16:colId xmlns:a16="http://schemas.microsoft.com/office/drawing/2014/main" val="2066667105"/>
                    </a:ext>
                  </a:extLst>
                </a:gridCol>
                <a:gridCol w="361011">
                  <a:extLst>
                    <a:ext uri="{9D8B030D-6E8A-4147-A177-3AD203B41FA5}">
                      <a16:colId xmlns:a16="http://schemas.microsoft.com/office/drawing/2014/main" val="3098939016"/>
                    </a:ext>
                  </a:extLst>
                </a:gridCol>
                <a:gridCol w="361011">
                  <a:extLst>
                    <a:ext uri="{9D8B030D-6E8A-4147-A177-3AD203B41FA5}">
                      <a16:colId xmlns:a16="http://schemas.microsoft.com/office/drawing/2014/main" val="1074266879"/>
                    </a:ext>
                  </a:extLst>
                </a:gridCol>
                <a:gridCol w="361011">
                  <a:extLst>
                    <a:ext uri="{9D8B030D-6E8A-4147-A177-3AD203B41FA5}">
                      <a16:colId xmlns:a16="http://schemas.microsoft.com/office/drawing/2014/main" val="2200393420"/>
                    </a:ext>
                  </a:extLst>
                </a:gridCol>
                <a:gridCol w="361011">
                  <a:extLst>
                    <a:ext uri="{9D8B030D-6E8A-4147-A177-3AD203B41FA5}">
                      <a16:colId xmlns:a16="http://schemas.microsoft.com/office/drawing/2014/main" val="714494251"/>
                    </a:ext>
                  </a:extLst>
                </a:gridCol>
                <a:gridCol w="361011">
                  <a:extLst>
                    <a:ext uri="{9D8B030D-6E8A-4147-A177-3AD203B41FA5}">
                      <a16:colId xmlns:a16="http://schemas.microsoft.com/office/drawing/2014/main" val="4231617388"/>
                    </a:ext>
                  </a:extLst>
                </a:gridCol>
                <a:gridCol w="361011">
                  <a:extLst>
                    <a:ext uri="{9D8B030D-6E8A-4147-A177-3AD203B41FA5}">
                      <a16:colId xmlns:a16="http://schemas.microsoft.com/office/drawing/2014/main" val="2238012840"/>
                    </a:ext>
                  </a:extLst>
                </a:gridCol>
                <a:gridCol w="361011">
                  <a:extLst>
                    <a:ext uri="{9D8B030D-6E8A-4147-A177-3AD203B41FA5}">
                      <a16:colId xmlns:a16="http://schemas.microsoft.com/office/drawing/2014/main" val="1152859303"/>
                    </a:ext>
                  </a:extLst>
                </a:gridCol>
                <a:gridCol w="361011">
                  <a:extLst>
                    <a:ext uri="{9D8B030D-6E8A-4147-A177-3AD203B41FA5}">
                      <a16:colId xmlns:a16="http://schemas.microsoft.com/office/drawing/2014/main" val="53892738"/>
                    </a:ext>
                  </a:extLst>
                </a:gridCol>
              </a:tblGrid>
              <a:tr h="152872">
                <a:tc rowSpan="2">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PWM_</a:t>
                      </a:r>
                    </a:p>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RES</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rowSpan="2">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sub-</a:t>
                      </a:r>
                      <a:br>
                        <a:rPr lang="en-US" sz="700" b="0" i="0" u="none" strike="noStrike" dirty="0">
                          <a:solidFill>
                            <a:srgbClr val="000000"/>
                          </a:solidFill>
                          <a:effectLst/>
                          <a:latin typeface="Arial" panose="020B0604020202020204" pitchFamily="34" charset="0"/>
                          <a:ea typeface="맑은 고딕" panose="020B0503020000020004" pitchFamily="50" charset="-127"/>
                        </a:rPr>
                      </a:br>
                      <a:r>
                        <a:rPr lang="en-US" sz="700" b="0" i="0" u="none" strike="noStrike" dirty="0">
                          <a:solidFill>
                            <a:srgbClr val="000000"/>
                          </a:solidFill>
                          <a:effectLst/>
                          <a:latin typeface="Arial" panose="020B0604020202020204" pitchFamily="34" charset="0"/>
                          <a:ea typeface="맑은 고딕" panose="020B0503020000020004" pitchFamily="50" charset="-127"/>
                        </a:rPr>
                        <a:t>frame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gridSpan="14">
                  <a:txBody>
                    <a:bodyPr/>
                    <a:lstStyle/>
                    <a:p>
                      <a:pPr algn="ctr" fontAlgn="ctr"/>
                      <a:r>
                        <a:rPr lang="en-US" sz="700" b="0" i="0" u="none" strike="noStrike">
                          <a:solidFill>
                            <a:srgbClr val="000000"/>
                          </a:solidFill>
                          <a:effectLst/>
                          <a:latin typeface="Arial" panose="020B0604020202020204" pitchFamily="34" charset="0"/>
                          <a:ea typeface="맑은 고딕" panose="020B0503020000020004" pitchFamily="50" charset="-127"/>
                        </a:rPr>
                        <a:t>LD data[13:0]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521362232"/>
                  </a:ext>
                </a:extLst>
              </a:tr>
              <a:tr h="152872">
                <a:tc vMerge="1">
                  <a:txBody>
                    <a:bodyPr/>
                    <a:lstStyle/>
                    <a:p>
                      <a:pPr latinLnBrk="1"/>
                      <a:endParaRPr lang="ko-KR" altLang="en-US"/>
                    </a:p>
                  </a:txBody>
                  <a:tcPr/>
                </a:tc>
                <a:tc vMerge="1">
                  <a:txBody>
                    <a:bodyPr/>
                    <a:lstStyle/>
                    <a:p>
                      <a:pPr latinLnBrk="1"/>
                      <a:endParaRPr lang="ko-KR" altLang="en-US"/>
                    </a:p>
                  </a:txBody>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extLst>
                  <a:ext uri="{0D108BD9-81ED-4DB2-BD59-A6C34878D82A}">
                    <a16:rowId xmlns:a16="http://schemas.microsoft.com/office/drawing/2014/main" val="1661273553"/>
                  </a:ext>
                </a:extLst>
              </a:tr>
              <a:tr h="152872">
                <a:tc rowSpan="5">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0</a:t>
                      </a:r>
                      <a:br>
                        <a:rPr lang="en-US" sz="700" b="0" i="0" u="none" strike="noStrike" dirty="0">
                          <a:solidFill>
                            <a:srgbClr val="000000"/>
                          </a:solidFill>
                          <a:effectLst/>
                          <a:latin typeface="Arial" panose="020B0604020202020204" pitchFamily="34" charset="0"/>
                          <a:ea typeface="맑은 고딕" panose="020B0503020000020004" pitchFamily="50" charset="-127"/>
                        </a:rPr>
                      </a:br>
                      <a:r>
                        <a:rPr lang="en-US" sz="700" b="0" i="0" u="none" strike="noStrike" dirty="0">
                          <a:solidFill>
                            <a:srgbClr val="000000"/>
                          </a:solidFill>
                          <a:effectLst/>
                          <a:latin typeface="Arial" panose="020B0604020202020204" pitchFamily="34" charset="0"/>
                          <a:ea typeface="맑은 고딕" panose="020B0503020000020004" pitchFamily="50" charset="-127"/>
                        </a:rPr>
                        <a:t>(12-bit)</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2099392315"/>
                  </a:ext>
                </a:extLst>
              </a:tr>
              <a:tr h="152872">
                <a:tc vMerge="1">
                  <a:txBody>
                    <a:bodyPr/>
                    <a:lstStyle/>
                    <a:p>
                      <a:pPr latinLnBrk="1"/>
                      <a:endParaRPr lang="ko-KR" altLang="en-US"/>
                    </a:p>
                  </a:txBody>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3543466361"/>
                  </a:ext>
                </a:extLst>
              </a:tr>
              <a:tr h="152872">
                <a:tc vMerge="1">
                  <a:txBody>
                    <a:bodyPr/>
                    <a:lstStyle/>
                    <a:p>
                      <a:pPr latinLnBrk="1"/>
                      <a:endParaRPr lang="ko-KR" altLang="en-US"/>
                    </a:p>
                  </a:txBody>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2310943505"/>
                  </a:ext>
                </a:extLst>
              </a:tr>
              <a:tr h="152872">
                <a:tc vMerge="1">
                  <a:txBody>
                    <a:bodyPr/>
                    <a:lstStyle/>
                    <a:p>
                      <a:pPr latinLnBrk="1"/>
                      <a:endParaRPr lang="ko-KR" altLang="en-US"/>
                    </a:p>
                  </a:txBody>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2901028779"/>
                  </a:ext>
                </a:extLst>
              </a:tr>
              <a:tr h="152872">
                <a:tc vMerge="1">
                  <a:txBody>
                    <a:bodyPr/>
                    <a:lstStyle/>
                    <a:p>
                      <a:pPr latinLnBrk="1"/>
                      <a:endParaRPr lang="ko-KR" altLang="en-US"/>
                    </a:p>
                  </a:txBody>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1093920314"/>
                  </a:ext>
                </a:extLst>
              </a:tr>
              <a:tr h="152872">
                <a:tc rowSpan="5">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1</a:t>
                      </a:r>
                      <a:br>
                        <a:rPr lang="en-US" sz="700" b="0" i="0" u="none" strike="noStrike" dirty="0">
                          <a:solidFill>
                            <a:srgbClr val="000000"/>
                          </a:solidFill>
                          <a:effectLst/>
                          <a:latin typeface="Arial" panose="020B0604020202020204" pitchFamily="34" charset="0"/>
                          <a:ea typeface="맑은 고딕" panose="020B0503020000020004" pitchFamily="50" charset="-127"/>
                        </a:rPr>
                      </a:br>
                      <a:r>
                        <a:rPr lang="en-US" sz="700" b="0" i="0" u="none" strike="noStrike" dirty="0">
                          <a:solidFill>
                            <a:srgbClr val="000000"/>
                          </a:solidFill>
                          <a:effectLst/>
                          <a:latin typeface="Arial" panose="020B0604020202020204" pitchFamily="34" charset="0"/>
                          <a:ea typeface="맑은 고딕" panose="020B0503020000020004" pitchFamily="50" charset="-127"/>
                        </a:rPr>
                        <a:t>(14-bit)</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4124920354"/>
                  </a:ext>
                </a:extLst>
              </a:tr>
              <a:tr h="152872">
                <a:tc vMerge="1">
                  <a:txBody>
                    <a:bodyPr/>
                    <a:lstStyle/>
                    <a:p>
                      <a:pPr latinLnBrk="1"/>
                      <a:endParaRPr lang="ko-KR" altLang="en-US"/>
                    </a:p>
                  </a:txBody>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1315183003"/>
                  </a:ext>
                </a:extLst>
              </a:tr>
              <a:tr h="152872">
                <a:tc vMerge="1">
                  <a:txBody>
                    <a:bodyPr/>
                    <a:lstStyle/>
                    <a:p>
                      <a:pPr latinLnBrk="1"/>
                      <a:endParaRPr lang="ko-KR" altLang="en-US"/>
                    </a:p>
                  </a:txBody>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306826347"/>
                  </a:ext>
                </a:extLst>
              </a:tr>
              <a:tr h="152872">
                <a:tc vMerge="1">
                  <a:txBody>
                    <a:bodyPr/>
                    <a:lstStyle/>
                    <a:p>
                      <a:pPr latinLnBrk="1"/>
                      <a:endParaRPr lang="ko-KR" altLang="en-US"/>
                    </a:p>
                  </a:txBody>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2202027263"/>
                  </a:ext>
                </a:extLst>
              </a:tr>
              <a:tr h="152872">
                <a:tc vMerge="1">
                  <a:txBody>
                    <a:bodyPr/>
                    <a:lstStyle/>
                    <a:p>
                      <a:pPr latinLnBrk="1"/>
                      <a:endParaRPr lang="ko-KR" altLang="en-US"/>
                    </a:p>
                  </a:txBody>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446134022"/>
                  </a:ext>
                </a:extLst>
              </a:tr>
            </a:tbl>
          </a:graphicData>
        </a:graphic>
      </p:graphicFrame>
      <p:sp>
        <p:nvSpPr>
          <p:cNvPr id="14" name="TextBox 13">
            <a:extLst>
              <a:ext uri="{FF2B5EF4-FFF2-40B4-BE49-F238E27FC236}">
                <a16:creationId xmlns:a16="http://schemas.microsoft.com/office/drawing/2014/main" id="{4AEE76F0-8BCF-15BA-E942-467AD6BF2881}"/>
              </a:ext>
            </a:extLst>
          </p:cNvPr>
          <p:cNvSpPr txBox="1"/>
          <p:nvPr/>
        </p:nvSpPr>
        <p:spPr>
          <a:xfrm>
            <a:off x="4496811" y="5582114"/>
            <a:ext cx="2040400" cy="200055"/>
          </a:xfrm>
          <a:prstGeom prst="rect">
            <a:avLst/>
          </a:prstGeom>
          <a:noFill/>
        </p:spPr>
        <p:txBody>
          <a:bodyPr wrap="square" rtlCol="0">
            <a:spAutoFit/>
          </a:bodyPr>
          <a:lstStyle/>
          <a:p>
            <a:r>
              <a:rPr lang="en-US" altLang="ko-KR" sz="700" b="0" dirty="0">
                <a:solidFill>
                  <a:schemeClr val="tx1"/>
                </a:solidFill>
                <a:latin typeface="Arial" panose="020B0604020202020204" pitchFamily="34" charset="0"/>
                <a:cs typeface="Arial" panose="020B0604020202020204" pitchFamily="34" charset="0"/>
              </a:rPr>
              <a:t>LD_TYPE = 1,  LD_DIR = 1,</a:t>
            </a:r>
            <a:r>
              <a:rPr lang="ko-KR" altLang="en-US" sz="700" dirty="0">
                <a:latin typeface="Arial" panose="020B0604020202020204" pitchFamily="34" charset="0"/>
                <a:cs typeface="Arial" panose="020B0604020202020204" pitchFamily="34" charset="0"/>
              </a:rPr>
              <a:t> </a:t>
            </a:r>
            <a:r>
              <a:rPr lang="en-US" altLang="ko-KR" sz="700" dirty="0">
                <a:latin typeface="Arial" panose="020B0604020202020204" pitchFamily="34" charset="0"/>
                <a:cs typeface="Arial" panose="020B0604020202020204" pitchFamily="34" charset="0"/>
              </a:rPr>
              <a:t>SUB_FRAME = 4</a:t>
            </a:r>
            <a:endParaRPr lang="ko-KR" altLang="en-US" sz="7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0F934550-38CB-C98B-0171-A1DC1F360649}"/>
              </a:ext>
            </a:extLst>
          </p:cNvPr>
          <p:cNvSpPr txBox="1"/>
          <p:nvPr/>
        </p:nvSpPr>
        <p:spPr>
          <a:xfrm>
            <a:off x="4581499" y="6588141"/>
            <a:ext cx="2100254" cy="461665"/>
          </a:xfrm>
          <a:prstGeom prst="rect">
            <a:avLst/>
          </a:prstGeom>
          <a:noFill/>
        </p:spPr>
        <p:txBody>
          <a:bodyPr wrap="none" rtlCol="0">
            <a:spAutoFit/>
          </a:bodyPr>
          <a:lstStyle/>
          <a:p>
            <a:pPr algn="r"/>
            <a:r>
              <a:rPr lang="en-US" altLang="ko-KR" sz="800" dirty="0">
                <a:latin typeface="Arial" panose="020B0604020202020204" pitchFamily="34" charset="0"/>
                <a:cs typeface="Arial" panose="020B0604020202020204" pitchFamily="34" charset="0"/>
              </a:rPr>
              <a:t>RED : sub-frames # with max. duty</a:t>
            </a:r>
            <a:r>
              <a:rPr lang="ko-KR" altLang="en-US" sz="800" dirty="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a:t>
            </a:r>
            <a:r>
              <a:rPr lang="ko-KR" altLang="en-US" sz="800" dirty="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3</a:t>
            </a:r>
          </a:p>
          <a:p>
            <a:pPr algn="r"/>
            <a:r>
              <a:rPr lang="en-US" altLang="ko-KR" sz="800" dirty="0">
                <a:latin typeface="Arial" panose="020B0604020202020204" pitchFamily="34" charset="0"/>
                <a:cs typeface="Arial" panose="020B0604020202020204" pitchFamily="34" charset="0"/>
              </a:rPr>
              <a:t>GREEN : sub-frames # with max. duty</a:t>
            </a:r>
            <a:r>
              <a:rPr lang="ko-KR" altLang="en-US" sz="800" dirty="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a:t>
            </a:r>
            <a:r>
              <a:rPr lang="ko-KR" altLang="en-US" sz="800" dirty="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2</a:t>
            </a:r>
          </a:p>
          <a:p>
            <a:pPr algn="r"/>
            <a:r>
              <a:rPr lang="en-US" altLang="ko-KR" sz="800" dirty="0">
                <a:latin typeface="Arial" panose="020B0604020202020204" pitchFamily="34" charset="0"/>
                <a:cs typeface="Arial" panose="020B0604020202020204" pitchFamily="34" charset="0"/>
              </a:rPr>
              <a:t>BLUE : sub-frames # with max. duty</a:t>
            </a:r>
            <a:r>
              <a:rPr lang="ko-KR" altLang="en-US" sz="800" dirty="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a:t>
            </a:r>
            <a:r>
              <a:rPr lang="ko-KR" altLang="en-US" sz="800" dirty="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1</a:t>
            </a:r>
            <a:endParaRPr lang="ko-KR" altLang="en-US" sz="8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EBBC48CA-5BF9-B384-D93A-E84A9BDEF2A3}"/>
              </a:ext>
            </a:extLst>
          </p:cNvPr>
          <p:cNvSpPr txBox="1"/>
          <p:nvPr/>
        </p:nvSpPr>
        <p:spPr>
          <a:xfrm>
            <a:off x="407554" y="5446325"/>
            <a:ext cx="3462866" cy="230832"/>
          </a:xfrm>
          <a:prstGeom prst="rect">
            <a:avLst/>
          </a:prstGeom>
          <a:noFill/>
        </p:spPr>
        <p:txBody>
          <a:bodyPr wrap="square">
            <a:spAutoFit/>
          </a:bodyPr>
          <a:lstStyle/>
          <a:p>
            <a:r>
              <a:rPr lang="en-US" altLang="ko-KR" sz="900" dirty="0">
                <a:latin typeface="Arial" panose="020B0604020202020204" pitchFamily="34" charset="0"/>
                <a:cs typeface="Arial" panose="020B0604020202020204" pitchFamily="34" charset="0"/>
              </a:rPr>
              <a:t>(example)</a:t>
            </a:r>
          </a:p>
        </p:txBody>
      </p:sp>
      <p:pic>
        <p:nvPicPr>
          <p:cNvPr id="9" name="그림 8">
            <a:extLst>
              <a:ext uri="{FF2B5EF4-FFF2-40B4-BE49-F238E27FC236}">
                <a16:creationId xmlns:a16="http://schemas.microsoft.com/office/drawing/2014/main" id="{F3611E02-9B7C-B352-4456-E646ACF46A4F}"/>
              </a:ext>
            </a:extLst>
          </p:cNvPr>
          <p:cNvPicPr>
            <a:picLocks noChangeAspect="1"/>
          </p:cNvPicPr>
          <p:nvPr/>
        </p:nvPicPr>
        <p:blipFill>
          <a:blip r:embed="rId2"/>
          <a:stretch>
            <a:fillRect/>
          </a:stretch>
        </p:blipFill>
        <p:spPr>
          <a:xfrm>
            <a:off x="53069" y="5867925"/>
            <a:ext cx="6740776" cy="582193"/>
          </a:xfrm>
          <a:prstGeom prst="rect">
            <a:avLst/>
          </a:prstGeom>
        </p:spPr>
      </p:pic>
    </p:spTree>
    <p:extLst>
      <p:ext uri="{BB962C8B-B14F-4D97-AF65-F5344CB8AC3E}">
        <p14:creationId xmlns:p14="http://schemas.microsoft.com/office/powerpoint/2010/main" val="3973268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직선 연결선 1">
            <a:extLst>
              <a:ext uri="{FF2B5EF4-FFF2-40B4-BE49-F238E27FC236}">
                <a16:creationId xmlns:a16="http://schemas.microsoft.com/office/drawing/2014/main" id="{649A77B1-12FC-E25F-E078-A19C3B7CD203}"/>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CA75925-4668-55E6-EACB-FA7F9BC2108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46" name="TextBox 145">
            <a:extLst>
              <a:ext uri="{FF2B5EF4-FFF2-40B4-BE49-F238E27FC236}">
                <a16:creationId xmlns:a16="http://schemas.microsoft.com/office/drawing/2014/main" id="{BCC06B23-F551-F495-6384-FAFB84AE4DCF}"/>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147" name="TextBox 146">
            <a:extLst>
              <a:ext uri="{FF2B5EF4-FFF2-40B4-BE49-F238E27FC236}">
                <a16:creationId xmlns:a16="http://schemas.microsoft.com/office/drawing/2014/main" id="{33AC622E-F69F-9E5A-620E-7F66A5BCF37E}"/>
              </a:ext>
            </a:extLst>
          </p:cNvPr>
          <p:cNvSpPr txBox="1"/>
          <p:nvPr/>
        </p:nvSpPr>
        <p:spPr>
          <a:xfrm>
            <a:off x="407554" y="1948587"/>
            <a:ext cx="6047999" cy="1077218"/>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XD12R supports three LEDs(red, green, blue) dimming. Type-1 allows for time-division drive of three LEDs(red, green, blue) per channel. The three LEDs can be configured for different RGB colors, and the XC24R sets the time-division drive times for each RGB LED within a frame and transmits them to the XD12R as SVI signals.</a:t>
            </a:r>
          </a:p>
          <a:p>
            <a:pPr algn="just"/>
            <a:r>
              <a:rPr lang="en-US" altLang="ko-KR" sz="1000" dirty="0">
                <a:latin typeface="Arial" panose="020B0604020202020204" pitchFamily="34" charset="0"/>
                <a:cs typeface="Arial" panose="020B0604020202020204" pitchFamily="34" charset="0"/>
              </a:rPr>
              <a:t>The XD12R can independently control the current of each RGB LED by driving VREF1/2/3 at separate SVI intervals. Meanwhile, the XC24R provides external VLED selection signals (GATE1/2/3) for time-division drive.</a:t>
            </a:r>
          </a:p>
        </p:txBody>
      </p:sp>
      <p:sp>
        <p:nvSpPr>
          <p:cNvPr id="148" name="TextBox 147">
            <a:extLst>
              <a:ext uri="{FF2B5EF4-FFF2-40B4-BE49-F238E27FC236}">
                <a16:creationId xmlns:a16="http://schemas.microsoft.com/office/drawing/2014/main" id="{382EF4DC-6D0B-90DF-1B20-6B6EF4F841D0}"/>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RGB PWM Dimming </a:t>
            </a:r>
          </a:p>
        </p:txBody>
      </p:sp>
      <p:sp>
        <p:nvSpPr>
          <p:cNvPr id="214" name="TextBox 213">
            <a:extLst>
              <a:ext uri="{FF2B5EF4-FFF2-40B4-BE49-F238E27FC236}">
                <a16:creationId xmlns:a16="http://schemas.microsoft.com/office/drawing/2014/main" id="{CD7E7CA0-8943-0AA4-82A4-7E2C85DF074A}"/>
              </a:ext>
            </a:extLst>
          </p:cNvPr>
          <p:cNvSpPr txBox="1"/>
          <p:nvPr/>
        </p:nvSpPr>
        <p:spPr>
          <a:xfrm>
            <a:off x="399458" y="1711955"/>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TYPE-1 (RGB, 12CH)</a:t>
            </a:r>
          </a:p>
        </p:txBody>
      </p:sp>
      <p:sp>
        <p:nvSpPr>
          <p:cNvPr id="222" name="TextBox 221">
            <a:extLst>
              <a:ext uri="{FF2B5EF4-FFF2-40B4-BE49-F238E27FC236}">
                <a16:creationId xmlns:a16="http://schemas.microsoft.com/office/drawing/2014/main" id="{8CAD28A4-17F2-6C85-2F83-09AA438EBA4A}"/>
              </a:ext>
            </a:extLst>
          </p:cNvPr>
          <p:cNvSpPr txBox="1"/>
          <p:nvPr/>
        </p:nvSpPr>
        <p:spPr>
          <a:xfrm>
            <a:off x="1225104" y="8751705"/>
            <a:ext cx="4616007"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6  PWM Dimming sequence @ LD_TYP = 01, LD_DIR = 1, SYNCMODE = 0</a:t>
            </a:r>
          </a:p>
        </p:txBody>
      </p:sp>
      <p:grpSp>
        <p:nvGrpSpPr>
          <p:cNvPr id="94" name="그룹 93">
            <a:extLst>
              <a:ext uri="{FF2B5EF4-FFF2-40B4-BE49-F238E27FC236}">
                <a16:creationId xmlns:a16="http://schemas.microsoft.com/office/drawing/2014/main" id="{EF6CF31C-9C3D-ACF4-33F9-BE0A8900A306}"/>
              </a:ext>
            </a:extLst>
          </p:cNvPr>
          <p:cNvGrpSpPr/>
          <p:nvPr/>
        </p:nvGrpSpPr>
        <p:grpSpPr>
          <a:xfrm>
            <a:off x="2096062" y="4285915"/>
            <a:ext cx="3005479" cy="2104030"/>
            <a:chOff x="2096062" y="4285915"/>
            <a:chExt cx="3005479" cy="2104030"/>
          </a:xfrm>
        </p:grpSpPr>
        <p:sp>
          <p:nvSpPr>
            <p:cNvPr id="5" name="직사각형 4">
              <a:extLst>
                <a:ext uri="{FF2B5EF4-FFF2-40B4-BE49-F238E27FC236}">
                  <a16:creationId xmlns:a16="http://schemas.microsoft.com/office/drawing/2014/main" id="{094F65D6-D262-E9EB-8061-B6128F1ACB29}"/>
                </a:ext>
              </a:extLst>
            </p:cNvPr>
            <p:cNvSpPr/>
            <p:nvPr/>
          </p:nvSpPr>
          <p:spPr>
            <a:xfrm>
              <a:off x="3509510" y="5685751"/>
              <a:ext cx="1413175" cy="528825"/>
            </a:xfrm>
            <a:prstGeom prst="rect">
              <a:avLst/>
            </a:prstGeom>
            <a:noFill/>
            <a:ln w="12700"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C2C2B1A3-AE03-E64C-4020-732A0FDB2328}"/>
                </a:ext>
              </a:extLst>
            </p:cNvPr>
            <p:cNvCxnSpPr>
              <a:cxnSpLocks/>
            </p:cNvCxnSpPr>
            <p:nvPr/>
          </p:nvCxnSpPr>
          <p:spPr>
            <a:xfrm>
              <a:off x="3198901" y="5276210"/>
              <a:ext cx="0" cy="521340"/>
            </a:xfrm>
            <a:prstGeom prst="line">
              <a:avLst/>
            </a:prstGeom>
            <a:noFill/>
            <a:ln w="6350" cap="flat" cmpd="sng" algn="ctr">
              <a:solidFill>
                <a:sysClr val="windowText" lastClr="000000"/>
              </a:solidFill>
              <a:prstDash val="solid"/>
              <a:miter lim="800000"/>
            </a:ln>
            <a:effectLst/>
          </p:spPr>
        </p:cxnSp>
        <p:sp>
          <p:nvSpPr>
            <p:cNvPr id="7" name="이등변 삼각형 6">
              <a:extLst>
                <a:ext uri="{FF2B5EF4-FFF2-40B4-BE49-F238E27FC236}">
                  <a16:creationId xmlns:a16="http://schemas.microsoft.com/office/drawing/2014/main" id="{68D1D64B-28FF-F3FE-4757-ADCBA6331749}"/>
                </a:ext>
              </a:extLst>
            </p:cNvPr>
            <p:cNvSpPr/>
            <p:nvPr/>
          </p:nvSpPr>
          <p:spPr>
            <a:xfrm rot="10800000">
              <a:off x="3573354" y="5253432"/>
              <a:ext cx="165433" cy="94675"/>
            </a:xfrm>
            <a:prstGeom prst="triangle">
              <a:avLst/>
            </a:prstGeom>
            <a:solidFill>
              <a:srgbClr val="FFD1D1"/>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8" name="직선 연결선 7">
              <a:extLst>
                <a:ext uri="{FF2B5EF4-FFF2-40B4-BE49-F238E27FC236}">
                  <a16:creationId xmlns:a16="http://schemas.microsoft.com/office/drawing/2014/main" id="{DB6159F8-094C-230B-1FB7-CC0D976D9B5B}"/>
                </a:ext>
              </a:extLst>
            </p:cNvPr>
            <p:cNvCxnSpPr/>
            <p:nvPr/>
          </p:nvCxnSpPr>
          <p:spPr>
            <a:xfrm>
              <a:off x="3567238" y="5355732"/>
              <a:ext cx="179253" cy="0"/>
            </a:xfrm>
            <a:prstGeom prst="line">
              <a:avLst/>
            </a:prstGeom>
            <a:noFill/>
            <a:ln w="19050" cap="flat" cmpd="sng" algn="ctr">
              <a:solidFill>
                <a:sysClr val="windowText" lastClr="000000"/>
              </a:solidFill>
              <a:prstDash val="solid"/>
              <a:miter lim="800000"/>
            </a:ln>
            <a:effectLst/>
          </p:spPr>
        </p:cxnSp>
        <p:sp>
          <p:nvSpPr>
            <p:cNvPr id="9" name="이등변 삼각형 8">
              <a:extLst>
                <a:ext uri="{FF2B5EF4-FFF2-40B4-BE49-F238E27FC236}">
                  <a16:creationId xmlns:a16="http://schemas.microsoft.com/office/drawing/2014/main" id="{0B444736-3F51-BC40-9A25-59DE10013566}"/>
                </a:ext>
              </a:extLst>
            </p:cNvPr>
            <p:cNvSpPr/>
            <p:nvPr/>
          </p:nvSpPr>
          <p:spPr>
            <a:xfrm rot="10800000">
              <a:off x="3763443" y="5251513"/>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0" name="직선 연결선 9">
              <a:extLst>
                <a:ext uri="{FF2B5EF4-FFF2-40B4-BE49-F238E27FC236}">
                  <a16:creationId xmlns:a16="http://schemas.microsoft.com/office/drawing/2014/main" id="{01FD643B-45E6-3E09-2F6F-390D676E9A35}"/>
                </a:ext>
              </a:extLst>
            </p:cNvPr>
            <p:cNvCxnSpPr/>
            <p:nvPr/>
          </p:nvCxnSpPr>
          <p:spPr>
            <a:xfrm>
              <a:off x="3763798" y="5355731"/>
              <a:ext cx="179253" cy="0"/>
            </a:xfrm>
            <a:prstGeom prst="line">
              <a:avLst/>
            </a:prstGeom>
            <a:noFill/>
            <a:ln w="19050" cap="flat" cmpd="sng" algn="ctr">
              <a:solidFill>
                <a:sysClr val="windowText" lastClr="000000"/>
              </a:solidFill>
              <a:prstDash val="solid"/>
              <a:miter lim="800000"/>
            </a:ln>
            <a:effectLst/>
          </p:spPr>
        </p:cxnSp>
        <p:sp>
          <p:nvSpPr>
            <p:cNvPr id="11" name="이등변 삼각형 10">
              <a:extLst>
                <a:ext uri="{FF2B5EF4-FFF2-40B4-BE49-F238E27FC236}">
                  <a16:creationId xmlns:a16="http://schemas.microsoft.com/office/drawing/2014/main" id="{1A57B49D-5265-10FC-9B1C-ECE85F00D8AF}"/>
                </a:ext>
              </a:extLst>
            </p:cNvPr>
            <p:cNvSpPr/>
            <p:nvPr/>
          </p:nvSpPr>
          <p:spPr>
            <a:xfrm rot="10800000">
              <a:off x="3957698" y="5249923"/>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2" name="직선 연결선 11">
              <a:extLst>
                <a:ext uri="{FF2B5EF4-FFF2-40B4-BE49-F238E27FC236}">
                  <a16:creationId xmlns:a16="http://schemas.microsoft.com/office/drawing/2014/main" id="{2C3A7CC7-BB14-FD17-D619-BB0B02B33C3E}"/>
                </a:ext>
              </a:extLst>
            </p:cNvPr>
            <p:cNvCxnSpPr/>
            <p:nvPr/>
          </p:nvCxnSpPr>
          <p:spPr>
            <a:xfrm>
              <a:off x="3962222" y="5354468"/>
              <a:ext cx="179253" cy="0"/>
            </a:xfrm>
            <a:prstGeom prst="line">
              <a:avLst/>
            </a:prstGeom>
            <a:noFill/>
            <a:ln w="19050" cap="flat" cmpd="sng" algn="ctr">
              <a:solidFill>
                <a:sysClr val="windowText" lastClr="000000"/>
              </a:solidFill>
              <a:prstDash val="solid"/>
              <a:miter lim="800000"/>
            </a:ln>
            <a:effectLst/>
          </p:spPr>
        </p:cxnSp>
        <p:cxnSp>
          <p:nvCxnSpPr>
            <p:cNvPr id="13" name="직선 연결선 12">
              <a:extLst>
                <a:ext uri="{FF2B5EF4-FFF2-40B4-BE49-F238E27FC236}">
                  <a16:creationId xmlns:a16="http://schemas.microsoft.com/office/drawing/2014/main" id="{D4ADB17A-BE4C-D5EE-9E1C-D3D3E5BBA0C7}"/>
                </a:ext>
              </a:extLst>
            </p:cNvPr>
            <p:cNvCxnSpPr>
              <a:cxnSpLocks/>
            </p:cNvCxnSpPr>
            <p:nvPr/>
          </p:nvCxnSpPr>
          <p:spPr>
            <a:xfrm>
              <a:off x="3244850" y="5132559"/>
              <a:ext cx="1533809" cy="0"/>
            </a:xfrm>
            <a:prstGeom prst="line">
              <a:avLst/>
            </a:prstGeom>
            <a:noFill/>
            <a:ln w="12700" cap="flat" cmpd="sng" algn="ctr">
              <a:solidFill>
                <a:sysClr val="windowText" lastClr="000000"/>
              </a:solidFill>
              <a:prstDash val="solid"/>
              <a:miter lim="800000"/>
            </a:ln>
            <a:effectLst/>
          </p:spPr>
        </p:cxnSp>
        <p:cxnSp>
          <p:nvCxnSpPr>
            <p:cNvPr id="14" name="직선 연결선 13">
              <a:extLst>
                <a:ext uri="{FF2B5EF4-FFF2-40B4-BE49-F238E27FC236}">
                  <a16:creationId xmlns:a16="http://schemas.microsoft.com/office/drawing/2014/main" id="{CE93D9AB-AD90-DF8E-3E54-48D485F6A629}"/>
                </a:ext>
              </a:extLst>
            </p:cNvPr>
            <p:cNvCxnSpPr>
              <a:cxnSpLocks/>
            </p:cNvCxnSpPr>
            <p:nvPr/>
          </p:nvCxnSpPr>
          <p:spPr>
            <a:xfrm>
              <a:off x="2247900" y="4554664"/>
              <a:ext cx="421650" cy="0"/>
            </a:xfrm>
            <a:prstGeom prst="line">
              <a:avLst/>
            </a:prstGeom>
            <a:noFill/>
            <a:ln w="12700" cap="flat" cmpd="sng" algn="ctr">
              <a:solidFill>
                <a:sysClr val="windowText" lastClr="000000"/>
              </a:solidFill>
              <a:prstDash val="solid"/>
              <a:miter lim="800000"/>
            </a:ln>
            <a:effectLst/>
          </p:spPr>
        </p:cxnSp>
        <p:cxnSp>
          <p:nvCxnSpPr>
            <p:cNvPr id="15" name="직선 연결선 14">
              <a:extLst>
                <a:ext uri="{FF2B5EF4-FFF2-40B4-BE49-F238E27FC236}">
                  <a16:creationId xmlns:a16="http://schemas.microsoft.com/office/drawing/2014/main" id="{32066DAA-09ED-47EA-B09C-9709A80434FA}"/>
                </a:ext>
              </a:extLst>
            </p:cNvPr>
            <p:cNvCxnSpPr/>
            <p:nvPr/>
          </p:nvCxnSpPr>
          <p:spPr>
            <a:xfrm>
              <a:off x="3065983" y="5203810"/>
              <a:ext cx="264693" cy="0"/>
            </a:xfrm>
            <a:prstGeom prst="line">
              <a:avLst/>
            </a:prstGeom>
            <a:noFill/>
            <a:ln w="19050" cap="flat" cmpd="sng" algn="ctr">
              <a:solidFill>
                <a:sysClr val="windowText" lastClr="000000"/>
              </a:solidFill>
              <a:prstDash val="solid"/>
              <a:miter lim="800000"/>
            </a:ln>
            <a:effectLst/>
          </p:spPr>
        </p:cxnSp>
        <p:cxnSp>
          <p:nvCxnSpPr>
            <p:cNvPr id="16" name="직선 연결선 15">
              <a:extLst>
                <a:ext uri="{FF2B5EF4-FFF2-40B4-BE49-F238E27FC236}">
                  <a16:creationId xmlns:a16="http://schemas.microsoft.com/office/drawing/2014/main" id="{D305987A-B9B1-41ED-2D49-F5D4B87264DA}"/>
                </a:ext>
              </a:extLst>
            </p:cNvPr>
            <p:cNvCxnSpPr/>
            <p:nvPr/>
          </p:nvCxnSpPr>
          <p:spPr>
            <a:xfrm>
              <a:off x="3131015" y="5266623"/>
              <a:ext cx="132346" cy="0"/>
            </a:xfrm>
            <a:prstGeom prst="line">
              <a:avLst/>
            </a:prstGeom>
            <a:noFill/>
            <a:ln w="19050" cap="flat" cmpd="sng" algn="ctr">
              <a:solidFill>
                <a:sysClr val="windowText" lastClr="000000"/>
              </a:solidFill>
              <a:prstDash val="solid"/>
              <a:miter lim="800000"/>
            </a:ln>
            <a:effectLst/>
          </p:spPr>
        </p:cxnSp>
        <p:cxnSp>
          <p:nvCxnSpPr>
            <p:cNvPr id="17" name="직선 연결선 16">
              <a:extLst>
                <a:ext uri="{FF2B5EF4-FFF2-40B4-BE49-F238E27FC236}">
                  <a16:creationId xmlns:a16="http://schemas.microsoft.com/office/drawing/2014/main" id="{C7FE31FC-34E6-CCB3-697B-76C43EB683DF}"/>
                </a:ext>
              </a:extLst>
            </p:cNvPr>
            <p:cNvCxnSpPr/>
            <p:nvPr/>
          </p:nvCxnSpPr>
          <p:spPr>
            <a:xfrm rot="5400000" flipH="1" flipV="1">
              <a:off x="3108457" y="5165129"/>
              <a:ext cx="63117" cy="0"/>
            </a:xfrm>
            <a:prstGeom prst="line">
              <a:avLst/>
            </a:prstGeom>
            <a:noFill/>
            <a:ln w="19050" cap="flat" cmpd="sng" algn="ctr">
              <a:solidFill>
                <a:sysClr val="windowText" lastClr="000000"/>
              </a:solidFill>
              <a:prstDash val="solid"/>
              <a:miter lim="800000"/>
            </a:ln>
            <a:effectLst/>
          </p:spPr>
        </p:cxnSp>
        <p:cxnSp>
          <p:nvCxnSpPr>
            <p:cNvPr id="18" name="직선 연결선 17">
              <a:extLst>
                <a:ext uri="{FF2B5EF4-FFF2-40B4-BE49-F238E27FC236}">
                  <a16:creationId xmlns:a16="http://schemas.microsoft.com/office/drawing/2014/main" id="{7F92F8DC-CA6F-F2FF-57AE-58185CE82448}"/>
                </a:ext>
              </a:extLst>
            </p:cNvPr>
            <p:cNvCxnSpPr/>
            <p:nvPr/>
          </p:nvCxnSpPr>
          <p:spPr>
            <a:xfrm rot="5400000">
              <a:off x="3219343" y="5163539"/>
              <a:ext cx="63117" cy="0"/>
            </a:xfrm>
            <a:prstGeom prst="line">
              <a:avLst/>
            </a:prstGeom>
            <a:noFill/>
            <a:ln w="19050" cap="flat" cmpd="sng" algn="ctr">
              <a:solidFill>
                <a:sysClr val="windowText" lastClr="000000"/>
              </a:solidFill>
              <a:prstDash val="solid"/>
              <a:miter lim="800000"/>
            </a:ln>
            <a:effectLst/>
          </p:spPr>
        </p:cxnSp>
        <p:cxnSp>
          <p:nvCxnSpPr>
            <p:cNvPr id="19" name="직선 연결선 18">
              <a:extLst>
                <a:ext uri="{FF2B5EF4-FFF2-40B4-BE49-F238E27FC236}">
                  <a16:creationId xmlns:a16="http://schemas.microsoft.com/office/drawing/2014/main" id="{4B0DBDB4-71F9-5259-AF53-B70FC276CBA9}"/>
                </a:ext>
              </a:extLst>
            </p:cNvPr>
            <p:cNvCxnSpPr/>
            <p:nvPr/>
          </p:nvCxnSpPr>
          <p:spPr>
            <a:xfrm>
              <a:off x="3243561" y="5133071"/>
              <a:ext cx="132346" cy="0"/>
            </a:xfrm>
            <a:prstGeom prst="line">
              <a:avLst/>
            </a:prstGeom>
            <a:noFill/>
            <a:ln w="19050" cap="flat" cmpd="sng" algn="ctr">
              <a:solidFill>
                <a:sysClr val="windowText" lastClr="000000"/>
              </a:solidFill>
              <a:prstDash val="solid"/>
              <a:miter lim="800000"/>
            </a:ln>
            <a:effectLst/>
          </p:spPr>
        </p:cxnSp>
        <p:cxnSp>
          <p:nvCxnSpPr>
            <p:cNvPr id="20" name="직선 연결선 19">
              <a:extLst>
                <a:ext uri="{FF2B5EF4-FFF2-40B4-BE49-F238E27FC236}">
                  <a16:creationId xmlns:a16="http://schemas.microsoft.com/office/drawing/2014/main" id="{D539D821-18D8-C38A-9804-19FC12236D1B}"/>
                </a:ext>
              </a:extLst>
            </p:cNvPr>
            <p:cNvCxnSpPr/>
            <p:nvPr/>
          </p:nvCxnSpPr>
          <p:spPr>
            <a:xfrm>
              <a:off x="3017981" y="5135457"/>
              <a:ext cx="132346" cy="0"/>
            </a:xfrm>
            <a:prstGeom prst="line">
              <a:avLst/>
            </a:prstGeom>
            <a:noFill/>
            <a:ln w="19050" cap="flat" cmpd="sng" algn="ctr">
              <a:solidFill>
                <a:sysClr val="windowText" lastClr="000000"/>
              </a:solidFill>
              <a:prstDash val="solid"/>
              <a:miter lim="800000"/>
            </a:ln>
            <a:effectLst/>
          </p:spPr>
        </p:cxnSp>
        <p:cxnSp>
          <p:nvCxnSpPr>
            <p:cNvPr id="21" name="직선 연결선 20">
              <a:extLst>
                <a:ext uri="{FF2B5EF4-FFF2-40B4-BE49-F238E27FC236}">
                  <a16:creationId xmlns:a16="http://schemas.microsoft.com/office/drawing/2014/main" id="{4C96A525-D41A-8445-9CCF-F7149E092D52}"/>
                </a:ext>
              </a:extLst>
            </p:cNvPr>
            <p:cNvCxnSpPr/>
            <p:nvPr/>
          </p:nvCxnSpPr>
          <p:spPr>
            <a:xfrm>
              <a:off x="2861347" y="4926572"/>
              <a:ext cx="264693" cy="0"/>
            </a:xfrm>
            <a:prstGeom prst="line">
              <a:avLst/>
            </a:prstGeom>
            <a:noFill/>
            <a:ln w="19050" cap="flat" cmpd="sng" algn="ctr">
              <a:solidFill>
                <a:sysClr val="windowText" lastClr="000000"/>
              </a:solidFill>
              <a:prstDash val="solid"/>
              <a:miter lim="800000"/>
            </a:ln>
            <a:effectLst/>
          </p:spPr>
        </p:cxnSp>
        <p:cxnSp>
          <p:nvCxnSpPr>
            <p:cNvPr id="22" name="직선 연결선 21">
              <a:extLst>
                <a:ext uri="{FF2B5EF4-FFF2-40B4-BE49-F238E27FC236}">
                  <a16:creationId xmlns:a16="http://schemas.microsoft.com/office/drawing/2014/main" id="{281F958F-BF76-F6B7-0D6F-5A52E4B84663}"/>
                </a:ext>
              </a:extLst>
            </p:cNvPr>
            <p:cNvCxnSpPr/>
            <p:nvPr/>
          </p:nvCxnSpPr>
          <p:spPr>
            <a:xfrm>
              <a:off x="2926378" y="4989384"/>
              <a:ext cx="132346" cy="0"/>
            </a:xfrm>
            <a:prstGeom prst="line">
              <a:avLst/>
            </a:prstGeom>
            <a:noFill/>
            <a:ln w="19050" cap="flat" cmpd="sng" algn="ctr">
              <a:solidFill>
                <a:sysClr val="windowText" lastClr="000000"/>
              </a:solidFill>
              <a:prstDash val="solid"/>
              <a:miter lim="800000"/>
            </a:ln>
            <a:effectLst/>
          </p:spPr>
        </p:cxnSp>
        <p:cxnSp>
          <p:nvCxnSpPr>
            <p:cNvPr id="23" name="직선 연결선 22">
              <a:extLst>
                <a:ext uri="{FF2B5EF4-FFF2-40B4-BE49-F238E27FC236}">
                  <a16:creationId xmlns:a16="http://schemas.microsoft.com/office/drawing/2014/main" id="{F15ABA8E-7535-7BB9-F01F-341043C843ED}"/>
                </a:ext>
              </a:extLst>
            </p:cNvPr>
            <p:cNvCxnSpPr/>
            <p:nvPr/>
          </p:nvCxnSpPr>
          <p:spPr>
            <a:xfrm rot="5400000" flipH="1" flipV="1">
              <a:off x="2903820" y="4887890"/>
              <a:ext cx="63117" cy="0"/>
            </a:xfrm>
            <a:prstGeom prst="line">
              <a:avLst/>
            </a:prstGeom>
            <a:noFill/>
            <a:ln w="19050" cap="flat" cmpd="sng" algn="ctr">
              <a:solidFill>
                <a:sysClr val="windowText" lastClr="000000"/>
              </a:solidFill>
              <a:prstDash val="solid"/>
              <a:miter lim="800000"/>
            </a:ln>
            <a:effectLst/>
          </p:spPr>
        </p:cxnSp>
        <p:cxnSp>
          <p:nvCxnSpPr>
            <p:cNvPr id="24" name="직선 연결선 23">
              <a:extLst>
                <a:ext uri="{FF2B5EF4-FFF2-40B4-BE49-F238E27FC236}">
                  <a16:creationId xmlns:a16="http://schemas.microsoft.com/office/drawing/2014/main" id="{EE5AB1BF-6B0F-E8F1-766F-7F1906B415A7}"/>
                </a:ext>
              </a:extLst>
            </p:cNvPr>
            <p:cNvCxnSpPr/>
            <p:nvPr/>
          </p:nvCxnSpPr>
          <p:spPr>
            <a:xfrm rot="5400000">
              <a:off x="3014706" y="4886300"/>
              <a:ext cx="63117" cy="0"/>
            </a:xfrm>
            <a:prstGeom prst="line">
              <a:avLst/>
            </a:prstGeom>
            <a:noFill/>
            <a:ln w="19050" cap="flat" cmpd="sng" algn="ctr">
              <a:solidFill>
                <a:sysClr val="windowText" lastClr="000000"/>
              </a:solidFill>
              <a:prstDash val="solid"/>
              <a:miter lim="800000"/>
            </a:ln>
            <a:effectLst/>
          </p:spPr>
        </p:cxnSp>
        <p:cxnSp>
          <p:nvCxnSpPr>
            <p:cNvPr id="25" name="직선 연결선 24">
              <a:extLst>
                <a:ext uri="{FF2B5EF4-FFF2-40B4-BE49-F238E27FC236}">
                  <a16:creationId xmlns:a16="http://schemas.microsoft.com/office/drawing/2014/main" id="{397F6068-20D2-115C-D20B-883F03631858}"/>
                </a:ext>
              </a:extLst>
            </p:cNvPr>
            <p:cNvCxnSpPr/>
            <p:nvPr/>
          </p:nvCxnSpPr>
          <p:spPr>
            <a:xfrm>
              <a:off x="3038925" y="4855832"/>
              <a:ext cx="132346" cy="0"/>
            </a:xfrm>
            <a:prstGeom prst="line">
              <a:avLst/>
            </a:prstGeom>
            <a:noFill/>
            <a:ln w="19050" cap="flat" cmpd="sng" algn="ctr">
              <a:solidFill>
                <a:sysClr val="windowText" lastClr="000000"/>
              </a:solidFill>
              <a:prstDash val="solid"/>
              <a:miter lim="800000"/>
            </a:ln>
            <a:effectLst/>
          </p:spPr>
        </p:cxnSp>
        <p:cxnSp>
          <p:nvCxnSpPr>
            <p:cNvPr id="26" name="직선 연결선 25">
              <a:extLst>
                <a:ext uri="{FF2B5EF4-FFF2-40B4-BE49-F238E27FC236}">
                  <a16:creationId xmlns:a16="http://schemas.microsoft.com/office/drawing/2014/main" id="{20D697C5-4683-E6CF-E4DF-D984F88E63D5}"/>
                </a:ext>
              </a:extLst>
            </p:cNvPr>
            <p:cNvCxnSpPr/>
            <p:nvPr/>
          </p:nvCxnSpPr>
          <p:spPr>
            <a:xfrm>
              <a:off x="2813345" y="4858218"/>
              <a:ext cx="132346" cy="0"/>
            </a:xfrm>
            <a:prstGeom prst="line">
              <a:avLst/>
            </a:prstGeom>
            <a:noFill/>
            <a:ln w="19050" cap="flat" cmpd="sng" algn="ctr">
              <a:solidFill>
                <a:sysClr val="windowText" lastClr="000000"/>
              </a:solidFill>
              <a:prstDash val="solid"/>
              <a:miter lim="800000"/>
            </a:ln>
            <a:effectLst/>
          </p:spPr>
        </p:cxnSp>
        <p:cxnSp>
          <p:nvCxnSpPr>
            <p:cNvPr id="27" name="직선 연결선 26">
              <a:extLst>
                <a:ext uri="{FF2B5EF4-FFF2-40B4-BE49-F238E27FC236}">
                  <a16:creationId xmlns:a16="http://schemas.microsoft.com/office/drawing/2014/main" id="{4F25B94D-32D9-E55A-E648-00C976EAB9BE}"/>
                </a:ext>
              </a:extLst>
            </p:cNvPr>
            <p:cNvCxnSpPr/>
            <p:nvPr/>
          </p:nvCxnSpPr>
          <p:spPr>
            <a:xfrm>
              <a:off x="2591860" y="4629151"/>
              <a:ext cx="264693" cy="0"/>
            </a:xfrm>
            <a:prstGeom prst="line">
              <a:avLst/>
            </a:prstGeom>
            <a:noFill/>
            <a:ln w="19050" cap="flat" cmpd="sng" algn="ctr">
              <a:solidFill>
                <a:sysClr val="windowText" lastClr="000000"/>
              </a:solidFill>
              <a:prstDash val="solid"/>
              <a:miter lim="800000"/>
            </a:ln>
            <a:effectLst/>
          </p:spPr>
        </p:cxnSp>
        <p:cxnSp>
          <p:nvCxnSpPr>
            <p:cNvPr id="28" name="직선 연결선 27">
              <a:extLst>
                <a:ext uri="{FF2B5EF4-FFF2-40B4-BE49-F238E27FC236}">
                  <a16:creationId xmlns:a16="http://schemas.microsoft.com/office/drawing/2014/main" id="{164F478D-F732-5BFD-6501-789782BDAADB}"/>
                </a:ext>
              </a:extLst>
            </p:cNvPr>
            <p:cNvCxnSpPr/>
            <p:nvPr/>
          </p:nvCxnSpPr>
          <p:spPr>
            <a:xfrm>
              <a:off x="2656892" y="4689583"/>
              <a:ext cx="132346" cy="0"/>
            </a:xfrm>
            <a:prstGeom prst="line">
              <a:avLst/>
            </a:prstGeom>
            <a:noFill/>
            <a:ln w="19050" cap="flat" cmpd="sng" algn="ctr">
              <a:solidFill>
                <a:sysClr val="windowText" lastClr="000000"/>
              </a:solidFill>
              <a:prstDash val="solid"/>
              <a:miter lim="800000"/>
            </a:ln>
            <a:effectLst/>
          </p:spPr>
        </p:cxnSp>
        <p:cxnSp>
          <p:nvCxnSpPr>
            <p:cNvPr id="29" name="직선 연결선 28">
              <a:extLst>
                <a:ext uri="{FF2B5EF4-FFF2-40B4-BE49-F238E27FC236}">
                  <a16:creationId xmlns:a16="http://schemas.microsoft.com/office/drawing/2014/main" id="{4F5A938D-E299-C287-BBD6-3BB329E85626}"/>
                </a:ext>
              </a:extLst>
            </p:cNvPr>
            <p:cNvCxnSpPr/>
            <p:nvPr/>
          </p:nvCxnSpPr>
          <p:spPr>
            <a:xfrm rot="5400000" flipH="1" flipV="1">
              <a:off x="2634334" y="4588089"/>
              <a:ext cx="63117" cy="0"/>
            </a:xfrm>
            <a:prstGeom prst="line">
              <a:avLst/>
            </a:prstGeom>
            <a:noFill/>
            <a:ln w="19050" cap="flat" cmpd="sng" algn="ctr">
              <a:solidFill>
                <a:sysClr val="windowText" lastClr="000000"/>
              </a:solidFill>
              <a:prstDash val="solid"/>
              <a:miter lim="800000"/>
            </a:ln>
            <a:effectLst/>
          </p:spPr>
        </p:cxnSp>
        <p:cxnSp>
          <p:nvCxnSpPr>
            <p:cNvPr id="30" name="직선 연결선 29">
              <a:extLst>
                <a:ext uri="{FF2B5EF4-FFF2-40B4-BE49-F238E27FC236}">
                  <a16:creationId xmlns:a16="http://schemas.microsoft.com/office/drawing/2014/main" id="{581EC124-695E-784A-135A-F6F37C3E3394}"/>
                </a:ext>
              </a:extLst>
            </p:cNvPr>
            <p:cNvCxnSpPr/>
            <p:nvPr/>
          </p:nvCxnSpPr>
          <p:spPr>
            <a:xfrm rot="5400000">
              <a:off x="2745220" y="4586499"/>
              <a:ext cx="63117" cy="0"/>
            </a:xfrm>
            <a:prstGeom prst="line">
              <a:avLst/>
            </a:prstGeom>
            <a:noFill/>
            <a:ln w="19050" cap="flat" cmpd="sng" algn="ctr">
              <a:solidFill>
                <a:sysClr val="windowText" lastClr="000000"/>
              </a:solidFill>
              <a:prstDash val="solid"/>
              <a:miter lim="800000"/>
            </a:ln>
            <a:effectLst/>
          </p:spPr>
        </p:cxnSp>
        <p:cxnSp>
          <p:nvCxnSpPr>
            <p:cNvPr id="31" name="직선 연결선 30">
              <a:extLst>
                <a:ext uri="{FF2B5EF4-FFF2-40B4-BE49-F238E27FC236}">
                  <a16:creationId xmlns:a16="http://schemas.microsoft.com/office/drawing/2014/main" id="{7E920350-8EDA-C909-2FCE-82EE3401E9B0}"/>
                </a:ext>
              </a:extLst>
            </p:cNvPr>
            <p:cNvCxnSpPr/>
            <p:nvPr/>
          </p:nvCxnSpPr>
          <p:spPr>
            <a:xfrm>
              <a:off x="2767057" y="4556031"/>
              <a:ext cx="132346" cy="0"/>
            </a:xfrm>
            <a:prstGeom prst="line">
              <a:avLst/>
            </a:prstGeom>
            <a:noFill/>
            <a:ln w="19050" cap="flat" cmpd="sng" algn="ctr">
              <a:solidFill>
                <a:sysClr val="windowText" lastClr="000000"/>
              </a:solidFill>
              <a:prstDash val="solid"/>
              <a:miter lim="800000"/>
            </a:ln>
            <a:effectLst/>
          </p:spPr>
        </p:cxnSp>
        <p:cxnSp>
          <p:nvCxnSpPr>
            <p:cNvPr id="32" name="직선 연결선 31">
              <a:extLst>
                <a:ext uri="{FF2B5EF4-FFF2-40B4-BE49-F238E27FC236}">
                  <a16:creationId xmlns:a16="http://schemas.microsoft.com/office/drawing/2014/main" id="{D4D16681-0BC2-DBD8-808B-69AB994C023C}"/>
                </a:ext>
              </a:extLst>
            </p:cNvPr>
            <p:cNvCxnSpPr/>
            <p:nvPr/>
          </p:nvCxnSpPr>
          <p:spPr>
            <a:xfrm>
              <a:off x="2543859" y="4558417"/>
              <a:ext cx="132346" cy="0"/>
            </a:xfrm>
            <a:prstGeom prst="line">
              <a:avLst/>
            </a:prstGeom>
            <a:noFill/>
            <a:ln w="19050" cap="flat" cmpd="sng" algn="ctr">
              <a:solidFill>
                <a:sysClr val="windowText" lastClr="000000"/>
              </a:solidFill>
              <a:prstDash val="solid"/>
              <a:miter lim="800000"/>
            </a:ln>
            <a:effectLst/>
          </p:spPr>
        </p:cxnSp>
        <p:cxnSp>
          <p:nvCxnSpPr>
            <p:cNvPr id="33" name="직선 연결선 32">
              <a:extLst>
                <a:ext uri="{FF2B5EF4-FFF2-40B4-BE49-F238E27FC236}">
                  <a16:creationId xmlns:a16="http://schemas.microsoft.com/office/drawing/2014/main" id="{F445684F-4B3D-EF9E-42F8-30C29936E0ED}"/>
                </a:ext>
              </a:extLst>
            </p:cNvPr>
            <p:cNvCxnSpPr/>
            <p:nvPr/>
          </p:nvCxnSpPr>
          <p:spPr>
            <a:xfrm flipH="1" flipV="1">
              <a:off x="3658175" y="5361257"/>
              <a:ext cx="0" cy="126234"/>
            </a:xfrm>
            <a:prstGeom prst="line">
              <a:avLst/>
            </a:prstGeom>
            <a:noFill/>
            <a:ln w="12700" cap="flat" cmpd="sng" algn="ctr">
              <a:solidFill>
                <a:sysClr val="windowText" lastClr="000000"/>
              </a:solidFill>
              <a:prstDash val="solid"/>
              <a:miter lim="800000"/>
            </a:ln>
            <a:effectLst/>
          </p:spPr>
        </p:cxnSp>
        <p:cxnSp>
          <p:nvCxnSpPr>
            <p:cNvPr id="34" name="직선 연결선 33">
              <a:extLst>
                <a:ext uri="{FF2B5EF4-FFF2-40B4-BE49-F238E27FC236}">
                  <a16:creationId xmlns:a16="http://schemas.microsoft.com/office/drawing/2014/main" id="{231612B1-C9B5-457E-9031-D92A174D5A17}"/>
                </a:ext>
              </a:extLst>
            </p:cNvPr>
            <p:cNvCxnSpPr/>
            <p:nvPr/>
          </p:nvCxnSpPr>
          <p:spPr>
            <a:xfrm flipH="1" flipV="1">
              <a:off x="3850507" y="5363641"/>
              <a:ext cx="0" cy="315586"/>
            </a:xfrm>
            <a:prstGeom prst="line">
              <a:avLst/>
            </a:prstGeom>
            <a:noFill/>
            <a:ln w="12700" cap="flat" cmpd="sng" algn="ctr">
              <a:solidFill>
                <a:sysClr val="windowText" lastClr="000000"/>
              </a:solidFill>
              <a:prstDash val="solid"/>
              <a:miter lim="800000"/>
            </a:ln>
            <a:effectLst/>
          </p:spPr>
        </p:cxnSp>
        <p:cxnSp>
          <p:nvCxnSpPr>
            <p:cNvPr id="35" name="직선 연결선 34">
              <a:extLst>
                <a:ext uri="{FF2B5EF4-FFF2-40B4-BE49-F238E27FC236}">
                  <a16:creationId xmlns:a16="http://schemas.microsoft.com/office/drawing/2014/main" id="{10A9B90C-D469-4836-A6AC-5350414F6793}"/>
                </a:ext>
              </a:extLst>
            </p:cNvPr>
            <p:cNvCxnSpPr/>
            <p:nvPr/>
          </p:nvCxnSpPr>
          <p:spPr>
            <a:xfrm flipH="1" flipV="1">
              <a:off x="4044766" y="5358074"/>
              <a:ext cx="0" cy="126234"/>
            </a:xfrm>
            <a:prstGeom prst="line">
              <a:avLst/>
            </a:prstGeom>
            <a:noFill/>
            <a:ln w="12700" cap="flat" cmpd="sng" algn="ctr">
              <a:solidFill>
                <a:sysClr val="windowText" lastClr="000000"/>
              </a:solidFill>
              <a:prstDash val="solid"/>
              <a:miter lim="800000"/>
            </a:ln>
            <a:effectLst/>
          </p:spPr>
        </p:cxnSp>
        <p:cxnSp>
          <p:nvCxnSpPr>
            <p:cNvPr id="36" name="직선 연결선 35">
              <a:extLst>
                <a:ext uri="{FF2B5EF4-FFF2-40B4-BE49-F238E27FC236}">
                  <a16:creationId xmlns:a16="http://schemas.microsoft.com/office/drawing/2014/main" id="{9FED52FC-A752-F33F-DB36-2F825B74C0CA}"/>
                </a:ext>
              </a:extLst>
            </p:cNvPr>
            <p:cNvCxnSpPr/>
            <p:nvPr/>
          </p:nvCxnSpPr>
          <p:spPr>
            <a:xfrm flipH="1" flipV="1">
              <a:off x="3659583" y="4552556"/>
              <a:ext cx="0" cy="698753"/>
            </a:xfrm>
            <a:prstGeom prst="line">
              <a:avLst/>
            </a:prstGeom>
            <a:noFill/>
            <a:ln w="12700" cap="flat" cmpd="sng" algn="ctr">
              <a:solidFill>
                <a:sysClr val="windowText" lastClr="000000"/>
              </a:solidFill>
              <a:prstDash val="solid"/>
              <a:miter lim="800000"/>
            </a:ln>
            <a:effectLst/>
          </p:spPr>
        </p:cxnSp>
        <p:cxnSp>
          <p:nvCxnSpPr>
            <p:cNvPr id="37" name="직선 연결선 36">
              <a:extLst>
                <a:ext uri="{FF2B5EF4-FFF2-40B4-BE49-F238E27FC236}">
                  <a16:creationId xmlns:a16="http://schemas.microsoft.com/office/drawing/2014/main" id="{2E64F0B5-4CF4-CA32-B6BF-0FE875504B73}"/>
                </a:ext>
              </a:extLst>
            </p:cNvPr>
            <p:cNvCxnSpPr/>
            <p:nvPr/>
          </p:nvCxnSpPr>
          <p:spPr>
            <a:xfrm flipH="1" flipV="1">
              <a:off x="3853008" y="4841180"/>
              <a:ext cx="0" cy="410261"/>
            </a:xfrm>
            <a:prstGeom prst="line">
              <a:avLst/>
            </a:prstGeom>
            <a:noFill/>
            <a:ln w="12700" cap="flat" cmpd="sng" algn="ctr">
              <a:solidFill>
                <a:sysClr val="windowText" lastClr="000000"/>
              </a:solidFill>
              <a:prstDash val="solid"/>
              <a:miter lim="800000"/>
            </a:ln>
            <a:effectLst/>
          </p:spPr>
        </p:cxnSp>
        <p:cxnSp>
          <p:nvCxnSpPr>
            <p:cNvPr id="38" name="직선 연결선 37">
              <a:extLst>
                <a:ext uri="{FF2B5EF4-FFF2-40B4-BE49-F238E27FC236}">
                  <a16:creationId xmlns:a16="http://schemas.microsoft.com/office/drawing/2014/main" id="{521475F1-EEF9-1A85-076A-0050F2394881}"/>
                </a:ext>
              </a:extLst>
            </p:cNvPr>
            <p:cNvCxnSpPr/>
            <p:nvPr/>
          </p:nvCxnSpPr>
          <p:spPr>
            <a:xfrm flipV="1">
              <a:off x="4038930" y="5121142"/>
              <a:ext cx="0" cy="122470"/>
            </a:xfrm>
            <a:prstGeom prst="line">
              <a:avLst/>
            </a:prstGeom>
            <a:noFill/>
            <a:ln w="12700" cap="flat" cmpd="sng" algn="ctr">
              <a:solidFill>
                <a:sysClr val="windowText" lastClr="000000"/>
              </a:solidFill>
              <a:prstDash val="solid"/>
              <a:miter lim="800000"/>
            </a:ln>
            <a:effectLst/>
          </p:spPr>
        </p:cxnSp>
        <p:cxnSp>
          <p:nvCxnSpPr>
            <p:cNvPr id="39" name="직선 연결선 38">
              <a:extLst>
                <a:ext uri="{FF2B5EF4-FFF2-40B4-BE49-F238E27FC236}">
                  <a16:creationId xmlns:a16="http://schemas.microsoft.com/office/drawing/2014/main" id="{7634D114-8EC5-1AAB-B8FE-53DEDA38FF77}"/>
                </a:ext>
              </a:extLst>
            </p:cNvPr>
            <p:cNvCxnSpPr/>
            <p:nvPr/>
          </p:nvCxnSpPr>
          <p:spPr>
            <a:xfrm>
              <a:off x="3157630" y="4854464"/>
              <a:ext cx="1422726" cy="0"/>
            </a:xfrm>
            <a:prstGeom prst="line">
              <a:avLst/>
            </a:prstGeom>
            <a:noFill/>
            <a:ln w="12700" cap="flat" cmpd="sng" algn="ctr">
              <a:solidFill>
                <a:sysClr val="windowText" lastClr="000000"/>
              </a:solidFill>
              <a:prstDash val="solid"/>
              <a:miter lim="800000"/>
            </a:ln>
            <a:effectLst/>
          </p:spPr>
        </p:cxnSp>
        <p:cxnSp>
          <p:nvCxnSpPr>
            <p:cNvPr id="40" name="직선 연결선 39">
              <a:extLst>
                <a:ext uri="{FF2B5EF4-FFF2-40B4-BE49-F238E27FC236}">
                  <a16:creationId xmlns:a16="http://schemas.microsoft.com/office/drawing/2014/main" id="{715FCE9B-EB35-75F4-BDA4-C3826B31CA6F}"/>
                </a:ext>
              </a:extLst>
            </p:cNvPr>
            <p:cNvCxnSpPr>
              <a:cxnSpLocks/>
            </p:cNvCxnSpPr>
            <p:nvPr/>
          </p:nvCxnSpPr>
          <p:spPr>
            <a:xfrm>
              <a:off x="2897981" y="4554890"/>
              <a:ext cx="1485833" cy="0"/>
            </a:xfrm>
            <a:prstGeom prst="line">
              <a:avLst/>
            </a:prstGeom>
            <a:noFill/>
            <a:ln w="12700" cap="flat" cmpd="sng" algn="ctr">
              <a:solidFill>
                <a:sysClr val="windowText" lastClr="000000"/>
              </a:solidFill>
              <a:prstDash val="solid"/>
              <a:miter lim="800000"/>
            </a:ln>
            <a:effectLst/>
          </p:spPr>
        </p:cxnSp>
        <p:cxnSp>
          <p:nvCxnSpPr>
            <p:cNvPr id="41" name="직선 연결선 40">
              <a:extLst>
                <a:ext uri="{FF2B5EF4-FFF2-40B4-BE49-F238E27FC236}">
                  <a16:creationId xmlns:a16="http://schemas.microsoft.com/office/drawing/2014/main" id="{CF66C762-5FDE-3E35-300E-720C4FEF89D0}"/>
                </a:ext>
              </a:extLst>
            </p:cNvPr>
            <p:cNvCxnSpPr>
              <a:cxnSpLocks/>
            </p:cNvCxnSpPr>
            <p:nvPr/>
          </p:nvCxnSpPr>
          <p:spPr>
            <a:xfrm>
              <a:off x="2255044" y="5135176"/>
              <a:ext cx="762195" cy="0"/>
            </a:xfrm>
            <a:prstGeom prst="line">
              <a:avLst/>
            </a:prstGeom>
            <a:noFill/>
            <a:ln w="12700" cap="flat" cmpd="sng" algn="ctr">
              <a:solidFill>
                <a:sysClr val="windowText" lastClr="000000"/>
              </a:solidFill>
              <a:prstDash val="solid"/>
              <a:miter lim="800000"/>
            </a:ln>
            <a:effectLst/>
          </p:spPr>
        </p:cxnSp>
        <p:cxnSp>
          <p:nvCxnSpPr>
            <p:cNvPr id="42" name="직선 연결선 41">
              <a:extLst>
                <a:ext uri="{FF2B5EF4-FFF2-40B4-BE49-F238E27FC236}">
                  <a16:creationId xmlns:a16="http://schemas.microsoft.com/office/drawing/2014/main" id="{BF1A8409-617E-5AAB-2B18-289FFB13F470}"/>
                </a:ext>
              </a:extLst>
            </p:cNvPr>
            <p:cNvCxnSpPr>
              <a:cxnSpLocks/>
            </p:cNvCxnSpPr>
            <p:nvPr/>
          </p:nvCxnSpPr>
          <p:spPr>
            <a:xfrm>
              <a:off x="2252663" y="4857410"/>
              <a:ext cx="633446" cy="0"/>
            </a:xfrm>
            <a:prstGeom prst="line">
              <a:avLst/>
            </a:prstGeom>
            <a:noFill/>
            <a:ln w="12700" cap="flat" cmpd="sng" algn="ctr">
              <a:solidFill>
                <a:sysClr val="windowText" lastClr="000000"/>
              </a:solidFill>
              <a:prstDash val="solid"/>
              <a:miter lim="800000"/>
            </a:ln>
            <a:effectLst/>
          </p:spPr>
        </p:cxnSp>
        <p:cxnSp>
          <p:nvCxnSpPr>
            <p:cNvPr id="43" name="직선 연결선 42">
              <a:extLst>
                <a:ext uri="{FF2B5EF4-FFF2-40B4-BE49-F238E27FC236}">
                  <a16:creationId xmlns:a16="http://schemas.microsoft.com/office/drawing/2014/main" id="{85DC98F8-E200-E366-45CA-A86D7DAD8701}"/>
                </a:ext>
              </a:extLst>
            </p:cNvPr>
            <p:cNvCxnSpPr/>
            <p:nvPr/>
          </p:nvCxnSpPr>
          <p:spPr>
            <a:xfrm>
              <a:off x="3651466" y="5484516"/>
              <a:ext cx="397040" cy="0"/>
            </a:xfrm>
            <a:prstGeom prst="line">
              <a:avLst/>
            </a:prstGeom>
            <a:noFill/>
            <a:ln w="12700" cap="flat" cmpd="sng" algn="ctr">
              <a:solidFill>
                <a:sysClr val="windowText" lastClr="000000"/>
              </a:solidFill>
              <a:prstDash val="solid"/>
              <a:miter lim="800000"/>
            </a:ln>
            <a:effectLst/>
          </p:spPr>
        </p:cxnSp>
        <p:cxnSp>
          <p:nvCxnSpPr>
            <p:cNvPr id="44" name="직선 연결선 43">
              <a:extLst>
                <a:ext uri="{FF2B5EF4-FFF2-40B4-BE49-F238E27FC236}">
                  <a16:creationId xmlns:a16="http://schemas.microsoft.com/office/drawing/2014/main" id="{187D7C34-9C19-99A9-4BDE-6424C8ED1F0A}"/>
                </a:ext>
              </a:extLst>
            </p:cNvPr>
            <p:cNvCxnSpPr/>
            <p:nvPr/>
          </p:nvCxnSpPr>
          <p:spPr>
            <a:xfrm flipH="1">
              <a:off x="2993109" y="4984360"/>
              <a:ext cx="0" cy="615391"/>
            </a:xfrm>
            <a:prstGeom prst="line">
              <a:avLst/>
            </a:prstGeom>
            <a:noFill/>
            <a:ln w="6350" cap="flat" cmpd="sng" algn="ctr">
              <a:solidFill>
                <a:sysClr val="windowText" lastClr="000000"/>
              </a:solidFill>
              <a:prstDash val="solid"/>
              <a:miter lim="800000"/>
            </a:ln>
            <a:effectLst/>
          </p:spPr>
        </p:cxnSp>
        <p:cxnSp>
          <p:nvCxnSpPr>
            <p:cNvPr id="45" name="직선 연결선 44">
              <a:extLst>
                <a:ext uri="{FF2B5EF4-FFF2-40B4-BE49-F238E27FC236}">
                  <a16:creationId xmlns:a16="http://schemas.microsoft.com/office/drawing/2014/main" id="{058B3919-97EE-6605-3B68-7AEDDD3C5049}"/>
                </a:ext>
              </a:extLst>
            </p:cNvPr>
            <p:cNvCxnSpPr>
              <a:cxnSpLocks/>
            </p:cNvCxnSpPr>
            <p:nvPr/>
          </p:nvCxnSpPr>
          <p:spPr>
            <a:xfrm>
              <a:off x="2725611" y="4696490"/>
              <a:ext cx="0" cy="707360"/>
            </a:xfrm>
            <a:prstGeom prst="line">
              <a:avLst/>
            </a:prstGeom>
            <a:noFill/>
            <a:ln w="6350" cap="flat" cmpd="sng" algn="ctr">
              <a:solidFill>
                <a:sysClr val="windowText" lastClr="000000"/>
              </a:solidFill>
              <a:prstDash val="solid"/>
              <a:miter lim="800000"/>
            </a:ln>
            <a:effectLst/>
          </p:spPr>
        </p:cxnSp>
        <p:cxnSp>
          <p:nvCxnSpPr>
            <p:cNvPr id="46" name="직선 연결선 45">
              <a:extLst>
                <a:ext uri="{FF2B5EF4-FFF2-40B4-BE49-F238E27FC236}">
                  <a16:creationId xmlns:a16="http://schemas.microsoft.com/office/drawing/2014/main" id="{2088DF5D-F478-3A55-0E10-256DB08DFE98}"/>
                </a:ext>
              </a:extLst>
            </p:cNvPr>
            <p:cNvCxnSpPr/>
            <p:nvPr/>
          </p:nvCxnSpPr>
          <p:spPr>
            <a:xfrm>
              <a:off x="2273407" y="5801060"/>
              <a:ext cx="926426" cy="0"/>
            </a:xfrm>
            <a:prstGeom prst="line">
              <a:avLst/>
            </a:prstGeom>
            <a:noFill/>
            <a:ln w="6350" cap="flat" cmpd="sng" algn="ctr">
              <a:solidFill>
                <a:sysClr val="windowText" lastClr="000000"/>
              </a:solidFill>
              <a:prstDash val="solid"/>
              <a:miter lim="800000"/>
            </a:ln>
            <a:effectLst/>
          </p:spPr>
        </p:cxnSp>
        <p:cxnSp>
          <p:nvCxnSpPr>
            <p:cNvPr id="47" name="직선 연결선 46">
              <a:extLst>
                <a:ext uri="{FF2B5EF4-FFF2-40B4-BE49-F238E27FC236}">
                  <a16:creationId xmlns:a16="http://schemas.microsoft.com/office/drawing/2014/main" id="{A7584350-A235-5900-DC9F-8201A6835162}"/>
                </a:ext>
              </a:extLst>
            </p:cNvPr>
            <p:cNvCxnSpPr>
              <a:cxnSpLocks/>
            </p:cNvCxnSpPr>
            <p:nvPr/>
          </p:nvCxnSpPr>
          <p:spPr>
            <a:xfrm>
              <a:off x="2269752" y="5600665"/>
              <a:ext cx="724273" cy="0"/>
            </a:xfrm>
            <a:prstGeom prst="line">
              <a:avLst/>
            </a:prstGeom>
            <a:noFill/>
            <a:ln w="6350" cap="flat" cmpd="sng" algn="ctr">
              <a:solidFill>
                <a:sysClr val="windowText" lastClr="000000"/>
              </a:solidFill>
              <a:prstDash val="solid"/>
              <a:miter lim="800000"/>
            </a:ln>
            <a:effectLst/>
          </p:spPr>
        </p:cxnSp>
        <p:cxnSp>
          <p:nvCxnSpPr>
            <p:cNvPr id="48" name="직선 연결선 47">
              <a:extLst>
                <a:ext uri="{FF2B5EF4-FFF2-40B4-BE49-F238E27FC236}">
                  <a16:creationId xmlns:a16="http://schemas.microsoft.com/office/drawing/2014/main" id="{80DBFD00-A0EF-42A3-3152-C52942E2E74D}"/>
                </a:ext>
              </a:extLst>
            </p:cNvPr>
            <p:cNvCxnSpPr>
              <a:cxnSpLocks/>
            </p:cNvCxnSpPr>
            <p:nvPr/>
          </p:nvCxnSpPr>
          <p:spPr>
            <a:xfrm>
              <a:off x="2251075" y="5404242"/>
              <a:ext cx="469900" cy="0"/>
            </a:xfrm>
            <a:prstGeom prst="line">
              <a:avLst/>
            </a:prstGeom>
            <a:noFill/>
            <a:ln w="6350" cap="flat" cmpd="sng" algn="ctr">
              <a:solidFill>
                <a:sysClr val="windowText" lastClr="000000"/>
              </a:solidFill>
              <a:prstDash val="solid"/>
              <a:miter lim="800000"/>
            </a:ln>
            <a:effectLst/>
          </p:spPr>
        </p:cxnSp>
        <p:sp>
          <p:nvSpPr>
            <p:cNvPr id="49" name="TextBox 28">
              <a:extLst>
                <a:ext uri="{FF2B5EF4-FFF2-40B4-BE49-F238E27FC236}">
                  <a16:creationId xmlns:a16="http://schemas.microsoft.com/office/drawing/2014/main" id="{4A66B44B-838E-D888-153C-7216582F8E71}"/>
                </a:ext>
              </a:extLst>
            </p:cNvPr>
            <p:cNvSpPr txBox="1"/>
            <p:nvPr/>
          </p:nvSpPr>
          <p:spPr>
            <a:xfrm>
              <a:off x="2261701" y="5674181"/>
              <a:ext cx="279275"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GATE3</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0" name="TextBox 29">
              <a:extLst>
                <a:ext uri="{FF2B5EF4-FFF2-40B4-BE49-F238E27FC236}">
                  <a16:creationId xmlns:a16="http://schemas.microsoft.com/office/drawing/2014/main" id="{AA3DEBA3-98F9-BAC7-5F71-2A2BD531973D}"/>
                </a:ext>
              </a:extLst>
            </p:cNvPr>
            <p:cNvSpPr txBox="1"/>
            <p:nvPr/>
          </p:nvSpPr>
          <p:spPr>
            <a:xfrm>
              <a:off x="2267377" y="5474521"/>
              <a:ext cx="279275"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GATE2</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1" name="TextBox 30">
              <a:extLst>
                <a:ext uri="{FF2B5EF4-FFF2-40B4-BE49-F238E27FC236}">
                  <a16:creationId xmlns:a16="http://schemas.microsoft.com/office/drawing/2014/main" id="{E1BB1E2E-D6F6-0B7C-6BDF-C95FF5B08455}"/>
                </a:ext>
              </a:extLst>
            </p:cNvPr>
            <p:cNvSpPr txBox="1"/>
            <p:nvPr/>
          </p:nvSpPr>
          <p:spPr>
            <a:xfrm>
              <a:off x="2262340" y="5265336"/>
              <a:ext cx="279275"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GATE1</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2" name="TextBox 31">
              <a:extLst>
                <a:ext uri="{FF2B5EF4-FFF2-40B4-BE49-F238E27FC236}">
                  <a16:creationId xmlns:a16="http://schemas.microsoft.com/office/drawing/2014/main" id="{8158743B-BF17-CF63-486A-D59AD874D618}"/>
                </a:ext>
              </a:extLst>
            </p:cNvPr>
            <p:cNvSpPr txBox="1"/>
            <p:nvPr/>
          </p:nvSpPr>
          <p:spPr>
            <a:xfrm>
              <a:off x="2251291" y="4427991"/>
              <a:ext cx="279039"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VLED1</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3" name="TextBox 32">
              <a:extLst>
                <a:ext uri="{FF2B5EF4-FFF2-40B4-BE49-F238E27FC236}">
                  <a16:creationId xmlns:a16="http://schemas.microsoft.com/office/drawing/2014/main" id="{ECCF26D0-6B34-9536-346F-84603C6BBBFE}"/>
                </a:ext>
              </a:extLst>
            </p:cNvPr>
            <p:cNvSpPr txBox="1"/>
            <p:nvPr/>
          </p:nvSpPr>
          <p:spPr>
            <a:xfrm>
              <a:off x="2251410" y="4726193"/>
              <a:ext cx="279039"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VLED2</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4" name="TextBox 33">
              <a:extLst>
                <a:ext uri="{FF2B5EF4-FFF2-40B4-BE49-F238E27FC236}">
                  <a16:creationId xmlns:a16="http://schemas.microsoft.com/office/drawing/2014/main" id="{E158FF9F-A7AF-9438-46B5-83598D6E01EE}"/>
                </a:ext>
              </a:extLst>
            </p:cNvPr>
            <p:cNvSpPr txBox="1"/>
            <p:nvPr/>
          </p:nvSpPr>
          <p:spPr>
            <a:xfrm>
              <a:off x="2255898" y="4994206"/>
              <a:ext cx="279039"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VLED3</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5" name="TextBox 34">
              <a:extLst>
                <a:ext uri="{FF2B5EF4-FFF2-40B4-BE49-F238E27FC236}">
                  <a16:creationId xmlns:a16="http://schemas.microsoft.com/office/drawing/2014/main" id="{078C3BA9-7639-205E-7FE7-2F574F72418D}"/>
                </a:ext>
              </a:extLst>
            </p:cNvPr>
            <p:cNvSpPr txBox="1"/>
            <p:nvPr/>
          </p:nvSpPr>
          <p:spPr>
            <a:xfrm>
              <a:off x="3764633" y="5711497"/>
              <a:ext cx="178679"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CHx</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57" name="직선 연결선 56">
              <a:extLst>
                <a:ext uri="{FF2B5EF4-FFF2-40B4-BE49-F238E27FC236}">
                  <a16:creationId xmlns:a16="http://schemas.microsoft.com/office/drawing/2014/main" id="{BB9EFD2D-58D9-A172-7E3E-88E7C4594DBE}"/>
                </a:ext>
              </a:extLst>
            </p:cNvPr>
            <p:cNvCxnSpPr/>
            <p:nvPr/>
          </p:nvCxnSpPr>
          <p:spPr>
            <a:xfrm>
              <a:off x="4299253" y="5350166"/>
              <a:ext cx="179253" cy="0"/>
            </a:xfrm>
            <a:prstGeom prst="line">
              <a:avLst/>
            </a:prstGeom>
            <a:noFill/>
            <a:ln w="19050" cap="flat" cmpd="sng" algn="ctr">
              <a:solidFill>
                <a:sysClr val="windowText" lastClr="000000"/>
              </a:solidFill>
              <a:prstDash val="solid"/>
              <a:miter lim="800000"/>
            </a:ln>
            <a:effectLst/>
          </p:spPr>
        </p:cxnSp>
        <p:cxnSp>
          <p:nvCxnSpPr>
            <p:cNvPr id="59" name="직선 연결선 58">
              <a:extLst>
                <a:ext uri="{FF2B5EF4-FFF2-40B4-BE49-F238E27FC236}">
                  <a16:creationId xmlns:a16="http://schemas.microsoft.com/office/drawing/2014/main" id="{2BBEFEE3-6AB2-1FF9-C856-2B6CB04D4882}"/>
                </a:ext>
              </a:extLst>
            </p:cNvPr>
            <p:cNvCxnSpPr/>
            <p:nvPr/>
          </p:nvCxnSpPr>
          <p:spPr>
            <a:xfrm>
              <a:off x="4495813" y="5350165"/>
              <a:ext cx="179253" cy="0"/>
            </a:xfrm>
            <a:prstGeom prst="line">
              <a:avLst/>
            </a:prstGeom>
            <a:noFill/>
            <a:ln w="19050" cap="flat" cmpd="sng" algn="ctr">
              <a:solidFill>
                <a:sysClr val="windowText" lastClr="000000"/>
              </a:solidFill>
              <a:prstDash val="solid"/>
              <a:miter lim="800000"/>
            </a:ln>
            <a:effectLst/>
          </p:spPr>
        </p:cxnSp>
        <p:cxnSp>
          <p:nvCxnSpPr>
            <p:cNvPr id="61" name="직선 연결선 60">
              <a:extLst>
                <a:ext uri="{FF2B5EF4-FFF2-40B4-BE49-F238E27FC236}">
                  <a16:creationId xmlns:a16="http://schemas.microsoft.com/office/drawing/2014/main" id="{C07CEA54-66C1-D8E7-0512-1B9A94DE5BDF}"/>
                </a:ext>
              </a:extLst>
            </p:cNvPr>
            <p:cNvCxnSpPr/>
            <p:nvPr/>
          </p:nvCxnSpPr>
          <p:spPr>
            <a:xfrm>
              <a:off x="4694238" y="5346750"/>
              <a:ext cx="179253" cy="0"/>
            </a:xfrm>
            <a:prstGeom prst="line">
              <a:avLst/>
            </a:prstGeom>
            <a:noFill/>
            <a:ln w="19050" cap="flat" cmpd="sng" algn="ctr">
              <a:solidFill>
                <a:sysClr val="windowText" lastClr="000000"/>
              </a:solidFill>
              <a:prstDash val="solid"/>
              <a:miter lim="800000"/>
            </a:ln>
            <a:effectLst/>
          </p:spPr>
        </p:cxnSp>
        <p:cxnSp>
          <p:nvCxnSpPr>
            <p:cNvPr id="62" name="직선 연결선 61">
              <a:extLst>
                <a:ext uri="{FF2B5EF4-FFF2-40B4-BE49-F238E27FC236}">
                  <a16:creationId xmlns:a16="http://schemas.microsoft.com/office/drawing/2014/main" id="{89EBFF8E-0EDE-55C6-56B3-5B109B45E0D8}"/>
                </a:ext>
              </a:extLst>
            </p:cNvPr>
            <p:cNvCxnSpPr/>
            <p:nvPr/>
          </p:nvCxnSpPr>
          <p:spPr>
            <a:xfrm flipH="1" flipV="1">
              <a:off x="4390190" y="5355689"/>
              <a:ext cx="0" cy="126234"/>
            </a:xfrm>
            <a:prstGeom prst="line">
              <a:avLst/>
            </a:prstGeom>
            <a:noFill/>
            <a:ln w="12700" cap="flat" cmpd="sng" algn="ctr">
              <a:solidFill>
                <a:sysClr val="windowText" lastClr="000000"/>
              </a:solidFill>
              <a:prstDash val="solid"/>
              <a:miter lim="800000"/>
            </a:ln>
            <a:effectLst/>
          </p:spPr>
        </p:cxnSp>
        <p:cxnSp>
          <p:nvCxnSpPr>
            <p:cNvPr id="63" name="직선 연결선 62">
              <a:extLst>
                <a:ext uri="{FF2B5EF4-FFF2-40B4-BE49-F238E27FC236}">
                  <a16:creationId xmlns:a16="http://schemas.microsoft.com/office/drawing/2014/main" id="{C76E3A60-2181-C2D9-8436-304A609686D2}"/>
                </a:ext>
              </a:extLst>
            </p:cNvPr>
            <p:cNvCxnSpPr/>
            <p:nvPr/>
          </p:nvCxnSpPr>
          <p:spPr>
            <a:xfrm flipH="1" flipV="1">
              <a:off x="4582523" y="5358075"/>
              <a:ext cx="0" cy="315586"/>
            </a:xfrm>
            <a:prstGeom prst="line">
              <a:avLst/>
            </a:prstGeom>
            <a:noFill/>
            <a:ln w="12700" cap="flat" cmpd="sng" algn="ctr">
              <a:solidFill>
                <a:sysClr val="windowText" lastClr="000000"/>
              </a:solidFill>
              <a:prstDash val="solid"/>
              <a:miter lim="800000"/>
            </a:ln>
            <a:effectLst/>
          </p:spPr>
        </p:cxnSp>
        <p:cxnSp>
          <p:nvCxnSpPr>
            <p:cNvPr id="64" name="직선 연결선 63">
              <a:extLst>
                <a:ext uri="{FF2B5EF4-FFF2-40B4-BE49-F238E27FC236}">
                  <a16:creationId xmlns:a16="http://schemas.microsoft.com/office/drawing/2014/main" id="{F2A6AD13-83FA-18A2-93F6-9246F8EFA4AD}"/>
                </a:ext>
              </a:extLst>
            </p:cNvPr>
            <p:cNvCxnSpPr/>
            <p:nvPr/>
          </p:nvCxnSpPr>
          <p:spPr>
            <a:xfrm flipH="1" flipV="1">
              <a:off x="4776781" y="5352508"/>
              <a:ext cx="0" cy="126234"/>
            </a:xfrm>
            <a:prstGeom prst="line">
              <a:avLst/>
            </a:prstGeom>
            <a:noFill/>
            <a:ln w="12700" cap="flat" cmpd="sng" algn="ctr">
              <a:solidFill>
                <a:sysClr val="windowText" lastClr="000000"/>
              </a:solidFill>
              <a:prstDash val="solid"/>
              <a:miter lim="800000"/>
            </a:ln>
            <a:effectLst/>
          </p:spPr>
        </p:cxnSp>
        <p:cxnSp>
          <p:nvCxnSpPr>
            <p:cNvPr id="65" name="직선 연결선 64">
              <a:extLst>
                <a:ext uri="{FF2B5EF4-FFF2-40B4-BE49-F238E27FC236}">
                  <a16:creationId xmlns:a16="http://schemas.microsoft.com/office/drawing/2014/main" id="{00D27F0B-A2AC-13E7-724B-C46F9E1056F5}"/>
                </a:ext>
              </a:extLst>
            </p:cNvPr>
            <p:cNvCxnSpPr/>
            <p:nvPr/>
          </p:nvCxnSpPr>
          <p:spPr>
            <a:xfrm flipH="1" flipV="1">
              <a:off x="4389097" y="4551060"/>
              <a:ext cx="0" cy="701139"/>
            </a:xfrm>
            <a:prstGeom prst="line">
              <a:avLst/>
            </a:prstGeom>
            <a:noFill/>
            <a:ln w="12700" cap="flat" cmpd="sng" algn="ctr">
              <a:solidFill>
                <a:sysClr val="windowText" lastClr="000000"/>
              </a:solidFill>
              <a:prstDash val="solid"/>
              <a:miter lim="800000"/>
            </a:ln>
            <a:effectLst/>
          </p:spPr>
        </p:cxnSp>
        <p:cxnSp>
          <p:nvCxnSpPr>
            <p:cNvPr id="66" name="직선 연결선 65">
              <a:extLst>
                <a:ext uri="{FF2B5EF4-FFF2-40B4-BE49-F238E27FC236}">
                  <a16:creationId xmlns:a16="http://schemas.microsoft.com/office/drawing/2014/main" id="{1F515B87-B52B-C1E4-5139-55839B15E447}"/>
                </a:ext>
              </a:extLst>
            </p:cNvPr>
            <p:cNvCxnSpPr/>
            <p:nvPr/>
          </p:nvCxnSpPr>
          <p:spPr>
            <a:xfrm flipH="1" flipV="1">
              <a:off x="4585025" y="4848198"/>
              <a:ext cx="0" cy="410261"/>
            </a:xfrm>
            <a:prstGeom prst="line">
              <a:avLst/>
            </a:prstGeom>
            <a:noFill/>
            <a:ln w="12700" cap="flat" cmpd="sng" algn="ctr">
              <a:solidFill>
                <a:sysClr val="windowText" lastClr="000000"/>
              </a:solidFill>
              <a:prstDash val="solid"/>
              <a:miter lim="800000"/>
            </a:ln>
            <a:effectLst/>
          </p:spPr>
        </p:cxnSp>
        <p:cxnSp>
          <p:nvCxnSpPr>
            <p:cNvPr id="67" name="직선 연결선 66">
              <a:extLst>
                <a:ext uri="{FF2B5EF4-FFF2-40B4-BE49-F238E27FC236}">
                  <a16:creationId xmlns:a16="http://schemas.microsoft.com/office/drawing/2014/main" id="{ED64E28D-9488-F067-9813-9B9BC6CA3359}"/>
                </a:ext>
              </a:extLst>
            </p:cNvPr>
            <p:cNvCxnSpPr/>
            <p:nvPr/>
          </p:nvCxnSpPr>
          <p:spPr>
            <a:xfrm>
              <a:off x="4383482" y="5478949"/>
              <a:ext cx="397040" cy="0"/>
            </a:xfrm>
            <a:prstGeom prst="line">
              <a:avLst/>
            </a:prstGeom>
            <a:noFill/>
            <a:ln w="12700" cap="flat" cmpd="sng" algn="ctr">
              <a:solidFill>
                <a:sysClr val="windowText" lastClr="000000"/>
              </a:solidFill>
              <a:prstDash val="solid"/>
              <a:miter lim="800000"/>
            </a:ln>
            <a:effectLst/>
          </p:spPr>
        </p:cxnSp>
        <p:sp>
          <p:nvSpPr>
            <p:cNvPr id="68" name="TextBox 42">
              <a:extLst>
                <a:ext uri="{FF2B5EF4-FFF2-40B4-BE49-F238E27FC236}">
                  <a16:creationId xmlns:a16="http://schemas.microsoft.com/office/drawing/2014/main" id="{431DF3E6-4BB1-2BAD-BC48-40F085544EFD}"/>
                </a:ext>
              </a:extLst>
            </p:cNvPr>
            <p:cNvSpPr txBox="1"/>
            <p:nvPr/>
          </p:nvSpPr>
          <p:spPr>
            <a:xfrm>
              <a:off x="4459131" y="5705930"/>
              <a:ext cx="286169"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CHx+1</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69" name="타원 68">
              <a:extLst>
                <a:ext uri="{FF2B5EF4-FFF2-40B4-BE49-F238E27FC236}">
                  <a16:creationId xmlns:a16="http://schemas.microsoft.com/office/drawing/2014/main" id="{935205AC-85E4-2B14-98B5-39AAB616A8E5}"/>
                </a:ext>
              </a:extLst>
            </p:cNvPr>
            <p:cNvSpPr/>
            <p:nvPr/>
          </p:nvSpPr>
          <p:spPr>
            <a:xfrm>
              <a:off x="4009749" y="5105236"/>
              <a:ext cx="66174" cy="6311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0" name="타원 69">
              <a:extLst>
                <a:ext uri="{FF2B5EF4-FFF2-40B4-BE49-F238E27FC236}">
                  <a16:creationId xmlns:a16="http://schemas.microsoft.com/office/drawing/2014/main" id="{0D8255C3-355A-D8EC-4DF2-0D9F25ED57B6}"/>
                </a:ext>
              </a:extLst>
            </p:cNvPr>
            <p:cNvSpPr/>
            <p:nvPr/>
          </p:nvSpPr>
          <p:spPr>
            <a:xfrm>
              <a:off x="3820493" y="4829294"/>
              <a:ext cx="66174" cy="6311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1" name="타원 70">
              <a:extLst>
                <a:ext uri="{FF2B5EF4-FFF2-40B4-BE49-F238E27FC236}">
                  <a16:creationId xmlns:a16="http://schemas.microsoft.com/office/drawing/2014/main" id="{BCEB7344-068B-487D-E023-A6E80910CE06}"/>
                </a:ext>
              </a:extLst>
            </p:cNvPr>
            <p:cNvSpPr/>
            <p:nvPr/>
          </p:nvSpPr>
          <p:spPr>
            <a:xfrm>
              <a:off x="3627068" y="4517566"/>
              <a:ext cx="66174" cy="6311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2" name="타원 71">
              <a:extLst>
                <a:ext uri="{FF2B5EF4-FFF2-40B4-BE49-F238E27FC236}">
                  <a16:creationId xmlns:a16="http://schemas.microsoft.com/office/drawing/2014/main" id="{24075E9A-6338-226C-117A-C066C52BAC45}"/>
                </a:ext>
              </a:extLst>
            </p:cNvPr>
            <p:cNvSpPr/>
            <p:nvPr/>
          </p:nvSpPr>
          <p:spPr>
            <a:xfrm>
              <a:off x="3816324" y="5457522"/>
              <a:ext cx="66174" cy="6311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3" name="타원 72">
              <a:extLst>
                <a:ext uri="{FF2B5EF4-FFF2-40B4-BE49-F238E27FC236}">
                  <a16:creationId xmlns:a16="http://schemas.microsoft.com/office/drawing/2014/main" id="{0BD02FF9-AFAB-BFAE-BA80-A4F39F12AA3D}"/>
                </a:ext>
              </a:extLst>
            </p:cNvPr>
            <p:cNvSpPr/>
            <p:nvPr/>
          </p:nvSpPr>
          <p:spPr>
            <a:xfrm>
              <a:off x="4552509" y="5459908"/>
              <a:ext cx="66174" cy="6311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74" name="직선 연결선 73">
              <a:extLst>
                <a:ext uri="{FF2B5EF4-FFF2-40B4-BE49-F238E27FC236}">
                  <a16:creationId xmlns:a16="http://schemas.microsoft.com/office/drawing/2014/main" id="{A555CFD1-39FC-D698-23F2-7D086A5FEA92}"/>
                </a:ext>
              </a:extLst>
            </p:cNvPr>
            <p:cNvCxnSpPr/>
            <p:nvPr/>
          </p:nvCxnSpPr>
          <p:spPr>
            <a:xfrm flipV="1">
              <a:off x="4770945" y="5135455"/>
              <a:ext cx="0" cy="122470"/>
            </a:xfrm>
            <a:prstGeom prst="line">
              <a:avLst/>
            </a:prstGeom>
            <a:noFill/>
            <a:ln w="12700" cap="flat" cmpd="sng" algn="ctr">
              <a:solidFill>
                <a:sysClr val="windowText" lastClr="000000"/>
              </a:solidFill>
              <a:prstDash val="solid"/>
              <a:miter lim="800000"/>
            </a:ln>
            <a:effectLst/>
          </p:spPr>
        </p:cxnSp>
        <p:sp>
          <p:nvSpPr>
            <p:cNvPr id="75" name="TextBox 3">
              <a:extLst>
                <a:ext uri="{FF2B5EF4-FFF2-40B4-BE49-F238E27FC236}">
                  <a16:creationId xmlns:a16="http://schemas.microsoft.com/office/drawing/2014/main" id="{BD2BA0CB-1D43-106B-ECF8-38CE215BD957}"/>
                </a:ext>
              </a:extLst>
            </p:cNvPr>
            <p:cNvSpPr txBox="1"/>
            <p:nvPr/>
          </p:nvSpPr>
          <p:spPr>
            <a:xfrm>
              <a:off x="3396957" y="4336684"/>
              <a:ext cx="618624" cy="149674"/>
            </a:xfrm>
            <a:prstGeom prst="rect">
              <a:avLst/>
            </a:prstGeom>
            <a:no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0" i="0" u="none" strike="noStrike" kern="0" cap="none" spc="0" normalizeH="0" baseline="0" noProof="0" dirty="0" err="1">
                  <a:ln>
                    <a:noFill/>
                  </a:ln>
                  <a:solidFill>
                    <a:sysClr val="windowText" lastClr="000000"/>
                  </a:solidFill>
                  <a:effectLst/>
                  <a:uLnTx/>
                  <a:uFillTx/>
                  <a:latin typeface="Aptos Narrow" panose="02110004020202020204"/>
                  <a:ea typeface="맑은 고딕" panose="020B0503020000020004" pitchFamily="50" charset="-127"/>
                  <a:cs typeface="+mn-cs"/>
                </a:rPr>
                <a:t>ld_type</a:t>
              </a:r>
              <a:r>
                <a:rPr kumimoji="0" lang="en-US" altLang="ko-KR" sz="11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 = 01</a:t>
              </a:r>
              <a:endParaRPr kumimoji="0" lang="ko-KR" altLang="en-US" sz="11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76" name="직사각형 75">
              <a:extLst>
                <a:ext uri="{FF2B5EF4-FFF2-40B4-BE49-F238E27FC236}">
                  <a16:creationId xmlns:a16="http://schemas.microsoft.com/office/drawing/2014/main" id="{3A6DDA93-DE3F-4181-9C65-01221A9BC5EB}"/>
                </a:ext>
              </a:extLst>
            </p:cNvPr>
            <p:cNvSpPr/>
            <p:nvPr/>
          </p:nvSpPr>
          <p:spPr>
            <a:xfrm>
              <a:off x="2096062" y="4285915"/>
              <a:ext cx="3005479" cy="2104030"/>
            </a:xfrm>
            <a:prstGeom prst="rect">
              <a:avLst/>
            </a:prstGeom>
            <a:noFill/>
            <a:ln w="3175"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7" name="TextBox 262">
              <a:extLst>
                <a:ext uri="{FF2B5EF4-FFF2-40B4-BE49-F238E27FC236}">
                  <a16:creationId xmlns:a16="http://schemas.microsoft.com/office/drawing/2014/main" id="{8CA05F9B-ABDE-4395-A055-9B6F08FB4F8C}"/>
                </a:ext>
              </a:extLst>
            </p:cNvPr>
            <p:cNvSpPr txBox="1"/>
            <p:nvPr/>
          </p:nvSpPr>
          <p:spPr>
            <a:xfrm>
              <a:off x="4075263" y="5941363"/>
              <a:ext cx="355867" cy="153888"/>
            </a:xfrm>
            <a:prstGeom prst="rect">
              <a:avLst/>
            </a:prstGeom>
            <a:solidFill>
              <a:sysClr val="window" lastClr="FFFFFF"/>
            </a:solidFill>
            <a:ln>
              <a:noFill/>
            </a:ln>
            <a:effectLst/>
          </p:spPr>
          <p:txBody>
            <a:bodyPr wrap="none" lIns="0" tIns="0" rIns="0" bIns="0" rtlCol="0" anchor="ctr" anchorCtr="0">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XD12R</a:t>
              </a:r>
              <a:endParaRPr kumimoji="0" lang="ko-KR" altLang="en-US"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78" name="이등변 삼각형 77">
              <a:extLst>
                <a:ext uri="{FF2B5EF4-FFF2-40B4-BE49-F238E27FC236}">
                  <a16:creationId xmlns:a16="http://schemas.microsoft.com/office/drawing/2014/main" id="{C2E686CE-C8C6-2E83-E944-F5AE0DA123FE}"/>
                </a:ext>
              </a:extLst>
            </p:cNvPr>
            <p:cNvSpPr/>
            <p:nvPr/>
          </p:nvSpPr>
          <p:spPr>
            <a:xfrm rot="10800000">
              <a:off x="4303604" y="5239757"/>
              <a:ext cx="165433" cy="94675"/>
            </a:xfrm>
            <a:prstGeom prst="triangle">
              <a:avLst/>
            </a:prstGeom>
            <a:solidFill>
              <a:srgbClr val="FFD1D1"/>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9" name="이등변 삼각형 78">
              <a:extLst>
                <a:ext uri="{FF2B5EF4-FFF2-40B4-BE49-F238E27FC236}">
                  <a16:creationId xmlns:a16="http://schemas.microsoft.com/office/drawing/2014/main" id="{C02A0D91-1FDE-C9AA-144E-D2A80D723FD3}"/>
                </a:ext>
              </a:extLst>
            </p:cNvPr>
            <p:cNvSpPr/>
            <p:nvPr/>
          </p:nvSpPr>
          <p:spPr>
            <a:xfrm rot="10800000">
              <a:off x="4502160" y="5239758"/>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80" name="이등변 삼각형 79">
              <a:extLst>
                <a:ext uri="{FF2B5EF4-FFF2-40B4-BE49-F238E27FC236}">
                  <a16:creationId xmlns:a16="http://schemas.microsoft.com/office/drawing/2014/main" id="{BE28349B-0EB8-29E4-BFD1-92DF2E0E46A3}"/>
                </a:ext>
              </a:extLst>
            </p:cNvPr>
            <p:cNvSpPr/>
            <p:nvPr/>
          </p:nvSpPr>
          <p:spPr>
            <a:xfrm rot="10800000">
              <a:off x="4681665" y="5239757"/>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grpSp>
      <p:sp>
        <p:nvSpPr>
          <p:cNvPr id="60" name="TextBox 59">
            <a:extLst>
              <a:ext uri="{FF2B5EF4-FFF2-40B4-BE49-F238E27FC236}">
                <a16:creationId xmlns:a16="http://schemas.microsoft.com/office/drawing/2014/main" id="{9317544B-A0BD-4AE7-048C-6FA173FAF862}"/>
              </a:ext>
            </a:extLst>
          </p:cNvPr>
          <p:cNvSpPr txBox="1"/>
          <p:nvPr/>
        </p:nvSpPr>
        <p:spPr>
          <a:xfrm>
            <a:off x="2183574" y="3995414"/>
            <a:ext cx="2507097"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7. XD12R driving type for LED backlight</a:t>
            </a:r>
          </a:p>
        </p:txBody>
      </p:sp>
      <p:graphicFrame>
        <p:nvGraphicFramePr>
          <p:cNvPr id="81" name="표 80">
            <a:extLst>
              <a:ext uri="{FF2B5EF4-FFF2-40B4-BE49-F238E27FC236}">
                <a16:creationId xmlns:a16="http://schemas.microsoft.com/office/drawing/2014/main" id="{96929D06-B311-E7D7-2866-4B464DF8747D}"/>
              </a:ext>
            </a:extLst>
          </p:cNvPr>
          <p:cNvGraphicFramePr>
            <a:graphicFrameLocks noGrp="1"/>
          </p:cNvGraphicFramePr>
          <p:nvPr>
            <p:extLst>
              <p:ext uri="{D42A27DB-BD31-4B8C-83A1-F6EECF244321}">
                <p14:modId xmlns:p14="http://schemas.microsoft.com/office/powerpoint/2010/main" val="2935913411"/>
              </p:ext>
            </p:extLst>
          </p:nvPr>
        </p:nvGraphicFramePr>
        <p:xfrm>
          <a:off x="469992" y="3033997"/>
          <a:ext cx="5915025" cy="871410"/>
        </p:xfrm>
        <a:graphic>
          <a:graphicData uri="http://schemas.openxmlformats.org/drawingml/2006/table">
            <a:tbl>
              <a:tblPr/>
              <a:tblGrid>
                <a:gridCol w="739378">
                  <a:extLst>
                    <a:ext uri="{9D8B030D-6E8A-4147-A177-3AD203B41FA5}">
                      <a16:colId xmlns:a16="http://schemas.microsoft.com/office/drawing/2014/main" val="3132292547"/>
                    </a:ext>
                  </a:extLst>
                </a:gridCol>
                <a:gridCol w="1077380">
                  <a:extLst>
                    <a:ext uri="{9D8B030D-6E8A-4147-A177-3AD203B41FA5}">
                      <a16:colId xmlns:a16="http://schemas.microsoft.com/office/drawing/2014/main" val="3807878096"/>
                    </a:ext>
                  </a:extLst>
                </a:gridCol>
                <a:gridCol w="876691">
                  <a:extLst>
                    <a:ext uri="{9D8B030D-6E8A-4147-A177-3AD203B41FA5}">
                      <a16:colId xmlns:a16="http://schemas.microsoft.com/office/drawing/2014/main" val="4273884663"/>
                    </a:ext>
                  </a:extLst>
                </a:gridCol>
                <a:gridCol w="897816">
                  <a:extLst>
                    <a:ext uri="{9D8B030D-6E8A-4147-A177-3AD203B41FA5}">
                      <a16:colId xmlns:a16="http://schemas.microsoft.com/office/drawing/2014/main" val="123275701"/>
                    </a:ext>
                  </a:extLst>
                </a:gridCol>
                <a:gridCol w="950629">
                  <a:extLst>
                    <a:ext uri="{9D8B030D-6E8A-4147-A177-3AD203B41FA5}">
                      <a16:colId xmlns:a16="http://schemas.microsoft.com/office/drawing/2014/main" val="677468209"/>
                    </a:ext>
                  </a:extLst>
                </a:gridCol>
                <a:gridCol w="1373131">
                  <a:extLst>
                    <a:ext uri="{9D8B030D-6E8A-4147-A177-3AD203B41FA5}">
                      <a16:colId xmlns:a16="http://schemas.microsoft.com/office/drawing/2014/main" val="2073487403"/>
                    </a:ext>
                  </a:extLst>
                </a:gridCol>
              </a:tblGrid>
              <a:tr h="353845">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LD_TYPE</a:t>
                      </a:r>
                    </a:p>
                  </a:txBody>
                  <a:tcPr marL="5281" marR="5281" marT="5281"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LED Type</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No. ch. per pixel</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No. pixel per IC</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Full-time driving</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Time sequential driving</a:t>
                      </a:r>
                    </a:p>
                  </a:txBody>
                  <a:tcPr marL="5281" marR="5281" marT="528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0655256"/>
                  </a:ext>
                </a:extLst>
              </a:tr>
              <a:tr h="174282">
                <a:tc>
                  <a:txBody>
                    <a:bodyPr/>
                    <a:lstStyle/>
                    <a:p>
                      <a:pPr algn="ctr" fontAlgn="b"/>
                      <a:r>
                        <a:rPr lang="en-US" altLang="ko-KR" sz="800" b="0" i="0" u="none" strike="noStrike" dirty="0">
                          <a:solidFill>
                            <a:srgbClr val="000000"/>
                          </a:solidFill>
                          <a:effectLst/>
                          <a:latin typeface="맑은 고딕" panose="020B0503020000020004" pitchFamily="50" charset="-127"/>
                          <a:ea typeface="맑은 고딕" panose="020B0503020000020004" pitchFamily="50" charset="-127"/>
                        </a:rPr>
                        <a:t>1</a:t>
                      </a:r>
                    </a:p>
                  </a:txBody>
                  <a:tcPr marL="5281" marR="5281" marT="5281"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dirty="0">
                          <a:solidFill>
                            <a:srgbClr val="FF0000"/>
                          </a:solidFill>
                          <a:effectLst/>
                          <a:latin typeface="맑은 고딕" panose="020B0503020000020004" pitchFamily="50" charset="-127"/>
                          <a:ea typeface="맑은 고딕" panose="020B0503020000020004" pitchFamily="50" charset="-127"/>
                        </a:rPr>
                        <a:t>R</a:t>
                      </a:r>
                      <a:r>
                        <a:rPr lang="en-US" sz="800" b="0" i="0" u="none" strike="noStrike" dirty="0">
                          <a:solidFill>
                            <a:srgbClr val="00B050"/>
                          </a:solidFill>
                          <a:effectLst/>
                          <a:latin typeface="맑은 고딕" panose="020B0503020000020004" pitchFamily="50" charset="-127"/>
                          <a:ea typeface="맑은 고딕" panose="020B0503020000020004" pitchFamily="50" charset="-127"/>
                        </a:rPr>
                        <a:t>G</a:t>
                      </a:r>
                      <a:r>
                        <a:rPr lang="en-US" sz="800" b="0" i="0" u="none" strike="noStrike" dirty="0">
                          <a:solidFill>
                            <a:srgbClr val="0070C0"/>
                          </a:solidFill>
                          <a:effectLst/>
                          <a:latin typeface="맑은 고딕" panose="020B0503020000020004" pitchFamily="50" charset="-127"/>
                          <a:ea typeface="맑은 고딕" panose="020B0503020000020004" pitchFamily="50" charset="-127"/>
                        </a:rPr>
                        <a:t>B  or</a:t>
                      </a:r>
                      <a:r>
                        <a:rPr lang="en-US" sz="800" b="0" i="0" u="none" strike="noStrike" dirty="0">
                          <a:solidFill>
                            <a:srgbClr val="000000"/>
                          </a:solidFill>
                          <a:effectLst/>
                          <a:latin typeface="맑은 고딕" panose="020B0503020000020004" pitchFamily="50" charset="-127"/>
                          <a:ea typeface="맑은 고딕" panose="020B0503020000020004" pitchFamily="50" charset="-127"/>
                        </a:rPr>
                        <a:t>  </a:t>
                      </a:r>
                      <a:r>
                        <a:rPr lang="en-US" sz="800" b="0" i="0" u="none" strike="noStrike" dirty="0">
                          <a:solidFill>
                            <a:srgbClr val="0070C0"/>
                          </a:solidFill>
                          <a:effectLst/>
                          <a:latin typeface="맑은 고딕" panose="020B0503020000020004" pitchFamily="50" charset="-127"/>
                          <a:ea typeface="맑은 고딕" panose="020B0503020000020004" pitchFamily="50" charset="-127"/>
                        </a:rPr>
                        <a:t> B</a:t>
                      </a:r>
                      <a:r>
                        <a:rPr lang="en-US" sz="800" b="0" i="0" u="none" strike="noStrike" dirty="0">
                          <a:solidFill>
                            <a:srgbClr val="00B050"/>
                          </a:solidFill>
                          <a:effectLst/>
                          <a:latin typeface="맑은 고딕" panose="020B0503020000020004" pitchFamily="50" charset="-127"/>
                          <a:ea typeface="맑은 고딕" panose="020B0503020000020004" pitchFamily="50" charset="-127"/>
                        </a:rPr>
                        <a:t>G</a:t>
                      </a:r>
                      <a:r>
                        <a:rPr lang="en-US" sz="800" b="0" i="0" u="none" strike="noStrike" dirty="0">
                          <a:solidFill>
                            <a:srgbClr val="0070C0"/>
                          </a:solidFill>
                          <a:effectLst/>
                          <a:latin typeface="맑은 고딕" panose="020B0503020000020004" pitchFamily="50" charset="-127"/>
                          <a:ea typeface="맑은 고딕" panose="020B0503020000020004" pitchFamily="50" charset="-127"/>
                        </a:rPr>
                        <a:t>B</a:t>
                      </a:r>
                      <a:endParaRPr lang="en-US" sz="8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1</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12</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맑은 고딕" panose="020B0503020000020004" pitchFamily="50" charset="-127"/>
                          <a:ea typeface="맑은 고딕" panose="020B0503020000020004" pitchFamily="50" charset="-127"/>
                        </a:rPr>
                        <a:t>LED1/LED2/LED3</a:t>
                      </a:r>
                    </a:p>
                  </a:txBody>
                  <a:tcPr marL="5281" marR="5281" marT="528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8523999"/>
                  </a:ext>
                </a:extLst>
              </a:tr>
              <a:tr h="169001">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2</a:t>
                      </a:r>
                    </a:p>
                  </a:txBody>
                  <a:tcPr marL="5281" marR="5281" marT="5281"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dirty="0">
                          <a:solidFill>
                            <a:srgbClr val="FF0000"/>
                          </a:solidFill>
                          <a:effectLst/>
                          <a:latin typeface="맑은 고딕" panose="020B0503020000020004" pitchFamily="50" charset="-127"/>
                          <a:ea typeface="맑은 고딕" panose="020B0503020000020004" pitchFamily="50" charset="-127"/>
                        </a:rPr>
                        <a:t>R</a:t>
                      </a:r>
                      <a:r>
                        <a:rPr lang="en-US" sz="800" b="0" i="0" u="none" strike="noStrike" dirty="0">
                          <a:solidFill>
                            <a:srgbClr val="000000"/>
                          </a:solidFill>
                          <a:effectLst/>
                          <a:latin typeface="맑은 고딕" panose="020B0503020000020004" pitchFamily="50" charset="-127"/>
                          <a:ea typeface="맑은 고딕" panose="020B0503020000020004" pitchFamily="50" charset="-127"/>
                        </a:rPr>
                        <a:t>-</a:t>
                      </a:r>
                      <a:r>
                        <a:rPr lang="en-US" sz="800" b="0" i="0" u="none" strike="noStrike" dirty="0">
                          <a:solidFill>
                            <a:srgbClr val="00B050"/>
                          </a:solidFill>
                          <a:effectLst/>
                          <a:latin typeface="맑은 고딕" panose="020B0503020000020004" pitchFamily="50" charset="-127"/>
                          <a:ea typeface="맑은 고딕" panose="020B0503020000020004" pitchFamily="50" charset="-127"/>
                        </a:rPr>
                        <a:t>G</a:t>
                      </a:r>
                      <a:r>
                        <a:rPr lang="en-US" sz="800" b="0" i="0" u="none" strike="noStrike" dirty="0">
                          <a:solidFill>
                            <a:srgbClr val="0070C0"/>
                          </a:solidFill>
                          <a:effectLst/>
                          <a:latin typeface="맑은 고딕" panose="020B0503020000020004" pitchFamily="50" charset="-127"/>
                          <a:ea typeface="맑은 고딕" panose="020B0503020000020004" pitchFamily="50" charset="-127"/>
                        </a:rPr>
                        <a:t>B</a:t>
                      </a:r>
                      <a:endParaRPr lang="en-US" sz="8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dirty="0">
                          <a:solidFill>
                            <a:srgbClr val="000000"/>
                          </a:solidFill>
                          <a:effectLst/>
                          <a:latin typeface="맑은 고딕" panose="020B0503020000020004" pitchFamily="50" charset="-127"/>
                          <a:ea typeface="맑은 고딕" panose="020B0503020000020004" pitchFamily="50" charset="-127"/>
                        </a:rPr>
                        <a:t>2</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dirty="0">
                          <a:solidFill>
                            <a:srgbClr val="000000"/>
                          </a:solidFill>
                          <a:effectLst/>
                          <a:latin typeface="맑은 고딕" panose="020B0503020000020004" pitchFamily="50" charset="-127"/>
                          <a:ea typeface="맑은 고딕" panose="020B0503020000020004" pitchFamily="50" charset="-127"/>
                        </a:rPr>
                        <a:t>6</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dirty="0">
                          <a:solidFill>
                            <a:srgbClr val="000000"/>
                          </a:solidFill>
                          <a:effectLst/>
                          <a:latin typeface="맑은 고딕" panose="020B0503020000020004" pitchFamily="50" charset="-127"/>
                          <a:ea typeface="맑은 고딕" panose="020B0503020000020004" pitchFamily="50" charset="-127"/>
                        </a:rPr>
                        <a:t>LED1</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dirty="0">
                          <a:solidFill>
                            <a:srgbClr val="000000"/>
                          </a:solidFill>
                          <a:effectLst/>
                          <a:latin typeface="맑은 고딕" panose="020B0503020000020004" pitchFamily="50" charset="-127"/>
                          <a:ea typeface="맑은 고딕" panose="020B0503020000020004" pitchFamily="50" charset="-127"/>
                        </a:rPr>
                        <a:t>LED2/LED3</a:t>
                      </a:r>
                    </a:p>
                  </a:txBody>
                  <a:tcPr marL="5281" marR="5281" marT="528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71238169"/>
                  </a:ext>
                </a:extLst>
              </a:tr>
              <a:tr h="174282">
                <a:tc>
                  <a:txBody>
                    <a:bodyPr/>
                    <a:lstStyle/>
                    <a:p>
                      <a:pPr algn="ctr" fontAlgn="b"/>
                      <a:r>
                        <a:rPr lang="en-US" altLang="ko-KR" sz="800" b="0" i="0" u="none" strike="noStrike" dirty="0">
                          <a:solidFill>
                            <a:srgbClr val="000000"/>
                          </a:solidFill>
                          <a:effectLst/>
                          <a:latin typeface="맑은 고딕" panose="020B0503020000020004" pitchFamily="50" charset="-127"/>
                          <a:ea typeface="맑은 고딕" panose="020B0503020000020004" pitchFamily="50" charset="-127"/>
                        </a:rPr>
                        <a:t>3</a:t>
                      </a:r>
                    </a:p>
                  </a:txBody>
                  <a:tcPr marL="5281" marR="5281" marT="5281"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B050"/>
                          </a:solidFill>
                          <a:effectLst/>
                          <a:latin typeface="맑은 고딕" panose="020B0503020000020004" pitchFamily="50" charset="-127"/>
                          <a:ea typeface="맑은 고딕" panose="020B0503020000020004" pitchFamily="50" charset="-127"/>
                        </a:rPr>
                        <a:t>G</a:t>
                      </a:r>
                      <a:r>
                        <a:rPr lang="en-US" sz="800" b="0" i="0" u="none" strike="noStrike">
                          <a:solidFill>
                            <a:srgbClr val="0070C0"/>
                          </a:solidFill>
                          <a:effectLst/>
                          <a:latin typeface="맑은 고딕" panose="020B0503020000020004" pitchFamily="50" charset="-127"/>
                          <a:ea typeface="맑은 고딕" panose="020B0503020000020004" pitchFamily="50" charset="-127"/>
                        </a:rPr>
                        <a:t>B</a:t>
                      </a:r>
                      <a:endParaRPr lang="en-US" sz="800" b="0" i="0" u="none" strike="noStrike">
                        <a:solidFill>
                          <a:srgbClr val="000000"/>
                        </a:solidFill>
                        <a:effectLst/>
                        <a:latin typeface="맑은 고딕" panose="020B0503020000020004" pitchFamily="50" charset="-127"/>
                        <a:ea typeface="맑은 고딕" panose="020B0503020000020004" pitchFamily="50" charset="-127"/>
                      </a:endParaRP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1</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12</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dirty="0">
                          <a:solidFill>
                            <a:srgbClr val="000000"/>
                          </a:solidFill>
                          <a:effectLst/>
                          <a:latin typeface="맑은 고딕" panose="020B0503020000020004" pitchFamily="50" charset="-127"/>
                          <a:ea typeface="맑은 고딕" panose="020B0503020000020004" pitchFamily="50" charset="-127"/>
                        </a:rPr>
                        <a:t>-</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dirty="0">
                          <a:solidFill>
                            <a:srgbClr val="000000"/>
                          </a:solidFill>
                          <a:effectLst/>
                          <a:latin typeface="맑은 고딕" panose="020B0503020000020004" pitchFamily="50" charset="-127"/>
                          <a:ea typeface="맑은 고딕" panose="020B0503020000020004" pitchFamily="50" charset="-127"/>
                        </a:rPr>
                        <a:t>LED3/LED3</a:t>
                      </a:r>
                    </a:p>
                  </a:txBody>
                  <a:tcPr marL="5281" marR="5281" marT="528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0820793"/>
                  </a:ext>
                </a:extLst>
              </a:tr>
            </a:tbl>
          </a:graphicData>
        </a:graphic>
      </p:graphicFrame>
      <p:pic>
        <p:nvPicPr>
          <p:cNvPr id="56" name="그림 55">
            <a:extLst>
              <a:ext uri="{FF2B5EF4-FFF2-40B4-BE49-F238E27FC236}">
                <a16:creationId xmlns:a16="http://schemas.microsoft.com/office/drawing/2014/main" id="{861E8DDC-B218-CBD6-543E-8BA85B2605E6}"/>
              </a:ext>
            </a:extLst>
          </p:cNvPr>
          <p:cNvPicPr>
            <a:picLocks noChangeAspect="1"/>
          </p:cNvPicPr>
          <p:nvPr/>
        </p:nvPicPr>
        <p:blipFill>
          <a:blip r:embed="rId2"/>
          <a:stretch>
            <a:fillRect/>
          </a:stretch>
        </p:blipFill>
        <p:spPr>
          <a:xfrm>
            <a:off x="391362" y="6587372"/>
            <a:ext cx="6047999" cy="2074350"/>
          </a:xfrm>
          <a:prstGeom prst="rect">
            <a:avLst/>
          </a:prstGeom>
        </p:spPr>
      </p:pic>
    </p:spTree>
    <p:extLst>
      <p:ext uri="{BB962C8B-B14F-4D97-AF65-F5344CB8AC3E}">
        <p14:creationId xmlns:p14="http://schemas.microsoft.com/office/powerpoint/2010/main" val="1295606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584E2C10-61BE-5E50-8DD6-8E78BBE1D9AE}"/>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52686A2-BEE9-24CA-9F93-D93A25A2596D}"/>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2230F108-520D-C2D3-EF7C-C01BA308A41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7" name="TextBox 6">
            <a:extLst>
              <a:ext uri="{FF2B5EF4-FFF2-40B4-BE49-F238E27FC236}">
                <a16:creationId xmlns:a16="http://schemas.microsoft.com/office/drawing/2014/main" id="{03A5F59E-680C-91C8-6807-E11FBA6BE6DF}"/>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RGB PWM Dimming </a:t>
            </a:r>
          </a:p>
        </p:txBody>
      </p:sp>
      <p:sp>
        <p:nvSpPr>
          <p:cNvPr id="8" name="TextBox 7">
            <a:extLst>
              <a:ext uri="{FF2B5EF4-FFF2-40B4-BE49-F238E27FC236}">
                <a16:creationId xmlns:a16="http://schemas.microsoft.com/office/drawing/2014/main" id="{6C2CD508-E59A-17E9-F6D1-480E67C4C31F}"/>
              </a:ext>
            </a:extLst>
          </p:cNvPr>
          <p:cNvSpPr txBox="1"/>
          <p:nvPr/>
        </p:nvSpPr>
        <p:spPr>
          <a:xfrm>
            <a:off x="391362" y="1616176"/>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TYPE-2 (R/GB, 6CH) </a:t>
            </a:r>
          </a:p>
        </p:txBody>
      </p:sp>
      <p:sp>
        <p:nvSpPr>
          <p:cNvPr id="14" name="TextBox 13">
            <a:extLst>
              <a:ext uri="{FF2B5EF4-FFF2-40B4-BE49-F238E27FC236}">
                <a16:creationId xmlns:a16="http://schemas.microsoft.com/office/drawing/2014/main" id="{A8178D28-8BC4-50DD-D334-C50DB13AC9FB}"/>
              </a:ext>
            </a:extLst>
          </p:cNvPr>
          <p:cNvSpPr txBox="1"/>
          <p:nvPr/>
        </p:nvSpPr>
        <p:spPr>
          <a:xfrm>
            <a:off x="399458" y="1923928"/>
            <a:ext cx="6047999" cy="923330"/>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XD12R supports three LEDs(red, green, blue) dimming. In Type-2 mode, odd channels independently drive one LED(red), while even channels support brightness control by time-divisionally driving two LEDs(green, blue).</a:t>
            </a:r>
          </a:p>
          <a:p>
            <a:pPr algn="just"/>
            <a:r>
              <a:rPr lang="en-US" altLang="ko-KR" sz="1000" dirty="0">
                <a:latin typeface="Arial" panose="020B0604020202020204" pitchFamily="34" charset="0"/>
                <a:cs typeface="Arial" panose="020B0604020202020204" pitchFamily="34" charset="0"/>
              </a:rPr>
              <a:t>Brightness control for odd channels is implemented within a single frame, regardless of the SVI value, while brightness control for even channels is implemented within two SVI intervals for two LEDs within a single frame.</a:t>
            </a:r>
          </a:p>
        </p:txBody>
      </p:sp>
      <p:sp>
        <p:nvSpPr>
          <p:cNvPr id="18" name="TextBox 17">
            <a:extLst>
              <a:ext uri="{FF2B5EF4-FFF2-40B4-BE49-F238E27FC236}">
                <a16:creationId xmlns:a16="http://schemas.microsoft.com/office/drawing/2014/main" id="{55CEA467-6652-6C41-7DCC-B5ADB45F165A}"/>
              </a:ext>
            </a:extLst>
          </p:cNvPr>
          <p:cNvSpPr txBox="1"/>
          <p:nvPr/>
        </p:nvSpPr>
        <p:spPr>
          <a:xfrm>
            <a:off x="1278787" y="8269409"/>
            <a:ext cx="4682051"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7  PWM Dimming sequence @ LD_TYP = 10, LD_DIR = 1, SYNC_MODE = 0</a:t>
            </a:r>
          </a:p>
        </p:txBody>
      </p:sp>
      <p:grpSp>
        <p:nvGrpSpPr>
          <p:cNvPr id="25" name="그룹 24">
            <a:extLst>
              <a:ext uri="{FF2B5EF4-FFF2-40B4-BE49-F238E27FC236}">
                <a16:creationId xmlns:a16="http://schemas.microsoft.com/office/drawing/2014/main" id="{4EE0D293-EC08-FAFB-BBAE-5B66C5A1F9D9}"/>
              </a:ext>
            </a:extLst>
          </p:cNvPr>
          <p:cNvGrpSpPr/>
          <p:nvPr/>
        </p:nvGrpSpPr>
        <p:grpSpPr>
          <a:xfrm>
            <a:off x="1864615" y="3049000"/>
            <a:ext cx="3006000" cy="2106000"/>
            <a:chOff x="1864615" y="3049000"/>
            <a:chExt cx="3006000" cy="2106000"/>
          </a:xfrm>
        </p:grpSpPr>
        <p:sp>
          <p:nvSpPr>
            <p:cNvPr id="79" name="직사각형 78">
              <a:extLst>
                <a:ext uri="{FF2B5EF4-FFF2-40B4-BE49-F238E27FC236}">
                  <a16:creationId xmlns:a16="http://schemas.microsoft.com/office/drawing/2014/main" id="{92C82B35-4C09-1A43-15DD-04F036EE0A5F}"/>
                </a:ext>
              </a:extLst>
            </p:cNvPr>
            <p:cNvSpPr/>
            <p:nvPr/>
          </p:nvSpPr>
          <p:spPr>
            <a:xfrm>
              <a:off x="3280068" y="4451193"/>
              <a:ext cx="1412909" cy="529332"/>
            </a:xfrm>
            <a:prstGeom prst="rect">
              <a:avLst/>
            </a:prstGeom>
            <a:noFill/>
            <a:ln w="12700"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80" name="직선 연결선 79">
              <a:extLst>
                <a:ext uri="{FF2B5EF4-FFF2-40B4-BE49-F238E27FC236}">
                  <a16:creationId xmlns:a16="http://schemas.microsoft.com/office/drawing/2014/main" id="{31F4A199-518D-7AEB-C69C-39B525E3F65C}"/>
                </a:ext>
              </a:extLst>
            </p:cNvPr>
            <p:cNvCxnSpPr>
              <a:cxnSpLocks/>
            </p:cNvCxnSpPr>
            <p:nvPr/>
          </p:nvCxnSpPr>
          <p:spPr>
            <a:xfrm>
              <a:off x="3090244" y="4041260"/>
              <a:ext cx="0" cy="324365"/>
            </a:xfrm>
            <a:prstGeom prst="line">
              <a:avLst/>
            </a:prstGeom>
            <a:noFill/>
            <a:ln w="6350" cap="flat" cmpd="sng" algn="ctr">
              <a:solidFill>
                <a:sysClr val="windowText" lastClr="000000"/>
              </a:solidFill>
              <a:prstDash val="solid"/>
              <a:miter lim="800000"/>
            </a:ln>
            <a:effectLst/>
          </p:spPr>
        </p:cxnSp>
        <p:cxnSp>
          <p:nvCxnSpPr>
            <p:cNvPr id="82" name="직선 연결선 81">
              <a:extLst>
                <a:ext uri="{FF2B5EF4-FFF2-40B4-BE49-F238E27FC236}">
                  <a16:creationId xmlns:a16="http://schemas.microsoft.com/office/drawing/2014/main" id="{200A9090-5C23-95C2-C5DE-82E99FE45CB4}"/>
                </a:ext>
              </a:extLst>
            </p:cNvPr>
            <p:cNvCxnSpPr/>
            <p:nvPr/>
          </p:nvCxnSpPr>
          <p:spPr>
            <a:xfrm>
              <a:off x="3337763" y="4120859"/>
              <a:ext cx="179219" cy="0"/>
            </a:xfrm>
            <a:prstGeom prst="line">
              <a:avLst/>
            </a:prstGeom>
            <a:noFill/>
            <a:ln w="19050" cap="flat" cmpd="sng" algn="ctr">
              <a:solidFill>
                <a:sysClr val="windowText" lastClr="000000"/>
              </a:solidFill>
              <a:prstDash val="solid"/>
              <a:miter lim="800000"/>
            </a:ln>
            <a:effectLst/>
          </p:spPr>
        </p:cxnSp>
        <p:cxnSp>
          <p:nvCxnSpPr>
            <p:cNvPr id="84" name="직선 연결선 83">
              <a:extLst>
                <a:ext uri="{FF2B5EF4-FFF2-40B4-BE49-F238E27FC236}">
                  <a16:creationId xmlns:a16="http://schemas.microsoft.com/office/drawing/2014/main" id="{2B8667C2-A16F-DE44-920D-03490E9FF205}"/>
                </a:ext>
              </a:extLst>
            </p:cNvPr>
            <p:cNvCxnSpPr/>
            <p:nvPr/>
          </p:nvCxnSpPr>
          <p:spPr>
            <a:xfrm>
              <a:off x="3534308" y="4120858"/>
              <a:ext cx="179219" cy="0"/>
            </a:xfrm>
            <a:prstGeom prst="line">
              <a:avLst/>
            </a:prstGeom>
            <a:noFill/>
            <a:ln w="19050" cap="flat" cmpd="sng" algn="ctr">
              <a:solidFill>
                <a:sysClr val="windowText" lastClr="000000"/>
              </a:solidFill>
              <a:prstDash val="solid"/>
              <a:miter lim="800000"/>
            </a:ln>
            <a:effectLst/>
          </p:spPr>
        </p:cxnSp>
        <p:cxnSp>
          <p:nvCxnSpPr>
            <p:cNvPr id="86" name="직선 연결선 85">
              <a:extLst>
                <a:ext uri="{FF2B5EF4-FFF2-40B4-BE49-F238E27FC236}">
                  <a16:creationId xmlns:a16="http://schemas.microsoft.com/office/drawing/2014/main" id="{6B722264-9753-8164-90ED-EFC4B132AE05}"/>
                </a:ext>
              </a:extLst>
            </p:cNvPr>
            <p:cNvCxnSpPr/>
            <p:nvPr/>
          </p:nvCxnSpPr>
          <p:spPr>
            <a:xfrm>
              <a:off x="3732696" y="4117441"/>
              <a:ext cx="179218" cy="0"/>
            </a:xfrm>
            <a:prstGeom prst="line">
              <a:avLst/>
            </a:prstGeom>
            <a:noFill/>
            <a:ln w="19050" cap="flat" cmpd="sng" algn="ctr">
              <a:solidFill>
                <a:sysClr val="windowText" lastClr="000000"/>
              </a:solidFill>
              <a:prstDash val="solid"/>
              <a:miter lim="800000"/>
            </a:ln>
            <a:effectLst/>
          </p:spPr>
        </p:cxnSp>
        <p:cxnSp>
          <p:nvCxnSpPr>
            <p:cNvPr id="87" name="직선 연결선 86">
              <a:extLst>
                <a:ext uri="{FF2B5EF4-FFF2-40B4-BE49-F238E27FC236}">
                  <a16:creationId xmlns:a16="http://schemas.microsoft.com/office/drawing/2014/main" id="{7B45798C-ECE6-60CE-6874-172A11538A88}"/>
                </a:ext>
              </a:extLst>
            </p:cNvPr>
            <p:cNvCxnSpPr>
              <a:cxnSpLocks/>
            </p:cNvCxnSpPr>
            <p:nvPr/>
          </p:nvCxnSpPr>
          <p:spPr>
            <a:xfrm>
              <a:off x="3136900" y="3897471"/>
              <a:ext cx="1407584" cy="0"/>
            </a:xfrm>
            <a:prstGeom prst="line">
              <a:avLst/>
            </a:prstGeom>
            <a:noFill/>
            <a:ln w="12700" cap="flat" cmpd="sng" algn="ctr">
              <a:solidFill>
                <a:sysClr val="windowText" lastClr="000000"/>
              </a:solidFill>
              <a:prstDash val="solid"/>
              <a:miter lim="800000"/>
            </a:ln>
            <a:effectLst/>
          </p:spPr>
        </p:cxnSp>
        <p:cxnSp>
          <p:nvCxnSpPr>
            <p:cNvPr id="88" name="직선 연결선 87">
              <a:extLst>
                <a:ext uri="{FF2B5EF4-FFF2-40B4-BE49-F238E27FC236}">
                  <a16:creationId xmlns:a16="http://schemas.microsoft.com/office/drawing/2014/main" id="{C5788844-5A39-5ABE-3BA3-B99A0B396323}"/>
                </a:ext>
              </a:extLst>
            </p:cNvPr>
            <p:cNvCxnSpPr/>
            <p:nvPr/>
          </p:nvCxnSpPr>
          <p:spPr>
            <a:xfrm>
              <a:off x="1986006" y="3318458"/>
              <a:ext cx="2183309" cy="0"/>
            </a:xfrm>
            <a:prstGeom prst="line">
              <a:avLst/>
            </a:prstGeom>
            <a:noFill/>
            <a:ln w="12700" cap="flat" cmpd="sng" algn="ctr">
              <a:solidFill>
                <a:sysClr val="windowText" lastClr="000000"/>
              </a:solidFill>
              <a:prstDash val="solid"/>
              <a:miter lim="800000"/>
            </a:ln>
            <a:effectLst/>
          </p:spPr>
        </p:cxnSp>
        <p:cxnSp>
          <p:nvCxnSpPr>
            <p:cNvPr id="89" name="직선 연결선 88">
              <a:extLst>
                <a:ext uri="{FF2B5EF4-FFF2-40B4-BE49-F238E27FC236}">
                  <a16:creationId xmlns:a16="http://schemas.microsoft.com/office/drawing/2014/main" id="{713A5560-762F-881B-C4ED-5B4AD611B1C1}"/>
                </a:ext>
              </a:extLst>
            </p:cNvPr>
            <p:cNvCxnSpPr/>
            <p:nvPr/>
          </p:nvCxnSpPr>
          <p:spPr>
            <a:xfrm>
              <a:off x="2957351" y="3968796"/>
              <a:ext cx="264644" cy="0"/>
            </a:xfrm>
            <a:prstGeom prst="line">
              <a:avLst/>
            </a:prstGeom>
            <a:noFill/>
            <a:ln w="19050" cap="flat" cmpd="sng" algn="ctr">
              <a:solidFill>
                <a:sysClr val="windowText" lastClr="000000"/>
              </a:solidFill>
              <a:prstDash val="solid"/>
              <a:miter lim="800000"/>
            </a:ln>
            <a:effectLst/>
          </p:spPr>
        </p:cxnSp>
        <p:cxnSp>
          <p:nvCxnSpPr>
            <p:cNvPr id="90" name="직선 연결선 89">
              <a:extLst>
                <a:ext uri="{FF2B5EF4-FFF2-40B4-BE49-F238E27FC236}">
                  <a16:creationId xmlns:a16="http://schemas.microsoft.com/office/drawing/2014/main" id="{AB11A907-E25E-3EB3-AEF3-94DAA26B9DF5}"/>
                </a:ext>
              </a:extLst>
            </p:cNvPr>
            <p:cNvCxnSpPr/>
            <p:nvPr/>
          </p:nvCxnSpPr>
          <p:spPr>
            <a:xfrm>
              <a:off x="3022371" y="4031665"/>
              <a:ext cx="132322" cy="0"/>
            </a:xfrm>
            <a:prstGeom prst="line">
              <a:avLst/>
            </a:prstGeom>
            <a:noFill/>
            <a:ln w="19050" cap="flat" cmpd="sng" algn="ctr">
              <a:solidFill>
                <a:sysClr val="windowText" lastClr="000000"/>
              </a:solidFill>
              <a:prstDash val="solid"/>
              <a:miter lim="800000"/>
            </a:ln>
            <a:effectLst/>
          </p:spPr>
        </p:cxnSp>
        <p:cxnSp>
          <p:nvCxnSpPr>
            <p:cNvPr id="91" name="직선 연결선 90">
              <a:extLst>
                <a:ext uri="{FF2B5EF4-FFF2-40B4-BE49-F238E27FC236}">
                  <a16:creationId xmlns:a16="http://schemas.microsoft.com/office/drawing/2014/main" id="{F099C8E9-651E-DE67-3211-8F47BE823D26}"/>
                </a:ext>
              </a:extLst>
            </p:cNvPr>
            <p:cNvCxnSpPr/>
            <p:nvPr/>
          </p:nvCxnSpPr>
          <p:spPr>
            <a:xfrm rot="5400000" flipH="1" flipV="1">
              <a:off x="2999780" y="3930073"/>
              <a:ext cx="63177" cy="0"/>
            </a:xfrm>
            <a:prstGeom prst="line">
              <a:avLst/>
            </a:prstGeom>
            <a:noFill/>
            <a:ln w="19050" cap="flat" cmpd="sng" algn="ctr">
              <a:solidFill>
                <a:sysClr val="windowText" lastClr="000000"/>
              </a:solidFill>
              <a:prstDash val="solid"/>
              <a:miter lim="800000"/>
            </a:ln>
            <a:effectLst/>
          </p:spPr>
        </p:cxnSp>
        <p:cxnSp>
          <p:nvCxnSpPr>
            <p:cNvPr id="92" name="직선 연결선 91">
              <a:extLst>
                <a:ext uri="{FF2B5EF4-FFF2-40B4-BE49-F238E27FC236}">
                  <a16:creationId xmlns:a16="http://schemas.microsoft.com/office/drawing/2014/main" id="{C2F6D973-A164-05CB-CC28-43E8317275BC}"/>
                </a:ext>
              </a:extLst>
            </p:cNvPr>
            <p:cNvCxnSpPr/>
            <p:nvPr/>
          </p:nvCxnSpPr>
          <p:spPr>
            <a:xfrm rot="5400000">
              <a:off x="3110646" y="3928482"/>
              <a:ext cx="63177" cy="0"/>
            </a:xfrm>
            <a:prstGeom prst="line">
              <a:avLst/>
            </a:prstGeom>
            <a:noFill/>
            <a:ln w="19050" cap="flat" cmpd="sng" algn="ctr">
              <a:solidFill>
                <a:sysClr val="windowText" lastClr="000000"/>
              </a:solidFill>
              <a:prstDash val="solid"/>
              <a:miter lim="800000"/>
            </a:ln>
            <a:effectLst/>
          </p:spPr>
        </p:cxnSp>
        <p:cxnSp>
          <p:nvCxnSpPr>
            <p:cNvPr id="93" name="직선 연결선 92">
              <a:extLst>
                <a:ext uri="{FF2B5EF4-FFF2-40B4-BE49-F238E27FC236}">
                  <a16:creationId xmlns:a16="http://schemas.microsoft.com/office/drawing/2014/main" id="{377588C5-CCBD-C588-6083-BB8B315E301D}"/>
                </a:ext>
              </a:extLst>
            </p:cNvPr>
            <p:cNvCxnSpPr/>
            <p:nvPr/>
          </p:nvCxnSpPr>
          <p:spPr>
            <a:xfrm>
              <a:off x="3137277" y="3897985"/>
              <a:ext cx="132321" cy="0"/>
            </a:xfrm>
            <a:prstGeom prst="line">
              <a:avLst/>
            </a:prstGeom>
            <a:noFill/>
            <a:ln w="19050" cap="flat" cmpd="sng" algn="ctr">
              <a:solidFill>
                <a:sysClr val="windowText" lastClr="000000"/>
              </a:solidFill>
              <a:prstDash val="solid"/>
              <a:miter lim="800000"/>
            </a:ln>
            <a:effectLst/>
          </p:spPr>
        </p:cxnSp>
        <p:cxnSp>
          <p:nvCxnSpPr>
            <p:cNvPr id="94" name="직선 연결선 93">
              <a:extLst>
                <a:ext uri="{FF2B5EF4-FFF2-40B4-BE49-F238E27FC236}">
                  <a16:creationId xmlns:a16="http://schemas.microsoft.com/office/drawing/2014/main" id="{3EBAF185-46D1-739D-30B8-AAB4C0458861}"/>
                </a:ext>
              </a:extLst>
            </p:cNvPr>
            <p:cNvCxnSpPr/>
            <p:nvPr/>
          </p:nvCxnSpPr>
          <p:spPr>
            <a:xfrm>
              <a:off x="2909358" y="3900372"/>
              <a:ext cx="132321" cy="0"/>
            </a:xfrm>
            <a:prstGeom prst="line">
              <a:avLst/>
            </a:prstGeom>
            <a:noFill/>
            <a:ln w="19050" cap="flat" cmpd="sng" algn="ctr">
              <a:solidFill>
                <a:sysClr val="windowText" lastClr="000000"/>
              </a:solidFill>
              <a:prstDash val="solid"/>
              <a:miter lim="800000"/>
            </a:ln>
            <a:effectLst/>
          </p:spPr>
        </p:cxnSp>
        <p:cxnSp>
          <p:nvCxnSpPr>
            <p:cNvPr id="95" name="직선 연결선 94">
              <a:extLst>
                <a:ext uri="{FF2B5EF4-FFF2-40B4-BE49-F238E27FC236}">
                  <a16:creationId xmlns:a16="http://schemas.microsoft.com/office/drawing/2014/main" id="{8D82DF25-E635-6DEC-F82F-98F3113350F6}"/>
                </a:ext>
              </a:extLst>
            </p:cNvPr>
            <p:cNvCxnSpPr/>
            <p:nvPr/>
          </p:nvCxnSpPr>
          <p:spPr>
            <a:xfrm>
              <a:off x="2632026" y="3693673"/>
              <a:ext cx="264644" cy="0"/>
            </a:xfrm>
            <a:prstGeom prst="line">
              <a:avLst/>
            </a:prstGeom>
            <a:noFill/>
            <a:ln w="19050" cap="flat" cmpd="sng" algn="ctr">
              <a:solidFill>
                <a:sysClr val="windowText" lastClr="000000"/>
              </a:solidFill>
              <a:prstDash val="solid"/>
              <a:miter lim="800000"/>
            </a:ln>
            <a:effectLst/>
          </p:spPr>
        </p:cxnSp>
        <p:cxnSp>
          <p:nvCxnSpPr>
            <p:cNvPr id="96" name="직선 연결선 95">
              <a:extLst>
                <a:ext uri="{FF2B5EF4-FFF2-40B4-BE49-F238E27FC236}">
                  <a16:creationId xmlns:a16="http://schemas.microsoft.com/office/drawing/2014/main" id="{04FE1133-E1E0-40C8-378A-4856D366F74D}"/>
                </a:ext>
              </a:extLst>
            </p:cNvPr>
            <p:cNvCxnSpPr/>
            <p:nvPr/>
          </p:nvCxnSpPr>
          <p:spPr>
            <a:xfrm>
              <a:off x="2697046" y="3754161"/>
              <a:ext cx="132322" cy="0"/>
            </a:xfrm>
            <a:prstGeom prst="line">
              <a:avLst/>
            </a:prstGeom>
            <a:noFill/>
            <a:ln w="19050" cap="flat" cmpd="sng" algn="ctr">
              <a:solidFill>
                <a:sysClr val="windowText" lastClr="000000"/>
              </a:solidFill>
              <a:prstDash val="solid"/>
              <a:miter lim="800000"/>
            </a:ln>
            <a:effectLst/>
          </p:spPr>
        </p:cxnSp>
        <p:cxnSp>
          <p:nvCxnSpPr>
            <p:cNvPr id="97" name="직선 연결선 96">
              <a:extLst>
                <a:ext uri="{FF2B5EF4-FFF2-40B4-BE49-F238E27FC236}">
                  <a16:creationId xmlns:a16="http://schemas.microsoft.com/office/drawing/2014/main" id="{5EE79EA7-8748-A528-7A5F-44EC1DC0301F}"/>
                </a:ext>
              </a:extLst>
            </p:cNvPr>
            <p:cNvCxnSpPr/>
            <p:nvPr/>
          </p:nvCxnSpPr>
          <p:spPr>
            <a:xfrm rot="5400000" flipH="1" flipV="1">
              <a:off x="2674455" y="3652568"/>
              <a:ext cx="63177" cy="0"/>
            </a:xfrm>
            <a:prstGeom prst="line">
              <a:avLst/>
            </a:prstGeom>
            <a:noFill/>
            <a:ln w="19050" cap="flat" cmpd="sng" algn="ctr">
              <a:solidFill>
                <a:sysClr val="windowText" lastClr="000000"/>
              </a:solidFill>
              <a:prstDash val="solid"/>
              <a:miter lim="800000"/>
            </a:ln>
            <a:effectLst/>
          </p:spPr>
        </p:cxnSp>
        <p:cxnSp>
          <p:nvCxnSpPr>
            <p:cNvPr id="98" name="직선 연결선 97">
              <a:extLst>
                <a:ext uri="{FF2B5EF4-FFF2-40B4-BE49-F238E27FC236}">
                  <a16:creationId xmlns:a16="http://schemas.microsoft.com/office/drawing/2014/main" id="{C9F99014-72F5-469F-1F2B-2BC684C3574C}"/>
                </a:ext>
              </a:extLst>
            </p:cNvPr>
            <p:cNvCxnSpPr/>
            <p:nvPr/>
          </p:nvCxnSpPr>
          <p:spPr>
            <a:xfrm rot="5400000">
              <a:off x="2785321" y="3650977"/>
              <a:ext cx="63177" cy="0"/>
            </a:xfrm>
            <a:prstGeom prst="line">
              <a:avLst/>
            </a:prstGeom>
            <a:noFill/>
            <a:ln w="19050" cap="flat" cmpd="sng" algn="ctr">
              <a:solidFill>
                <a:sysClr val="windowText" lastClr="000000"/>
              </a:solidFill>
              <a:prstDash val="solid"/>
              <a:miter lim="800000"/>
            </a:ln>
            <a:effectLst/>
          </p:spPr>
        </p:cxnSp>
        <p:cxnSp>
          <p:nvCxnSpPr>
            <p:cNvPr id="99" name="직선 연결선 98">
              <a:extLst>
                <a:ext uri="{FF2B5EF4-FFF2-40B4-BE49-F238E27FC236}">
                  <a16:creationId xmlns:a16="http://schemas.microsoft.com/office/drawing/2014/main" id="{17F71B21-202C-2B63-7075-98E920D7112F}"/>
                </a:ext>
              </a:extLst>
            </p:cNvPr>
            <p:cNvCxnSpPr/>
            <p:nvPr/>
          </p:nvCxnSpPr>
          <p:spPr>
            <a:xfrm>
              <a:off x="2809572" y="3620480"/>
              <a:ext cx="132321" cy="0"/>
            </a:xfrm>
            <a:prstGeom prst="line">
              <a:avLst/>
            </a:prstGeom>
            <a:noFill/>
            <a:ln w="19050" cap="flat" cmpd="sng" algn="ctr">
              <a:solidFill>
                <a:sysClr val="windowText" lastClr="000000"/>
              </a:solidFill>
              <a:prstDash val="solid"/>
              <a:miter lim="800000"/>
            </a:ln>
            <a:effectLst/>
          </p:spPr>
        </p:cxnSp>
        <p:cxnSp>
          <p:nvCxnSpPr>
            <p:cNvPr id="100" name="직선 연결선 99">
              <a:extLst>
                <a:ext uri="{FF2B5EF4-FFF2-40B4-BE49-F238E27FC236}">
                  <a16:creationId xmlns:a16="http://schemas.microsoft.com/office/drawing/2014/main" id="{A120D6C0-4C0F-B369-3C16-62CF2823B9A8}"/>
                </a:ext>
              </a:extLst>
            </p:cNvPr>
            <p:cNvCxnSpPr/>
            <p:nvPr/>
          </p:nvCxnSpPr>
          <p:spPr>
            <a:xfrm>
              <a:off x="2584033" y="3622868"/>
              <a:ext cx="132321" cy="0"/>
            </a:xfrm>
            <a:prstGeom prst="line">
              <a:avLst/>
            </a:prstGeom>
            <a:noFill/>
            <a:ln w="19050" cap="flat" cmpd="sng" algn="ctr">
              <a:solidFill>
                <a:sysClr val="windowText" lastClr="000000"/>
              </a:solidFill>
              <a:prstDash val="solid"/>
              <a:miter lim="800000"/>
            </a:ln>
            <a:effectLst/>
          </p:spPr>
        </p:cxnSp>
        <p:cxnSp>
          <p:nvCxnSpPr>
            <p:cNvPr id="101" name="직선 연결선 100">
              <a:extLst>
                <a:ext uri="{FF2B5EF4-FFF2-40B4-BE49-F238E27FC236}">
                  <a16:creationId xmlns:a16="http://schemas.microsoft.com/office/drawing/2014/main" id="{46E50D42-EB11-3396-8892-589E32E02194}"/>
                </a:ext>
              </a:extLst>
            </p:cNvPr>
            <p:cNvCxnSpPr/>
            <p:nvPr/>
          </p:nvCxnSpPr>
          <p:spPr>
            <a:xfrm flipH="1" flipV="1">
              <a:off x="3430947" y="4126388"/>
              <a:ext cx="0" cy="315887"/>
            </a:xfrm>
            <a:prstGeom prst="line">
              <a:avLst/>
            </a:prstGeom>
            <a:noFill/>
            <a:ln w="12700" cap="flat" cmpd="sng" algn="ctr">
              <a:solidFill>
                <a:sysClr val="windowText" lastClr="000000"/>
              </a:solidFill>
              <a:prstDash val="solid"/>
              <a:miter lim="800000"/>
            </a:ln>
            <a:effectLst/>
          </p:spPr>
        </p:cxnSp>
        <p:cxnSp>
          <p:nvCxnSpPr>
            <p:cNvPr id="102" name="직선 연결선 101">
              <a:extLst>
                <a:ext uri="{FF2B5EF4-FFF2-40B4-BE49-F238E27FC236}">
                  <a16:creationId xmlns:a16="http://schemas.microsoft.com/office/drawing/2014/main" id="{CE89224E-9009-A907-1C12-FD88FE8645C3}"/>
                </a:ext>
              </a:extLst>
            </p:cNvPr>
            <p:cNvCxnSpPr/>
            <p:nvPr/>
          </p:nvCxnSpPr>
          <p:spPr>
            <a:xfrm flipH="1" flipV="1">
              <a:off x="3621000" y="4128776"/>
              <a:ext cx="0" cy="126355"/>
            </a:xfrm>
            <a:prstGeom prst="line">
              <a:avLst/>
            </a:prstGeom>
            <a:noFill/>
            <a:ln w="12700" cap="flat" cmpd="sng" algn="ctr">
              <a:solidFill>
                <a:sysClr val="windowText" lastClr="000000"/>
              </a:solidFill>
              <a:prstDash val="solid"/>
              <a:miter lim="800000"/>
            </a:ln>
            <a:effectLst/>
          </p:spPr>
        </p:cxnSp>
        <p:cxnSp>
          <p:nvCxnSpPr>
            <p:cNvPr id="103" name="직선 연결선 102">
              <a:extLst>
                <a:ext uri="{FF2B5EF4-FFF2-40B4-BE49-F238E27FC236}">
                  <a16:creationId xmlns:a16="http://schemas.microsoft.com/office/drawing/2014/main" id="{604F93C7-7CBB-1927-BE37-B0B0D0D9CBDA}"/>
                </a:ext>
              </a:extLst>
            </p:cNvPr>
            <p:cNvCxnSpPr/>
            <p:nvPr/>
          </p:nvCxnSpPr>
          <p:spPr>
            <a:xfrm flipH="1" flipV="1">
              <a:off x="3815223" y="4123202"/>
              <a:ext cx="0" cy="126355"/>
            </a:xfrm>
            <a:prstGeom prst="line">
              <a:avLst/>
            </a:prstGeom>
            <a:noFill/>
            <a:ln w="12700" cap="flat" cmpd="sng" algn="ctr">
              <a:solidFill>
                <a:sysClr val="windowText" lastClr="000000"/>
              </a:solidFill>
              <a:prstDash val="solid"/>
              <a:miter lim="800000"/>
            </a:ln>
            <a:effectLst/>
          </p:spPr>
        </p:cxnSp>
        <p:cxnSp>
          <p:nvCxnSpPr>
            <p:cNvPr id="104" name="직선 연결선 103">
              <a:extLst>
                <a:ext uri="{FF2B5EF4-FFF2-40B4-BE49-F238E27FC236}">
                  <a16:creationId xmlns:a16="http://schemas.microsoft.com/office/drawing/2014/main" id="{F963F128-3B08-30FD-7A0D-C740D9BCB03C}"/>
                </a:ext>
              </a:extLst>
            </p:cNvPr>
            <p:cNvCxnSpPr/>
            <p:nvPr/>
          </p:nvCxnSpPr>
          <p:spPr>
            <a:xfrm flipH="1" flipV="1">
              <a:off x="3430113" y="3316913"/>
              <a:ext cx="0" cy="699422"/>
            </a:xfrm>
            <a:prstGeom prst="line">
              <a:avLst/>
            </a:prstGeom>
            <a:noFill/>
            <a:ln w="12700" cap="flat" cmpd="sng" algn="ctr">
              <a:solidFill>
                <a:sysClr val="windowText" lastClr="000000"/>
              </a:solidFill>
              <a:prstDash val="solid"/>
              <a:miter lim="800000"/>
            </a:ln>
            <a:effectLst/>
          </p:spPr>
        </p:cxnSp>
        <p:cxnSp>
          <p:nvCxnSpPr>
            <p:cNvPr id="105" name="직선 연결선 104">
              <a:extLst>
                <a:ext uri="{FF2B5EF4-FFF2-40B4-BE49-F238E27FC236}">
                  <a16:creationId xmlns:a16="http://schemas.microsoft.com/office/drawing/2014/main" id="{65487CE4-AF63-AC12-F584-A1CFDDA5B01E}"/>
                </a:ext>
              </a:extLst>
            </p:cNvPr>
            <p:cNvCxnSpPr/>
            <p:nvPr/>
          </p:nvCxnSpPr>
          <p:spPr>
            <a:xfrm flipH="1" flipV="1">
              <a:off x="3623501" y="3605814"/>
              <a:ext cx="0" cy="410654"/>
            </a:xfrm>
            <a:prstGeom prst="line">
              <a:avLst/>
            </a:prstGeom>
            <a:noFill/>
            <a:ln w="12700" cap="flat" cmpd="sng" algn="ctr">
              <a:solidFill>
                <a:sysClr val="windowText" lastClr="000000"/>
              </a:solidFill>
              <a:prstDash val="solid"/>
              <a:miter lim="800000"/>
            </a:ln>
            <a:effectLst/>
          </p:spPr>
        </p:cxnSp>
        <p:cxnSp>
          <p:nvCxnSpPr>
            <p:cNvPr id="106" name="직선 연결선 105">
              <a:extLst>
                <a:ext uri="{FF2B5EF4-FFF2-40B4-BE49-F238E27FC236}">
                  <a16:creationId xmlns:a16="http://schemas.microsoft.com/office/drawing/2014/main" id="{203E803E-6702-74C8-F554-B97A1DBACC8F}"/>
                </a:ext>
              </a:extLst>
            </p:cNvPr>
            <p:cNvCxnSpPr/>
            <p:nvPr/>
          </p:nvCxnSpPr>
          <p:spPr>
            <a:xfrm flipV="1">
              <a:off x="3809388" y="3886043"/>
              <a:ext cx="0" cy="122587"/>
            </a:xfrm>
            <a:prstGeom prst="line">
              <a:avLst/>
            </a:prstGeom>
            <a:noFill/>
            <a:ln w="12700" cap="flat" cmpd="sng" algn="ctr">
              <a:solidFill>
                <a:sysClr val="windowText" lastClr="000000"/>
              </a:solidFill>
              <a:prstDash val="solid"/>
              <a:miter lim="800000"/>
            </a:ln>
            <a:effectLst/>
          </p:spPr>
        </p:cxnSp>
        <p:cxnSp>
          <p:nvCxnSpPr>
            <p:cNvPr id="107" name="직선 연결선 106">
              <a:extLst>
                <a:ext uri="{FF2B5EF4-FFF2-40B4-BE49-F238E27FC236}">
                  <a16:creationId xmlns:a16="http://schemas.microsoft.com/office/drawing/2014/main" id="{4FC2ABE7-628B-A3BD-B87B-20AF6FCDE98D}"/>
                </a:ext>
              </a:extLst>
            </p:cNvPr>
            <p:cNvCxnSpPr/>
            <p:nvPr/>
          </p:nvCxnSpPr>
          <p:spPr>
            <a:xfrm>
              <a:off x="2923769" y="3619110"/>
              <a:ext cx="1422459" cy="0"/>
            </a:xfrm>
            <a:prstGeom prst="line">
              <a:avLst/>
            </a:prstGeom>
            <a:noFill/>
            <a:ln w="12700" cap="flat" cmpd="sng" algn="ctr">
              <a:solidFill>
                <a:sysClr val="windowText" lastClr="000000"/>
              </a:solidFill>
              <a:prstDash val="solid"/>
              <a:miter lim="800000"/>
            </a:ln>
            <a:effectLst/>
          </p:spPr>
        </p:cxnSp>
        <p:cxnSp>
          <p:nvCxnSpPr>
            <p:cNvPr id="108" name="직선 연결선 107">
              <a:extLst>
                <a:ext uri="{FF2B5EF4-FFF2-40B4-BE49-F238E27FC236}">
                  <a16:creationId xmlns:a16="http://schemas.microsoft.com/office/drawing/2014/main" id="{CCEE23C7-A2CD-D646-FFE5-F55705300968}"/>
                </a:ext>
              </a:extLst>
            </p:cNvPr>
            <p:cNvCxnSpPr>
              <a:cxnSpLocks/>
            </p:cNvCxnSpPr>
            <p:nvPr/>
          </p:nvCxnSpPr>
          <p:spPr>
            <a:xfrm>
              <a:off x="2000250" y="3897938"/>
              <a:ext cx="908366" cy="0"/>
            </a:xfrm>
            <a:prstGeom prst="line">
              <a:avLst/>
            </a:prstGeom>
            <a:noFill/>
            <a:ln w="12700" cap="flat" cmpd="sng" algn="ctr">
              <a:solidFill>
                <a:sysClr val="windowText" lastClr="000000"/>
              </a:solidFill>
              <a:prstDash val="solid"/>
              <a:miter lim="800000"/>
            </a:ln>
            <a:effectLst/>
          </p:spPr>
        </p:cxnSp>
        <p:cxnSp>
          <p:nvCxnSpPr>
            <p:cNvPr id="109" name="직선 연결선 108">
              <a:extLst>
                <a:ext uri="{FF2B5EF4-FFF2-40B4-BE49-F238E27FC236}">
                  <a16:creationId xmlns:a16="http://schemas.microsoft.com/office/drawing/2014/main" id="{FE3FDC4D-E88D-BAB6-BB11-9DA147384645}"/>
                </a:ext>
              </a:extLst>
            </p:cNvPr>
            <p:cNvCxnSpPr/>
            <p:nvPr/>
          </p:nvCxnSpPr>
          <p:spPr>
            <a:xfrm>
              <a:off x="1995176" y="3622059"/>
              <a:ext cx="661609" cy="0"/>
            </a:xfrm>
            <a:prstGeom prst="line">
              <a:avLst/>
            </a:prstGeom>
            <a:noFill/>
            <a:ln w="12700" cap="flat" cmpd="sng" algn="ctr">
              <a:solidFill>
                <a:sysClr val="windowText" lastClr="000000"/>
              </a:solidFill>
              <a:prstDash val="solid"/>
              <a:miter lim="800000"/>
            </a:ln>
            <a:effectLst/>
          </p:spPr>
        </p:cxnSp>
        <p:cxnSp>
          <p:nvCxnSpPr>
            <p:cNvPr id="110" name="직선 연결선 109">
              <a:extLst>
                <a:ext uri="{FF2B5EF4-FFF2-40B4-BE49-F238E27FC236}">
                  <a16:creationId xmlns:a16="http://schemas.microsoft.com/office/drawing/2014/main" id="{AEA80EF2-1F34-6A9E-5002-34B2D361E1E3}"/>
                </a:ext>
              </a:extLst>
            </p:cNvPr>
            <p:cNvCxnSpPr/>
            <p:nvPr/>
          </p:nvCxnSpPr>
          <p:spPr>
            <a:xfrm>
              <a:off x="3619813" y="4249766"/>
              <a:ext cx="198483" cy="0"/>
            </a:xfrm>
            <a:prstGeom prst="line">
              <a:avLst/>
            </a:prstGeom>
            <a:noFill/>
            <a:ln w="12700" cap="flat" cmpd="sng" algn="ctr">
              <a:solidFill>
                <a:sysClr val="windowText" lastClr="000000"/>
              </a:solidFill>
              <a:prstDash val="solid"/>
              <a:miter lim="800000"/>
            </a:ln>
            <a:effectLst/>
          </p:spPr>
        </p:cxnSp>
        <p:cxnSp>
          <p:nvCxnSpPr>
            <p:cNvPr id="111" name="직선 연결선 110">
              <a:extLst>
                <a:ext uri="{FF2B5EF4-FFF2-40B4-BE49-F238E27FC236}">
                  <a16:creationId xmlns:a16="http://schemas.microsoft.com/office/drawing/2014/main" id="{91EFAEE1-D210-E1B7-C43F-E56FF695272D}"/>
                </a:ext>
              </a:extLst>
            </p:cNvPr>
            <p:cNvCxnSpPr>
              <a:cxnSpLocks/>
            </p:cNvCxnSpPr>
            <p:nvPr/>
          </p:nvCxnSpPr>
          <p:spPr>
            <a:xfrm>
              <a:off x="2757416" y="3749132"/>
              <a:ext cx="0" cy="421231"/>
            </a:xfrm>
            <a:prstGeom prst="line">
              <a:avLst/>
            </a:prstGeom>
            <a:noFill/>
            <a:ln w="6350" cap="flat" cmpd="sng" algn="ctr">
              <a:solidFill>
                <a:sysClr val="windowText" lastClr="000000"/>
              </a:solidFill>
              <a:prstDash val="solid"/>
              <a:miter lim="800000"/>
            </a:ln>
            <a:effectLst/>
          </p:spPr>
        </p:cxnSp>
        <p:cxnSp>
          <p:nvCxnSpPr>
            <p:cNvPr id="112" name="직선 연결선 111">
              <a:extLst>
                <a:ext uri="{FF2B5EF4-FFF2-40B4-BE49-F238E27FC236}">
                  <a16:creationId xmlns:a16="http://schemas.microsoft.com/office/drawing/2014/main" id="{792FFCA1-5F9E-4DB1-EB29-69A8EFE3037E}"/>
                </a:ext>
              </a:extLst>
            </p:cNvPr>
            <p:cNvCxnSpPr>
              <a:cxnSpLocks/>
            </p:cNvCxnSpPr>
            <p:nvPr/>
          </p:nvCxnSpPr>
          <p:spPr>
            <a:xfrm>
              <a:off x="2001838" y="4366026"/>
              <a:ext cx="1089025" cy="0"/>
            </a:xfrm>
            <a:prstGeom prst="line">
              <a:avLst/>
            </a:prstGeom>
            <a:noFill/>
            <a:ln w="6350" cap="flat" cmpd="sng" algn="ctr">
              <a:solidFill>
                <a:sysClr val="windowText" lastClr="000000"/>
              </a:solidFill>
              <a:prstDash val="solid"/>
              <a:miter lim="800000"/>
            </a:ln>
            <a:effectLst/>
          </p:spPr>
        </p:cxnSp>
        <p:cxnSp>
          <p:nvCxnSpPr>
            <p:cNvPr id="113" name="직선 연결선 112">
              <a:extLst>
                <a:ext uri="{FF2B5EF4-FFF2-40B4-BE49-F238E27FC236}">
                  <a16:creationId xmlns:a16="http://schemas.microsoft.com/office/drawing/2014/main" id="{B65EAE32-247A-EEF0-A87F-5B271497BF6F}"/>
                </a:ext>
              </a:extLst>
            </p:cNvPr>
            <p:cNvCxnSpPr>
              <a:cxnSpLocks/>
            </p:cNvCxnSpPr>
            <p:nvPr/>
          </p:nvCxnSpPr>
          <p:spPr>
            <a:xfrm>
              <a:off x="2008188" y="4169416"/>
              <a:ext cx="752475" cy="0"/>
            </a:xfrm>
            <a:prstGeom prst="line">
              <a:avLst/>
            </a:prstGeom>
            <a:noFill/>
            <a:ln w="6350" cap="flat" cmpd="sng" algn="ctr">
              <a:solidFill>
                <a:sysClr val="windowText" lastClr="000000"/>
              </a:solidFill>
              <a:prstDash val="solid"/>
              <a:miter lim="800000"/>
            </a:ln>
            <a:effectLst/>
          </p:spPr>
        </p:cxnSp>
        <p:sp>
          <p:nvSpPr>
            <p:cNvPr id="114" name="TextBox 121">
              <a:extLst>
                <a:ext uri="{FF2B5EF4-FFF2-40B4-BE49-F238E27FC236}">
                  <a16:creationId xmlns:a16="http://schemas.microsoft.com/office/drawing/2014/main" id="{71D03C11-1ADC-18DC-46AF-B510775E0751}"/>
                </a:ext>
              </a:extLst>
            </p:cNvPr>
            <p:cNvSpPr txBox="1"/>
            <p:nvPr/>
          </p:nvSpPr>
          <p:spPr>
            <a:xfrm>
              <a:off x="2021376" y="4042357"/>
              <a:ext cx="279223"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GATE2</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5" name="TextBox 122">
              <a:extLst>
                <a:ext uri="{FF2B5EF4-FFF2-40B4-BE49-F238E27FC236}">
                  <a16:creationId xmlns:a16="http://schemas.microsoft.com/office/drawing/2014/main" id="{38CC9641-53D7-37E2-2E62-A7BAB17841AA}"/>
                </a:ext>
              </a:extLst>
            </p:cNvPr>
            <p:cNvSpPr txBox="1"/>
            <p:nvPr/>
          </p:nvSpPr>
          <p:spPr>
            <a:xfrm>
              <a:off x="2019114" y="4239761"/>
              <a:ext cx="279223"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GATE3</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6" name="TextBox 123">
              <a:extLst>
                <a:ext uri="{FF2B5EF4-FFF2-40B4-BE49-F238E27FC236}">
                  <a16:creationId xmlns:a16="http://schemas.microsoft.com/office/drawing/2014/main" id="{3F6F0D36-4346-E008-69DA-A3C06B5B7F14}"/>
                </a:ext>
              </a:extLst>
            </p:cNvPr>
            <p:cNvSpPr txBox="1"/>
            <p:nvPr/>
          </p:nvSpPr>
          <p:spPr>
            <a:xfrm>
              <a:off x="2019704" y="3185080"/>
              <a:ext cx="717146"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VLED1 (: GATE1)</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7" name="TextBox 124">
              <a:extLst>
                <a:ext uri="{FF2B5EF4-FFF2-40B4-BE49-F238E27FC236}">
                  <a16:creationId xmlns:a16="http://schemas.microsoft.com/office/drawing/2014/main" id="{765648FD-62F3-A32D-2245-31D49A435AC7}"/>
                </a:ext>
              </a:extLst>
            </p:cNvPr>
            <p:cNvSpPr txBox="1"/>
            <p:nvPr/>
          </p:nvSpPr>
          <p:spPr>
            <a:xfrm>
              <a:off x="2022204" y="3478005"/>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VLED2</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8" name="TextBox 125">
              <a:extLst>
                <a:ext uri="{FF2B5EF4-FFF2-40B4-BE49-F238E27FC236}">
                  <a16:creationId xmlns:a16="http://schemas.microsoft.com/office/drawing/2014/main" id="{C0E18BCC-8256-DD1E-532E-D04EFCAAC273}"/>
                </a:ext>
              </a:extLst>
            </p:cNvPr>
            <p:cNvSpPr txBox="1"/>
            <p:nvPr/>
          </p:nvSpPr>
          <p:spPr>
            <a:xfrm>
              <a:off x="2033040" y="3758987"/>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VLED3</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9" name="TextBox 126">
              <a:extLst>
                <a:ext uri="{FF2B5EF4-FFF2-40B4-BE49-F238E27FC236}">
                  <a16:creationId xmlns:a16="http://schemas.microsoft.com/office/drawing/2014/main" id="{A7C7EC1C-10CA-0F53-535B-2EE864DE71EF}"/>
                </a:ext>
              </a:extLst>
            </p:cNvPr>
            <p:cNvSpPr txBox="1"/>
            <p:nvPr/>
          </p:nvSpPr>
          <p:spPr>
            <a:xfrm>
              <a:off x="3368429" y="4476964"/>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CHx</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121" name="직선 연결선 120">
              <a:extLst>
                <a:ext uri="{FF2B5EF4-FFF2-40B4-BE49-F238E27FC236}">
                  <a16:creationId xmlns:a16="http://schemas.microsoft.com/office/drawing/2014/main" id="{6C0654AD-BD07-1E96-7635-576BBCB4635A}"/>
                </a:ext>
              </a:extLst>
            </p:cNvPr>
            <p:cNvCxnSpPr/>
            <p:nvPr/>
          </p:nvCxnSpPr>
          <p:spPr>
            <a:xfrm>
              <a:off x="4069642" y="4115288"/>
              <a:ext cx="179219" cy="0"/>
            </a:xfrm>
            <a:prstGeom prst="line">
              <a:avLst/>
            </a:prstGeom>
            <a:noFill/>
            <a:ln w="19050" cap="flat" cmpd="sng" algn="ctr">
              <a:solidFill>
                <a:sysClr val="windowText" lastClr="000000"/>
              </a:solidFill>
              <a:prstDash val="solid"/>
              <a:miter lim="800000"/>
            </a:ln>
            <a:effectLst/>
          </p:spPr>
        </p:cxnSp>
        <p:cxnSp>
          <p:nvCxnSpPr>
            <p:cNvPr id="123" name="직선 연결선 122">
              <a:extLst>
                <a:ext uri="{FF2B5EF4-FFF2-40B4-BE49-F238E27FC236}">
                  <a16:creationId xmlns:a16="http://schemas.microsoft.com/office/drawing/2014/main" id="{1A70BE8C-BA74-1B69-4699-AEA2F7A0E8EF}"/>
                </a:ext>
              </a:extLst>
            </p:cNvPr>
            <p:cNvCxnSpPr/>
            <p:nvPr/>
          </p:nvCxnSpPr>
          <p:spPr>
            <a:xfrm>
              <a:off x="4266186" y="4115287"/>
              <a:ext cx="179219" cy="0"/>
            </a:xfrm>
            <a:prstGeom prst="line">
              <a:avLst/>
            </a:prstGeom>
            <a:noFill/>
            <a:ln w="19050" cap="flat" cmpd="sng" algn="ctr">
              <a:solidFill>
                <a:sysClr val="windowText" lastClr="000000"/>
              </a:solidFill>
              <a:prstDash val="solid"/>
              <a:miter lim="800000"/>
            </a:ln>
            <a:effectLst/>
          </p:spPr>
        </p:cxnSp>
        <p:cxnSp>
          <p:nvCxnSpPr>
            <p:cNvPr id="125" name="직선 연결선 124">
              <a:extLst>
                <a:ext uri="{FF2B5EF4-FFF2-40B4-BE49-F238E27FC236}">
                  <a16:creationId xmlns:a16="http://schemas.microsoft.com/office/drawing/2014/main" id="{A6CE6E4E-95B6-80EA-4760-BAF1876D5B07}"/>
                </a:ext>
              </a:extLst>
            </p:cNvPr>
            <p:cNvCxnSpPr/>
            <p:nvPr/>
          </p:nvCxnSpPr>
          <p:spPr>
            <a:xfrm>
              <a:off x="4464574" y="4111868"/>
              <a:ext cx="179218" cy="0"/>
            </a:xfrm>
            <a:prstGeom prst="line">
              <a:avLst/>
            </a:prstGeom>
            <a:noFill/>
            <a:ln w="19050" cap="flat" cmpd="sng" algn="ctr">
              <a:solidFill>
                <a:sysClr val="windowText" lastClr="000000"/>
              </a:solidFill>
              <a:prstDash val="solid"/>
              <a:miter lim="800000"/>
            </a:ln>
            <a:effectLst/>
          </p:spPr>
        </p:cxnSp>
        <p:cxnSp>
          <p:nvCxnSpPr>
            <p:cNvPr id="126" name="직선 연결선 125">
              <a:extLst>
                <a:ext uri="{FF2B5EF4-FFF2-40B4-BE49-F238E27FC236}">
                  <a16:creationId xmlns:a16="http://schemas.microsoft.com/office/drawing/2014/main" id="{DCA029DF-B60E-BD56-F0E1-0F8D63FF9066}"/>
                </a:ext>
              </a:extLst>
            </p:cNvPr>
            <p:cNvCxnSpPr/>
            <p:nvPr/>
          </p:nvCxnSpPr>
          <p:spPr>
            <a:xfrm flipH="1" flipV="1">
              <a:off x="4162825" y="4124796"/>
              <a:ext cx="0" cy="315887"/>
            </a:xfrm>
            <a:prstGeom prst="line">
              <a:avLst/>
            </a:prstGeom>
            <a:noFill/>
            <a:ln w="12700" cap="flat" cmpd="sng" algn="ctr">
              <a:solidFill>
                <a:sysClr val="windowText" lastClr="000000"/>
              </a:solidFill>
              <a:prstDash val="solid"/>
              <a:miter lim="800000"/>
            </a:ln>
            <a:effectLst/>
          </p:spPr>
        </p:cxnSp>
        <p:cxnSp>
          <p:nvCxnSpPr>
            <p:cNvPr id="127" name="직선 연결선 126">
              <a:extLst>
                <a:ext uri="{FF2B5EF4-FFF2-40B4-BE49-F238E27FC236}">
                  <a16:creationId xmlns:a16="http://schemas.microsoft.com/office/drawing/2014/main" id="{168E617F-3BAD-5C45-24D9-E23E377583FF}"/>
                </a:ext>
              </a:extLst>
            </p:cNvPr>
            <p:cNvCxnSpPr/>
            <p:nvPr/>
          </p:nvCxnSpPr>
          <p:spPr>
            <a:xfrm flipH="1" flipV="1">
              <a:off x="4352878" y="4123203"/>
              <a:ext cx="0" cy="126355"/>
            </a:xfrm>
            <a:prstGeom prst="line">
              <a:avLst/>
            </a:prstGeom>
            <a:noFill/>
            <a:ln w="12700" cap="flat" cmpd="sng" algn="ctr">
              <a:solidFill>
                <a:sysClr val="windowText" lastClr="000000"/>
              </a:solidFill>
              <a:prstDash val="solid"/>
              <a:miter lim="800000"/>
            </a:ln>
            <a:effectLst/>
          </p:spPr>
        </p:cxnSp>
        <p:cxnSp>
          <p:nvCxnSpPr>
            <p:cNvPr id="128" name="직선 연결선 127">
              <a:extLst>
                <a:ext uri="{FF2B5EF4-FFF2-40B4-BE49-F238E27FC236}">
                  <a16:creationId xmlns:a16="http://schemas.microsoft.com/office/drawing/2014/main" id="{765400AF-9091-D550-A96E-0659006C0879}"/>
                </a:ext>
              </a:extLst>
            </p:cNvPr>
            <p:cNvCxnSpPr/>
            <p:nvPr/>
          </p:nvCxnSpPr>
          <p:spPr>
            <a:xfrm flipH="1" flipV="1">
              <a:off x="4551597" y="4117631"/>
              <a:ext cx="0" cy="126355"/>
            </a:xfrm>
            <a:prstGeom prst="line">
              <a:avLst/>
            </a:prstGeom>
            <a:noFill/>
            <a:ln w="12700" cap="flat" cmpd="sng" algn="ctr">
              <a:solidFill>
                <a:sysClr val="windowText" lastClr="000000"/>
              </a:solidFill>
              <a:prstDash val="solid"/>
              <a:miter lim="800000"/>
            </a:ln>
            <a:effectLst/>
          </p:spPr>
        </p:cxnSp>
        <p:cxnSp>
          <p:nvCxnSpPr>
            <p:cNvPr id="129" name="직선 연결선 128">
              <a:extLst>
                <a:ext uri="{FF2B5EF4-FFF2-40B4-BE49-F238E27FC236}">
                  <a16:creationId xmlns:a16="http://schemas.microsoft.com/office/drawing/2014/main" id="{99DCCCFE-FF25-CB4B-0BDC-EFD512255436}"/>
                </a:ext>
              </a:extLst>
            </p:cNvPr>
            <p:cNvCxnSpPr/>
            <p:nvPr/>
          </p:nvCxnSpPr>
          <p:spPr>
            <a:xfrm flipH="1" flipV="1">
              <a:off x="4161738" y="3317570"/>
              <a:ext cx="0" cy="701810"/>
            </a:xfrm>
            <a:prstGeom prst="line">
              <a:avLst/>
            </a:prstGeom>
            <a:noFill/>
            <a:ln w="12700" cap="flat" cmpd="sng" algn="ctr">
              <a:solidFill>
                <a:sysClr val="windowText" lastClr="000000"/>
              </a:solidFill>
              <a:prstDash val="solid"/>
              <a:miter lim="800000"/>
            </a:ln>
            <a:effectLst/>
          </p:spPr>
        </p:cxnSp>
        <p:cxnSp>
          <p:nvCxnSpPr>
            <p:cNvPr id="130" name="직선 연결선 129">
              <a:extLst>
                <a:ext uri="{FF2B5EF4-FFF2-40B4-BE49-F238E27FC236}">
                  <a16:creationId xmlns:a16="http://schemas.microsoft.com/office/drawing/2014/main" id="{2D22F63C-A23B-2D01-75F3-71034884EBE7}"/>
                </a:ext>
              </a:extLst>
            </p:cNvPr>
            <p:cNvCxnSpPr/>
            <p:nvPr/>
          </p:nvCxnSpPr>
          <p:spPr>
            <a:xfrm flipH="1" flipV="1">
              <a:off x="4355380" y="3614994"/>
              <a:ext cx="0" cy="410654"/>
            </a:xfrm>
            <a:prstGeom prst="line">
              <a:avLst/>
            </a:prstGeom>
            <a:noFill/>
            <a:ln w="12700" cap="flat" cmpd="sng" algn="ctr">
              <a:solidFill>
                <a:sysClr val="windowText" lastClr="000000"/>
              </a:solidFill>
              <a:prstDash val="solid"/>
              <a:miter lim="800000"/>
            </a:ln>
            <a:effectLst/>
          </p:spPr>
        </p:cxnSp>
        <p:cxnSp>
          <p:nvCxnSpPr>
            <p:cNvPr id="131" name="직선 연결선 130">
              <a:extLst>
                <a:ext uri="{FF2B5EF4-FFF2-40B4-BE49-F238E27FC236}">
                  <a16:creationId xmlns:a16="http://schemas.microsoft.com/office/drawing/2014/main" id="{617951D8-5731-3199-2F3A-D7E091A7618E}"/>
                </a:ext>
              </a:extLst>
            </p:cNvPr>
            <p:cNvCxnSpPr/>
            <p:nvPr/>
          </p:nvCxnSpPr>
          <p:spPr>
            <a:xfrm>
              <a:off x="4360029" y="4244193"/>
              <a:ext cx="198483" cy="0"/>
            </a:xfrm>
            <a:prstGeom prst="line">
              <a:avLst/>
            </a:prstGeom>
            <a:noFill/>
            <a:ln w="12700" cap="flat" cmpd="sng" algn="ctr">
              <a:solidFill>
                <a:sysClr val="windowText" lastClr="000000"/>
              </a:solidFill>
              <a:prstDash val="solid"/>
              <a:miter lim="800000"/>
            </a:ln>
            <a:effectLst/>
          </p:spPr>
        </p:cxnSp>
        <p:sp>
          <p:nvSpPr>
            <p:cNvPr id="132" name="TextBox 136">
              <a:extLst>
                <a:ext uri="{FF2B5EF4-FFF2-40B4-BE49-F238E27FC236}">
                  <a16:creationId xmlns:a16="http://schemas.microsoft.com/office/drawing/2014/main" id="{8CB87223-00F1-3C44-2015-271DE174CDCB}"/>
                </a:ext>
              </a:extLst>
            </p:cNvPr>
            <p:cNvSpPr txBox="1"/>
            <p:nvPr/>
          </p:nvSpPr>
          <p:spPr>
            <a:xfrm>
              <a:off x="3625169" y="4475373"/>
              <a:ext cx="28611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CHx+1</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33" name="타원 132">
              <a:extLst>
                <a:ext uri="{FF2B5EF4-FFF2-40B4-BE49-F238E27FC236}">
                  <a16:creationId xmlns:a16="http://schemas.microsoft.com/office/drawing/2014/main" id="{D9EFFC01-D486-333B-599E-8B5833308804}"/>
                </a:ext>
              </a:extLst>
            </p:cNvPr>
            <p:cNvSpPr/>
            <p:nvPr/>
          </p:nvSpPr>
          <p:spPr>
            <a:xfrm>
              <a:off x="3780213" y="3870124"/>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4" name="타원 133">
              <a:extLst>
                <a:ext uri="{FF2B5EF4-FFF2-40B4-BE49-F238E27FC236}">
                  <a16:creationId xmlns:a16="http://schemas.microsoft.com/office/drawing/2014/main" id="{0BA1129D-CEE9-3AAD-1B7E-5C6CC961B52C}"/>
                </a:ext>
              </a:extLst>
            </p:cNvPr>
            <p:cNvSpPr/>
            <p:nvPr/>
          </p:nvSpPr>
          <p:spPr>
            <a:xfrm>
              <a:off x="3590992" y="3593917"/>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5" name="타원 134">
              <a:extLst>
                <a:ext uri="{FF2B5EF4-FFF2-40B4-BE49-F238E27FC236}">
                  <a16:creationId xmlns:a16="http://schemas.microsoft.com/office/drawing/2014/main" id="{55206848-C6A0-A88E-67EE-C722B1BD6E2C}"/>
                </a:ext>
              </a:extLst>
            </p:cNvPr>
            <p:cNvSpPr/>
            <p:nvPr/>
          </p:nvSpPr>
          <p:spPr>
            <a:xfrm>
              <a:off x="3397604" y="3281890"/>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6" name="타원 135">
              <a:extLst>
                <a:ext uri="{FF2B5EF4-FFF2-40B4-BE49-F238E27FC236}">
                  <a16:creationId xmlns:a16="http://schemas.microsoft.com/office/drawing/2014/main" id="{6D64FBE8-FD30-277C-6D7A-E22BDA789816}"/>
                </a:ext>
              </a:extLst>
            </p:cNvPr>
            <p:cNvSpPr/>
            <p:nvPr/>
          </p:nvSpPr>
          <p:spPr>
            <a:xfrm>
              <a:off x="3686853" y="4222746"/>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7" name="타원 136">
              <a:extLst>
                <a:ext uri="{FF2B5EF4-FFF2-40B4-BE49-F238E27FC236}">
                  <a16:creationId xmlns:a16="http://schemas.microsoft.com/office/drawing/2014/main" id="{81234010-E81C-3B63-6C96-C7EF526964B9}"/>
                </a:ext>
              </a:extLst>
            </p:cNvPr>
            <p:cNvSpPr/>
            <p:nvPr/>
          </p:nvSpPr>
          <p:spPr>
            <a:xfrm>
              <a:off x="4427069" y="4221153"/>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38" name="직선 연결선 137">
              <a:extLst>
                <a:ext uri="{FF2B5EF4-FFF2-40B4-BE49-F238E27FC236}">
                  <a16:creationId xmlns:a16="http://schemas.microsoft.com/office/drawing/2014/main" id="{752C3318-57A6-2115-76F6-9BB20CCE4CBF}"/>
                </a:ext>
              </a:extLst>
            </p:cNvPr>
            <p:cNvCxnSpPr/>
            <p:nvPr/>
          </p:nvCxnSpPr>
          <p:spPr>
            <a:xfrm flipV="1">
              <a:off x="4545762" y="3891755"/>
              <a:ext cx="0" cy="122587"/>
            </a:xfrm>
            <a:prstGeom prst="line">
              <a:avLst/>
            </a:prstGeom>
            <a:noFill/>
            <a:ln w="12700" cap="flat" cmpd="sng" algn="ctr">
              <a:solidFill>
                <a:sysClr val="windowText" lastClr="000000"/>
              </a:solidFill>
              <a:prstDash val="solid"/>
              <a:miter lim="800000"/>
            </a:ln>
            <a:effectLst/>
          </p:spPr>
        </p:cxnSp>
        <p:cxnSp>
          <p:nvCxnSpPr>
            <p:cNvPr id="139" name="직선 연결선 138">
              <a:extLst>
                <a:ext uri="{FF2B5EF4-FFF2-40B4-BE49-F238E27FC236}">
                  <a16:creationId xmlns:a16="http://schemas.microsoft.com/office/drawing/2014/main" id="{E9ECEF81-1FEA-9C8B-B6C1-17423E082316}"/>
                </a:ext>
              </a:extLst>
            </p:cNvPr>
            <p:cNvCxnSpPr/>
            <p:nvPr/>
          </p:nvCxnSpPr>
          <p:spPr>
            <a:xfrm flipH="1" flipV="1">
              <a:off x="4463744" y="4252949"/>
              <a:ext cx="0" cy="189533"/>
            </a:xfrm>
            <a:prstGeom prst="line">
              <a:avLst/>
            </a:prstGeom>
            <a:noFill/>
            <a:ln w="12700" cap="flat" cmpd="sng" algn="ctr">
              <a:solidFill>
                <a:sysClr val="windowText" lastClr="000000"/>
              </a:solidFill>
              <a:prstDash val="solid"/>
              <a:miter lim="800000"/>
            </a:ln>
            <a:effectLst/>
          </p:spPr>
        </p:cxnSp>
        <p:cxnSp>
          <p:nvCxnSpPr>
            <p:cNvPr id="140" name="직선 연결선 139">
              <a:extLst>
                <a:ext uri="{FF2B5EF4-FFF2-40B4-BE49-F238E27FC236}">
                  <a16:creationId xmlns:a16="http://schemas.microsoft.com/office/drawing/2014/main" id="{6F39C9FC-F4ED-B6E6-E811-5BE11DF1CE6C}"/>
                </a:ext>
              </a:extLst>
            </p:cNvPr>
            <p:cNvCxnSpPr/>
            <p:nvPr/>
          </p:nvCxnSpPr>
          <p:spPr>
            <a:xfrm flipH="1" flipV="1">
              <a:off x="3724363" y="4251357"/>
              <a:ext cx="0" cy="189533"/>
            </a:xfrm>
            <a:prstGeom prst="line">
              <a:avLst/>
            </a:prstGeom>
            <a:noFill/>
            <a:ln w="12700" cap="flat" cmpd="sng" algn="ctr">
              <a:solidFill>
                <a:sysClr val="windowText" lastClr="000000"/>
              </a:solidFill>
              <a:prstDash val="solid"/>
              <a:miter lim="800000"/>
            </a:ln>
            <a:effectLst/>
          </p:spPr>
        </p:cxnSp>
        <p:sp>
          <p:nvSpPr>
            <p:cNvPr id="141" name="TextBox 145">
              <a:extLst>
                <a:ext uri="{FF2B5EF4-FFF2-40B4-BE49-F238E27FC236}">
                  <a16:creationId xmlns:a16="http://schemas.microsoft.com/office/drawing/2014/main" id="{A4AA6919-446E-DA3F-54E5-E6246D0CD6F4}"/>
                </a:ext>
              </a:extLst>
            </p:cNvPr>
            <p:cNvSpPr txBox="1"/>
            <p:nvPr/>
          </p:nvSpPr>
          <p:spPr>
            <a:xfrm>
              <a:off x="4071131" y="4479351"/>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CHy</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42" name="TextBox 146">
              <a:extLst>
                <a:ext uri="{FF2B5EF4-FFF2-40B4-BE49-F238E27FC236}">
                  <a16:creationId xmlns:a16="http://schemas.microsoft.com/office/drawing/2014/main" id="{4155D1BE-8E02-DE0B-8431-B682CCBCBD7C}"/>
                </a:ext>
              </a:extLst>
            </p:cNvPr>
            <p:cNvSpPr txBox="1"/>
            <p:nvPr/>
          </p:nvSpPr>
          <p:spPr>
            <a:xfrm>
              <a:off x="4327872" y="4477760"/>
              <a:ext cx="28611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CHy+1</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43" name="TextBox 90">
              <a:extLst>
                <a:ext uri="{FF2B5EF4-FFF2-40B4-BE49-F238E27FC236}">
                  <a16:creationId xmlns:a16="http://schemas.microsoft.com/office/drawing/2014/main" id="{2270C4EF-DD10-B7E3-432E-34D7CEE14684}"/>
                </a:ext>
              </a:extLst>
            </p:cNvPr>
            <p:cNvSpPr txBox="1"/>
            <p:nvPr/>
          </p:nvSpPr>
          <p:spPr>
            <a:xfrm>
              <a:off x="3155032" y="3108794"/>
              <a:ext cx="617590" cy="149814"/>
            </a:xfrm>
            <a:prstGeom prst="rect">
              <a:avLst/>
            </a:prstGeom>
            <a:no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0" i="0" u="none" strike="noStrike" kern="0" cap="none" spc="0" normalizeH="0" baseline="0" noProof="0" dirty="0" err="1">
                  <a:ln>
                    <a:noFill/>
                  </a:ln>
                  <a:solidFill>
                    <a:sysClr val="windowText" lastClr="000000"/>
                  </a:solidFill>
                  <a:effectLst/>
                  <a:uLnTx/>
                  <a:uFillTx/>
                  <a:latin typeface="Aptos Narrow" panose="02110004020202020204"/>
                  <a:ea typeface="맑은 고딕" panose="020B0503020000020004" pitchFamily="50" charset="-127"/>
                  <a:cs typeface="+mn-cs"/>
                </a:rPr>
                <a:t>ld_type</a:t>
              </a:r>
              <a:r>
                <a:rPr kumimoji="0" lang="en-US" altLang="ko-KR" sz="11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 = 10</a:t>
              </a:r>
              <a:endParaRPr kumimoji="0" lang="ko-KR" altLang="en-US" sz="11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44" name="직사각형 143">
              <a:extLst>
                <a:ext uri="{FF2B5EF4-FFF2-40B4-BE49-F238E27FC236}">
                  <a16:creationId xmlns:a16="http://schemas.microsoft.com/office/drawing/2014/main" id="{11715277-0331-EE5F-8C9C-A8CFABBAB6E0}"/>
                </a:ext>
              </a:extLst>
            </p:cNvPr>
            <p:cNvSpPr/>
            <p:nvPr/>
          </p:nvSpPr>
          <p:spPr>
            <a:xfrm>
              <a:off x="1864615" y="3049000"/>
              <a:ext cx="3006000" cy="2106000"/>
            </a:xfrm>
            <a:prstGeom prst="rect">
              <a:avLst/>
            </a:prstGeom>
            <a:noFill/>
            <a:ln w="3175"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45" name="TextBox 263">
              <a:extLst>
                <a:ext uri="{FF2B5EF4-FFF2-40B4-BE49-F238E27FC236}">
                  <a16:creationId xmlns:a16="http://schemas.microsoft.com/office/drawing/2014/main" id="{A5DDC871-5160-4D99-AD3E-3A4564B8593B}"/>
                </a:ext>
              </a:extLst>
            </p:cNvPr>
            <p:cNvSpPr txBox="1"/>
            <p:nvPr/>
          </p:nvSpPr>
          <p:spPr>
            <a:xfrm>
              <a:off x="3868361" y="4727562"/>
              <a:ext cx="323575" cy="136149"/>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XD12R</a:t>
              </a:r>
              <a:endParaRPr kumimoji="0" lang="ko-KR" altLang="en-US"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2" name="이등변 삼각형 1">
              <a:extLst>
                <a:ext uri="{FF2B5EF4-FFF2-40B4-BE49-F238E27FC236}">
                  <a16:creationId xmlns:a16="http://schemas.microsoft.com/office/drawing/2014/main" id="{89E4B565-7324-718C-400F-8C5BB7CDE06C}"/>
                </a:ext>
              </a:extLst>
            </p:cNvPr>
            <p:cNvSpPr/>
            <p:nvPr/>
          </p:nvSpPr>
          <p:spPr>
            <a:xfrm rot="10800000">
              <a:off x="3345464" y="4015634"/>
              <a:ext cx="165433" cy="94675"/>
            </a:xfrm>
            <a:prstGeom prst="triangle">
              <a:avLst/>
            </a:prstGeom>
            <a:solidFill>
              <a:srgbClr val="FFD1D1"/>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3" name="이등변 삼각형 2">
              <a:extLst>
                <a:ext uri="{FF2B5EF4-FFF2-40B4-BE49-F238E27FC236}">
                  <a16:creationId xmlns:a16="http://schemas.microsoft.com/office/drawing/2014/main" id="{B408FF3E-0133-2D5E-7372-FEB40C43ABE2}"/>
                </a:ext>
              </a:extLst>
            </p:cNvPr>
            <p:cNvSpPr/>
            <p:nvPr/>
          </p:nvSpPr>
          <p:spPr>
            <a:xfrm rot="10800000">
              <a:off x="3540845" y="4015635"/>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9" name="이등변 삼각형 8">
              <a:extLst>
                <a:ext uri="{FF2B5EF4-FFF2-40B4-BE49-F238E27FC236}">
                  <a16:creationId xmlns:a16="http://schemas.microsoft.com/office/drawing/2014/main" id="{E84CA173-55D8-95FD-8AB5-D7341360BAC2}"/>
                </a:ext>
              </a:extLst>
            </p:cNvPr>
            <p:cNvSpPr/>
            <p:nvPr/>
          </p:nvSpPr>
          <p:spPr>
            <a:xfrm rot="10800000">
              <a:off x="3729875" y="4015634"/>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0" name="이등변 삼각형 9">
              <a:extLst>
                <a:ext uri="{FF2B5EF4-FFF2-40B4-BE49-F238E27FC236}">
                  <a16:creationId xmlns:a16="http://schemas.microsoft.com/office/drawing/2014/main" id="{62B1431B-8191-B30A-ADDF-62165824A3C2}"/>
                </a:ext>
              </a:extLst>
            </p:cNvPr>
            <p:cNvSpPr/>
            <p:nvPr/>
          </p:nvSpPr>
          <p:spPr>
            <a:xfrm rot="10800000">
              <a:off x="4086291" y="4011399"/>
              <a:ext cx="165433" cy="94675"/>
            </a:xfrm>
            <a:prstGeom prst="triangle">
              <a:avLst/>
            </a:prstGeom>
            <a:solidFill>
              <a:srgbClr val="FFD1D1"/>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1" name="이등변 삼각형 10">
              <a:extLst>
                <a:ext uri="{FF2B5EF4-FFF2-40B4-BE49-F238E27FC236}">
                  <a16:creationId xmlns:a16="http://schemas.microsoft.com/office/drawing/2014/main" id="{E01B5B93-AB55-D96A-8A5D-6BB7964E1288}"/>
                </a:ext>
              </a:extLst>
            </p:cNvPr>
            <p:cNvSpPr/>
            <p:nvPr/>
          </p:nvSpPr>
          <p:spPr>
            <a:xfrm rot="10800000">
              <a:off x="4275322" y="4011400"/>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2" name="이등변 삼각형 11">
              <a:extLst>
                <a:ext uri="{FF2B5EF4-FFF2-40B4-BE49-F238E27FC236}">
                  <a16:creationId xmlns:a16="http://schemas.microsoft.com/office/drawing/2014/main" id="{929DBD16-E4FB-5857-ED11-C6BCC01CF17C}"/>
                </a:ext>
              </a:extLst>
            </p:cNvPr>
            <p:cNvSpPr/>
            <p:nvPr/>
          </p:nvSpPr>
          <p:spPr>
            <a:xfrm rot="10800000">
              <a:off x="4467527" y="4011399"/>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grpSp>
      <p:pic>
        <p:nvPicPr>
          <p:cNvPr id="16" name="그림 15">
            <a:extLst>
              <a:ext uri="{FF2B5EF4-FFF2-40B4-BE49-F238E27FC236}">
                <a16:creationId xmlns:a16="http://schemas.microsoft.com/office/drawing/2014/main" id="{74224CB3-F1FF-91B0-6C2F-E876359BAE62}"/>
              </a:ext>
            </a:extLst>
          </p:cNvPr>
          <p:cNvPicPr>
            <a:picLocks noChangeAspect="1"/>
          </p:cNvPicPr>
          <p:nvPr/>
        </p:nvPicPr>
        <p:blipFill>
          <a:blip r:embed="rId2"/>
          <a:stretch>
            <a:fillRect/>
          </a:stretch>
        </p:blipFill>
        <p:spPr>
          <a:xfrm>
            <a:off x="239062" y="5237333"/>
            <a:ext cx="6257105" cy="2834261"/>
          </a:xfrm>
          <a:prstGeom prst="rect">
            <a:avLst/>
          </a:prstGeom>
        </p:spPr>
      </p:pic>
    </p:spTree>
    <p:extLst>
      <p:ext uri="{BB962C8B-B14F-4D97-AF65-F5344CB8AC3E}">
        <p14:creationId xmlns:p14="http://schemas.microsoft.com/office/powerpoint/2010/main" val="19481347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직선 연결선 1">
            <a:extLst>
              <a:ext uri="{FF2B5EF4-FFF2-40B4-BE49-F238E27FC236}">
                <a16:creationId xmlns:a16="http://schemas.microsoft.com/office/drawing/2014/main" id="{D45A2D8B-9D96-2222-8C38-8B61F7E07E75}"/>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78897F6-CDCE-645D-8070-E46808A557A1}"/>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64984FA0-92CE-3710-A877-F9D530007774}"/>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8" name="TextBox 7">
            <a:extLst>
              <a:ext uri="{FF2B5EF4-FFF2-40B4-BE49-F238E27FC236}">
                <a16:creationId xmlns:a16="http://schemas.microsoft.com/office/drawing/2014/main" id="{0C7A0F7F-E908-92F5-D9A2-84AC4391751B}"/>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RGB PWM Dimming </a:t>
            </a:r>
          </a:p>
        </p:txBody>
      </p:sp>
      <p:sp>
        <p:nvSpPr>
          <p:cNvPr id="9" name="TextBox 8">
            <a:extLst>
              <a:ext uri="{FF2B5EF4-FFF2-40B4-BE49-F238E27FC236}">
                <a16:creationId xmlns:a16="http://schemas.microsoft.com/office/drawing/2014/main" id="{59B1A5AA-4237-1902-CED4-9318F488EBF9}"/>
              </a:ext>
            </a:extLst>
          </p:cNvPr>
          <p:cNvSpPr txBox="1"/>
          <p:nvPr/>
        </p:nvSpPr>
        <p:spPr>
          <a:xfrm>
            <a:off x="391362" y="1616176"/>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TYPE-3 (GB, 12CH) </a:t>
            </a:r>
          </a:p>
        </p:txBody>
      </p:sp>
      <p:sp>
        <p:nvSpPr>
          <p:cNvPr id="10" name="TextBox 9">
            <a:extLst>
              <a:ext uri="{FF2B5EF4-FFF2-40B4-BE49-F238E27FC236}">
                <a16:creationId xmlns:a16="http://schemas.microsoft.com/office/drawing/2014/main" id="{F91CCB85-0271-0F5B-6DAD-C9EC9CFBC34E}"/>
              </a:ext>
            </a:extLst>
          </p:cNvPr>
          <p:cNvSpPr txBox="1"/>
          <p:nvPr/>
        </p:nvSpPr>
        <p:spPr>
          <a:xfrm>
            <a:off x="399458" y="1923928"/>
            <a:ext cx="6047999"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XD12R supports two LEDs(green, blue) dimming.</a:t>
            </a:r>
          </a:p>
          <a:p>
            <a:pPr algn="just"/>
            <a:r>
              <a:rPr lang="en-US" altLang="ko-KR" sz="1000" dirty="0">
                <a:latin typeface="Arial" panose="020B0604020202020204" pitchFamily="34" charset="0"/>
                <a:cs typeface="Arial" panose="020B0604020202020204" pitchFamily="34" charset="0"/>
              </a:rPr>
              <a:t>Type-3 mode supports time-division dimming for two LEDs (green/blue) per channel..</a:t>
            </a:r>
          </a:p>
        </p:txBody>
      </p:sp>
      <p:sp>
        <p:nvSpPr>
          <p:cNvPr id="13" name="TextBox 12">
            <a:extLst>
              <a:ext uri="{FF2B5EF4-FFF2-40B4-BE49-F238E27FC236}">
                <a16:creationId xmlns:a16="http://schemas.microsoft.com/office/drawing/2014/main" id="{484A6925-DF40-47E3-FADA-AE51C86971AD}"/>
              </a:ext>
            </a:extLst>
          </p:cNvPr>
          <p:cNvSpPr txBox="1"/>
          <p:nvPr/>
        </p:nvSpPr>
        <p:spPr>
          <a:xfrm>
            <a:off x="1311390" y="7413939"/>
            <a:ext cx="4682051"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8  PWM Dimming sequence @ LD_TYP = 11, LD_DIR = 0, SYNC_MODE = 0</a:t>
            </a:r>
          </a:p>
        </p:txBody>
      </p:sp>
      <p:grpSp>
        <p:nvGrpSpPr>
          <p:cNvPr id="24" name="그룹 23">
            <a:extLst>
              <a:ext uri="{FF2B5EF4-FFF2-40B4-BE49-F238E27FC236}">
                <a16:creationId xmlns:a16="http://schemas.microsoft.com/office/drawing/2014/main" id="{9B7CD6EB-ABD6-EE28-C2F4-D9B0AC7C0689}"/>
              </a:ext>
            </a:extLst>
          </p:cNvPr>
          <p:cNvGrpSpPr/>
          <p:nvPr/>
        </p:nvGrpSpPr>
        <p:grpSpPr>
          <a:xfrm>
            <a:off x="1893554" y="2519097"/>
            <a:ext cx="3265487" cy="2387600"/>
            <a:chOff x="1893554" y="2519097"/>
            <a:chExt cx="3265487" cy="2387600"/>
          </a:xfrm>
        </p:grpSpPr>
        <p:sp>
          <p:nvSpPr>
            <p:cNvPr id="149" name="직사각형 148">
              <a:extLst>
                <a:ext uri="{FF2B5EF4-FFF2-40B4-BE49-F238E27FC236}">
                  <a16:creationId xmlns:a16="http://schemas.microsoft.com/office/drawing/2014/main" id="{731A9431-A6E8-4379-A3A6-881F12ED402A}"/>
                </a:ext>
              </a:extLst>
            </p:cNvPr>
            <p:cNvSpPr/>
            <p:nvPr/>
          </p:nvSpPr>
          <p:spPr>
            <a:xfrm>
              <a:off x="3431841" y="4112947"/>
              <a:ext cx="1536700" cy="60325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cxnSp>
          <p:nvCxnSpPr>
            <p:cNvPr id="150" name="직선 연결선 149">
              <a:extLst>
                <a:ext uri="{FF2B5EF4-FFF2-40B4-BE49-F238E27FC236}">
                  <a16:creationId xmlns:a16="http://schemas.microsoft.com/office/drawing/2014/main" id="{928EA8E2-4A77-4BEF-9F16-E30F28E7D1BB}"/>
                </a:ext>
              </a:extLst>
            </p:cNvPr>
            <p:cNvCxnSpPr>
              <a:cxnSpLocks/>
            </p:cNvCxnSpPr>
            <p:nvPr/>
          </p:nvCxnSpPr>
          <p:spPr>
            <a:xfrm>
              <a:off x="3157204" y="3647809"/>
              <a:ext cx="0" cy="31221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2" name="직선 연결선 151">
              <a:extLst>
                <a:ext uri="{FF2B5EF4-FFF2-40B4-BE49-F238E27FC236}">
                  <a16:creationId xmlns:a16="http://schemas.microsoft.com/office/drawing/2014/main" id="{40A4D5B9-9D60-4831-B1FC-A2F4B0000DAF}"/>
                </a:ext>
              </a:extLst>
            </p:cNvPr>
            <p:cNvCxnSpPr/>
            <p:nvPr/>
          </p:nvCxnSpPr>
          <p:spPr>
            <a:xfrm>
              <a:off x="3592179" y="3738297"/>
              <a:ext cx="19526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4" name="직선 연결선 153">
              <a:extLst>
                <a:ext uri="{FF2B5EF4-FFF2-40B4-BE49-F238E27FC236}">
                  <a16:creationId xmlns:a16="http://schemas.microsoft.com/office/drawing/2014/main" id="{6BFDC342-531D-4A03-82EE-2D7377EE4D7C}"/>
                </a:ext>
              </a:extLst>
            </p:cNvPr>
            <p:cNvCxnSpPr/>
            <p:nvPr/>
          </p:nvCxnSpPr>
          <p:spPr>
            <a:xfrm>
              <a:off x="3809666" y="3735122"/>
              <a:ext cx="195263"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5" name="직선 연결선 154">
              <a:extLst>
                <a:ext uri="{FF2B5EF4-FFF2-40B4-BE49-F238E27FC236}">
                  <a16:creationId xmlns:a16="http://schemas.microsoft.com/office/drawing/2014/main" id="{80BF80CA-C637-47DA-B3C7-960C13C45F4E}"/>
                </a:ext>
              </a:extLst>
            </p:cNvPr>
            <p:cNvCxnSpPr>
              <a:cxnSpLocks/>
            </p:cNvCxnSpPr>
            <p:nvPr/>
          </p:nvCxnSpPr>
          <p:spPr>
            <a:xfrm>
              <a:off x="3245644" y="3482709"/>
              <a:ext cx="1457785"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6" name="직선 연결선 155">
              <a:extLst>
                <a:ext uri="{FF2B5EF4-FFF2-40B4-BE49-F238E27FC236}">
                  <a16:creationId xmlns:a16="http://schemas.microsoft.com/office/drawing/2014/main" id="{2F618B89-6DA5-4519-8649-59CDDB034C28}"/>
                </a:ext>
              </a:extLst>
            </p:cNvPr>
            <p:cNvCxnSpPr/>
            <p:nvPr/>
          </p:nvCxnSpPr>
          <p:spPr>
            <a:xfrm>
              <a:off x="3012741" y="3566847"/>
              <a:ext cx="287338"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7" name="직선 연결선 156">
              <a:extLst>
                <a:ext uri="{FF2B5EF4-FFF2-40B4-BE49-F238E27FC236}">
                  <a16:creationId xmlns:a16="http://schemas.microsoft.com/office/drawing/2014/main" id="{6165199B-9CC0-4803-B0B1-D3EAE3ED531E}"/>
                </a:ext>
              </a:extLst>
            </p:cNvPr>
            <p:cNvCxnSpPr/>
            <p:nvPr/>
          </p:nvCxnSpPr>
          <p:spPr>
            <a:xfrm>
              <a:off x="3082591" y="3636697"/>
              <a:ext cx="144463"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8" name="직선 연결선 157">
              <a:extLst>
                <a:ext uri="{FF2B5EF4-FFF2-40B4-BE49-F238E27FC236}">
                  <a16:creationId xmlns:a16="http://schemas.microsoft.com/office/drawing/2014/main" id="{0DE6DEAD-647F-4B50-8699-15DBFDC16652}"/>
                </a:ext>
              </a:extLst>
            </p:cNvPr>
            <p:cNvCxnSpPr/>
            <p:nvPr/>
          </p:nvCxnSpPr>
          <p:spPr>
            <a:xfrm rot="5400000" flipH="1" flipV="1">
              <a:off x="3057191" y="3522397"/>
              <a:ext cx="71438"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9" name="직선 연결선 158">
              <a:extLst>
                <a:ext uri="{FF2B5EF4-FFF2-40B4-BE49-F238E27FC236}">
                  <a16:creationId xmlns:a16="http://schemas.microsoft.com/office/drawing/2014/main" id="{1BF161D5-AE8C-4EC9-8C62-2619F7CD4D87}"/>
                </a:ext>
              </a:extLst>
            </p:cNvPr>
            <p:cNvCxnSpPr/>
            <p:nvPr/>
          </p:nvCxnSpPr>
          <p:spPr>
            <a:xfrm rot="5400000">
              <a:off x="3177841" y="3520809"/>
              <a:ext cx="71438"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0" name="직선 연결선 159">
              <a:extLst>
                <a:ext uri="{FF2B5EF4-FFF2-40B4-BE49-F238E27FC236}">
                  <a16:creationId xmlns:a16="http://schemas.microsoft.com/office/drawing/2014/main" id="{46B4F224-E4B9-4357-9705-FF3925450CAA}"/>
                </a:ext>
              </a:extLst>
            </p:cNvPr>
            <p:cNvCxnSpPr/>
            <p:nvPr/>
          </p:nvCxnSpPr>
          <p:spPr>
            <a:xfrm>
              <a:off x="3205622" y="3485884"/>
              <a:ext cx="14287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1" name="직선 연결선 160">
              <a:extLst>
                <a:ext uri="{FF2B5EF4-FFF2-40B4-BE49-F238E27FC236}">
                  <a16:creationId xmlns:a16="http://schemas.microsoft.com/office/drawing/2014/main" id="{0A3F0394-F564-407F-A081-C4DC0793809E}"/>
                </a:ext>
              </a:extLst>
            </p:cNvPr>
            <p:cNvCxnSpPr/>
            <p:nvPr/>
          </p:nvCxnSpPr>
          <p:spPr>
            <a:xfrm>
              <a:off x="2961941" y="3489059"/>
              <a:ext cx="14287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2" name="직선 연결선 161">
              <a:extLst>
                <a:ext uri="{FF2B5EF4-FFF2-40B4-BE49-F238E27FC236}">
                  <a16:creationId xmlns:a16="http://schemas.microsoft.com/office/drawing/2014/main" id="{3F629E67-BDFB-4039-B8C1-62B841840662}"/>
                </a:ext>
              </a:extLst>
            </p:cNvPr>
            <p:cNvCxnSpPr/>
            <p:nvPr/>
          </p:nvCxnSpPr>
          <p:spPr>
            <a:xfrm>
              <a:off x="2726991" y="3252522"/>
              <a:ext cx="2889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3" name="직선 연결선 162">
              <a:extLst>
                <a:ext uri="{FF2B5EF4-FFF2-40B4-BE49-F238E27FC236}">
                  <a16:creationId xmlns:a16="http://schemas.microsoft.com/office/drawing/2014/main" id="{2C003B9B-4509-47C9-B9E3-87E3B60E2866}"/>
                </a:ext>
              </a:extLst>
            </p:cNvPr>
            <p:cNvCxnSpPr/>
            <p:nvPr/>
          </p:nvCxnSpPr>
          <p:spPr>
            <a:xfrm>
              <a:off x="2798429" y="3322372"/>
              <a:ext cx="14287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4" name="직선 연결선 163">
              <a:extLst>
                <a:ext uri="{FF2B5EF4-FFF2-40B4-BE49-F238E27FC236}">
                  <a16:creationId xmlns:a16="http://schemas.microsoft.com/office/drawing/2014/main" id="{EAEFA319-3D0C-40DF-B131-C32E674266F0}"/>
                </a:ext>
              </a:extLst>
            </p:cNvPr>
            <p:cNvCxnSpPr/>
            <p:nvPr/>
          </p:nvCxnSpPr>
          <p:spPr>
            <a:xfrm rot="5400000" flipH="1" flipV="1">
              <a:off x="2773029" y="3208072"/>
              <a:ext cx="71437"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5" name="직선 연결선 164">
              <a:extLst>
                <a:ext uri="{FF2B5EF4-FFF2-40B4-BE49-F238E27FC236}">
                  <a16:creationId xmlns:a16="http://schemas.microsoft.com/office/drawing/2014/main" id="{4F6BFCF0-85C4-47CB-B577-BAF115C00B5C}"/>
                </a:ext>
              </a:extLst>
            </p:cNvPr>
            <p:cNvCxnSpPr/>
            <p:nvPr/>
          </p:nvCxnSpPr>
          <p:spPr>
            <a:xfrm rot="5400000">
              <a:off x="2893679" y="3206484"/>
              <a:ext cx="71437"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6" name="직선 연결선 165">
              <a:extLst>
                <a:ext uri="{FF2B5EF4-FFF2-40B4-BE49-F238E27FC236}">
                  <a16:creationId xmlns:a16="http://schemas.microsoft.com/office/drawing/2014/main" id="{CA8F2486-0D7F-4027-AF95-2FE5D3B51474}"/>
                </a:ext>
              </a:extLst>
            </p:cNvPr>
            <p:cNvCxnSpPr/>
            <p:nvPr/>
          </p:nvCxnSpPr>
          <p:spPr>
            <a:xfrm>
              <a:off x="2919872" y="3171559"/>
              <a:ext cx="144462"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7" name="직선 연결선 166">
              <a:extLst>
                <a:ext uri="{FF2B5EF4-FFF2-40B4-BE49-F238E27FC236}">
                  <a16:creationId xmlns:a16="http://schemas.microsoft.com/office/drawing/2014/main" id="{EEB8DB13-4561-4C47-A43C-AF5CA20AF91B}"/>
                </a:ext>
              </a:extLst>
            </p:cNvPr>
            <p:cNvCxnSpPr/>
            <p:nvPr/>
          </p:nvCxnSpPr>
          <p:spPr>
            <a:xfrm>
              <a:off x="2674604" y="3174734"/>
              <a:ext cx="144462"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8" name="직선 연결선 167">
              <a:extLst>
                <a:ext uri="{FF2B5EF4-FFF2-40B4-BE49-F238E27FC236}">
                  <a16:creationId xmlns:a16="http://schemas.microsoft.com/office/drawing/2014/main" id="{4C97262E-FB7F-4B84-B729-3A81EB9DD745}"/>
                </a:ext>
              </a:extLst>
            </p:cNvPr>
            <p:cNvCxnSpPr/>
            <p:nvPr/>
          </p:nvCxnSpPr>
          <p:spPr>
            <a:xfrm flipH="1" flipV="1">
              <a:off x="3689016" y="3747822"/>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9" name="직선 연결선 168">
              <a:extLst>
                <a:ext uri="{FF2B5EF4-FFF2-40B4-BE49-F238E27FC236}">
                  <a16:creationId xmlns:a16="http://schemas.microsoft.com/office/drawing/2014/main" id="{E823FCFC-08B9-47D1-BF5E-2CE0EBC91574}"/>
                </a:ext>
              </a:extLst>
            </p:cNvPr>
            <p:cNvCxnSpPr/>
            <p:nvPr/>
          </p:nvCxnSpPr>
          <p:spPr>
            <a:xfrm flipH="1" flipV="1">
              <a:off x="3900154" y="3741472"/>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0" name="직선 연결선 169">
              <a:extLst>
                <a:ext uri="{FF2B5EF4-FFF2-40B4-BE49-F238E27FC236}">
                  <a16:creationId xmlns:a16="http://schemas.microsoft.com/office/drawing/2014/main" id="{C0D0D631-AE63-42B0-9529-272B27894A18}"/>
                </a:ext>
              </a:extLst>
            </p:cNvPr>
            <p:cNvCxnSpPr/>
            <p:nvPr/>
          </p:nvCxnSpPr>
          <p:spPr>
            <a:xfrm flipH="1" flipV="1">
              <a:off x="3692191" y="3154097"/>
              <a:ext cx="0" cy="46831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1" name="직선 연결선 170">
              <a:extLst>
                <a:ext uri="{FF2B5EF4-FFF2-40B4-BE49-F238E27FC236}">
                  <a16:creationId xmlns:a16="http://schemas.microsoft.com/office/drawing/2014/main" id="{760C1C31-854D-4C88-9A9B-CEEE0D15BC64}"/>
                </a:ext>
              </a:extLst>
            </p:cNvPr>
            <p:cNvCxnSpPr>
              <a:cxnSpLocks/>
              <a:stCxn id="7" idx="3"/>
            </p:cNvCxnSpPr>
            <p:nvPr/>
          </p:nvCxnSpPr>
          <p:spPr>
            <a:xfrm flipH="1" flipV="1">
              <a:off x="3893804" y="3471597"/>
              <a:ext cx="1752" cy="15539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2" name="직선 연결선 171">
              <a:extLst>
                <a:ext uri="{FF2B5EF4-FFF2-40B4-BE49-F238E27FC236}">
                  <a16:creationId xmlns:a16="http://schemas.microsoft.com/office/drawing/2014/main" id="{F808E88F-0881-4ED0-BB9B-B127C97BE220}"/>
                </a:ext>
              </a:extLst>
            </p:cNvPr>
            <p:cNvCxnSpPr/>
            <p:nvPr/>
          </p:nvCxnSpPr>
          <p:spPr>
            <a:xfrm>
              <a:off x="3044491" y="3169972"/>
              <a:ext cx="145415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3" name="직선 연결선 172">
              <a:extLst>
                <a:ext uri="{FF2B5EF4-FFF2-40B4-BE49-F238E27FC236}">
                  <a16:creationId xmlns:a16="http://schemas.microsoft.com/office/drawing/2014/main" id="{BE95F554-7474-4BBD-9CA0-54CFD0CF6C84}"/>
                </a:ext>
              </a:extLst>
            </p:cNvPr>
            <p:cNvCxnSpPr>
              <a:cxnSpLocks/>
            </p:cNvCxnSpPr>
            <p:nvPr/>
          </p:nvCxnSpPr>
          <p:spPr>
            <a:xfrm>
              <a:off x="2088356" y="3485884"/>
              <a:ext cx="911685"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4" name="직선 연결선 173">
              <a:extLst>
                <a:ext uri="{FF2B5EF4-FFF2-40B4-BE49-F238E27FC236}">
                  <a16:creationId xmlns:a16="http://schemas.microsoft.com/office/drawing/2014/main" id="{961CA148-B08B-48FB-BDD6-74E031102DB5}"/>
                </a:ext>
              </a:extLst>
            </p:cNvPr>
            <p:cNvCxnSpPr>
              <a:cxnSpLocks/>
            </p:cNvCxnSpPr>
            <p:nvPr/>
          </p:nvCxnSpPr>
          <p:spPr>
            <a:xfrm>
              <a:off x="2095500" y="3173147"/>
              <a:ext cx="660066"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5" name="직선 연결선 174">
              <a:extLst>
                <a:ext uri="{FF2B5EF4-FFF2-40B4-BE49-F238E27FC236}">
                  <a16:creationId xmlns:a16="http://schemas.microsoft.com/office/drawing/2014/main" id="{7FEB05F4-FD38-437B-84E9-8658790FF605}"/>
                </a:ext>
              </a:extLst>
            </p:cNvPr>
            <p:cNvCxnSpPr/>
            <p:nvPr/>
          </p:nvCxnSpPr>
          <p:spPr>
            <a:xfrm>
              <a:off x="3687429" y="3884347"/>
              <a:ext cx="2159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6" name="직선 연결선 175">
              <a:extLst>
                <a:ext uri="{FF2B5EF4-FFF2-40B4-BE49-F238E27FC236}">
                  <a16:creationId xmlns:a16="http://schemas.microsoft.com/office/drawing/2014/main" id="{D6D2FCD8-1D84-4BDE-8BCD-158B835EB8D7}"/>
                </a:ext>
              </a:extLst>
            </p:cNvPr>
            <p:cNvCxnSpPr>
              <a:cxnSpLocks/>
            </p:cNvCxnSpPr>
            <p:nvPr/>
          </p:nvCxnSpPr>
          <p:spPr>
            <a:xfrm>
              <a:off x="2863516" y="3317609"/>
              <a:ext cx="0" cy="473341"/>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7" name="직선 연결선 176">
              <a:extLst>
                <a:ext uri="{FF2B5EF4-FFF2-40B4-BE49-F238E27FC236}">
                  <a16:creationId xmlns:a16="http://schemas.microsoft.com/office/drawing/2014/main" id="{F25B3ACB-8311-4E7B-A898-0F17342B0E80}"/>
                </a:ext>
              </a:extLst>
            </p:cNvPr>
            <p:cNvCxnSpPr>
              <a:cxnSpLocks/>
            </p:cNvCxnSpPr>
            <p:nvPr/>
          </p:nvCxnSpPr>
          <p:spPr>
            <a:xfrm>
              <a:off x="2084054" y="3784335"/>
              <a:ext cx="779796"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8" name="직선 연결선 177">
              <a:extLst>
                <a:ext uri="{FF2B5EF4-FFF2-40B4-BE49-F238E27FC236}">
                  <a16:creationId xmlns:a16="http://schemas.microsoft.com/office/drawing/2014/main" id="{A1D3304C-EAE8-4744-B42B-3AADAE7F804F}"/>
                </a:ext>
              </a:extLst>
            </p:cNvPr>
            <p:cNvCxnSpPr>
              <a:cxnSpLocks/>
            </p:cNvCxnSpPr>
            <p:nvPr/>
          </p:nvCxnSpPr>
          <p:spPr>
            <a:xfrm>
              <a:off x="2084054" y="3960546"/>
              <a:ext cx="1071102"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79" name="TextBox 304">
              <a:extLst>
                <a:ext uri="{FF2B5EF4-FFF2-40B4-BE49-F238E27FC236}">
                  <a16:creationId xmlns:a16="http://schemas.microsoft.com/office/drawing/2014/main" id="{78CB69B0-11C5-443F-8C26-CDFA5E1BE3D1}"/>
                </a:ext>
              </a:extLst>
            </p:cNvPr>
            <p:cNvSpPr txBox="1"/>
            <p:nvPr/>
          </p:nvSpPr>
          <p:spPr>
            <a:xfrm>
              <a:off x="2099930" y="3806560"/>
              <a:ext cx="303212" cy="141287"/>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dirty="0">
                  <a:solidFill>
                    <a:schemeClr val="tx1"/>
                  </a:solidFill>
                </a:rPr>
                <a:t>GATE3</a:t>
              </a:r>
              <a:endParaRPr lang="ko-KR" altLang="en-US" sz="900" i="0" dirty="0">
                <a:solidFill>
                  <a:schemeClr val="tx1"/>
                </a:solidFill>
              </a:endParaRPr>
            </a:p>
          </p:txBody>
        </p:sp>
        <p:sp>
          <p:nvSpPr>
            <p:cNvPr id="180" name="TextBox 305">
              <a:extLst>
                <a:ext uri="{FF2B5EF4-FFF2-40B4-BE49-F238E27FC236}">
                  <a16:creationId xmlns:a16="http://schemas.microsoft.com/office/drawing/2014/main" id="{4E50C14E-1B64-4ED8-BDCC-D794D3D8518F}"/>
                </a:ext>
              </a:extLst>
            </p:cNvPr>
            <p:cNvSpPr txBox="1"/>
            <p:nvPr/>
          </p:nvSpPr>
          <p:spPr>
            <a:xfrm>
              <a:off x="2103104" y="3639872"/>
              <a:ext cx="303212" cy="141288"/>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GATE2</a:t>
              </a:r>
              <a:endParaRPr lang="ko-KR" altLang="en-US" sz="900" i="0">
                <a:solidFill>
                  <a:schemeClr val="tx1"/>
                </a:solidFill>
              </a:endParaRPr>
            </a:p>
          </p:txBody>
        </p:sp>
        <p:sp>
          <p:nvSpPr>
            <p:cNvPr id="181" name="TextBox 307">
              <a:extLst>
                <a:ext uri="{FF2B5EF4-FFF2-40B4-BE49-F238E27FC236}">
                  <a16:creationId xmlns:a16="http://schemas.microsoft.com/office/drawing/2014/main" id="{F1F0F222-135F-4F16-BBFF-EB362196D597}"/>
                </a:ext>
              </a:extLst>
            </p:cNvPr>
            <p:cNvSpPr txBox="1"/>
            <p:nvPr/>
          </p:nvSpPr>
          <p:spPr>
            <a:xfrm>
              <a:off x="2107867" y="3028684"/>
              <a:ext cx="303212" cy="139700"/>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dirty="0">
                  <a:solidFill>
                    <a:schemeClr val="tx1"/>
                  </a:solidFill>
                </a:rPr>
                <a:t>VLED2</a:t>
              </a:r>
              <a:endParaRPr lang="ko-KR" altLang="en-US" sz="900" i="0" dirty="0">
                <a:solidFill>
                  <a:schemeClr val="tx1"/>
                </a:solidFill>
              </a:endParaRPr>
            </a:p>
          </p:txBody>
        </p:sp>
        <p:cxnSp>
          <p:nvCxnSpPr>
            <p:cNvPr id="183" name="직선 연결선 182">
              <a:extLst>
                <a:ext uri="{FF2B5EF4-FFF2-40B4-BE49-F238E27FC236}">
                  <a16:creationId xmlns:a16="http://schemas.microsoft.com/office/drawing/2014/main" id="{61FD1772-7F9D-408B-8547-88C628923CBD}"/>
                </a:ext>
              </a:extLst>
            </p:cNvPr>
            <p:cNvCxnSpPr/>
            <p:nvPr/>
          </p:nvCxnSpPr>
          <p:spPr>
            <a:xfrm>
              <a:off x="4387516" y="3731947"/>
              <a:ext cx="195263"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5" name="직선 연결선 184">
              <a:extLst>
                <a:ext uri="{FF2B5EF4-FFF2-40B4-BE49-F238E27FC236}">
                  <a16:creationId xmlns:a16="http://schemas.microsoft.com/office/drawing/2014/main" id="{D3C180BE-049D-4C92-89A5-5298B3399DD5}"/>
                </a:ext>
              </a:extLst>
            </p:cNvPr>
            <p:cNvCxnSpPr/>
            <p:nvPr/>
          </p:nvCxnSpPr>
          <p:spPr>
            <a:xfrm>
              <a:off x="4605004" y="3728772"/>
              <a:ext cx="19526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6" name="직선 연결선 185">
              <a:extLst>
                <a:ext uri="{FF2B5EF4-FFF2-40B4-BE49-F238E27FC236}">
                  <a16:creationId xmlns:a16="http://schemas.microsoft.com/office/drawing/2014/main" id="{0D309DB4-05E8-406C-8600-403F8158C4F7}"/>
                </a:ext>
              </a:extLst>
            </p:cNvPr>
            <p:cNvCxnSpPr/>
            <p:nvPr/>
          </p:nvCxnSpPr>
          <p:spPr>
            <a:xfrm flipH="1" flipV="1">
              <a:off x="4484354" y="3741472"/>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7" name="직선 연결선 186">
              <a:extLst>
                <a:ext uri="{FF2B5EF4-FFF2-40B4-BE49-F238E27FC236}">
                  <a16:creationId xmlns:a16="http://schemas.microsoft.com/office/drawing/2014/main" id="{F2159A39-6694-4490-B805-ACF70BDD75B8}"/>
                </a:ext>
              </a:extLst>
            </p:cNvPr>
            <p:cNvCxnSpPr/>
            <p:nvPr/>
          </p:nvCxnSpPr>
          <p:spPr>
            <a:xfrm flipH="1" flipV="1">
              <a:off x="4700254" y="3735122"/>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8" name="직선 연결선 187">
              <a:extLst>
                <a:ext uri="{FF2B5EF4-FFF2-40B4-BE49-F238E27FC236}">
                  <a16:creationId xmlns:a16="http://schemas.microsoft.com/office/drawing/2014/main" id="{5BADCDEC-C116-4FCD-BEF1-AFF28B51770B}"/>
                </a:ext>
              </a:extLst>
            </p:cNvPr>
            <p:cNvCxnSpPr/>
            <p:nvPr/>
          </p:nvCxnSpPr>
          <p:spPr>
            <a:xfrm flipH="1" flipV="1">
              <a:off x="4485941" y="3165209"/>
              <a:ext cx="0" cy="4667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9" name="직선 연결선 188">
              <a:extLst>
                <a:ext uri="{FF2B5EF4-FFF2-40B4-BE49-F238E27FC236}">
                  <a16:creationId xmlns:a16="http://schemas.microsoft.com/office/drawing/2014/main" id="{291C247C-402C-46D5-93A3-400C480A0C57}"/>
                </a:ext>
              </a:extLst>
            </p:cNvPr>
            <p:cNvCxnSpPr/>
            <p:nvPr/>
          </p:nvCxnSpPr>
          <p:spPr>
            <a:xfrm>
              <a:off x="4490704" y="3877997"/>
              <a:ext cx="2159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90" name="TextBox 322">
              <a:extLst>
                <a:ext uri="{FF2B5EF4-FFF2-40B4-BE49-F238E27FC236}">
                  <a16:creationId xmlns:a16="http://schemas.microsoft.com/office/drawing/2014/main" id="{AA4888EE-DD4A-4779-9958-7B49C6FB0296}"/>
                </a:ext>
              </a:extLst>
            </p:cNvPr>
            <p:cNvSpPr txBox="1"/>
            <p:nvPr/>
          </p:nvSpPr>
          <p:spPr>
            <a:xfrm>
              <a:off x="3716004" y="4141522"/>
              <a:ext cx="193675" cy="139700"/>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CHx</a:t>
              </a:r>
              <a:endParaRPr lang="ko-KR" altLang="en-US" sz="900" i="0">
                <a:solidFill>
                  <a:schemeClr val="tx1"/>
                </a:solidFill>
              </a:endParaRPr>
            </a:p>
          </p:txBody>
        </p:sp>
        <p:sp>
          <p:nvSpPr>
            <p:cNvPr id="191" name="타원 190">
              <a:extLst>
                <a:ext uri="{FF2B5EF4-FFF2-40B4-BE49-F238E27FC236}">
                  <a16:creationId xmlns:a16="http://schemas.microsoft.com/office/drawing/2014/main" id="{0915C87B-391B-4D7A-8F2B-36ED38B881DE}"/>
                </a:ext>
              </a:extLst>
            </p:cNvPr>
            <p:cNvSpPr/>
            <p:nvPr/>
          </p:nvSpPr>
          <p:spPr>
            <a:xfrm>
              <a:off x="3862054" y="3454134"/>
              <a:ext cx="71437" cy="7143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192" name="타원 191">
              <a:extLst>
                <a:ext uri="{FF2B5EF4-FFF2-40B4-BE49-F238E27FC236}">
                  <a16:creationId xmlns:a16="http://schemas.microsoft.com/office/drawing/2014/main" id="{E5AA5503-B23A-4DC8-9979-7305D93E3FDA}"/>
                </a:ext>
              </a:extLst>
            </p:cNvPr>
            <p:cNvSpPr/>
            <p:nvPr/>
          </p:nvSpPr>
          <p:spPr>
            <a:xfrm>
              <a:off x="3657266" y="3141397"/>
              <a:ext cx="71438" cy="7143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193" name="타원 192">
              <a:extLst>
                <a:ext uri="{FF2B5EF4-FFF2-40B4-BE49-F238E27FC236}">
                  <a16:creationId xmlns:a16="http://schemas.microsoft.com/office/drawing/2014/main" id="{68BE00A5-34DE-464B-B0EC-D72277752AEB}"/>
                </a:ext>
              </a:extLst>
            </p:cNvPr>
            <p:cNvSpPr/>
            <p:nvPr/>
          </p:nvSpPr>
          <p:spPr>
            <a:xfrm>
              <a:off x="3760454" y="3854184"/>
              <a:ext cx="73025" cy="7143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194" name="타원 193">
              <a:extLst>
                <a:ext uri="{FF2B5EF4-FFF2-40B4-BE49-F238E27FC236}">
                  <a16:creationId xmlns:a16="http://schemas.microsoft.com/office/drawing/2014/main" id="{B46A3F26-F6FE-4A03-A4C8-0727B49793BD}"/>
                </a:ext>
              </a:extLst>
            </p:cNvPr>
            <p:cNvSpPr/>
            <p:nvPr/>
          </p:nvSpPr>
          <p:spPr>
            <a:xfrm>
              <a:off x="4563729" y="3852597"/>
              <a:ext cx="73025" cy="7143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cxnSp>
          <p:nvCxnSpPr>
            <p:cNvPr id="195" name="직선 연결선 194">
              <a:extLst>
                <a:ext uri="{FF2B5EF4-FFF2-40B4-BE49-F238E27FC236}">
                  <a16:creationId xmlns:a16="http://schemas.microsoft.com/office/drawing/2014/main" id="{039BF9F0-1E14-4936-969C-F7DB0D21C198}"/>
                </a:ext>
              </a:extLst>
            </p:cNvPr>
            <p:cNvCxnSpPr/>
            <p:nvPr/>
          </p:nvCxnSpPr>
          <p:spPr>
            <a:xfrm flipV="1">
              <a:off x="4690729" y="3481122"/>
              <a:ext cx="0" cy="1397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6" name="직선 연결선 195">
              <a:extLst>
                <a:ext uri="{FF2B5EF4-FFF2-40B4-BE49-F238E27FC236}">
                  <a16:creationId xmlns:a16="http://schemas.microsoft.com/office/drawing/2014/main" id="{17F5A7D1-5D5C-47FA-B803-D25A4CBE0C28}"/>
                </a:ext>
              </a:extLst>
            </p:cNvPr>
            <p:cNvCxnSpPr/>
            <p:nvPr/>
          </p:nvCxnSpPr>
          <p:spPr>
            <a:xfrm flipH="1" flipV="1">
              <a:off x="4605004" y="3887522"/>
              <a:ext cx="0" cy="2159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7" name="직선 연결선 196">
              <a:extLst>
                <a:ext uri="{FF2B5EF4-FFF2-40B4-BE49-F238E27FC236}">
                  <a16:creationId xmlns:a16="http://schemas.microsoft.com/office/drawing/2014/main" id="{B64CB180-AF11-4785-AAFC-9F7553BCD43D}"/>
                </a:ext>
              </a:extLst>
            </p:cNvPr>
            <p:cNvCxnSpPr/>
            <p:nvPr/>
          </p:nvCxnSpPr>
          <p:spPr>
            <a:xfrm flipH="1" flipV="1">
              <a:off x="3800141" y="3885934"/>
              <a:ext cx="0" cy="2159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98" name="TextBox 332">
              <a:extLst>
                <a:ext uri="{FF2B5EF4-FFF2-40B4-BE49-F238E27FC236}">
                  <a16:creationId xmlns:a16="http://schemas.microsoft.com/office/drawing/2014/main" id="{10935529-A36A-4B3E-8F1D-EEEBC62C0404}"/>
                </a:ext>
              </a:extLst>
            </p:cNvPr>
            <p:cNvSpPr txBox="1"/>
            <p:nvPr/>
          </p:nvSpPr>
          <p:spPr>
            <a:xfrm>
              <a:off x="4514516" y="4144697"/>
              <a:ext cx="195263" cy="138112"/>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CHy</a:t>
              </a:r>
              <a:endParaRPr lang="ko-KR" altLang="en-US" sz="900" i="0">
                <a:solidFill>
                  <a:schemeClr val="tx1"/>
                </a:solidFill>
              </a:endParaRPr>
            </a:p>
          </p:txBody>
        </p:sp>
        <p:sp>
          <p:nvSpPr>
            <p:cNvPr id="199" name="TextBox 333">
              <a:extLst>
                <a:ext uri="{FF2B5EF4-FFF2-40B4-BE49-F238E27FC236}">
                  <a16:creationId xmlns:a16="http://schemas.microsoft.com/office/drawing/2014/main" id="{9E021A76-AF64-4607-8547-DB0A704CDB98}"/>
                </a:ext>
              </a:extLst>
            </p:cNvPr>
            <p:cNvSpPr txBox="1"/>
            <p:nvPr/>
          </p:nvSpPr>
          <p:spPr>
            <a:xfrm>
              <a:off x="3174666" y="2622284"/>
              <a:ext cx="671513" cy="171450"/>
            </a:xfrm>
            <a:prstGeom prst="rect">
              <a:avLst/>
            </a:prstGeom>
            <a:no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1100" b="0" i="0" dirty="0" err="1">
                  <a:solidFill>
                    <a:schemeClr val="tx1"/>
                  </a:solidFill>
                </a:rPr>
                <a:t>ld_type</a:t>
              </a:r>
              <a:r>
                <a:rPr lang="en-US" altLang="ko-KR" sz="1100" b="0" i="0" baseline="0" dirty="0">
                  <a:solidFill>
                    <a:schemeClr val="tx1"/>
                  </a:solidFill>
                </a:rPr>
                <a:t> = 11</a:t>
              </a:r>
              <a:endParaRPr lang="ko-KR" altLang="en-US" sz="1100" b="0" i="0" dirty="0">
                <a:solidFill>
                  <a:schemeClr val="tx1"/>
                </a:solidFill>
              </a:endParaRPr>
            </a:p>
          </p:txBody>
        </p:sp>
        <p:sp>
          <p:nvSpPr>
            <p:cNvPr id="200" name="직사각형 199">
              <a:extLst>
                <a:ext uri="{FF2B5EF4-FFF2-40B4-BE49-F238E27FC236}">
                  <a16:creationId xmlns:a16="http://schemas.microsoft.com/office/drawing/2014/main" id="{5F82EEB1-3794-484B-AABD-66142DB7366B}"/>
                </a:ext>
              </a:extLst>
            </p:cNvPr>
            <p:cNvSpPr/>
            <p:nvPr/>
          </p:nvSpPr>
          <p:spPr>
            <a:xfrm>
              <a:off x="1893554" y="2519097"/>
              <a:ext cx="3265487" cy="23876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01" name="TextBox 335">
              <a:extLst>
                <a:ext uri="{FF2B5EF4-FFF2-40B4-BE49-F238E27FC236}">
                  <a16:creationId xmlns:a16="http://schemas.microsoft.com/office/drawing/2014/main" id="{B143AB77-C086-467C-A34C-487D8E8E53D8}"/>
                </a:ext>
              </a:extLst>
            </p:cNvPr>
            <p:cNvSpPr txBox="1"/>
            <p:nvPr/>
          </p:nvSpPr>
          <p:spPr>
            <a:xfrm>
              <a:off x="4070016" y="4427272"/>
              <a:ext cx="352425" cy="155575"/>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1000" b="1" i="0" dirty="0">
                  <a:solidFill>
                    <a:schemeClr val="tx1"/>
                  </a:solidFill>
                </a:rPr>
                <a:t>XD12R</a:t>
              </a:r>
              <a:endParaRPr lang="ko-KR" altLang="en-US" sz="1000" b="1" i="0" dirty="0">
                <a:solidFill>
                  <a:schemeClr val="tx1"/>
                </a:solidFill>
              </a:endParaRPr>
            </a:p>
          </p:txBody>
        </p:sp>
        <p:sp>
          <p:nvSpPr>
            <p:cNvPr id="208" name="직사각형 207">
              <a:extLst>
                <a:ext uri="{FF2B5EF4-FFF2-40B4-BE49-F238E27FC236}">
                  <a16:creationId xmlns:a16="http://schemas.microsoft.com/office/drawing/2014/main" id="{E38BC94A-3E5E-4809-A6D8-62A931599D61}"/>
                </a:ext>
              </a:extLst>
            </p:cNvPr>
            <p:cNvSpPr/>
            <p:nvPr/>
          </p:nvSpPr>
          <p:spPr>
            <a:xfrm>
              <a:off x="3582654" y="3344597"/>
              <a:ext cx="203200" cy="741362"/>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09" name="직사각형 208">
              <a:extLst>
                <a:ext uri="{FF2B5EF4-FFF2-40B4-BE49-F238E27FC236}">
                  <a16:creationId xmlns:a16="http://schemas.microsoft.com/office/drawing/2014/main" id="{BC4B5635-4290-441D-A051-126ABD000355}"/>
                </a:ext>
              </a:extLst>
            </p:cNvPr>
            <p:cNvSpPr/>
            <p:nvPr/>
          </p:nvSpPr>
          <p:spPr>
            <a:xfrm>
              <a:off x="3816016" y="3339834"/>
              <a:ext cx="203200" cy="741363"/>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10" name="직사각형 209">
              <a:extLst>
                <a:ext uri="{FF2B5EF4-FFF2-40B4-BE49-F238E27FC236}">
                  <a16:creationId xmlns:a16="http://schemas.microsoft.com/office/drawing/2014/main" id="{1FAD1472-E6E5-4368-ABF8-D57B78CAB884}"/>
                </a:ext>
              </a:extLst>
            </p:cNvPr>
            <p:cNvSpPr/>
            <p:nvPr/>
          </p:nvSpPr>
          <p:spPr>
            <a:xfrm>
              <a:off x="4382754" y="3336659"/>
              <a:ext cx="203200" cy="739775"/>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11" name="직사각형 210">
              <a:extLst>
                <a:ext uri="{FF2B5EF4-FFF2-40B4-BE49-F238E27FC236}">
                  <a16:creationId xmlns:a16="http://schemas.microsoft.com/office/drawing/2014/main" id="{88DA3553-BA70-468B-9A7F-6BCF0E6F4B11}"/>
                </a:ext>
              </a:extLst>
            </p:cNvPr>
            <p:cNvSpPr/>
            <p:nvPr/>
          </p:nvSpPr>
          <p:spPr>
            <a:xfrm>
              <a:off x="4614529" y="3331897"/>
              <a:ext cx="203200" cy="741362"/>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6" name="이등변 삼각형 5">
              <a:extLst>
                <a:ext uri="{FF2B5EF4-FFF2-40B4-BE49-F238E27FC236}">
                  <a16:creationId xmlns:a16="http://schemas.microsoft.com/office/drawing/2014/main" id="{150857CF-1113-9ACE-F22E-CFC03DC4DC20}"/>
                </a:ext>
              </a:extLst>
            </p:cNvPr>
            <p:cNvSpPr/>
            <p:nvPr/>
          </p:nvSpPr>
          <p:spPr>
            <a:xfrm rot="10800000">
              <a:off x="3607134" y="3625688"/>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 name="이등변 삼각형 6">
              <a:extLst>
                <a:ext uri="{FF2B5EF4-FFF2-40B4-BE49-F238E27FC236}">
                  <a16:creationId xmlns:a16="http://schemas.microsoft.com/office/drawing/2014/main" id="{4ABF4214-B15C-07B7-35E6-2BA7EA64BBDC}"/>
                </a:ext>
              </a:extLst>
            </p:cNvPr>
            <p:cNvSpPr/>
            <p:nvPr/>
          </p:nvSpPr>
          <p:spPr>
            <a:xfrm rot="10800000">
              <a:off x="3812840" y="3626995"/>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4" name="이등변 삼각형 13">
              <a:extLst>
                <a:ext uri="{FF2B5EF4-FFF2-40B4-BE49-F238E27FC236}">
                  <a16:creationId xmlns:a16="http://schemas.microsoft.com/office/drawing/2014/main" id="{B1D03DB8-94C5-0FB1-D437-1ABBB619A9DD}"/>
                </a:ext>
              </a:extLst>
            </p:cNvPr>
            <p:cNvSpPr/>
            <p:nvPr/>
          </p:nvSpPr>
          <p:spPr>
            <a:xfrm rot="10800000">
              <a:off x="4408349" y="3624194"/>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5" name="이등변 삼각형 14">
              <a:extLst>
                <a:ext uri="{FF2B5EF4-FFF2-40B4-BE49-F238E27FC236}">
                  <a16:creationId xmlns:a16="http://schemas.microsoft.com/office/drawing/2014/main" id="{2A3E5386-2F98-10E5-912A-48B03AEE7E7F}"/>
                </a:ext>
              </a:extLst>
            </p:cNvPr>
            <p:cNvSpPr/>
            <p:nvPr/>
          </p:nvSpPr>
          <p:spPr>
            <a:xfrm rot="10800000">
              <a:off x="4608972" y="3623351"/>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1" name="TextBox 307">
              <a:extLst>
                <a:ext uri="{FF2B5EF4-FFF2-40B4-BE49-F238E27FC236}">
                  <a16:creationId xmlns:a16="http://schemas.microsoft.com/office/drawing/2014/main" id="{969F02CC-5D75-5C8E-DEFE-503942FAA63B}"/>
                </a:ext>
              </a:extLst>
            </p:cNvPr>
            <p:cNvSpPr txBox="1"/>
            <p:nvPr/>
          </p:nvSpPr>
          <p:spPr>
            <a:xfrm>
              <a:off x="2111042" y="3336501"/>
              <a:ext cx="303212" cy="139700"/>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dirty="0">
                  <a:solidFill>
                    <a:schemeClr val="tx1"/>
                  </a:solidFill>
                </a:rPr>
                <a:t>VLED</a:t>
              </a:r>
              <a:r>
                <a:rPr lang="en-US" altLang="ko-KR" sz="900" dirty="0"/>
                <a:t>3</a:t>
              </a:r>
              <a:endParaRPr lang="ko-KR" altLang="en-US" sz="900" i="0" dirty="0">
                <a:solidFill>
                  <a:schemeClr val="tx1"/>
                </a:solidFill>
              </a:endParaRPr>
            </a:p>
          </p:txBody>
        </p:sp>
      </p:grpSp>
      <p:pic>
        <p:nvPicPr>
          <p:cNvPr id="5" name="그림 4">
            <a:extLst>
              <a:ext uri="{FF2B5EF4-FFF2-40B4-BE49-F238E27FC236}">
                <a16:creationId xmlns:a16="http://schemas.microsoft.com/office/drawing/2014/main" id="{C57F3E05-7066-5405-13B8-3D122A0C404D}"/>
              </a:ext>
            </a:extLst>
          </p:cNvPr>
          <p:cNvPicPr>
            <a:picLocks noChangeAspect="1"/>
          </p:cNvPicPr>
          <p:nvPr/>
        </p:nvPicPr>
        <p:blipFill>
          <a:blip r:embed="rId2"/>
          <a:stretch>
            <a:fillRect/>
          </a:stretch>
        </p:blipFill>
        <p:spPr>
          <a:xfrm>
            <a:off x="355541" y="5438509"/>
            <a:ext cx="6040456" cy="1822627"/>
          </a:xfrm>
          <a:prstGeom prst="rect">
            <a:avLst/>
          </a:prstGeom>
        </p:spPr>
      </p:pic>
    </p:spTree>
    <p:extLst>
      <p:ext uri="{BB962C8B-B14F-4D97-AF65-F5344CB8AC3E}">
        <p14:creationId xmlns:p14="http://schemas.microsoft.com/office/powerpoint/2010/main" val="6226986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직선 연결선 1">
            <a:extLst>
              <a:ext uri="{FF2B5EF4-FFF2-40B4-BE49-F238E27FC236}">
                <a16:creationId xmlns:a16="http://schemas.microsoft.com/office/drawing/2014/main" id="{3458FFB0-B6F0-2FD8-80EC-7FADADDF99A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DB9F162-70BE-F551-51CA-40B5A616747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F4EC071F-5694-778B-2A03-691360296A13}"/>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8" name="TextBox 7">
            <a:extLst>
              <a:ext uri="{FF2B5EF4-FFF2-40B4-BE49-F238E27FC236}">
                <a16:creationId xmlns:a16="http://schemas.microsoft.com/office/drawing/2014/main" id="{2F68EC2E-6D6A-88F3-F654-3B39993E2D58}"/>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PARITY</a:t>
            </a:r>
          </a:p>
        </p:txBody>
      </p:sp>
      <p:sp>
        <p:nvSpPr>
          <p:cNvPr id="11" name="TextBox 10">
            <a:extLst>
              <a:ext uri="{FF2B5EF4-FFF2-40B4-BE49-F238E27FC236}">
                <a16:creationId xmlns:a16="http://schemas.microsoft.com/office/drawing/2014/main" id="{ECDE530E-4B35-5CB9-8B11-D4C9AC9300E9}"/>
              </a:ext>
            </a:extLst>
          </p:cNvPr>
          <p:cNvSpPr txBox="1"/>
          <p:nvPr/>
        </p:nvSpPr>
        <p:spPr>
          <a:xfrm>
            <a:off x="490104" y="1594666"/>
            <a:ext cx="6047999" cy="153888"/>
          </a:xfrm>
          <a:prstGeom prst="rect">
            <a:avLst/>
          </a:prstGeom>
          <a:noFill/>
        </p:spPr>
        <p:txBody>
          <a:bodyPr wrap="square" lIns="0" tIns="0" rIns="36000" bIns="0" rtlCol="0">
            <a:spAutoFit/>
          </a:bodyPr>
          <a:lstStyle/>
          <a:p>
            <a:r>
              <a:rPr lang="en-US" altLang="ko-KR" sz="1000" dirty="0">
                <a:latin typeface="Arial" panose="020B0604020202020204" pitchFamily="34" charset="0"/>
                <a:cs typeface="Arial" panose="020B0604020202020204" pitchFamily="34" charset="0"/>
              </a:rPr>
              <a:t>The XDR12 supports parity function for interface communication with XCR.</a:t>
            </a:r>
            <a:endParaRPr lang="ko-KR" altLang="en-US" sz="1000" dirty="0">
              <a:latin typeface="Arial" panose="020B0604020202020204" pitchFamily="34" charset="0"/>
              <a:cs typeface="Arial" panose="020B0604020202020204" pitchFamily="34" charset="0"/>
            </a:endParaRPr>
          </a:p>
        </p:txBody>
      </p:sp>
      <p:pic>
        <p:nvPicPr>
          <p:cNvPr id="12" name="그림 11">
            <a:extLst>
              <a:ext uri="{FF2B5EF4-FFF2-40B4-BE49-F238E27FC236}">
                <a16:creationId xmlns:a16="http://schemas.microsoft.com/office/drawing/2014/main" id="{5E235F77-3F91-FB91-5E1C-01F86FFBAB44}"/>
              </a:ext>
            </a:extLst>
          </p:cNvPr>
          <p:cNvPicPr>
            <a:picLocks noChangeAspect="1"/>
          </p:cNvPicPr>
          <p:nvPr/>
        </p:nvPicPr>
        <p:blipFill>
          <a:blip r:embed="rId2"/>
          <a:stretch>
            <a:fillRect/>
          </a:stretch>
        </p:blipFill>
        <p:spPr>
          <a:xfrm>
            <a:off x="490104" y="3286751"/>
            <a:ext cx="5772150" cy="1905106"/>
          </a:xfrm>
          <a:prstGeom prst="rect">
            <a:avLst/>
          </a:prstGeom>
        </p:spPr>
      </p:pic>
      <p:graphicFrame>
        <p:nvGraphicFramePr>
          <p:cNvPr id="13" name="표 12">
            <a:extLst>
              <a:ext uri="{FF2B5EF4-FFF2-40B4-BE49-F238E27FC236}">
                <a16:creationId xmlns:a16="http://schemas.microsoft.com/office/drawing/2014/main" id="{973210F2-927B-78FE-9ED6-5E3C63BB0526}"/>
              </a:ext>
            </a:extLst>
          </p:cNvPr>
          <p:cNvGraphicFramePr>
            <a:graphicFrameLocks noGrp="1"/>
          </p:cNvGraphicFramePr>
          <p:nvPr>
            <p:extLst>
              <p:ext uri="{D42A27DB-BD31-4B8C-83A1-F6EECF244321}">
                <p14:modId xmlns:p14="http://schemas.microsoft.com/office/powerpoint/2010/main" val="2835225128"/>
              </p:ext>
            </p:extLst>
          </p:nvPr>
        </p:nvGraphicFramePr>
        <p:xfrm>
          <a:off x="540904" y="1897436"/>
          <a:ext cx="5170486" cy="998189"/>
        </p:xfrm>
        <a:graphic>
          <a:graphicData uri="http://schemas.openxmlformats.org/drawingml/2006/table">
            <a:tbl>
              <a:tblPr/>
              <a:tblGrid>
                <a:gridCol w="837472">
                  <a:extLst>
                    <a:ext uri="{9D8B030D-6E8A-4147-A177-3AD203B41FA5}">
                      <a16:colId xmlns:a16="http://schemas.microsoft.com/office/drawing/2014/main" val="1029587374"/>
                    </a:ext>
                  </a:extLst>
                </a:gridCol>
                <a:gridCol w="4333014">
                  <a:extLst>
                    <a:ext uri="{9D8B030D-6E8A-4147-A177-3AD203B41FA5}">
                      <a16:colId xmlns:a16="http://schemas.microsoft.com/office/drawing/2014/main" val="3325282042"/>
                    </a:ext>
                  </a:extLst>
                </a:gridCol>
              </a:tblGrid>
              <a:tr h="251222">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TYPE</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EVEN PARITY</a:t>
                      </a:r>
                      <a:br>
                        <a:rPr lang="en-US" sz="700" b="0" i="0" u="none" strike="noStrike" dirty="0">
                          <a:solidFill>
                            <a:srgbClr val="000000"/>
                          </a:solidFill>
                          <a:effectLst/>
                          <a:latin typeface="맑은 고딕" panose="020B0503020000020004" pitchFamily="50" charset="-127"/>
                          <a:ea typeface="맑은 고딕" panose="020B0503020000020004" pitchFamily="50" charset="-127"/>
                        </a:rPr>
                      </a:br>
                      <a:r>
                        <a:rPr lang="en-US" sz="700" b="0" i="0" u="none" strike="noStrike" dirty="0">
                          <a:solidFill>
                            <a:srgbClr val="000000"/>
                          </a:solidFill>
                          <a:effectLst/>
                          <a:latin typeface="맑은 고딕" panose="020B0503020000020004" pitchFamily="50" charset="-127"/>
                          <a:ea typeface="맑은 고딕" panose="020B0503020000020004" pitchFamily="50" charset="-127"/>
                        </a:rPr>
                        <a:t>  If the number of 1s in the data bits is odd, the parity bit is set to 1.</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89266691"/>
                  </a:ext>
                </a:extLst>
              </a:tr>
              <a:tr h="251222">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COMMAND</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Supporting all commands except LD transfer command.</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43878742"/>
                  </a:ext>
                </a:extLst>
              </a:tr>
              <a:tr h="264621">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RANGE</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All area of protocol.</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20416695"/>
                  </a:ext>
                </a:extLst>
              </a:tr>
              <a:tr h="231124">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FAIL</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If the parity does not match, the command is not executed (daisy transmission is stopped).</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75332959"/>
                  </a:ext>
                </a:extLst>
              </a:tr>
            </a:tbl>
          </a:graphicData>
        </a:graphic>
      </p:graphicFrame>
      <p:sp>
        <p:nvSpPr>
          <p:cNvPr id="17" name="TextBox 16">
            <a:extLst>
              <a:ext uri="{FF2B5EF4-FFF2-40B4-BE49-F238E27FC236}">
                <a16:creationId xmlns:a16="http://schemas.microsoft.com/office/drawing/2014/main" id="{D9FF05F8-9EC7-524D-6660-F6A5697CC635}"/>
              </a:ext>
            </a:extLst>
          </p:cNvPr>
          <p:cNvSpPr txBox="1"/>
          <p:nvPr/>
        </p:nvSpPr>
        <p:spPr>
          <a:xfrm>
            <a:off x="1778829" y="5379783"/>
            <a:ext cx="2962349"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Figure 9. Serial communication protocol @ PC_EN = 1</a:t>
            </a:r>
          </a:p>
        </p:txBody>
      </p:sp>
    </p:spTree>
    <p:extLst>
      <p:ext uri="{BB962C8B-B14F-4D97-AF65-F5344CB8AC3E}">
        <p14:creationId xmlns:p14="http://schemas.microsoft.com/office/powerpoint/2010/main" val="23982227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DCDE7-F036-7AEB-F862-1E9B2753CF05}"/>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CC734C2C-C775-DD91-36D0-78C0784EF61F}"/>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5D4E264-41CE-36C3-B448-4190ED192D1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6437D930-8BF7-2AA4-0B38-D1EEDD4D4804}"/>
              </a:ext>
            </a:extLst>
          </p:cNvPr>
          <p:cNvSpPr txBox="1"/>
          <p:nvPr/>
        </p:nvSpPr>
        <p:spPr>
          <a:xfrm>
            <a:off x="399458" y="805287"/>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3" name="TextBox 22">
            <a:extLst>
              <a:ext uri="{FF2B5EF4-FFF2-40B4-BE49-F238E27FC236}">
                <a16:creationId xmlns:a16="http://schemas.microsoft.com/office/drawing/2014/main" id="{2B70C311-8E98-9CA9-0282-CAD80FD2FE72}"/>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Transition a frame frequency without a flicker</a:t>
            </a:r>
          </a:p>
        </p:txBody>
      </p:sp>
      <p:sp>
        <p:nvSpPr>
          <p:cNvPr id="4" name="TextBox 3">
            <a:extLst>
              <a:ext uri="{FF2B5EF4-FFF2-40B4-BE49-F238E27FC236}">
                <a16:creationId xmlns:a16="http://schemas.microsoft.com/office/drawing/2014/main" id="{D2F07B5C-E692-1E42-5911-D5D134A5863B}"/>
              </a:ext>
            </a:extLst>
          </p:cNvPr>
          <p:cNvSpPr txBox="1"/>
          <p:nvPr/>
        </p:nvSpPr>
        <p:spPr>
          <a:xfrm rot="5400000">
            <a:off x="3221778" y="5361972"/>
            <a:ext cx="1330172" cy="135550"/>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10.  PWM 12-bit</a:t>
            </a:r>
          </a:p>
        </p:txBody>
      </p:sp>
      <p:sp>
        <p:nvSpPr>
          <p:cNvPr id="5" name="TextBox 4">
            <a:extLst>
              <a:ext uri="{FF2B5EF4-FFF2-40B4-BE49-F238E27FC236}">
                <a16:creationId xmlns:a16="http://schemas.microsoft.com/office/drawing/2014/main" id="{693FC28B-BC73-02A4-A3D1-4A26BDC34F13}"/>
              </a:ext>
            </a:extLst>
          </p:cNvPr>
          <p:cNvSpPr txBox="1"/>
          <p:nvPr/>
        </p:nvSpPr>
        <p:spPr>
          <a:xfrm rot="5400000">
            <a:off x="105157" y="5361972"/>
            <a:ext cx="1330172" cy="135550"/>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11.  PWM 14-bit</a:t>
            </a:r>
          </a:p>
        </p:txBody>
      </p:sp>
      <p:pic>
        <p:nvPicPr>
          <p:cNvPr id="8" name="그림 7">
            <a:extLst>
              <a:ext uri="{FF2B5EF4-FFF2-40B4-BE49-F238E27FC236}">
                <a16:creationId xmlns:a16="http://schemas.microsoft.com/office/drawing/2014/main" id="{46B0A560-C425-D61E-2DD0-6F0CAF7618C0}"/>
              </a:ext>
            </a:extLst>
          </p:cNvPr>
          <p:cNvPicPr>
            <a:picLocks noChangeAspect="1"/>
          </p:cNvPicPr>
          <p:nvPr/>
        </p:nvPicPr>
        <p:blipFill>
          <a:blip r:embed="rId2"/>
          <a:stretch>
            <a:fillRect/>
          </a:stretch>
        </p:blipFill>
        <p:spPr>
          <a:xfrm rot="5400000">
            <a:off x="1634066" y="4080887"/>
            <a:ext cx="6858000" cy="2061179"/>
          </a:xfrm>
          <a:prstGeom prst="rect">
            <a:avLst/>
          </a:prstGeom>
        </p:spPr>
      </p:pic>
      <p:pic>
        <p:nvPicPr>
          <p:cNvPr id="11" name="그림 10">
            <a:extLst>
              <a:ext uri="{FF2B5EF4-FFF2-40B4-BE49-F238E27FC236}">
                <a16:creationId xmlns:a16="http://schemas.microsoft.com/office/drawing/2014/main" id="{9C79266A-4AC6-7389-2018-727D41ED42D5}"/>
              </a:ext>
            </a:extLst>
          </p:cNvPr>
          <p:cNvPicPr>
            <a:picLocks noChangeAspect="1"/>
          </p:cNvPicPr>
          <p:nvPr/>
        </p:nvPicPr>
        <p:blipFill>
          <a:blip r:embed="rId3"/>
          <a:stretch>
            <a:fillRect/>
          </a:stretch>
        </p:blipFill>
        <p:spPr>
          <a:xfrm rot="5400000">
            <a:off x="-1401234" y="3998535"/>
            <a:ext cx="6858000" cy="2162930"/>
          </a:xfrm>
          <a:prstGeom prst="rect">
            <a:avLst/>
          </a:prstGeom>
        </p:spPr>
      </p:pic>
    </p:spTree>
    <p:extLst>
      <p:ext uri="{BB962C8B-B14F-4D97-AF65-F5344CB8AC3E}">
        <p14:creationId xmlns:p14="http://schemas.microsoft.com/office/powerpoint/2010/main" val="29202239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9D9A718-EAE2-4D8C-B8BD-17D024CE14FF}"/>
              </a:ext>
            </a:extLst>
          </p:cNvPr>
          <p:cNvSpPr txBox="1"/>
          <p:nvPr/>
        </p:nvSpPr>
        <p:spPr>
          <a:xfrm>
            <a:off x="404813" y="882048"/>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Register Map</a:t>
            </a:r>
          </a:p>
        </p:txBody>
      </p: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3" name="표 12">
            <a:extLst>
              <a:ext uri="{FF2B5EF4-FFF2-40B4-BE49-F238E27FC236}">
                <a16:creationId xmlns:a16="http://schemas.microsoft.com/office/drawing/2014/main" id="{CC9DA0BE-DE85-E682-589C-FB2F24785156}"/>
              </a:ext>
            </a:extLst>
          </p:cNvPr>
          <p:cNvGraphicFramePr>
            <a:graphicFrameLocks noGrp="1"/>
          </p:cNvGraphicFramePr>
          <p:nvPr>
            <p:extLst>
              <p:ext uri="{D42A27DB-BD31-4B8C-83A1-F6EECF244321}">
                <p14:modId xmlns:p14="http://schemas.microsoft.com/office/powerpoint/2010/main" val="3245361962"/>
              </p:ext>
            </p:extLst>
          </p:nvPr>
        </p:nvGraphicFramePr>
        <p:xfrm>
          <a:off x="404812" y="2194460"/>
          <a:ext cx="6048622" cy="3700744"/>
        </p:xfrm>
        <a:graphic>
          <a:graphicData uri="http://schemas.openxmlformats.org/drawingml/2006/table">
            <a:tbl>
              <a:tblPr firstRow="1" bandRow="1">
                <a:tableStyleId>{5C22544A-7EE6-4342-B048-85BDC9FD1C3A}</a:tableStyleId>
              </a:tblPr>
              <a:tblGrid>
                <a:gridCol w="411264">
                  <a:extLst>
                    <a:ext uri="{9D8B030D-6E8A-4147-A177-3AD203B41FA5}">
                      <a16:colId xmlns:a16="http://schemas.microsoft.com/office/drawing/2014/main" val="4170535043"/>
                    </a:ext>
                  </a:extLst>
                </a:gridCol>
                <a:gridCol w="594736">
                  <a:extLst>
                    <a:ext uri="{9D8B030D-6E8A-4147-A177-3AD203B41FA5}">
                      <a16:colId xmlns:a16="http://schemas.microsoft.com/office/drawing/2014/main" val="2079070694"/>
                    </a:ext>
                  </a:extLst>
                </a:gridCol>
                <a:gridCol w="287961">
                  <a:extLst>
                    <a:ext uri="{9D8B030D-6E8A-4147-A177-3AD203B41FA5}">
                      <a16:colId xmlns:a16="http://schemas.microsoft.com/office/drawing/2014/main" val="3858367650"/>
                    </a:ext>
                  </a:extLst>
                </a:gridCol>
                <a:gridCol w="4754661">
                  <a:extLst>
                    <a:ext uri="{9D8B030D-6E8A-4147-A177-3AD203B41FA5}">
                      <a16:colId xmlns:a16="http://schemas.microsoft.com/office/drawing/2014/main" val="32595803"/>
                    </a:ext>
                  </a:extLst>
                </a:gridCol>
              </a:tblGrid>
              <a:tr h="30586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a:noFill/>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8668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All internal logics are initialized to a default state and this bit will be auto-cleared after internal initialization.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1576041"/>
                  </a:ext>
                </a:extLst>
              </a:tr>
              <a:tr h="68409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VS_RST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then the serializer and de-serializer of XD12R  will be initialized to a default state at every vsync. This bit set does not affect all internal registers and buffers. </a:t>
                      </a:r>
                      <a:r>
                        <a:rPr lang="en-US" altLang="ko-KR" sz="900" b="0" i="1" dirty="0">
                          <a:solidFill>
                            <a:schemeClr val="tx1"/>
                          </a:solidFill>
                          <a:latin typeface="Arial" panose="020B0604020202020204" pitchFamily="34" charset="0"/>
                          <a:ea typeface="+mn-ea"/>
                          <a:cs typeface="Arial" panose="020B0604020202020204" pitchFamily="34" charset="0"/>
                        </a:rPr>
                        <a:t>This bit can’t be set at the same time as the E_RST bit.</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3354998"/>
                  </a:ext>
                </a:extLst>
              </a:tr>
              <a:tr h="98646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then the serializer and de-serializer of XD12R  will be initialized to a default state at the last third pwm clock. This function starts from the first vsync input. So, it is careful that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XD12R  access at the back of the frame should be avoided for proper operation. This bit set does not affect all internal registers and buffers. </a:t>
                      </a:r>
                      <a:r>
                        <a:rPr lang="en-US" altLang="ko-KR" sz="900" b="0" i="1" dirty="0">
                          <a:solidFill>
                            <a:schemeClr val="tx1"/>
                          </a:solidFill>
                          <a:latin typeface="Arial" panose="020B0604020202020204" pitchFamily="34" charset="0"/>
                          <a:ea typeface="+mn-ea"/>
                          <a:cs typeface="Arial" panose="020B0604020202020204" pitchFamily="34" charset="0"/>
                        </a:rPr>
                        <a:t>This bit can’t be set at the same time as the VS_RST bit.</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5687421"/>
                  </a:ext>
                </a:extLst>
              </a:tr>
              <a:tr h="113764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T>
                      <a:noFill/>
                    </a:lnT>
                  </a:tcPr>
                </a:tc>
                <a:tc>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These bits are read only. If the XD12R will receive the ID-Gen command from the XC24R controller, then the ID value is automatically generated. The ID value is needed for proper reading, so, the ID-Gen command must be firstly executed by the XC24R controller before executing any commands.  If all XD12R drivers daisied will receive the ID-Gen command, the last-located device will have the first number of ID, and the first located device will have the last number of ID, that is, the number of daisied devices. The ID value can not be written by a Host.</a:t>
                      </a:r>
                    </a:p>
                  </a:txBody>
                  <a:tcPr marL="36000" marR="0" marT="36000" marB="36000">
                    <a:lnL>
                      <a:noFill/>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2461270"/>
                  </a:ext>
                </a:extLst>
              </a:tr>
            </a:tbl>
          </a:graphicData>
        </a:graphic>
      </p:graphicFrame>
      <p:graphicFrame>
        <p:nvGraphicFramePr>
          <p:cNvPr id="2" name="표 1">
            <a:extLst>
              <a:ext uri="{FF2B5EF4-FFF2-40B4-BE49-F238E27FC236}">
                <a16:creationId xmlns:a16="http://schemas.microsoft.com/office/drawing/2014/main" id="{91BA68BD-CD99-1E39-D8C4-B3DECE023D43}"/>
              </a:ext>
            </a:extLst>
          </p:cNvPr>
          <p:cNvGraphicFramePr>
            <a:graphicFrameLocks noGrp="1"/>
          </p:cNvGraphicFramePr>
          <p:nvPr>
            <p:extLst>
              <p:ext uri="{D42A27DB-BD31-4B8C-83A1-F6EECF244321}">
                <p14:modId xmlns:p14="http://schemas.microsoft.com/office/powerpoint/2010/main" val="3939199090"/>
              </p:ext>
            </p:extLst>
          </p:nvPr>
        </p:nvGraphicFramePr>
        <p:xfrm>
          <a:off x="404812" y="1727442"/>
          <a:ext cx="6048623" cy="372600"/>
        </p:xfrm>
        <a:graphic>
          <a:graphicData uri="http://schemas.openxmlformats.org/drawingml/2006/table">
            <a:tbl>
              <a:tblPr firstRow="1" bandRow="1">
                <a:tableStyleId>{5C22544A-7EE6-4342-B048-85BDC9FD1C3A}</a:tableStyleId>
              </a:tblPr>
              <a:tblGrid>
                <a:gridCol w="349333">
                  <a:extLst>
                    <a:ext uri="{9D8B030D-6E8A-4147-A177-3AD203B41FA5}">
                      <a16:colId xmlns:a16="http://schemas.microsoft.com/office/drawing/2014/main" val="657570846"/>
                    </a:ext>
                  </a:extLst>
                </a:gridCol>
                <a:gridCol w="384104">
                  <a:extLst>
                    <a:ext uri="{9D8B030D-6E8A-4147-A177-3AD203B41FA5}">
                      <a16:colId xmlns:a16="http://schemas.microsoft.com/office/drawing/2014/main" val="3259894497"/>
                    </a:ext>
                  </a:extLst>
                </a:gridCol>
                <a:gridCol w="451423">
                  <a:extLst>
                    <a:ext uri="{9D8B030D-6E8A-4147-A177-3AD203B41FA5}">
                      <a16:colId xmlns:a16="http://schemas.microsoft.com/office/drawing/2014/main" val="4170535043"/>
                    </a:ext>
                  </a:extLst>
                </a:gridCol>
                <a:gridCol w="402367">
                  <a:extLst>
                    <a:ext uri="{9D8B030D-6E8A-4147-A177-3AD203B41FA5}">
                      <a16:colId xmlns:a16="http://schemas.microsoft.com/office/drawing/2014/main" val="2079070694"/>
                    </a:ext>
                  </a:extLst>
                </a:gridCol>
                <a:gridCol w="437726">
                  <a:extLst>
                    <a:ext uri="{9D8B030D-6E8A-4147-A177-3AD203B41FA5}">
                      <a16:colId xmlns:a16="http://schemas.microsoft.com/office/drawing/2014/main" val="4213315911"/>
                    </a:ext>
                  </a:extLst>
                </a:gridCol>
                <a:gridCol w="402367">
                  <a:extLst>
                    <a:ext uri="{9D8B030D-6E8A-4147-A177-3AD203B41FA5}">
                      <a16:colId xmlns:a16="http://schemas.microsoft.com/office/drawing/2014/main" val="2769999950"/>
                    </a:ext>
                  </a:extLst>
                </a:gridCol>
                <a:gridCol w="402367">
                  <a:extLst>
                    <a:ext uri="{9D8B030D-6E8A-4147-A177-3AD203B41FA5}">
                      <a16:colId xmlns:a16="http://schemas.microsoft.com/office/drawing/2014/main" val="135637185"/>
                    </a:ext>
                  </a:extLst>
                </a:gridCol>
                <a:gridCol w="402367">
                  <a:extLst>
                    <a:ext uri="{9D8B030D-6E8A-4147-A177-3AD203B41FA5}">
                      <a16:colId xmlns:a16="http://schemas.microsoft.com/office/drawing/2014/main" val="3038050475"/>
                    </a:ext>
                  </a:extLst>
                </a:gridCol>
                <a:gridCol w="402367">
                  <a:extLst>
                    <a:ext uri="{9D8B030D-6E8A-4147-A177-3AD203B41FA5}">
                      <a16:colId xmlns:a16="http://schemas.microsoft.com/office/drawing/2014/main" val="1979433044"/>
                    </a:ext>
                  </a:extLst>
                </a:gridCol>
                <a:gridCol w="402367">
                  <a:extLst>
                    <a:ext uri="{9D8B030D-6E8A-4147-A177-3AD203B41FA5}">
                      <a16:colId xmlns:a16="http://schemas.microsoft.com/office/drawing/2014/main" val="4270661649"/>
                    </a:ext>
                  </a:extLst>
                </a:gridCol>
                <a:gridCol w="402367">
                  <a:extLst>
                    <a:ext uri="{9D8B030D-6E8A-4147-A177-3AD203B41FA5}">
                      <a16:colId xmlns:a16="http://schemas.microsoft.com/office/drawing/2014/main" val="3027041370"/>
                    </a:ext>
                  </a:extLst>
                </a:gridCol>
                <a:gridCol w="402367">
                  <a:extLst>
                    <a:ext uri="{9D8B030D-6E8A-4147-A177-3AD203B41FA5}">
                      <a16:colId xmlns:a16="http://schemas.microsoft.com/office/drawing/2014/main" val="2852526216"/>
                    </a:ext>
                  </a:extLst>
                </a:gridCol>
                <a:gridCol w="402367">
                  <a:extLst>
                    <a:ext uri="{9D8B030D-6E8A-4147-A177-3AD203B41FA5}">
                      <a16:colId xmlns:a16="http://schemas.microsoft.com/office/drawing/2014/main" val="103420222"/>
                    </a:ext>
                  </a:extLst>
                </a:gridCol>
                <a:gridCol w="402367">
                  <a:extLst>
                    <a:ext uri="{9D8B030D-6E8A-4147-A177-3AD203B41FA5}">
                      <a16:colId xmlns:a16="http://schemas.microsoft.com/office/drawing/2014/main" val="1470405609"/>
                    </a:ext>
                  </a:extLst>
                </a:gridCol>
                <a:gridCol w="40236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RST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VS_RST</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E_RST</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[4:0]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C28EF0F-BE36-6237-CD6A-53BD8C559916}"/>
              </a:ext>
            </a:extLst>
          </p:cNvPr>
          <p:cNvSpPr txBox="1"/>
          <p:nvPr/>
        </p:nvSpPr>
        <p:spPr>
          <a:xfrm>
            <a:off x="404811" y="1465288"/>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RESET / ID</a:t>
            </a:r>
          </a:p>
        </p:txBody>
      </p:sp>
    </p:spTree>
    <p:extLst>
      <p:ext uri="{BB962C8B-B14F-4D97-AF65-F5344CB8AC3E}">
        <p14:creationId xmlns:p14="http://schemas.microsoft.com/office/powerpoint/2010/main" val="35174991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029D54CF-82BA-535C-68BC-B2EBBCF3C384}"/>
              </a:ext>
            </a:extLst>
          </p:cNvPr>
          <p:cNvGraphicFramePr>
            <a:graphicFrameLocks noGrp="1"/>
          </p:cNvGraphicFramePr>
          <p:nvPr>
            <p:extLst>
              <p:ext uri="{D42A27DB-BD31-4B8C-83A1-F6EECF244321}">
                <p14:modId xmlns:p14="http://schemas.microsoft.com/office/powerpoint/2010/main" val="2058029774"/>
              </p:ext>
            </p:extLst>
          </p:nvPr>
        </p:nvGraphicFramePr>
        <p:xfrm>
          <a:off x="396248" y="1676168"/>
          <a:ext cx="6053219" cy="5284757"/>
        </p:xfrm>
        <a:graphic>
          <a:graphicData uri="http://schemas.openxmlformats.org/drawingml/2006/table">
            <a:tbl>
              <a:tblPr firstRow="1" bandRow="1">
                <a:tableStyleId>{5C22544A-7EE6-4342-B048-85BDC9FD1C3A}</a:tableStyleId>
              </a:tblPr>
              <a:tblGrid>
                <a:gridCol w="465167">
                  <a:extLst>
                    <a:ext uri="{9D8B030D-6E8A-4147-A177-3AD203B41FA5}">
                      <a16:colId xmlns:a16="http://schemas.microsoft.com/office/drawing/2014/main" val="4170535043"/>
                    </a:ext>
                  </a:extLst>
                </a:gridCol>
                <a:gridCol w="954687">
                  <a:extLst>
                    <a:ext uri="{9D8B030D-6E8A-4147-A177-3AD203B41FA5}">
                      <a16:colId xmlns:a16="http://schemas.microsoft.com/office/drawing/2014/main" val="2079070694"/>
                    </a:ext>
                  </a:extLst>
                </a:gridCol>
                <a:gridCol w="4633365">
                  <a:extLst>
                    <a:ext uri="{9D8B030D-6E8A-4147-A177-3AD203B41FA5}">
                      <a16:colId xmlns:a16="http://schemas.microsoft.com/office/drawing/2014/main" val="32595803"/>
                    </a:ext>
                  </a:extLst>
                </a:gridCol>
              </a:tblGrid>
              <a:tr h="27686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5999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dimming sequence. Even if the LD_MODE and LD_DIR value will be changed in the middle of the current frame, the value will affect the dimming sequence from the next frame after completing the current frame process.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8783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how many LD data will be transmitted for one time. This value is not needed to match with the number of enabled channels in the CHANNEL ENABLE register. It keeps in mind that the LD data to be transmitted </a:t>
                      </a:r>
                      <a:r>
                        <a:rPr lang="en-US" altLang="ko-KR" sz="900" b="0" i="1" dirty="0">
                          <a:solidFill>
                            <a:schemeClr val="tx1"/>
                          </a:solidFill>
                          <a:latin typeface="Arial" panose="020B0604020202020204" pitchFamily="34" charset="0"/>
                          <a:ea typeface="+mn-ea"/>
                          <a:cs typeface="Arial" panose="020B0604020202020204" pitchFamily="34" charset="0"/>
                        </a:rPr>
                        <a:t>will be mapped sequentially from channel 1 to channel n regardless of the corresponded CHx_EN bit activation</a:t>
                      </a:r>
                      <a:r>
                        <a:rPr lang="en-US" altLang="ko-KR" sz="900" b="0" dirty="0">
                          <a:solidFill>
                            <a:schemeClr val="tx1"/>
                          </a:solidFill>
                          <a:latin typeface="Arial" panose="020B0604020202020204" pitchFamily="34" charset="0"/>
                          <a:ea typeface="+mn-ea"/>
                          <a:cs typeface="Arial" panose="020B0604020202020204" pitchFamily="34" charset="0"/>
                        </a:rPr>
                        <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6047234"/>
                  </a:ext>
                </a:extLst>
              </a:tr>
              <a:tr h="38783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PC_EN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parity check.</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parity check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parity check enable.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5959455"/>
                  </a:ext>
                </a:extLst>
              </a:tr>
              <a:tr h="3028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VREFMODE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whether to use VREF3.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used VREF2 and VREF3.</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not used VREF3 ( VREF2 = VREF3 )</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8617746"/>
                  </a:ext>
                </a:extLst>
              </a:tr>
              <a:tr h="47404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SYNCMODE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VSYNC input.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command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SVI</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8853742"/>
                  </a:ext>
                </a:extLst>
              </a:tr>
              <a:tr h="3260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PWM_RES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PWM resolution.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12-bit PWM resolution (max steps 4,095)</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14-bit PWM resolution (max steps 16,383)</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8028463"/>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LD_TYPE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nSpc>
                          <a:spcPct val="150000"/>
                        </a:lnSpc>
                        <a:buFont typeface="Arial" panose="020B0604020202020204" pitchFamily="34" charset="0"/>
                        <a:buNone/>
                      </a:pPr>
                      <a:r>
                        <a:rPr lang="en-US" altLang="ko-KR" sz="900" b="0" dirty="0">
                          <a:solidFill>
                            <a:schemeClr val="tx1"/>
                          </a:solidFill>
                          <a:latin typeface="Arial" panose="020B0604020202020204" pitchFamily="34" charset="0"/>
                          <a:ea typeface="+mn-ea"/>
                          <a:cs typeface="Arial" panose="020B0604020202020204" pitchFamily="34" charset="0"/>
                        </a:rPr>
                        <a:t>These bits determine the </a:t>
                      </a:r>
                      <a:r>
                        <a:rPr lang="en-US" altLang="ko-KR" sz="900" dirty="0">
                          <a:latin typeface="Arial" panose="020B0604020202020204" pitchFamily="34" charset="0"/>
                          <a:cs typeface="Arial" panose="020B0604020202020204" pitchFamily="34" charset="0"/>
                        </a:rPr>
                        <a:t>RGB PWM Dimming (LED1/2/3 PWM Dimming)</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a:t>
                      </a:r>
                      <a:r>
                        <a:rPr lang="en-US" altLang="ko-KR" sz="900" dirty="0">
                          <a:latin typeface="Arial" panose="020B0604020202020204" pitchFamily="34" charset="0"/>
                          <a:cs typeface="Arial" panose="020B0604020202020204" pitchFamily="34" charset="0"/>
                        </a:rPr>
                        <a:t>Type-1 (RGB, 12CH)</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   Type-2 (R/GB, 6CH)</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   </a:t>
                      </a:r>
                      <a:r>
                        <a:rPr lang="en-US" altLang="ko-KR" sz="900" dirty="0">
                          <a:latin typeface="Arial" panose="020B0604020202020204" pitchFamily="34" charset="0"/>
                          <a:cs typeface="Arial" panose="020B0604020202020204" pitchFamily="34" charset="0"/>
                        </a:rPr>
                        <a:t>Type-3 (GB, 12CH)</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5336826"/>
                  </a:ext>
                </a:extLst>
              </a:tr>
              <a:tr h="30212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LD_DIR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direction of modulated edge with increasing on time from a vsync.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Head Shift Lighting</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Tail Shift Lighting</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3402798"/>
                  </a:ext>
                </a:extLst>
              </a:tr>
              <a:tr h="30212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x8 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Normal 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x8 mode.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0519688"/>
                  </a:ext>
                </a:extLst>
              </a:tr>
            </a:tbl>
          </a:graphicData>
        </a:graphic>
      </p:graphicFrame>
      <p:graphicFrame>
        <p:nvGraphicFramePr>
          <p:cNvPr id="11" name="표 10">
            <a:extLst>
              <a:ext uri="{FF2B5EF4-FFF2-40B4-BE49-F238E27FC236}">
                <a16:creationId xmlns:a16="http://schemas.microsoft.com/office/drawing/2014/main" id="{D22F6820-209F-D236-672E-D96181586F8B}"/>
              </a:ext>
            </a:extLst>
          </p:cNvPr>
          <p:cNvGraphicFramePr>
            <a:graphicFrameLocks noGrp="1"/>
          </p:cNvGraphicFramePr>
          <p:nvPr>
            <p:extLst>
              <p:ext uri="{D42A27DB-BD31-4B8C-83A1-F6EECF244321}">
                <p14:modId xmlns:p14="http://schemas.microsoft.com/office/powerpoint/2010/main" val="136682275"/>
              </p:ext>
            </p:extLst>
          </p:nvPr>
        </p:nvGraphicFramePr>
        <p:xfrm>
          <a:off x="401292" y="1108857"/>
          <a:ext cx="6051895" cy="479280"/>
        </p:xfrm>
        <a:graphic>
          <a:graphicData uri="http://schemas.openxmlformats.org/drawingml/2006/table">
            <a:tbl>
              <a:tblPr firstRow="1" bandRow="1">
                <a:tableStyleId>{5C22544A-7EE6-4342-B048-85BDC9FD1C3A}</a:tableStyleId>
              </a:tblPr>
              <a:tblGrid>
                <a:gridCol w="256238">
                  <a:extLst>
                    <a:ext uri="{9D8B030D-6E8A-4147-A177-3AD203B41FA5}">
                      <a16:colId xmlns:a16="http://schemas.microsoft.com/office/drawing/2014/main" val="657570846"/>
                    </a:ext>
                  </a:extLst>
                </a:gridCol>
                <a:gridCol w="382348">
                  <a:extLst>
                    <a:ext uri="{9D8B030D-6E8A-4147-A177-3AD203B41FA5}">
                      <a16:colId xmlns:a16="http://schemas.microsoft.com/office/drawing/2014/main" val="3259894497"/>
                    </a:ext>
                  </a:extLst>
                </a:gridCol>
                <a:gridCol w="462769">
                  <a:extLst>
                    <a:ext uri="{9D8B030D-6E8A-4147-A177-3AD203B41FA5}">
                      <a16:colId xmlns:a16="http://schemas.microsoft.com/office/drawing/2014/main" val="4170535043"/>
                    </a:ext>
                  </a:extLst>
                </a:gridCol>
                <a:gridCol w="347853">
                  <a:extLst>
                    <a:ext uri="{9D8B030D-6E8A-4147-A177-3AD203B41FA5}">
                      <a16:colId xmlns:a16="http://schemas.microsoft.com/office/drawing/2014/main" val="2079070694"/>
                    </a:ext>
                  </a:extLst>
                </a:gridCol>
                <a:gridCol w="335430">
                  <a:extLst>
                    <a:ext uri="{9D8B030D-6E8A-4147-A177-3AD203B41FA5}">
                      <a16:colId xmlns:a16="http://schemas.microsoft.com/office/drawing/2014/main" val="4213315911"/>
                    </a:ext>
                  </a:extLst>
                </a:gridCol>
                <a:gridCol w="242805">
                  <a:extLst>
                    <a:ext uri="{9D8B030D-6E8A-4147-A177-3AD203B41FA5}">
                      <a16:colId xmlns:a16="http://schemas.microsoft.com/office/drawing/2014/main" val="2769999950"/>
                    </a:ext>
                  </a:extLst>
                </a:gridCol>
                <a:gridCol w="273313">
                  <a:extLst>
                    <a:ext uri="{9D8B030D-6E8A-4147-A177-3AD203B41FA5}">
                      <a16:colId xmlns:a16="http://schemas.microsoft.com/office/drawing/2014/main" val="135637185"/>
                    </a:ext>
                  </a:extLst>
                </a:gridCol>
                <a:gridCol w="375806">
                  <a:extLst>
                    <a:ext uri="{9D8B030D-6E8A-4147-A177-3AD203B41FA5}">
                      <a16:colId xmlns:a16="http://schemas.microsoft.com/office/drawing/2014/main" val="3038050475"/>
                    </a:ext>
                  </a:extLst>
                </a:gridCol>
                <a:gridCol w="565261">
                  <a:extLst>
                    <a:ext uri="{9D8B030D-6E8A-4147-A177-3AD203B41FA5}">
                      <a16:colId xmlns:a16="http://schemas.microsoft.com/office/drawing/2014/main" val="1979433044"/>
                    </a:ext>
                  </a:extLst>
                </a:gridCol>
                <a:gridCol w="658436">
                  <a:extLst>
                    <a:ext uri="{9D8B030D-6E8A-4147-A177-3AD203B41FA5}">
                      <a16:colId xmlns:a16="http://schemas.microsoft.com/office/drawing/2014/main" val="4270661649"/>
                    </a:ext>
                  </a:extLst>
                </a:gridCol>
                <a:gridCol w="543521">
                  <a:extLst>
                    <a:ext uri="{9D8B030D-6E8A-4147-A177-3AD203B41FA5}">
                      <a16:colId xmlns:a16="http://schemas.microsoft.com/office/drawing/2014/main" val="3027041370"/>
                    </a:ext>
                  </a:extLst>
                </a:gridCol>
                <a:gridCol w="313689">
                  <a:extLst>
                    <a:ext uri="{9D8B030D-6E8A-4147-A177-3AD203B41FA5}">
                      <a16:colId xmlns:a16="http://schemas.microsoft.com/office/drawing/2014/main" val="2852526216"/>
                    </a:ext>
                  </a:extLst>
                </a:gridCol>
                <a:gridCol w="349299">
                  <a:extLst>
                    <a:ext uri="{9D8B030D-6E8A-4147-A177-3AD203B41FA5}">
                      <a16:colId xmlns:a16="http://schemas.microsoft.com/office/drawing/2014/main" val="103420222"/>
                    </a:ext>
                  </a:extLst>
                </a:gridCol>
                <a:gridCol w="424053">
                  <a:extLst>
                    <a:ext uri="{9D8B030D-6E8A-4147-A177-3AD203B41FA5}">
                      <a16:colId xmlns:a16="http://schemas.microsoft.com/office/drawing/2014/main" val="1470405609"/>
                    </a:ext>
                  </a:extLst>
                </a:gridCol>
                <a:gridCol w="52107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LD_SIZE [3:0]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PC_EN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ko-KR" sz="700" b="0" dirty="0">
                          <a:solidFill>
                            <a:schemeClr val="tx1"/>
                          </a:solidFill>
                          <a:latin typeface="Arial" panose="020B0604020202020204" pitchFamily="34" charset="0"/>
                          <a:cs typeface="Arial" panose="020B0604020202020204" pitchFamily="34" charset="0"/>
                        </a:rPr>
                        <a:t>VREFMODE</a:t>
                      </a:r>
                      <a:endParaRPr sz="700"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SYNCMODE</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PWM_RES</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LD_TYPE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LD_DIR</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LD_MODE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1EBAC887-FA70-6A55-8D5F-F5578055C9AC}"/>
              </a:ext>
            </a:extLst>
          </p:cNvPr>
          <p:cNvSpPr txBox="1"/>
          <p:nvPr/>
        </p:nvSpPr>
        <p:spPr>
          <a:xfrm>
            <a:off x="401291" y="848186"/>
            <a:ext cx="605214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CONTROL</a:t>
            </a:r>
          </a:p>
        </p:txBody>
      </p:sp>
    </p:spTree>
    <p:extLst>
      <p:ext uri="{BB962C8B-B14F-4D97-AF65-F5344CB8AC3E}">
        <p14:creationId xmlns:p14="http://schemas.microsoft.com/office/powerpoint/2010/main" val="15710624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1268338305"/>
              </p:ext>
            </p:extLst>
          </p:nvPr>
        </p:nvGraphicFramePr>
        <p:xfrm>
          <a:off x="408435" y="2733660"/>
          <a:ext cx="6053732" cy="2547720"/>
        </p:xfrm>
        <a:graphic>
          <a:graphicData uri="http://schemas.openxmlformats.org/drawingml/2006/table">
            <a:tbl>
              <a:tblPr firstRow="1" bandRow="1">
                <a:tableStyleId>{5C22544A-7EE6-4342-B048-85BDC9FD1C3A}</a:tableStyleId>
              </a:tblPr>
              <a:tblGrid>
                <a:gridCol w="444621">
                  <a:extLst>
                    <a:ext uri="{9D8B030D-6E8A-4147-A177-3AD203B41FA5}">
                      <a16:colId xmlns:a16="http://schemas.microsoft.com/office/drawing/2014/main" val="4170535043"/>
                    </a:ext>
                  </a:extLst>
                </a:gridCol>
                <a:gridCol w="1056517">
                  <a:extLst>
                    <a:ext uri="{9D8B030D-6E8A-4147-A177-3AD203B41FA5}">
                      <a16:colId xmlns:a16="http://schemas.microsoft.com/office/drawing/2014/main" val="2079070694"/>
                    </a:ext>
                  </a:extLst>
                </a:gridCol>
                <a:gridCol w="4552594">
                  <a:extLst>
                    <a:ext uri="{9D8B030D-6E8A-4147-A177-3AD203B41FA5}">
                      <a16:colId xmlns:a16="http://schemas.microsoft.com/office/drawing/2014/main" val="32595803"/>
                    </a:ext>
                  </a:extLst>
                </a:gridCol>
              </a:tblGrid>
              <a:tr h="19380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4436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FPWM_DIV1/2/3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registers determine the PWM reference clock. The PWM reference clock can be created by dividing the MCLK frequency by the setting value + 1. Even if the setting value will be changed in the middle of the frame, the value will be applied immediately from the next vsync assertion. </a:t>
                      </a:r>
                      <a:r>
                        <a:rPr lang="en-US" altLang="ko-KR" sz="900" b="0" i="1" dirty="0">
                          <a:solidFill>
                            <a:schemeClr val="tx1"/>
                          </a:solidFill>
                          <a:latin typeface="Arial" panose="020B0604020202020204" pitchFamily="34" charset="0"/>
                          <a:ea typeface="+mn-ea"/>
                          <a:cs typeface="Arial" panose="020B0604020202020204" pitchFamily="34" charset="0"/>
                        </a:rPr>
                        <a:t>Refer</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to</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the</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Tabel 6. for other relevant sets.</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i="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dirty="0">
                          <a:solidFill>
                            <a:schemeClr val="tx1"/>
                          </a:solidFill>
                          <a:latin typeface="Arial" panose="020B0604020202020204" pitchFamily="34" charset="0"/>
                          <a:ea typeface="+mn-ea"/>
                          <a:cs typeface="Arial" panose="020B0604020202020204" pitchFamily="34" charset="0"/>
                        </a:rPr>
                        <a:t>FPWM_DIV1[8:0] : </a:t>
                      </a:r>
                      <a:r>
                        <a:rPr lang="en-US" altLang="ko-KR" sz="900" b="0" dirty="0">
                          <a:solidFill>
                            <a:schemeClr val="tx1"/>
                          </a:solidFill>
                          <a:latin typeface="Arial" panose="020B0604020202020204" pitchFamily="34" charset="0"/>
                          <a:ea typeface="+mn-ea"/>
                          <a:cs typeface="Arial" panose="020B0604020202020204" pitchFamily="34" charset="0"/>
                        </a:rPr>
                        <a:t>PWM reference clock </a:t>
                      </a:r>
                      <a:r>
                        <a:rPr lang="en-US" altLang="ko-KR" sz="900" b="0" i="0" dirty="0">
                          <a:solidFill>
                            <a:schemeClr val="tx1"/>
                          </a:solidFill>
                          <a:latin typeface="Arial" panose="020B0604020202020204" pitchFamily="34" charset="0"/>
                          <a:ea typeface="+mn-ea"/>
                          <a:cs typeface="Arial" panose="020B0604020202020204" pitchFamily="34" charset="0"/>
                        </a:rPr>
                        <a:t>for RED LED ( LED1 )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dirty="0">
                          <a:solidFill>
                            <a:schemeClr val="tx1"/>
                          </a:solidFill>
                          <a:latin typeface="Arial" panose="020B0604020202020204" pitchFamily="34" charset="0"/>
                          <a:ea typeface="+mn-ea"/>
                          <a:cs typeface="Arial" panose="020B0604020202020204" pitchFamily="34" charset="0"/>
                        </a:rPr>
                        <a:t>FPWM_DIV2[7:0] : </a:t>
                      </a:r>
                      <a:r>
                        <a:rPr lang="en-US" altLang="ko-KR" sz="900" b="0" dirty="0">
                          <a:solidFill>
                            <a:schemeClr val="tx1"/>
                          </a:solidFill>
                          <a:latin typeface="Arial" panose="020B0604020202020204" pitchFamily="34" charset="0"/>
                          <a:ea typeface="+mn-ea"/>
                          <a:cs typeface="Arial" panose="020B0604020202020204" pitchFamily="34" charset="0"/>
                        </a:rPr>
                        <a:t>PWM reference clock </a:t>
                      </a:r>
                      <a:r>
                        <a:rPr lang="en-US" altLang="ko-KR" sz="900" b="0" i="0" dirty="0">
                          <a:solidFill>
                            <a:schemeClr val="tx1"/>
                          </a:solidFill>
                          <a:latin typeface="Arial" panose="020B0604020202020204" pitchFamily="34" charset="0"/>
                          <a:ea typeface="+mn-ea"/>
                          <a:cs typeface="Arial" panose="020B0604020202020204" pitchFamily="34" charset="0"/>
                        </a:rPr>
                        <a:t>for GREEN LED ( LED2 )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dirty="0">
                          <a:solidFill>
                            <a:schemeClr val="tx1"/>
                          </a:solidFill>
                          <a:latin typeface="Arial" panose="020B0604020202020204" pitchFamily="34" charset="0"/>
                          <a:ea typeface="+mn-ea"/>
                          <a:cs typeface="Arial" panose="020B0604020202020204" pitchFamily="34" charset="0"/>
                        </a:rPr>
                        <a:t>FPWM_DIV3[7:0] : </a:t>
                      </a:r>
                      <a:r>
                        <a:rPr lang="en-US" altLang="ko-KR" sz="900" b="0" dirty="0">
                          <a:solidFill>
                            <a:schemeClr val="tx1"/>
                          </a:solidFill>
                          <a:latin typeface="Arial" panose="020B0604020202020204" pitchFamily="34" charset="0"/>
                          <a:ea typeface="+mn-ea"/>
                          <a:cs typeface="Arial" panose="020B0604020202020204" pitchFamily="34" charset="0"/>
                        </a:rPr>
                        <a:t>PWM reference clock </a:t>
                      </a:r>
                      <a:r>
                        <a:rPr lang="en-US" altLang="ko-KR" sz="900" b="0" i="0" dirty="0">
                          <a:solidFill>
                            <a:schemeClr val="tx1"/>
                          </a:solidFill>
                          <a:latin typeface="Arial" panose="020B0604020202020204" pitchFamily="34" charset="0"/>
                          <a:ea typeface="+mn-ea"/>
                          <a:cs typeface="Arial" panose="020B0604020202020204" pitchFamily="34" charset="0"/>
                        </a:rPr>
                        <a:t>for BLUE LED ( LED3 )</a:t>
                      </a: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091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(0x02)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SV_NO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SVYNC NO. in 1-frame.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 #1 SVSYNC</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 #2 SVSYNC</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62 : #63 SVSYNC</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63 : #64 SVSYNC </a:t>
                      </a: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22580227"/>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399453" y="848186"/>
            <a:ext cx="60537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SVSYNC NUMBER / FPWM DIVIDER</a:t>
            </a:r>
          </a:p>
        </p:txBody>
      </p:sp>
      <p:graphicFrame>
        <p:nvGraphicFramePr>
          <p:cNvPr id="10" name="표 9">
            <a:extLst>
              <a:ext uri="{FF2B5EF4-FFF2-40B4-BE49-F238E27FC236}">
                <a16:creationId xmlns:a16="http://schemas.microsoft.com/office/drawing/2014/main" id="{EAC0DE82-DBB0-B75B-5DAA-F618CA49EDD6}"/>
              </a:ext>
            </a:extLst>
          </p:cNvPr>
          <p:cNvGraphicFramePr>
            <a:graphicFrameLocks noGrp="1"/>
          </p:cNvGraphicFramePr>
          <p:nvPr>
            <p:extLst>
              <p:ext uri="{D42A27DB-BD31-4B8C-83A1-F6EECF244321}">
                <p14:modId xmlns:p14="http://schemas.microsoft.com/office/powerpoint/2010/main" val="2428599149"/>
              </p:ext>
            </p:extLst>
          </p:nvPr>
        </p:nvGraphicFramePr>
        <p:xfrm>
          <a:off x="389761" y="7216513"/>
          <a:ext cx="6058367" cy="1887872"/>
        </p:xfrm>
        <a:graphic>
          <a:graphicData uri="http://schemas.openxmlformats.org/drawingml/2006/table">
            <a:tbl>
              <a:tblPr firstRow="1" bandRow="1">
                <a:tableStyleId>{5C22544A-7EE6-4342-B048-85BDC9FD1C3A}</a:tableStyleId>
              </a:tblPr>
              <a:tblGrid>
                <a:gridCol w="441510">
                  <a:extLst>
                    <a:ext uri="{9D8B030D-6E8A-4147-A177-3AD203B41FA5}">
                      <a16:colId xmlns:a16="http://schemas.microsoft.com/office/drawing/2014/main" val="4170535043"/>
                    </a:ext>
                  </a:extLst>
                </a:gridCol>
                <a:gridCol w="1049124">
                  <a:extLst>
                    <a:ext uri="{9D8B030D-6E8A-4147-A177-3AD203B41FA5}">
                      <a16:colId xmlns:a16="http://schemas.microsoft.com/office/drawing/2014/main" val="2079070694"/>
                    </a:ext>
                  </a:extLst>
                </a:gridCol>
                <a:gridCol w="4567733">
                  <a:extLst>
                    <a:ext uri="{9D8B030D-6E8A-4147-A177-3AD203B41FA5}">
                      <a16:colId xmlns:a16="http://schemas.microsoft.com/office/drawing/2014/main" val="32595803"/>
                    </a:ext>
                  </a:extLst>
                </a:gridCol>
              </a:tblGrid>
              <a:tr h="30711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CHx_EN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These bits should be set if the corresponding channels are to be used. The number of enabled channels in these registers does not need to match the LD_SIZE value. It is careful that the number of enabled channels should be the same as the LD_SIZE value, but the number can be smaller than the LD_SIZE value like the special mapping below.</a:t>
                      </a: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3582489"/>
                  </a:ext>
                </a:extLst>
              </a:tr>
            </a:tbl>
          </a:graphicData>
        </a:graphic>
      </p:graphicFrame>
      <p:sp>
        <p:nvSpPr>
          <p:cNvPr id="13" name="TextBox 12">
            <a:extLst>
              <a:ext uri="{FF2B5EF4-FFF2-40B4-BE49-F238E27FC236}">
                <a16:creationId xmlns:a16="http://schemas.microsoft.com/office/drawing/2014/main" id="{73440F33-4BCE-8AB1-2175-28FBD67160EF}"/>
              </a:ext>
            </a:extLst>
          </p:cNvPr>
          <p:cNvSpPr txBox="1"/>
          <p:nvPr/>
        </p:nvSpPr>
        <p:spPr>
          <a:xfrm>
            <a:off x="382986" y="6496059"/>
            <a:ext cx="607020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CHANNEL ENABLE</a:t>
            </a:r>
          </a:p>
        </p:txBody>
      </p:sp>
      <p:sp>
        <p:nvSpPr>
          <p:cNvPr id="18" name="TextBox 17">
            <a:extLst>
              <a:ext uri="{FF2B5EF4-FFF2-40B4-BE49-F238E27FC236}">
                <a16:creationId xmlns:a16="http://schemas.microsoft.com/office/drawing/2014/main" id="{C2BD314D-1132-1D85-789B-26AF97F14C50}"/>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3" name="표 2">
            <a:extLst>
              <a:ext uri="{FF2B5EF4-FFF2-40B4-BE49-F238E27FC236}">
                <a16:creationId xmlns:a16="http://schemas.microsoft.com/office/drawing/2014/main" id="{AEC2914C-3763-C1D3-D233-AB03C8E93409}"/>
              </a:ext>
            </a:extLst>
          </p:cNvPr>
          <p:cNvGraphicFramePr>
            <a:graphicFrameLocks noGrp="1"/>
          </p:cNvGraphicFramePr>
          <p:nvPr>
            <p:extLst>
              <p:ext uri="{D42A27DB-BD31-4B8C-83A1-F6EECF244321}">
                <p14:modId xmlns:p14="http://schemas.microsoft.com/office/powerpoint/2010/main" val="1259997645"/>
              </p:ext>
            </p:extLst>
          </p:nvPr>
        </p:nvGraphicFramePr>
        <p:xfrm>
          <a:off x="394817" y="1109669"/>
          <a:ext cx="6058369" cy="47928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PWMCLK_DIV1[8]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SV_NO[5:0]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9" name="표 8">
            <a:extLst>
              <a:ext uri="{FF2B5EF4-FFF2-40B4-BE49-F238E27FC236}">
                <a16:creationId xmlns:a16="http://schemas.microsoft.com/office/drawing/2014/main" id="{5CA8150D-F886-E5BB-7700-33A31FAE56DC}"/>
              </a:ext>
            </a:extLst>
          </p:cNvPr>
          <p:cNvGraphicFramePr>
            <a:graphicFrameLocks noGrp="1"/>
          </p:cNvGraphicFramePr>
          <p:nvPr>
            <p:extLst>
              <p:ext uri="{D42A27DB-BD31-4B8C-83A1-F6EECF244321}">
                <p14:modId xmlns:p14="http://schemas.microsoft.com/office/powerpoint/2010/main" val="2241881453"/>
              </p:ext>
            </p:extLst>
          </p:nvPr>
        </p:nvGraphicFramePr>
        <p:xfrm>
          <a:off x="394817" y="6761574"/>
          <a:ext cx="6058367" cy="372600"/>
        </p:xfrm>
        <a:graphic>
          <a:graphicData uri="http://schemas.openxmlformats.org/drawingml/2006/table">
            <a:tbl>
              <a:tblPr firstRow="1" bandRow="1">
                <a:tableStyleId>{5C22544A-7EE6-4342-B048-85BDC9FD1C3A}</a:tableStyleId>
              </a:tblPr>
              <a:tblGrid>
                <a:gridCol w="351953">
                  <a:extLst>
                    <a:ext uri="{9D8B030D-6E8A-4147-A177-3AD203B41FA5}">
                      <a16:colId xmlns:a16="http://schemas.microsoft.com/office/drawing/2014/main" val="657570846"/>
                    </a:ext>
                  </a:extLst>
                </a:gridCol>
                <a:gridCol w="386985">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CH12_EN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CH10_EN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CH9_EN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CH5_EN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 name="표 1">
            <a:extLst>
              <a:ext uri="{FF2B5EF4-FFF2-40B4-BE49-F238E27FC236}">
                <a16:creationId xmlns:a16="http://schemas.microsoft.com/office/drawing/2014/main" id="{2F15A6A3-2BF0-89A4-6BC1-55BE07C8F019}"/>
              </a:ext>
            </a:extLst>
          </p:cNvPr>
          <p:cNvGraphicFramePr>
            <a:graphicFrameLocks noGrp="1"/>
          </p:cNvGraphicFramePr>
          <p:nvPr>
            <p:extLst>
              <p:ext uri="{D42A27DB-BD31-4B8C-83A1-F6EECF244321}">
                <p14:modId xmlns:p14="http://schemas.microsoft.com/office/powerpoint/2010/main" val="336127038"/>
              </p:ext>
            </p:extLst>
          </p:nvPr>
        </p:nvGraphicFramePr>
        <p:xfrm>
          <a:off x="1920179" y="8203260"/>
          <a:ext cx="3491366" cy="227760"/>
        </p:xfrm>
        <a:graphic>
          <a:graphicData uri="http://schemas.openxmlformats.org/drawingml/2006/table">
            <a:tbl>
              <a:tblPr firstRow="1" bandRow="1">
                <a:tableStyleId>{5C22544A-7EE6-4342-B048-85BDC9FD1C3A}</a:tableStyleId>
              </a:tblPr>
              <a:tblGrid>
                <a:gridCol w="380263">
                  <a:extLst>
                    <a:ext uri="{9D8B030D-6E8A-4147-A177-3AD203B41FA5}">
                      <a16:colId xmlns:a16="http://schemas.microsoft.com/office/drawing/2014/main" val="4138367841"/>
                    </a:ext>
                  </a:extLst>
                </a:gridCol>
                <a:gridCol w="380263">
                  <a:extLst>
                    <a:ext uri="{9D8B030D-6E8A-4147-A177-3AD203B41FA5}">
                      <a16:colId xmlns:a16="http://schemas.microsoft.com/office/drawing/2014/main" val="3589866634"/>
                    </a:ext>
                  </a:extLst>
                </a:gridCol>
                <a:gridCol w="380263">
                  <a:extLst>
                    <a:ext uri="{9D8B030D-6E8A-4147-A177-3AD203B41FA5}">
                      <a16:colId xmlns:a16="http://schemas.microsoft.com/office/drawing/2014/main" val="203027085"/>
                    </a:ext>
                  </a:extLst>
                </a:gridCol>
                <a:gridCol w="380263">
                  <a:extLst>
                    <a:ext uri="{9D8B030D-6E8A-4147-A177-3AD203B41FA5}">
                      <a16:colId xmlns:a16="http://schemas.microsoft.com/office/drawing/2014/main" val="1213780966"/>
                    </a:ext>
                  </a:extLst>
                </a:gridCol>
                <a:gridCol w="380263">
                  <a:extLst>
                    <a:ext uri="{9D8B030D-6E8A-4147-A177-3AD203B41FA5}">
                      <a16:colId xmlns:a16="http://schemas.microsoft.com/office/drawing/2014/main" val="2173165944"/>
                    </a:ext>
                  </a:extLst>
                </a:gridCol>
                <a:gridCol w="380263">
                  <a:extLst>
                    <a:ext uri="{9D8B030D-6E8A-4147-A177-3AD203B41FA5}">
                      <a16:colId xmlns:a16="http://schemas.microsoft.com/office/drawing/2014/main" val="3651997756"/>
                    </a:ext>
                  </a:extLst>
                </a:gridCol>
                <a:gridCol w="380263">
                  <a:extLst>
                    <a:ext uri="{9D8B030D-6E8A-4147-A177-3AD203B41FA5}">
                      <a16:colId xmlns:a16="http://schemas.microsoft.com/office/drawing/2014/main" val="4226967004"/>
                    </a:ext>
                  </a:extLst>
                </a:gridCol>
                <a:gridCol w="829525">
                  <a:extLst>
                    <a:ext uri="{9D8B030D-6E8A-4147-A177-3AD203B41FA5}">
                      <a16:colId xmlns:a16="http://schemas.microsoft.com/office/drawing/2014/main" val="1995533423"/>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CH1_EN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CH5_EN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CH8_EN~CH12_EN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53051"/>
                  </a:ext>
                </a:extLst>
              </a:tr>
              <a:tr h="0">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all 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990245991"/>
                  </a:ext>
                </a:extLst>
              </a:tr>
            </a:tbl>
          </a:graphicData>
        </a:graphic>
      </p:graphicFrame>
      <p:sp>
        <p:nvSpPr>
          <p:cNvPr id="4" name="TextBox 3">
            <a:extLst>
              <a:ext uri="{FF2B5EF4-FFF2-40B4-BE49-F238E27FC236}">
                <a16:creationId xmlns:a16="http://schemas.microsoft.com/office/drawing/2014/main" id="{1133A133-E836-BAC2-2145-164EBD8EFD79}"/>
              </a:ext>
            </a:extLst>
          </p:cNvPr>
          <p:cNvSpPr txBox="1"/>
          <p:nvPr/>
        </p:nvSpPr>
        <p:spPr>
          <a:xfrm>
            <a:off x="5458853" y="8215576"/>
            <a:ext cx="854401" cy="215444"/>
          </a:xfrm>
          <a:prstGeom prst="rect">
            <a:avLst/>
          </a:prstGeom>
          <a:noFill/>
        </p:spPr>
        <p:txBody>
          <a:bodyPr wrap="none" lIns="0" tIns="0" rIns="0" bIns="0" rtlCol="0" anchor="ctr" anchorCtr="0">
            <a:spAutoFit/>
          </a:bodyPr>
          <a:lstStyle/>
          <a:p>
            <a:r>
              <a:rPr lang="en-US" altLang="ko-KR" sz="700" i="1" dirty="0">
                <a:latin typeface="Arial" panose="020B0604020202020204" pitchFamily="34" charset="0"/>
                <a:cs typeface="Arial" panose="020B0604020202020204" pitchFamily="34" charset="0"/>
              </a:rPr>
              <a:t>the number of</a:t>
            </a:r>
          </a:p>
          <a:p>
            <a:r>
              <a:rPr lang="en-US" altLang="ko-KR" sz="700" i="1" dirty="0">
                <a:latin typeface="Arial" panose="020B0604020202020204" pitchFamily="34" charset="0"/>
                <a:cs typeface="Arial" panose="020B0604020202020204" pitchFamily="34" charset="0"/>
              </a:rPr>
              <a:t>enabled channels = 5</a:t>
            </a:r>
            <a:endParaRPr lang="ko-KR" altLang="en-US" sz="700" i="1" dirty="0">
              <a:latin typeface="Arial" panose="020B0604020202020204" pitchFamily="34" charset="0"/>
              <a:cs typeface="Arial" panose="020B0604020202020204" pitchFamily="34" charset="0"/>
            </a:endParaRPr>
          </a:p>
        </p:txBody>
      </p:sp>
      <p:cxnSp>
        <p:nvCxnSpPr>
          <p:cNvPr id="5" name="직선 화살표 연결선 4">
            <a:extLst>
              <a:ext uri="{FF2B5EF4-FFF2-40B4-BE49-F238E27FC236}">
                <a16:creationId xmlns:a16="http://schemas.microsoft.com/office/drawing/2014/main" id="{B21B6B49-2F3B-60B2-EFC5-8E54A6D54257}"/>
              </a:ext>
            </a:extLst>
          </p:cNvPr>
          <p:cNvCxnSpPr>
            <a:cxnSpLocks/>
          </p:cNvCxnSpPr>
          <p:nvPr/>
        </p:nvCxnSpPr>
        <p:spPr>
          <a:xfrm>
            <a:off x="1912536" y="8676669"/>
            <a:ext cx="2664000" cy="0"/>
          </a:xfrm>
          <a:prstGeom prst="straightConnector1">
            <a:avLst/>
          </a:prstGeom>
          <a:ln w="3175">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E42B329-6799-4FD2-A42B-EC801F1785DE}"/>
              </a:ext>
            </a:extLst>
          </p:cNvPr>
          <p:cNvSpPr txBox="1"/>
          <p:nvPr/>
        </p:nvSpPr>
        <p:spPr>
          <a:xfrm>
            <a:off x="2228993" y="8576899"/>
            <a:ext cx="2090317" cy="215444"/>
          </a:xfrm>
          <a:prstGeom prst="rect">
            <a:avLst/>
          </a:prstGeom>
          <a:solidFill>
            <a:schemeClr val="bg1"/>
          </a:solidFill>
        </p:spPr>
        <p:txBody>
          <a:bodyPr wrap="none" lIns="0" tIns="0" rIns="0" bIns="0" rtlCol="0" anchor="ctr" anchorCtr="0">
            <a:spAutoFit/>
          </a:bodyPr>
          <a:lstStyle/>
          <a:p>
            <a:pPr algn="ctr"/>
            <a:r>
              <a:rPr lang="en-US" altLang="ko-KR" sz="700" i="1" dirty="0">
                <a:latin typeface="Arial" panose="020B0604020202020204" pitchFamily="34" charset="0"/>
                <a:cs typeface="Arial" panose="020B0604020202020204" pitchFamily="34" charset="0"/>
              </a:rPr>
              <a:t>the amount of LD data to be transmitted for one time</a:t>
            </a:r>
          </a:p>
          <a:p>
            <a:pPr algn="ctr"/>
            <a:r>
              <a:rPr lang="en-US" altLang="ko-KR" sz="700" i="1" dirty="0">
                <a:latin typeface="Arial" panose="020B0604020202020204" pitchFamily="34" charset="0"/>
                <a:cs typeface="Arial" panose="020B0604020202020204" pitchFamily="34" charset="0"/>
              </a:rPr>
              <a:t>LD_SIZE = 7</a:t>
            </a:r>
            <a:endParaRPr lang="ko-KR" altLang="en-US" sz="700" i="1" dirty="0">
              <a:latin typeface="Arial" panose="020B0604020202020204" pitchFamily="34" charset="0"/>
              <a:cs typeface="Arial" panose="020B0604020202020204" pitchFamily="34" charset="0"/>
            </a:endParaRPr>
          </a:p>
        </p:txBody>
      </p:sp>
      <p:cxnSp>
        <p:nvCxnSpPr>
          <p:cNvPr id="8" name="직선 연결선 7">
            <a:extLst>
              <a:ext uri="{FF2B5EF4-FFF2-40B4-BE49-F238E27FC236}">
                <a16:creationId xmlns:a16="http://schemas.microsoft.com/office/drawing/2014/main" id="{E3D94867-40EE-8F6F-15AF-879A1B0FB727}"/>
              </a:ext>
            </a:extLst>
          </p:cNvPr>
          <p:cNvCxnSpPr/>
          <p:nvPr/>
        </p:nvCxnSpPr>
        <p:spPr>
          <a:xfrm>
            <a:off x="1920179" y="8494571"/>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 name="직선 연결선 11">
            <a:extLst>
              <a:ext uri="{FF2B5EF4-FFF2-40B4-BE49-F238E27FC236}">
                <a16:creationId xmlns:a16="http://schemas.microsoft.com/office/drawing/2014/main" id="{15B5F65B-B395-EBD8-6B1B-26C651AEC006}"/>
              </a:ext>
            </a:extLst>
          </p:cNvPr>
          <p:cNvCxnSpPr/>
          <p:nvPr/>
        </p:nvCxnSpPr>
        <p:spPr>
          <a:xfrm>
            <a:off x="4576536" y="8490597"/>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776F881-7344-006C-C533-76E292201129}"/>
              </a:ext>
            </a:extLst>
          </p:cNvPr>
          <p:cNvSpPr txBox="1"/>
          <p:nvPr/>
        </p:nvSpPr>
        <p:spPr>
          <a:xfrm>
            <a:off x="2245426" y="8845995"/>
            <a:ext cx="3157917" cy="107722"/>
          </a:xfrm>
          <a:prstGeom prst="rect">
            <a:avLst/>
          </a:prstGeom>
          <a:solidFill>
            <a:schemeClr val="bg1"/>
          </a:solidFill>
        </p:spPr>
        <p:txBody>
          <a:bodyPr wrap="none" lIns="0" tIns="0" rIns="0" bIns="0" rtlCol="0" anchor="ctr" anchorCtr="0">
            <a:spAutoFit/>
          </a:bodyPr>
          <a:lstStyle/>
          <a:p>
            <a:pPr algn="ctr"/>
            <a:r>
              <a:rPr lang="en-US" altLang="ko-KR" sz="700" i="1" dirty="0">
                <a:latin typeface="Arial" panose="020B0604020202020204" pitchFamily="34" charset="0"/>
                <a:cs typeface="Arial" panose="020B0604020202020204" pitchFamily="34" charset="0"/>
              </a:rPr>
              <a:t>wherein, the LD data of the disabled channels, CH2 and CH5, can be any value</a:t>
            </a:r>
            <a:endParaRPr lang="ko-KR" altLang="en-US" sz="700" i="1" dirty="0">
              <a:latin typeface="Arial" panose="020B0604020202020204" pitchFamily="34" charset="0"/>
              <a:cs typeface="Arial" panose="020B0604020202020204" pitchFamily="34" charset="0"/>
            </a:endParaRPr>
          </a:p>
        </p:txBody>
      </p:sp>
      <p:graphicFrame>
        <p:nvGraphicFramePr>
          <p:cNvPr id="25" name="표 24">
            <a:extLst>
              <a:ext uri="{FF2B5EF4-FFF2-40B4-BE49-F238E27FC236}">
                <a16:creationId xmlns:a16="http://schemas.microsoft.com/office/drawing/2014/main" id="{54C3364E-020E-DF31-1671-C40EF62F47B7}"/>
              </a:ext>
            </a:extLst>
          </p:cNvPr>
          <p:cNvGraphicFramePr>
            <a:graphicFrameLocks noGrp="1"/>
          </p:cNvGraphicFramePr>
          <p:nvPr>
            <p:extLst>
              <p:ext uri="{D42A27DB-BD31-4B8C-83A1-F6EECF244321}">
                <p14:modId xmlns:p14="http://schemas.microsoft.com/office/powerpoint/2010/main" val="3347143721"/>
              </p:ext>
            </p:extLst>
          </p:nvPr>
        </p:nvGraphicFramePr>
        <p:xfrm>
          <a:off x="397025" y="1760887"/>
          <a:ext cx="6058369" cy="37260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FPWM_DIV2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FPWM_DIV1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6" name="표 25">
            <a:extLst>
              <a:ext uri="{FF2B5EF4-FFF2-40B4-BE49-F238E27FC236}">
                <a16:creationId xmlns:a16="http://schemas.microsoft.com/office/drawing/2014/main" id="{9EFDFB5E-0937-65D7-B57F-EF77CD7C6B44}"/>
              </a:ext>
            </a:extLst>
          </p:cNvPr>
          <p:cNvGraphicFramePr>
            <a:graphicFrameLocks noGrp="1"/>
          </p:cNvGraphicFramePr>
          <p:nvPr>
            <p:extLst>
              <p:ext uri="{D42A27DB-BD31-4B8C-83A1-F6EECF244321}">
                <p14:modId xmlns:p14="http://schemas.microsoft.com/office/powerpoint/2010/main" val="579066760"/>
              </p:ext>
            </p:extLst>
          </p:nvPr>
        </p:nvGraphicFramePr>
        <p:xfrm>
          <a:off x="403798" y="2279696"/>
          <a:ext cx="6058369" cy="37260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FPWM_DIV3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FPWM_DIV2[7:4]</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7087303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1297052404"/>
              </p:ext>
            </p:extLst>
          </p:nvPr>
        </p:nvGraphicFramePr>
        <p:xfrm>
          <a:off x="406838" y="1556231"/>
          <a:ext cx="6046597" cy="3757833"/>
        </p:xfrm>
        <a:graphic>
          <a:graphicData uri="http://schemas.openxmlformats.org/drawingml/2006/table">
            <a:tbl>
              <a:tblPr firstRow="1" bandRow="1">
                <a:tableStyleId>{5C22544A-7EE6-4342-B048-85BDC9FD1C3A}</a:tableStyleId>
              </a:tblPr>
              <a:tblGrid>
                <a:gridCol w="304092">
                  <a:extLst>
                    <a:ext uri="{9D8B030D-6E8A-4147-A177-3AD203B41FA5}">
                      <a16:colId xmlns:a16="http://schemas.microsoft.com/office/drawing/2014/main" val="4170535043"/>
                    </a:ext>
                  </a:extLst>
                </a:gridCol>
                <a:gridCol w="1243023">
                  <a:extLst>
                    <a:ext uri="{9D8B030D-6E8A-4147-A177-3AD203B41FA5}">
                      <a16:colId xmlns:a16="http://schemas.microsoft.com/office/drawing/2014/main" val="2079070694"/>
                    </a:ext>
                  </a:extLst>
                </a:gridCol>
                <a:gridCol w="4499482">
                  <a:extLst>
                    <a:ext uri="{9D8B030D-6E8A-4147-A177-3AD203B41FA5}">
                      <a16:colId xmlns:a16="http://schemas.microsoft.com/office/drawing/2014/main" val="32595803"/>
                    </a:ext>
                  </a:extLst>
                </a:gridCol>
              </a:tblGrid>
              <a:tr h="29796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251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O_SLEW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slew control for PWM drivers.</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3560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FB_MODE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FB MODE.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FB1, FB2, FB3 : vled1, vled2, vled3 different from each other</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FB1, (FB2 || FB3) : vled2 and vled3 using a same </a:t>
                      </a:r>
                      <a:r>
                        <a:rPr lang="en-US" altLang="ko-KR" sz="900" b="0" dirty="0" err="1">
                          <a:solidFill>
                            <a:schemeClr val="tx1"/>
                          </a:solidFill>
                          <a:latin typeface="Arial" panose="020B0604020202020204" pitchFamily="34" charset="0"/>
                          <a:ea typeface="+mn-ea"/>
                          <a:cs typeface="Arial" panose="020B0604020202020204" pitchFamily="34" charset="0"/>
                        </a:rPr>
                        <a:t>vled</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7971460"/>
                  </a:ext>
                </a:extLst>
              </a:tr>
              <a:tr h="59364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SHORT event, and the event can be detected in only case the corresponding channel’s PWM output is ON status and its channel’s headroom is above the set value in the SHORT_LEVEL register.</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841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OPEN event, and the event can be detected in only case the corresponding channel’s PWM output is OFF status and its channel’s headroom is below 0.25V.</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4671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all channels’ output be off in case the THERMAL event happens, and all channels will be activated again after the THERMAL event is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9934807"/>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SHORTed channel’s output be off in case the SHORT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8665145"/>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OPENed channel’s output be off in case the OPEN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2095016374"/>
              </p:ext>
            </p:extLst>
          </p:nvPr>
        </p:nvGraphicFramePr>
        <p:xfrm>
          <a:off x="399453" y="1113183"/>
          <a:ext cx="6062713" cy="372600"/>
        </p:xfrm>
        <a:graphic>
          <a:graphicData uri="http://schemas.openxmlformats.org/drawingml/2006/table">
            <a:tbl>
              <a:tblPr firstRow="1" bandRow="1">
                <a:tableStyleId>{5C22544A-7EE6-4342-B048-85BDC9FD1C3A}</a:tableStyleId>
              </a:tblPr>
              <a:tblGrid>
                <a:gridCol w="276033">
                  <a:extLst>
                    <a:ext uri="{9D8B030D-6E8A-4147-A177-3AD203B41FA5}">
                      <a16:colId xmlns:a16="http://schemas.microsoft.com/office/drawing/2014/main" val="657570846"/>
                    </a:ext>
                  </a:extLst>
                </a:gridCol>
                <a:gridCol w="323022">
                  <a:extLst>
                    <a:ext uri="{9D8B030D-6E8A-4147-A177-3AD203B41FA5}">
                      <a16:colId xmlns:a16="http://schemas.microsoft.com/office/drawing/2014/main" val="3259894497"/>
                    </a:ext>
                  </a:extLst>
                </a:gridCol>
                <a:gridCol w="433207">
                  <a:extLst>
                    <a:ext uri="{9D8B030D-6E8A-4147-A177-3AD203B41FA5}">
                      <a16:colId xmlns:a16="http://schemas.microsoft.com/office/drawing/2014/main" val="4170535043"/>
                    </a:ext>
                  </a:extLst>
                </a:gridCol>
                <a:gridCol w="468073">
                  <a:extLst>
                    <a:ext uri="{9D8B030D-6E8A-4147-A177-3AD203B41FA5}">
                      <a16:colId xmlns:a16="http://schemas.microsoft.com/office/drawing/2014/main" val="2079070694"/>
                    </a:ext>
                  </a:extLst>
                </a:gridCol>
                <a:gridCol w="484383">
                  <a:extLst>
                    <a:ext uri="{9D8B030D-6E8A-4147-A177-3AD203B41FA5}">
                      <a16:colId xmlns:a16="http://schemas.microsoft.com/office/drawing/2014/main" val="4213315911"/>
                    </a:ext>
                  </a:extLst>
                </a:gridCol>
                <a:gridCol w="343789">
                  <a:extLst>
                    <a:ext uri="{9D8B030D-6E8A-4147-A177-3AD203B41FA5}">
                      <a16:colId xmlns:a16="http://schemas.microsoft.com/office/drawing/2014/main" val="2769999950"/>
                    </a:ext>
                  </a:extLst>
                </a:gridCol>
                <a:gridCol w="431601">
                  <a:extLst>
                    <a:ext uri="{9D8B030D-6E8A-4147-A177-3AD203B41FA5}">
                      <a16:colId xmlns:a16="http://schemas.microsoft.com/office/drawing/2014/main" val="135637185"/>
                    </a:ext>
                  </a:extLst>
                </a:gridCol>
                <a:gridCol w="539833">
                  <a:extLst>
                    <a:ext uri="{9D8B030D-6E8A-4147-A177-3AD203B41FA5}">
                      <a16:colId xmlns:a16="http://schemas.microsoft.com/office/drawing/2014/main" val="3038050475"/>
                    </a:ext>
                  </a:extLst>
                </a:gridCol>
                <a:gridCol w="461126">
                  <a:extLst>
                    <a:ext uri="{9D8B030D-6E8A-4147-A177-3AD203B41FA5}">
                      <a16:colId xmlns:a16="http://schemas.microsoft.com/office/drawing/2014/main" val="1979433044"/>
                    </a:ext>
                  </a:extLst>
                </a:gridCol>
                <a:gridCol w="444033">
                  <a:extLst>
                    <a:ext uri="{9D8B030D-6E8A-4147-A177-3AD203B41FA5}">
                      <a16:colId xmlns:a16="http://schemas.microsoft.com/office/drawing/2014/main" val="4270661649"/>
                    </a:ext>
                  </a:extLst>
                </a:gridCol>
                <a:gridCol w="378373">
                  <a:extLst>
                    <a:ext uri="{9D8B030D-6E8A-4147-A177-3AD203B41FA5}">
                      <a16:colId xmlns:a16="http://schemas.microsoft.com/office/drawing/2014/main" val="3027041370"/>
                    </a:ext>
                  </a:extLst>
                </a:gridCol>
                <a:gridCol w="370218">
                  <a:extLst>
                    <a:ext uri="{9D8B030D-6E8A-4147-A177-3AD203B41FA5}">
                      <a16:colId xmlns:a16="http://schemas.microsoft.com/office/drawing/2014/main" val="2852526216"/>
                    </a:ext>
                  </a:extLst>
                </a:gridCol>
                <a:gridCol w="363694">
                  <a:extLst>
                    <a:ext uri="{9D8B030D-6E8A-4147-A177-3AD203B41FA5}">
                      <a16:colId xmlns:a16="http://schemas.microsoft.com/office/drawing/2014/main" val="103420222"/>
                    </a:ext>
                  </a:extLst>
                </a:gridCol>
                <a:gridCol w="368587">
                  <a:extLst>
                    <a:ext uri="{9D8B030D-6E8A-4147-A177-3AD203B41FA5}">
                      <a16:colId xmlns:a16="http://schemas.microsoft.com/office/drawing/2014/main" val="1470405609"/>
                    </a:ext>
                  </a:extLst>
                </a:gridCol>
                <a:gridCol w="3767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x</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O_SLEW[1:0]</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FB_MODE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399453" y="848186"/>
            <a:ext cx="605398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CONTROL</a:t>
            </a:r>
          </a:p>
        </p:txBody>
      </p:sp>
      <p:graphicFrame>
        <p:nvGraphicFramePr>
          <p:cNvPr id="4" name="표 3">
            <a:extLst>
              <a:ext uri="{FF2B5EF4-FFF2-40B4-BE49-F238E27FC236}">
                <a16:creationId xmlns:a16="http://schemas.microsoft.com/office/drawing/2014/main" id="{D3CB8E13-BD92-4CE4-DB78-18803788DC04}"/>
              </a:ext>
            </a:extLst>
          </p:cNvPr>
          <p:cNvGraphicFramePr>
            <a:graphicFrameLocks noGrp="1"/>
          </p:cNvGraphicFramePr>
          <p:nvPr>
            <p:extLst>
              <p:ext uri="{D42A27DB-BD31-4B8C-83A1-F6EECF244321}">
                <p14:modId xmlns:p14="http://schemas.microsoft.com/office/powerpoint/2010/main" val="839670549"/>
              </p:ext>
            </p:extLst>
          </p:nvPr>
        </p:nvGraphicFramePr>
        <p:xfrm>
          <a:off x="395972" y="6444737"/>
          <a:ext cx="6046597" cy="2667009"/>
        </p:xfrm>
        <a:graphic>
          <a:graphicData uri="http://schemas.openxmlformats.org/drawingml/2006/table">
            <a:tbl>
              <a:tblPr firstRow="1" bandRow="1">
                <a:tableStyleId>{5C22544A-7EE6-4342-B048-85BDC9FD1C3A}</a:tableStyleId>
              </a:tblPr>
              <a:tblGrid>
                <a:gridCol w="304092">
                  <a:extLst>
                    <a:ext uri="{9D8B030D-6E8A-4147-A177-3AD203B41FA5}">
                      <a16:colId xmlns:a16="http://schemas.microsoft.com/office/drawing/2014/main" val="4170535043"/>
                    </a:ext>
                  </a:extLst>
                </a:gridCol>
                <a:gridCol w="1243023">
                  <a:extLst>
                    <a:ext uri="{9D8B030D-6E8A-4147-A177-3AD203B41FA5}">
                      <a16:colId xmlns:a16="http://schemas.microsoft.com/office/drawing/2014/main" val="2079070694"/>
                    </a:ext>
                  </a:extLst>
                </a:gridCol>
                <a:gridCol w="4499482">
                  <a:extLst>
                    <a:ext uri="{9D8B030D-6E8A-4147-A177-3AD203B41FA5}">
                      <a16:colId xmlns:a16="http://schemas.microsoft.com/office/drawing/2014/main" val="32595803"/>
                    </a:ext>
                  </a:extLst>
                </a:gridCol>
              </a:tblGrid>
              <a:tr h="29796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91970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8:0</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FB1/2/3_LEVEL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1000" b="0" dirty="0">
                          <a:solidFill>
                            <a:schemeClr val="tx1"/>
                          </a:solidFill>
                          <a:latin typeface="Arial" panose="020B0604020202020204" pitchFamily="34" charset="0"/>
                          <a:ea typeface="+mn-ea"/>
                          <a:cs typeface="Arial" panose="020B0604020202020204" pitchFamily="34" charset="0"/>
                        </a:rPr>
                        <a:t>The FB_LEVEL determines the level at which a FB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3b’000 : &lt;  0.45V         3b’001 : &lt;  0.55V        3b’010 : &lt;  0.65V        3b’011 : &lt; 0.75V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3’b100 : &lt;  0.90V         3’b101 : &lt;  1.05V        3’b110 : &lt;  1.20V        3b’111 : &lt; 1.35V</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FB1_LEVEL : FB LEVEL for LED1</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FB2_LEVEL : FB LEVEL for LED2</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FB3_LEVEL : FB_LEVEL for LED3 </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3560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SHORT1/2/3_LEVEL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1000" b="0" dirty="0">
                          <a:solidFill>
                            <a:schemeClr val="tx1"/>
                          </a:solidFill>
                          <a:latin typeface="Arial" panose="020B0604020202020204" pitchFamily="34" charset="0"/>
                          <a:ea typeface="+mn-ea"/>
                          <a:cs typeface="Arial" panose="020B0604020202020204" pitchFamily="34" charset="0"/>
                        </a:rPr>
                        <a:t>The SHORT_LEVEL determines the level at which a SHORT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3b’000 :  &gt;  3.5V           3b’001 : &gt;  4.5V          3b’010 : &gt;  6.5V          3b’011 : &gt; 9.0V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3b’100 :  &gt; 13.5V          3b’101 : &gt; 17.5V         3b’110 : &gt; 26.0V         3b’111 : &gt; 32.0V</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SHORT1_LEVEL : SHORT LEVEL for LED1</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SHORT2_LEVEL : SHORT LEVEL for LED2</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SHORT3_LEVEL : SHORT_LEVEL for LED3 </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7971460"/>
                  </a:ext>
                </a:extLst>
              </a:tr>
            </a:tbl>
          </a:graphicData>
        </a:graphic>
      </p:graphicFrame>
      <p:graphicFrame>
        <p:nvGraphicFramePr>
          <p:cNvPr id="5" name="표 4">
            <a:extLst>
              <a:ext uri="{FF2B5EF4-FFF2-40B4-BE49-F238E27FC236}">
                <a16:creationId xmlns:a16="http://schemas.microsoft.com/office/drawing/2014/main" id="{45708631-8E6C-7BEB-F02D-1EF4BC5ECA70}"/>
              </a:ext>
            </a:extLst>
          </p:cNvPr>
          <p:cNvGraphicFramePr>
            <a:graphicFrameLocks noGrp="1"/>
          </p:cNvGraphicFramePr>
          <p:nvPr>
            <p:extLst>
              <p:ext uri="{D42A27DB-BD31-4B8C-83A1-F6EECF244321}">
                <p14:modId xmlns:p14="http://schemas.microsoft.com/office/powerpoint/2010/main" val="4157769211"/>
              </p:ext>
            </p:extLst>
          </p:nvPr>
        </p:nvGraphicFramePr>
        <p:xfrm>
          <a:off x="404813" y="5514009"/>
          <a:ext cx="6062601" cy="372600"/>
        </p:xfrm>
        <a:graphic>
          <a:graphicData uri="http://schemas.openxmlformats.org/drawingml/2006/table">
            <a:tbl>
              <a:tblPr firstRow="1" bandRow="1">
                <a:tableStyleId>{5C22544A-7EE6-4342-B048-85BDC9FD1C3A}</a:tableStyleId>
              </a:tblPr>
              <a:tblGrid>
                <a:gridCol w="276028">
                  <a:extLst>
                    <a:ext uri="{9D8B030D-6E8A-4147-A177-3AD203B41FA5}">
                      <a16:colId xmlns:a16="http://schemas.microsoft.com/office/drawing/2014/main" val="657570846"/>
                    </a:ext>
                  </a:extLst>
                </a:gridCol>
                <a:gridCol w="323016">
                  <a:extLst>
                    <a:ext uri="{9D8B030D-6E8A-4147-A177-3AD203B41FA5}">
                      <a16:colId xmlns:a16="http://schemas.microsoft.com/office/drawing/2014/main" val="3259894497"/>
                    </a:ext>
                  </a:extLst>
                </a:gridCol>
                <a:gridCol w="433199">
                  <a:extLst>
                    <a:ext uri="{9D8B030D-6E8A-4147-A177-3AD203B41FA5}">
                      <a16:colId xmlns:a16="http://schemas.microsoft.com/office/drawing/2014/main" val="4170535043"/>
                    </a:ext>
                  </a:extLst>
                </a:gridCol>
                <a:gridCol w="468064">
                  <a:extLst>
                    <a:ext uri="{9D8B030D-6E8A-4147-A177-3AD203B41FA5}">
                      <a16:colId xmlns:a16="http://schemas.microsoft.com/office/drawing/2014/main" val="2079070694"/>
                    </a:ext>
                  </a:extLst>
                </a:gridCol>
                <a:gridCol w="484374">
                  <a:extLst>
                    <a:ext uri="{9D8B030D-6E8A-4147-A177-3AD203B41FA5}">
                      <a16:colId xmlns:a16="http://schemas.microsoft.com/office/drawing/2014/main" val="4213315911"/>
                    </a:ext>
                  </a:extLst>
                </a:gridCol>
                <a:gridCol w="343783">
                  <a:extLst>
                    <a:ext uri="{9D8B030D-6E8A-4147-A177-3AD203B41FA5}">
                      <a16:colId xmlns:a16="http://schemas.microsoft.com/office/drawing/2014/main" val="2769999950"/>
                    </a:ext>
                  </a:extLst>
                </a:gridCol>
                <a:gridCol w="431593">
                  <a:extLst>
                    <a:ext uri="{9D8B030D-6E8A-4147-A177-3AD203B41FA5}">
                      <a16:colId xmlns:a16="http://schemas.microsoft.com/office/drawing/2014/main" val="135637185"/>
                    </a:ext>
                  </a:extLst>
                </a:gridCol>
                <a:gridCol w="539823">
                  <a:extLst>
                    <a:ext uri="{9D8B030D-6E8A-4147-A177-3AD203B41FA5}">
                      <a16:colId xmlns:a16="http://schemas.microsoft.com/office/drawing/2014/main" val="3038050475"/>
                    </a:ext>
                  </a:extLst>
                </a:gridCol>
                <a:gridCol w="461118">
                  <a:extLst>
                    <a:ext uri="{9D8B030D-6E8A-4147-A177-3AD203B41FA5}">
                      <a16:colId xmlns:a16="http://schemas.microsoft.com/office/drawing/2014/main" val="1979433044"/>
                    </a:ext>
                  </a:extLst>
                </a:gridCol>
                <a:gridCol w="444025">
                  <a:extLst>
                    <a:ext uri="{9D8B030D-6E8A-4147-A177-3AD203B41FA5}">
                      <a16:colId xmlns:a16="http://schemas.microsoft.com/office/drawing/2014/main" val="4270661649"/>
                    </a:ext>
                  </a:extLst>
                </a:gridCol>
                <a:gridCol w="378366">
                  <a:extLst>
                    <a:ext uri="{9D8B030D-6E8A-4147-A177-3AD203B41FA5}">
                      <a16:colId xmlns:a16="http://schemas.microsoft.com/office/drawing/2014/main" val="3027041370"/>
                    </a:ext>
                  </a:extLst>
                </a:gridCol>
                <a:gridCol w="370211">
                  <a:extLst>
                    <a:ext uri="{9D8B030D-6E8A-4147-A177-3AD203B41FA5}">
                      <a16:colId xmlns:a16="http://schemas.microsoft.com/office/drawing/2014/main" val="2852526216"/>
                    </a:ext>
                  </a:extLst>
                </a:gridCol>
                <a:gridCol w="363687">
                  <a:extLst>
                    <a:ext uri="{9D8B030D-6E8A-4147-A177-3AD203B41FA5}">
                      <a16:colId xmlns:a16="http://schemas.microsoft.com/office/drawing/2014/main" val="103420222"/>
                    </a:ext>
                  </a:extLst>
                </a:gridCol>
                <a:gridCol w="368580">
                  <a:extLst>
                    <a:ext uri="{9D8B030D-6E8A-4147-A177-3AD203B41FA5}">
                      <a16:colId xmlns:a16="http://schemas.microsoft.com/office/drawing/2014/main" val="1470405609"/>
                    </a:ext>
                  </a:extLst>
                </a:gridCol>
                <a:gridCol w="3767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x</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FB3_LEVEL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FB2_LEVEL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FB1_LEVEL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F405B7C2-D563-4513-E1EB-601268D12B0E}"/>
              </a:ext>
            </a:extLst>
          </p:cNvPr>
          <p:cNvSpPr txBox="1"/>
          <p:nvPr/>
        </p:nvSpPr>
        <p:spPr>
          <a:xfrm>
            <a:off x="404702" y="5249012"/>
            <a:ext cx="6053983" cy="261610"/>
          </a:xfrm>
          <a:prstGeom prst="rect">
            <a:avLst/>
          </a:prstGeom>
          <a:noFill/>
        </p:spPr>
        <p:txBody>
          <a:bodyPr wrap="square" lIns="0" rtlCol="0">
            <a:spAutoFit/>
          </a:bodyPr>
          <a:lstStyle/>
          <a:p>
            <a:r>
              <a:rPr lang="en-US" altLang="ko-KR" sz="1100" b="1">
                <a:latin typeface="Arial" panose="020B0604020202020204" pitchFamily="34" charset="0"/>
                <a:cs typeface="Arial" panose="020B0604020202020204" pitchFamily="34" charset="0"/>
              </a:rPr>
              <a:t>FAULT </a:t>
            </a:r>
            <a:r>
              <a:rPr lang="en-US" altLang="ko-KR" sz="1100" b="1" dirty="0">
                <a:latin typeface="Arial" panose="020B0604020202020204" pitchFamily="34" charset="0"/>
                <a:cs typeface="Arial" panose="020B0604020202020204" pitchFamily="34" charset="0"/>
              </a:rPr>
              <a:t>LEVEL</a:t>
            </a:r>
          </a:p>
        </p:txBody>
      </p:sp>
      <p:graphicFrame>
        <p:nvGraphicFramePr>
          <p:cNvPr id="7" name="표 6">
            <a:extLst>
              <a:ext uri="{FF2B5EF4-FFF2-40B4-BE49-F238E27FC236}">
                <a16:creationId xmlns:a16="http://schemas.microsoft.com/office/drawing/2014/main" id="{6639C1F7-E3EB-6286-0633-E51D6EF973E7}"/>
              </a:ext>
            </a:extLst>
          </p:cNvPr>
          <p:cNvGraphicFramePr>
            <a:graphicFrameLocks noGrp="1"/>
          </p:cNvGraphicFramePr>
          <p:nvPr>
            <p:extLst>
              <p:ext uri="{D42A27DB-BD31-4B8C-83A1-F6EECF244321}">
                <p14:modId xmlns:p14="http://schemas.microsoft.com/office/powerpoint/2010/main" val="2637282024"/>
              </p:ext>
            </p:extLst>
          </p:nvPr>
        </p:nvGraphicFramePr>
        <p:xfrm>
          <a:off x="404813" y="5961049"/>
          <a:ext cx="6053873" cy="372600"/>
        </p:xfrm>
        <a:graphic>
          <a:graphicData uri="http://schemas.openxmlformats.org/drawingml/2006/table">
            <a:tbl>
              <a:tblPr firstRow="1" bandRow="1">
                <a:tableStyleId>{5C22544A-7EE6-4342-B048-85BDC9FD1C3A}</a:tableStyleId>
              </a:tblPr>
              <a:tblGrid>
                <a:gridCol w="275630">
                  <a:extLst>
                    <a:ext uri="{9D8B030D-6E8A-4147-A177-3AD203B41FA5}">
                      <a16:colId xmlns:a16="http://schemas.microsoft.com/office/drawing/2014/main" val="657570846"/>
                    </a:ext>
                  </a:extLst>
                </a:gridCol>
                <a:gridCol w="322551">
                  <a:extLst>
                    <a:ext uri="{9D8B030D-6E8A-4147-A177-3AD203B41FA5}">
                      <a16:colId xmlns:a16="http://schemas.microsoft.com/office/drawing/2014/main" val="3259894497"/>
                    </a:ext>
                  </a:extLst>
                </a:gridCol>
                <a:gridCol w="432575">
                  <a:extLst>
                    <a:ext uri="{9D8B030D-6E8A-4147-A177-3AD203B41FA5}">
                      <a16:colId xmlns:a16="http://schemas.microsoft.com/office/drawing/2014/main" val="4170535043"/>
                    </a:ext>
                  </a:extLst>
                </a:gridCol>
                <a:gridCol w="467390">
                  <a:extLst>
                    <a:ext uri="{9D8B030D-6E8A-4147-A177-3AD203B41FA5}">
                      <a16:colId xmlns:a16="http://schemas.microsoft.com/office/drawing/2014/main" val="2079070694"/>
                    </a:ext>
                  </a:extLst>
                </a:gridCol>
                <a:gridCol w="483677">
                  <a:extLst>
                    <a:ext uri="{9D8B030D-6E8A-4147-A177-3AD203B41FA5}">
                      <a16:colId xmlns:a16="http://schemas.microsoft.com/office/drawing/2014/main" val="4213315911"/>
                    </a:ext>
                  </a:extLst>
                </a:gridCol>
                <a:gridCol w="343288">
                  <a:extLst>
                    <a:ext uri="{9D8B030D-6E8A-4147-A177-3AD203B41FA5}">
                      <a16:colId xmlns:a16="http://schemas.microsoft.com/office/drawing/2014/main" val="2769999950"/>
                    </a:ext>
                  </a:extLst>
                </a:gridCol>
                <a:gridCol w="430972">
                  <a:extLst>
                    <a:ext uri="{9D8B030D-6E8A-4147-A177-3AD203B41FA5}">
                      <a16:colId xmlns:a16="http://schemas.microsoft.com/office/drawing/2014/main" val="135637185"/>
                    </a:ext>
                  </a:extLst>
                </a:gridCol>
                <a:gridCol w="539046">
                  <a:extLst>
                    <a:ext uri="{9D8B030D-6E8A-4147-A177-3AD203B41FA5}">
                      <a16:colId xmlns:a16="http://schemas.microsoft.com/office/drawing/2014/main" val="3038050475"/>
                    </a:ext>
                  </a:extLst>
                </a:gridCol>
                <a:gridCol w="460454">
                  <a:extLst>
                    <a:ext uri="{9D8B030D-6E8A-4147-A177-3AD203B41FA5}">
                      <a16:colId xmlns:a16="http://schemas.microsoft.com/office/drawing/2014/main" val="1979433044"/>
                    </a:ext>
                  </a:extLst>
                </a:gridCol>
                <a:gridCol w="443385">
                  <a:extLst>
                    <a:ext uri="{9D8B030D-6E8A-4147-A177-3AD203B41FA5}">
                      <a16:colId xmlns:a16="http://schemas.microsoft.com/office/drawing/2014/main" val="4270661649"/>
                    </a:ext>
                  </a:extLst>
                </a:gridCol>
                <a:gridCol w="377821">
                  <a:extLst>
                    <a:ext uri="{9D8B030D-6E8A-4147-A177-3AD203B41FA5}">
                      <a16:colId xmlns:a16="http://schemas.microsoft.com/office/drawing/2014/main" val="3027041370"/>
                    </a:ext>
                  </a:extLst>
                </a:gridCol>
                <a:gridCol w="369678">
                  <a:extLst>
                    <a:ext uri="{9D8B030D-6E8A-4147-A177-3AD203B41FA5}">
                      <a16:colId xmlns:a16="http://schemas.microsoft.com/office/drawing/2014/main" val="2852526216"/>
                    </a:ext>
                  </a:extLst>
                </a:gridCol>
                <a:gridCol w="363164">
                  <a:extLst>
                    <a:ext uri="{9D8B030D-6E8A-4147-A177-3AD203B41FA5}">
                      <a16:colId xmlns:a16="http://schemas.microsoft.com/office/drawing/2014/main" val="103420222"/>
                    </a:ext>
                  </a:extLst>
                </a:gridCol>
                <a:gridCol w="368050">
                  <a:extLst>
                    <a:ext uri="{9D8B030D-6E8A-4147-A177-3AD203B41FA5}">
                      <a16:colId xmlns:a16="http://schemas.microsoft.com/office/drawing/2014/main" val="1470405609"/>
                    </a:ext>
                  </a:extLst>
                </a:gridCol>
                <a:gridCol w="3761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x</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SHORT3_LEVEL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SHORT2_LEVEL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SHORT1_LEVEL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0201828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5" name="표 14">
            <a:extLst>
              <a:ext uri="{FF2B5EF4-FFF2-40B4-BE49-F238E27FC236}">
                <a16:creationId xmlns:a16="http://schemas.microsoft.com/office/drawing/2014/main" id="{3C26C8CF-B06F-F2E1-D4AC-FF96B5CC5C7E}"/>
              </a:ext>
            </a:extLst>
          </p:cNvPr>
          <p:cNvGraphicFramePr>
            <a:graphicFrameLocks noGrp="1"/>
          </p:cNvGraphicFramePr>
          <p:nvPr>
            <p:extLst>
              <p:ext uri="{D42A27DB-BD31-4B8C-83A1-F6EECF244321}">
                <p14:modId xmlns:p14="http://schemas.microsoft.com/office/powerpoint/2010/main" val="121496477"/>
              </p:ext>
            </p:extLst>
          </p:nvPr>
        </p:nvGraphicFramePr>
        <p:xfrm>
          <a:off x="386687" y="7299713"/>
          <a:ext cx="6053977" cy="692640"/>
        </p:xfrm>
        <a:graphic>
          <a:graphicData uri="http://schemas.openxmlformats.org/drawingml/2006/table">
            <a:tbl>
              <a:tblPr firstRow="1" bandRow="1">
                <a:tableStyleId>{5C22544A-7EE6-4342-B048-85BDC9FD1C3A}</a:tableStyleId>
              </a:tblPr>
              <a:tblGrid>
                <a:gridCol w="353521">
                  <a:extLst>
                    <a:ext uri="{9D8B030D-6E8A-4147-A177-3AD203B41FA5}">
                      <a16:colId xmlns:a16="http://schemas.microsoft.com/office/drawing/2014/main" val="4170535043"/>
                    </a:ext>
                  </a:extLst>
                </a:gridCol>
                <a:gridCol w="1322448">
                  <a:extLst>
                    <a:ext uri="{9D8B030D-6E8A-4147-A177-3AD203B41FA5}">
                      <a16:colId xmlns:a16="http://schemas.microsoft.com/office/drawing/2014/main" val="2079070694"/>
                    </a:ext>
                  </a:extLst>
                </a:gridCol>
                <a:gridCol w="4378008">
                  <a:extLst>
                    <a:ext uri="{9D8B030D-6E8A-4147-A177-3AD203B41FA5}">
                      <a16:colId xmlns:a16="http://schemas.microsoft.com/office/drawing/2014/main" val="32595803"/>
                    </a:ext>
                  </a:extLst>
                </a:gridCol>
              </a:tblGrid>
              <a:tr h="13788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104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LEVEL3/2/1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MAX_CURR_LEVEL determines the physical maximum current level of the device.  The max dimming sink-current set by the MAX_CURR_VREF can not be beyond the MAX_CURR_LEVEL.</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4B3B8378-FEF3-0BCE-5CAE-D3DEA41C9F85}"/>
              </a:ext>
            </a:extLst>
          </p:cNvPr>
          <p:cNvSpPr txBox="1"/>
          <p:nvPr/>
        </p:nvSpPr>
        <p:spPr>
          <a:xfrm>
            <a:off x="403138" y="6491585"/>
            <a:ext cx="605397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LEVEL</a:t>
            </a:r>
          </a:p>
        </p:txBody>
      </p:sp>
      <p:graphicFrame>
        <p:nvGraphicFramePr>
          <p:cNvPr id="8" name="표 7">
            <a:extLst>
              <a:ext uri="{FF2B5EF4-FFF2-40B4-BE49-F238E27FC236}">
                <a16:creationId xmlns:a16="http://schemas.microsoft.com/office/drawing/2014/main" id="{D867E8F5-FBF2-B122-27BF-B411415894F3}"/>
              </a:ext>
            </a:extLst>
          </p:cNvPr>
          <p:cNvGraphicFramePr>
            <a:graphicFrameLocks noGrp="1"/>
          </p:cNvGraphicFramePr>
          <p:nvPr>
            <p:extLst>
              <p:ext uri="{D42A27DB-BD31-4B8C-83A1-F6EECF244321}">
                <p14:modId xmlns:p14="http://schemas.microsoft.com/office/powerpoint/2010/main" val="4278744927"/>
              </p:ext>
            </p:extLst>
          </p:nvPr>
        </p:nvGraphicFramePr>
        <p:xfrm>
          <a:off x="403137" y="6756222"/>
          <a:ext cx="6050053" cy="372600"/>
        </p:xfrm>
        <a:graphic>
          <a:graphicData uri="http://schemas.openxmlformats.org/drawingml/2006/table">
            <a:tbl>
              <a:tblPr firstRow="1" bandRow="1">
                <a:tableStyleId>{5C22544A-7EE6-4342-B048-85BDC9FD1C3A}</a:tableStyleId>
              </a:tblPr>
              <a:tblGrid>
                <a:gridCol w="339418">
                  <a:extLst>
                    <a:ext uri="{9D8B030D-6E8A-4147-A177-3AD203B41FA5}">
                      <a16:colId xmlns:a16="http://schemas.microsoft.com/office/drawing/2014/main" val="657570846"/>
                    </a:ext>
                  </a:extLst>
                </a:gridCol>
                <a:gridCol w="373202">
                  <a:extLst>
                    <a:ext uri="{9D8B030D-6E8A-4147-A177-3AD203B41FA5}">
                      <a16:colId xmlns:a16="http://schemas.microsoft.com/office/drawing/2014/main" val="3259894497"/>
                    </a:ext>
                  </a:extLst>
                </a:gridCol>
                <a:gridCol w="438610">
                  <a:extLst>
                    <a:ext uri="{9D8B030D-6E8A-4147-A177-3AD203B41FA5}">
                      <a16:colId xmlns:a16="http://schemas.microsoft.com/office/drawing/2014/main" val="4170535043"/>
                    </a:ext>
                  </a:extLst>
                </a:gridCol>
                <a:gridCol w="390946">
                  <a:extLst>
                    <a:ext uri="{9D8B030D-6E8A-4147-A177-3AD203B41FA5}">
                      <a16:colId xmlns:a16="http://schemas.microsoft.com/office/drawing/2014/main" val="2079070694"/>
                    </a:ext>
                  </a:extLst>
                </a:gridCol>
                <a:gridCol w="390946">
                  <a:extLst>
                    <a:ext uri="{9D8B030D-6E8A-4147-A177-3AD203B41FA5}">
                      <a16:colId xmlns:a16="http://schemas.microsoft.com/office/drawing/2014/main" val="4213315911"/>
                    </a:ext>
                  </a:extLst>
                </a:gridCol>
                <a:gridCol w="470662">
                  <a:extLst>
                    <a:ext uri="{9D8B030D-6E8A-4147-A177-3AD203B41FA5}">
                      <a16:colId xmlns:a16="http://schemas.microsoft.com/office/drawing/2014/main" val="2769999950"/>
                    </a:ext>
                  </a:extLst>
                </a:gridCol>
                <a:gridCol w="477338">
                  <a:extLst>
                    <a:ext uri="{9D8B030D-6E8A-4147-A177-3AD203B41FA5}">
                      <a16:colId xmlns:a16="http://schemas.microsoft.com/office/drawing/2014/main" val="135637185"/>
                    </a:ext>
                  </a:extLst>
                </a:gridCol>
                <a:gridCol w="390946">
                  <a:extLst>
                    <a:ext uri="{9D8B030D-6E8A-4147-A177-3AD203B41FA5}">
                      <a16:colId xmlns:a16="http://schemas.microsoft.com/office/drawing/2014/main" val="3038050475"/>
                    </a:ext>
                  </a:extLst>
                </a:gridCol>
                <a:gridCol w="390946">
                  <a:extLst>
                    <a:ext uri="{9D8B030D-6E8A-4147-A177-3AD203B41FA5}">
                      <a16:colId xmlns:a16="http://schemas.microsoft.com/office/drawing/2014/main" val="1979433044"/>
                    </a:ext>
                  </a:extLst>
                </a:gridCol>
                <a:gridCol w="390946">
                  <a:extLst>
                    <a:ext uri="{9D8B030D-6E8A-4147-A177-3AD203B41FA5}">
                      <a16:colId xmlns:a16="http://schemas.microsoft.com/office/drawing/2014/main" val="4270661649"/>
                    </a:ext>
                  </a:extLst>
                </a:gridCol>
                <a:gridCol w="390946">
                  <a:extLst>
                    <a:ext uri="{9D8B030D-6E8A-4147-A177-3AD203B41FA5}">
                      <a16:colId xmlns:a16="http://schemas.microsoft.com/office/drawing/2014/main" val="3027041370"/>
                    </a:ext>
                  </a:extLst>
                </a:gridCol>
                <a:gridCol w="432309">
                  <a:extLst>
                    <a:ext uri="{9D8B030D-6E8A-4147-A177-3AD203B41FA5}">
                      <a16:colId xmlns:a16="http://schemas.microsoft.com/office/drawing/2014/main" val="2852526216"/>
                    </a:ext>
                  </a:extLst>
                </a:gridCol>
                <a:gridCol w="390946">
                  <a:extLst>
                    <a:ext uri="{9D8B030D-6E8A-4147-A177-3AD203B41FA5}">
                      <a16:colId xmlns:a16="http://schemas.microsoft.com/office/drawing/2014/main" val="103420222"/>
                    </a:ext>
                  </a:extLst>
                </a:gridCol>
                <a:gridCol w="390946">
                  <a:extLst>
                    <a:ext uri="{9D8B030D-6E8A-4147-A177-3AD203B41FA5}">
                      <a16:colId xmlns:a16="http://schemas.microsoft.com/office/drawing/2014/main" val="1470405609"/>
                    </a:ext>
                  </a:extLst>
                </a:gridCol>
                <a:gridCol w="39094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MAX_CURR_LEVEL3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MAX_CURR_LEVEL2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MAX_CURR_LEVEL1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4117753152"/>
              </p:ext>
            </p:extLst>
          </p:nvPr>
        </p:nvGraphicFramePr>
        <p:xfrm>
          <a:off x="403137" y="1668334"/>
          <a:ext cx="6047025" cy="4572817"/>
        </p:xfrm>
        <a:graphic>
          <a:graphicData uri="http://schemas.openxmlformats.org/drawingml/2006/table">
            <a:tbl>
              <a:tblPr firstRow="1" bandRow="1">
                <a:tableStyleId>{5C22544A-7EE6-4342-B048-85BDC9FD1C3A}</a:tableStyleId>
              </a:tblPr>
              <a:tblGrid>
                <a:gridCol w="432577">
                  <a:extLst>
                    <a:ext uri="{9D8B030D-6E8A-4147-A177-3AD203B41FA5}">
                      <a16:colId xmlns:a16="http://schemas.microsoft.com/office/drawing/2014/main" val="4170535043"/>
                    </a:ext>
                  </a:extLst>
                </a:gridCol>
                <a:gridCol w="797409">
                  <a:extLst>
                    <a:ext uri="{9D8B030D-6E8A-4147-A177-3AD203B41FA5}">
                      <a16:colId xmlns:a16="http://schemas.microsoft.com/office/drawing/2014/main" val="2079070694"/>
                    </a:ext>
                  </a:extLst>
                </a:gridCol>
                <a:gridCol w="4817039">
                  <a:extLst>
                    <a:ext uri="{9D8B030D-6E8A-4147-A177-3AD203B41FA5}">
                      <a16:colId xmlns:a16="http://schemas.microsoft.com/office/drawing/2014/main" val="32595803"/>
                    </a:ext>
                  </a:extLst>
                </a:gridCol>
              </a:tblGrid>
              <a:tr h="142035">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3517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TIMEOUT_ERR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TIMEOUT_ERR bit indicates no readout case within the count time set in 0x19.</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70088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THERMAL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THERMAL bit indicates whether the THERMAL event due to overheating happens, and this bit will keep asserted as long as the THERMAL event is not cleared. The event threshold can be set by the OFS_TEMP in the TEMP register.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T_OFF_E bit of the FAULT CONTROL register is set, all output sink drivers will be turned-off as long as the event is asserted, and turned-on again after internal temperature goes down below the set level of the OFS_TEMP. This bit involves other fault events in the readout information, MISS_VS, OV15 and UV15 at the FAULT_(AUTO)_READ transaction.</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776345"/>
                  </a:ext>
                </a:extLst>
              </a:tr>
              <a:tr h="5146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 bit indicates whether the SHORT event happens. The event can be detected in case some channel’s headroom goes above the set value in the SHORT_LEVEL of FAULT LEVEL register and its channel’s PWM out is ON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S_OFF_E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146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OPEN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OPEN bit indicates whether the OPEN event happens. The event can be detected in case some channel’s headroom goes below 0.25V and its channel’s PWM out is OFF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60774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FB1/2/3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 bit indicates whether the output channels’ headroom voltage is below the value set by FB_LEVEL of the FAULT LEVEL register due to insufficient VLED.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whenever the  FB event occurs in even one of the activated channels and will be auto-cleared after readout this register. This bit will be set again after readout as long as the FB condition is still valid.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O_FB_E of FAULT CONTROL register is set, the FB event will happen in case the OPEN event is not asserted. </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i="0" kern="1200" dirty="0">
                        <a:solidFill>
                          <a:schemeClr val="dk1"/>
                        </a:solidFill>
                        <a:effectLst/>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FB1 : FB signal for LED1</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FB2 : FB signal for LED2</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FB3 : FB signal for LED3</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718010376"/>
              </p:ext>
            </p:extLst>
          </p:nvPr>
        </p:nvGraphicFramePr>
        <p:xfrm>
          <a:off x="404564" y="1109616"/>
          <a:ext cx="6048450" cy="47928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409055">
                  <a:extLst>
                    <a:ext uri="{9D8B030D-6E8A-4147-A177-3AD203B41FA5}">
                      <a16:colId xmlns:a16="http://schemas.microsoft.com/office/drawing/2014/main" val="2079070694"/>
                    </a:ext>
                  </a:extLst>
                </a:gridCol>
                <a:gridCol w="401365">
                  <a:extLst>
                    <a:ext uri="{9D8B030D-6E8A-4147-A177-3AD203B41FA5}">
                      <a16:colId xmlns:a16="http://schemas.microsoft.com/office/drawing/2014/main" val="4213315911"/>
                    </a:ext>
                  </a:extLst>
                </a:gridCol>
                <a:gridCol w="401365">
                  <a:extLst>
                    <a:ext uri="{9D8B030D-6E8A-4147-A177-3AD203B41FA5}">
                      <a16:colId xmlns:a16="http://schemas.microsoft.com/office/drawing/2014/main" val="2769999950"/>
                    </a:ext>
                  </a:extLst>
                </a:gridCol>
                <a:gridCol w="401365">
                  <a:extLst>
                    <a:ext uri="{9D8B030D-6E8A-4147-A177-3AD203B41FA5}">
                      <a16:colId xmlns:a16="http://schemas.microsoft.com/office/drawing/2014/main" val="135637185"/>
                    </a:ext>
                  </a:extLst>
                </a:gridCol>
                <a:gridCol w="401365">
                  <a:extLst>
                    <a:ext uri="{9D8B030D-6E8A-4147-A177-3AD203B41FA5}">
                      <a16:colId xmlns:a16="http://schemas.microsoft.com/office/drawing/2014/main" val="3038050475"/>
                    </a:ext>
                  </a:extLst>
                </a:gridCol>
                <a:gridCol w="336008">
                  <a:extLst>
                    <a:ext uri="{9D8B030D-6E8A-4147-A177-3AD203B41FA5}">
                      <a16:colId xmlns:a16="http://schemas.microsoft.com/office/drawing/2014/main" val="1979433044"/>
                    </a:ext>
                  </a:extLst>
                </a:gridCol>
                <a:gridCol w="466722">
                  <a:extLst>
                    <a:ext uri="{9D8B030D-6E8A-4147-A177-3AD203B41FA5}">
                      <a16:colId xmlns:a16="http://schemas.microsoft.com/office/drawing/2014/main" val="4270661649"/>
                    </a:ext>
                  </a:extLst>
                </a:gridCol>
                <a:gridCol w="401365">
                  <a:extLst>
                    <a:ext uri="{9D8B030D-6E8A-4147-A177-3AD203B41FA5}">
                      <a16:colId xmlns:a16="http://schemas.microsoft.com/office/drawing/2014/main" val="3027041370"/>
                    </a:ext>
                  </a:extLst>
                </a:gridCol>
                <a:gridCol w="443832">
                  <a:extLst>
                    <a:ext uri="{9D8B030D-6E8A-4147-A177-3AD203B41FA5}">
                      <a16:colId xmlns:a16="http://schemas.microsoft.com/office/drawing/2014/main" val="2852526216"/>
                    </a:ext>
                  </a:extLst>
                </a:gridCol>
                <a:gridCol w="401365">
                  <a:extLst>
                    <a:ext uri="{9D8B030D-6E8A-4147-A177-3AD203B41FA5}">
                      <a16:colId xmlns:a16="http://schemas.microsoft.com/office/drawing/2014/main" val="103420222"/>
                    </a:ext>
                  </a:extLst>
                </a:gridCol>
                <a:gridCol w="401365">
                  <a:extLst>
                    <a:ext uri="{9D8B030D-6E8A-4147-A177-3AD203B41FA5}">
                      <a16:colId xmlns:a16="http://schemas.microsoft.com/office/drawing/2014/main" val="1470405609"/>
                    </a:ext>
                  </a:extLst>
                </a:gridCol>
                <a:gridCol w="40136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TIMEOUT_ERR</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THERMAL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OPEN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404564" y="848186"/>
            <a:ext cx="605760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STATUS</a:t>
            </a:r>
          </a:p>
        </p:txBody>
      </p:sp>
    </p:spTree>
    <p:extLst>
      <p:ext uri="{BB962C8B-B14F-4D97-AF65-F5344CB8AC3E}">
        <p14:creationId xmlns:p14="http://schemas.microsoft.com/office/powerpoint/2010/main" val="42943524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5246DEB0-6373-C080-BE63-A9B65ACD3330}"/>
              </a:ext>
            </a:extLst>
          </p:cNvPr>
          <p:cNvGraphicFramePr>
            <a:graphicFrameLocks noGrp="1"/>
          </p:cNvGraphicFramePr>
          <p:nvPr>
            <p:extLst>
              <p:ext uri="{D42A27DB-BD31-4B8C-83A1-F6EECF244321}">
                <p14:modId xmlns:p14="http://schemas.microsoft.com/office/powerpoint/2010/main" val="4210221373"/>
              </p:ext>
            </p:extLst>
          </p:nvPr>
        </p:nvGraphicFramePr>
        <p:xfrm>
          <a:off x="401035" y="2625858"/>
          <a:ext cx="6052400" cy="1738837"/>
        </p:xfrm>
        <a:graphic>
          <a:graphicData uri="http://schemas.openxmlformats.org/drawingml/2006/table">
            <a:tbl>
              <a:tblPr firstRow="1" bandRow="1">
                <a:tableStyleId>{5C22544A-7EE6-4342-B048-85BDC9FD1C3A}</a:tableStyleId>
              </a:tblPr>
              <a:tblGrid>
                <a:gridCol w="373704">
                  <a:extLst>
                    <a:ext uri="{9D8B030D-6E8A-4147-A177-3AD203B41FA5}">
                      <a16:colId xmlns:a16="http://schemas.microsoft.com/office/drawing/2014/main" val="4170535043"/>
                    </a:ext>
                  </a:extLst>
                </a:gridCol>
                <a:gridCol w="1115461">
                  <a:extLst>
                    <a:ext uri="{9D8B030D-6E8A-4147-A177-3AD203B41FA5}">
                      <a16:colId xmlns:a16="http://schemas.microsoft.com/office/drawing/2014/main" val="2079070694"/>
                    </a:ext>
                  </a:extLst>
                </a:gridCol>
                <a:gridCol w="4563235">
                  <a:extLst>
                    <a:ext uri="{9D8B030D-6E8A-4147-A177-3AD203B41FA5}">
                      <a16:colId xmlns:a16="http://schemas.microsoft.com/office/drawing/2014/main" val="32595803"/>
                    </a:ext>
                  </a:extLst>
                </a:gridCol>
              </a:tblGrid>
              <a:tr h="29523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MAX_CURR_VREF1/2/3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MAX_CURR_VREF1/2/3 determines the maximum current value of a frame to be dimmed. If the max current level is set to 8mA, then the MAX_CURR_VREF value is proportional to the max current level, and so this value decides the max current reference of all blocks being dimmed for a frame. The setting value will come into effect at the next vsync assertion even if the value is set during current dimming frame earlier than the next </a:t>
                      </a:r>
                      <a:r>
                        <a:rPr lang="en-US" altLang="ko-KR" sz="900" b="0" dirty="0" err="1">
                          <a:solidFill>
                            <a:schemeClr val="tx1"/>
                          </a:solidFill>
                          <a:latin typeface="Arial" panose="020B0604020202020204" pitchFamily="34" charset="0"/>
                          <a:ea typeface="+mn-ea"/>
                          <a:cs typeface="Arial" panose="020B0604020202020204" pitchFamily="34" charset="0"/>
                        </a:rPr>
                        <a:t>vsync</a:t>
                      </a:r>
                      <a:r>
                        <a:rPr lang="en-US" altLang="ko-KR" sz="900" b="0" dirty="0">
                          <a:solidFill>
                            <a:schemeClr val="tx1"/>
                          </a:solidFill>
                          <a:latin typeface="Arial" panose="020B0604020202020204" pitchFamily="34" charset="0"/>
                          <a:ea typeface="+mn-ea"/>
                          <a:cs typeface="Arial" panose="020B0604020202020204" pitchFamily="34" charset="0"/>
                        </a:rPr>
                        <a:t>.</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MAX_CURR_VREF1 : MAX_CURR_VREF for LED1</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MAX_CURR_VREF2 : MAX_CURR_VREF for LED2</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MAX_CURR_VREF3 : MAX_CURR_VREF for LED3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1CA3539C-262F-DCFF-AAB8-7187F49BD04E}"/>
              </a:ext>
            </a:extLst>
          </p:cNvPr>
          <p:cNvGraphicFramePr>
            <a:graphicFrameLocks noGrp="1"/>
          </p:cNvGraphicFramePr>
          <p:nvPr>
            <p:extLst>
              <p:ext uri="{D42A27DB-BD31-4B8C-83A1-F6EECF244321}">
                <p14:modId xmlns:p14="http://schemas.microsoft.com/office/powerpoint/2010/main" val="1783912449"/>
              </p:ext>
            </p:extLst>
          </p:nvPr>
        </p:nvGraphicFramePr>
        <p:xfrm>
          <a:off x="406736" y="1110452"/>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MAX_CURR_VREF1[11:0]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5CBB5A2B-88AD-CB2B-06D4-A847F70DC2AB}"/>
              </a:ext>
            </a:extLst>
          </p:cNvPr>
          <p:cNvSpPr txBox="1"/>
          <p:nvPr/>
        </p:nvSpPr>
        <p:spPr>
          <a:xfrm>
            <a:off x="404564" y="848842"/>
            <a:ext cx="603796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VREF</a:t>
            </a:r>
          </a:p>
        </p:txBody>
      </p:sp>
      <p:graphicFrame>
        <p:nvGraphicFramePr>
          <p:cNvPr id="4" name="표 3">
            <a:extLst>
              <a:ext uri="{FF2B5EF4-FFF2-40B4-BE49-F238E27FC236}">
                <a16:creationId xmlns:a16="http://schemas.microsoft.com/office/drawing/2014/main" id="{96ABD091-2D29-51CF-7CDC-CEE8FBA2C7D0}"/>
              </a:ext>
            </a:extLst>
          </p:cNvPr>
          <p:cNvGraphicFramePr>
            <a:graphicFrameLocks noGrp="1"/>
          </p:cNvGraphicFramePr>
          <p:nvPr>
            <p:extLst>
              <p:ext uri="{D42A27DB-BD31-4B8C-83A1-F6EECF244321}">
                <p14:modId xmlns:p14="http://schemas.microsoft.com/office/powerpoint/2010/main" val="1801070095"/>
              </p:ext>
            </p:extLst>
          </p:nvPr>
        </p:nvGraphicFramePr>
        <p:xfrm>
          <a:off x="415467" y="1546171"/>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MAX_CURR_VREF2[11:0]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4C6700ED-C82D-EDC2-43C1-7C68860C512C}"/>
              </a:ext>
            </a:extLst>
          </p:cNvPr>
          <p:cNvGraphicFramePr>
            <a:graphicFrameLocks noGrp="1"/>
          </p:cNvGraphicFramePr>
          <p:nvPr>
            <p:extLst>
              <p:ext uri="{D42A27DB-BD31-4B8C-83A1-F6EECF244321}">
                <p14:modId xmlns:p14="http://schemas.microsoft.com/office/powerpoint/2010/main" val="3375538301"/>
              </p:ext>
            </p:extLst>
          </p:nvPr>
        </p:nvGraphicFramePr>
        <p:xfrm>
          <a:off x="415467" y="1999567"/>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MAX_CURR_VREF3[11:0]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3" name="TextBox 12">
            <a:extLst>
              <a:ext uri="{FF2B5EF4-FFF2-40B4-BE49-F238E27FC236}">
                <a16:creationId xmlns:a16="http://schemas.microsoft.com/office/drawing/2014/main" id="{0A0E28D5-A8BE-3313-6E1E-880FD4AA20EE}"/>
              </a:ext>
            </a:extLst>
          </p:cNvPr>
          <p:cNvSpPr txBox="1"/>
          <p:nvPr/>
        </p:nvSpPr>
        <p:spPr>
          <a:xfrm>
            <a:off x="404813" y="4907280"/>
            <a:ext cx="600918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a:t>
            </a:r>
          </a:p>
        </p:txBody>
      </p:sp>
      <p:graphicFrame>
        <p:nvGraphicFramePr>
          <p:cNvPr id="33" name="표 32">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2493928181"/>
              </p:ext>
            </p:extLst>
          </p:nvPr>
        </p:nvGraphicFramePr>
        <p:xfrm>
          <a:off x="404813" y="8218976"/>
          <a:ext cx="5964635" cy="785189"/>
        </p:xfrm>
        <a:graphic>
          <a:graphicData uri="http://schemas.openxmlformats.org/drawingml/2006/table">
            <a:tbl>
              <a:tblPr firstRow="1" bandRow="1">
                <a:tableStyleId>{5C22544A-7EE6-4342-B048-85BDC9FD1C3A}</a:tableStyleId>
              </a:tblPr>
              <a:tblGrid>
                <a:gridCol w="434007">
                  <a:extLst>
                    <a:ext uri="{9D8B030D-6E8A-4147-A177-3AD203B41FA5}">
                      <a16:colId xmlns:a16="http://schemas.microsoft.com/office/drawing/2014/main" val="4170535043"/>
                    </a:ext>
                  </a:extLst>
                </a:gridCol>
                <a:gridCol w="1112908">
                  <a:extLst>
                    <a:ext uri="{9D8B030D-6E8A-4147-A177-3AD203B41FA5}">
                      <a16:colId xmlns:a16="http://schemas.microsoft.com/office/drawing/2014/main" val="2079070694"/>
                    </a:ext>
                  </a:extLst>
                </a:gridCol>
                <a:gridCol w="4417720">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err="1">
                          <a:solidFill>
                            <a:schemeClr val="tx1"/>
                          </a:solidFill>
                          <a:latin typeface="Arial" panose="020B0604020202020204" pitchFamily="34" charset="0"/>
                          <a:ea typeface="+mn-ea"/>
                          <a:cs typeface="Arial" panose="020B0604020202020204" pitchFamily="34" charset="0"/>
                        </a:rPr>
                        <a:t>DELAY_CHx</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DELAY_CHx determines from which PWM position the dimming out starts. If this is set to n, then the dimming out starts at (n+1)</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PWM position. Normally, the setting value can not exceed the max PWM resolution.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 name="표 2">
            <a:extLst>
              <a:ext uri="{FF2B5EF4-FFF2-40B4-BE49-F238E27FC236}">
                <a16:creationId xmlns:a16="http://schemas.microsoft.com/office/drawing/2014/main" id="{EEF8D6D6-7AA3-CF7E-18EB-077CD9DAD2F8}"/>
              </a:ext>
            </a:extLst>
          </p:cNvPr>
          <p:cNvGraphicFramePr>
            <a:graphicFrameLocks noGrp="1"/>
          </p:cNvGraphicFramePr>
          <p:nvPr>
            <p:extLst>
              <p:ext uri="{D42A27DB-BD31-4B8C-83A1-F6EECF244321}">
                <p14:modId xmlns:p14="http://schemas.microsoft.com/office/powerpoint/2010/main" val="3187440062"/>
              </p:ext>
            </p:extLst>
          </p:nvPr>
        </p:nvGraphicFramePr>
        <p:xfrm>
          <a:off x="423594" y="5166666"/>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DELAY_CH2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5" name="표 4">
            <a:extLst>
              <a:ext uri="{FF2B5EF4-FFF2-40B4-BE49-F238E27FC236}">
                <a16:creationId xmlns:a16="http://schemas.microsoft.com/office/drawing/2014/main" id="{4547DBF1-4569-7689-F8E8-293FEAC6DE73}"/>
              </a:ext>
            </a:extLst>
          </p:cNvPr>
          <p:cNvGraphicFramePr>
            <a:graphicFrameLocks noGrp="1"/>
          </p:cNvGraphicFramePr>
          <p:nvPr>
            <p:extLst>
              <p:ext uri="{D42A27DB-BD31-4B8C-83A1-F6EECF244321}">
                <p14:modId xmlns:p14="http://schemas.microsoft.com/office/powerpoint/2010/main" val="1222187266"/>
              </p:ext>
            </p:extLst>
          </p:nvPr>
        </p:nvGraphicFramePr>
        <p:xfrm>
          <a:off x="423594" y="5664053"/>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DELAY_CH4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DELAY_CH3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6" name="표 5">
            <a:extLst>
              <a:ext uri="{FF2B5EF4-FFF2-40B4-BE49-F238E27FC236}">
                <a16:creationId xmlns:a16="http://schemas.microsoft.com/office/drawing/2014/main" id="{68A2CD42-F248-9D87-E2DC-12E9625A197A}"/>
              </a:ext>
            </a:extLst>
          </p:cNvPr>
          <p:cNvGraphicFramePr>
            <a:graphicFrameLocks noGrp="1"/>
          </p:cNvGraphicFramePr>
          <p:nvPr>
            <p:extLst>
              <p:ext uri="{D42A27DB-BD31-4B8C-83A1-F6EECF244321}">
                <p14:modId xmlns:p14="http://schemas.microsoft.com/office/powerpoint/2010/main" val="3273079369"/>
              </p:ext>
            </p:extLst>
          </p:nvPr>
        </p:nvGraphicFramePr>
        <p:xfrm>
          <a:off x="423594" y="6178437"/>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DELAY_CH6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DELAY_CH5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9" name="표 8">
            <a:extLst>
              <a:ext uri="{FF2B5EF4-FFF2-40B4-BE49-F238E27FC236}">
                <a16:creationId xmlns:a16="http://schemas.microsoft.com/office/drawing/2014/main" id="{6B7B6CEC-9EAF-318E-576A-08BA667B2AA9}"/>
              </a:ext>
            </a:extLst>
          </p:cNvPr>
          <p:cNvGraphicFramePr>
            <a:graphicFrameLocks noGrp="1"/>
          </p:cNvGraphicFramePr>
          <p:nvPr>
            <p:extLst>
              <p:ext uri="{D42A27DB-BD31-4B8C-83A1-F6EECF244321}">
                <p14:modId xmlns:p14="http://schemas.microsoft.com/office/powerpoint/2010/main" val="3782658382"/>
              </p:ext>
            </p:extLst>
          </p:nvPr>
        </p:nvGraphicFramePr>
        <p:xfrm>
          <a:off x="423594" y="6692821"/>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DELAY_CH8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DELAY_CH7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0" name="표 9">
            <a:extLst>
              <a:ext uri="{FF2B5EF4-FFF2-40B4-BE49-F238E27FC236}">
                <a16:creationId xmlns:a16="http://schemas.microsoft.com/office/drawing/2014/main" id="{64CD34D6-5502-D355-C35F-3A07169C488C}"/>
              </a:ext>
            </a:extLst>
          </p:cNvPr>
          <p:cNvGraphicFramePr>
            <a:graphicFrameLocks noGrp="1"/>
          </p:cNvGraphicFramePr>
          <p:nvPr>
            <p:extLst>
              <p:ext uri="{D42A27DB-BD31-4B8C-83A1-F6EECF244321}">
                <p14:modId xmlns:p14="http://schemas.microsoft.com/office/powerpoint/2010/main" val="382832018"/>
              </p:ext>
            </p:extLst>
          </p:nvPr>
        </p:nvGraphicFramePr>
        <p:xfrm>
          <a:off x="423594" y="7190208"/>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DELAY_CH10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DELAY_CH9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1" name="표 10">
            <a:extLst>
              <a:ext uri="{FF2B5EF4-FFF2-40B4-BE49-F238E27FC236}">
                <a16:creationId xmlns:a16="http://schemas.microsoft.com/office/drawing/2014/main" id="{F3B597C4-17A7-FCE1-9082-16CDDD4D9254}"/>
              </a:ext>
            </a:extLst>
          </p:cNvPr>
          <p:cNvGraphicFramePr>
            <a:graphicFrameLocks noGrp="1"/>
          </p:cNvGraphicFramePr>
          <p:nvPr>
            <p:extLst>
              <p:ext uri="{D42A27DB-BD31-4B8C-83A1-F6EECF244321}">
                <p14:modId xmlns:p14="http://schemas.microsoft.com/office/powerpoint/2010/main" val="1271380121"/>
              </p:ext>
            </p:extLst>
          </p:nvPr>
        </p:nvGraphicFramePr>
        <p:xfrm>
          <a:off x="423594" y="7704592"/>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DELAY_CH12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DELAY_CH11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spTree>
    <p:extLst>
      <p:ext uri="{BB962C8B-B14F-4D97-AF65-F5344CB8AC3E}">
        <p14:creationId xmlns:p14="http://schemas.microsoft.com/office/powerpoint/2010/main" val="25662257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1C6A5-26E8-B0BB-7D68-36DA9A243C0B}"/>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A6A8D8ED-90B3-F885-C81B-36E680EBB6E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5A3C562-F53C-F512-E124-A68FFD288636}"/>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DA09BE3B-D42A-9D30-9032-82333E69E4E5}"/>
              </a:ext>
            </a:extLst>
          </p:cNvPr>
          <p:cNvSpPr txBox="1"/>
          <p:nvPr/>
        </p:nvSpPr>
        <p:spPr>
          <a:xfrm>
            <a:off x="400802" y="745685"/>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SERIALIZER OUTPUT BAUDRATE</a:t>
            </a:r>
          </a:p>
        </p:txBody>
      </p:sp>
      <p:graphicFrame>
        <p:nvGraphicFramePr>
          <p:cNvPr id="16" name="표 15">
            <a:extLst>
              <a:ext uri="{FF2B5EF4-FFF2-40B4-BE49-F238E27FC236}">
                <a16:creationId xmlns:a16="http://schemas.microsoft.com/office/drawing/2014/main" id="{9597CD42-B47D-8CA3-D0FA-33CC61DF1949}"/>
              </a:ext>
            </a:extLst>
          </p:cNvPr>
          <p:cNvGraphicFramePr>
            <a:graphicFrameLocks noGrp="1"/>
          </p:cNvGraphicFramePr>
          <p:nvPr>
            <p:extLst>
              <p:ext uri="{D42A27DB-BD31-4B8C-83A1-F6EECF244321}">
                <p14:modId xmlns:p14="http://schemas.microsoft.com/office/powerpoint/2010/main" val="1314549249"/>
              </p:ext>
            </p:extLst>
          </p:nvPr>
        </p:nvGraphicFramePr>
        <p:xfrm>
          <a:off x="400554" y="1522626"/>
          <a:ext cx="6048609" cy="1341883"/>
        </p:xfrm>
        <a:graphic>
          <a:graphicData uri="http://schemas.openxmlformats.org/drawingml/2006/table">
            <a:tbl>
              <a:tblPr firstRow="1" bandRow="1">
                <a:tableStyleId>{5C22544A-7EE6-4342-B048-85BDC9FD1C3A}</a:tableStyleId>
              </a:tblPr>
              <a:tblGrid>
                <a:gridCol w="435859">
                  <a:extLst>
                    <a:ext uri="{9D8B030D-6E8A-4147-A177-3AD203B41FA5}">
                      <a16:colId xmlns:a16="http://schemas.microsoft.com/office/drawing/2014/main" val="4170535043"/>
                    </a:ext>
                  </a:extLst>
                </a:gridCol>
                <a:gridCol w="1142081">
                  <a:extLst>
                    <a:ext uri="{9D8B030D-6E8A-4147-A177-3AD203B41FA5}">
                      <a16:colId xmlns:a16="http://schemas.microsoft.com/office/drawing/2014/main" val="2079070694"/>
                    </a:ext>
                  </a:extLst>
                </a:gridCol>
                <a:gridCol w="4470669">
                  <a:extLst>
                    <a:ext uri="{9D8B030D-6E8A-4147-A177-3AD203B41FA5}">
                      <a16:colId xmlns:a16="http://schemas.microsoft.com/office/drawing/2014/main" val="32595803"/>
                    </a:ext>
                  </a:extLst>
                </a:gridCol>
              </a:tblGrid>
              <a:tr h="27324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SERIAL_CLK_LOW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low value ‘0’ or the number of MCLK of 0 level in logic high value ‘1’ when the XD12R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low time. (unit MCLK/2)</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SERIAL_CLK_HIGH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high value ‘1’ or the number of MCLK of 0 level in logic low value ‘0’ when the XD12R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high time. (unit MCLK/2)</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17" name="표 16">
            <a:extLst>
              <a:ext uri="{FF2B5EF4-FFF2-40B4-BE49-F238E27FC236}">
                <a16:creationId xmlns:a16="http://schemas.microsoft.com/office/drawing/2014/main" id="{0738ED28-379C-18F2-ECD4-2CB3C3F6EE76}"/>
              </a:ext>
            </a:extLst>
          </p:cNvPr>
          <p:cNvGraphicFramePr>
            <a:graphicFrameLocks noGrp="1"/>
          </p:cNvGraphicFramePr>
          <p:nvPr>
            <p:extLst>
              <p:ext uri="{D42A27DB-BD31-4B8C-83A1-F6EECF244321}">
                <p14:modId xmlns:p14="http://schemas.microsoft.com/office/powerpoint/2010/main" val="1314161565"/>
              </p:ext>
            </p:extLst>
          </p:nvPr>
        </p:nvGraphicFramePr>
        <p:xfrm>
          <a:off x="400554" y="1006333"/>
          <a:ext cx="6048609" cy="372600"/>
        </p:xfrm>
        <a:graphic>
          <a:graphicData uri="http://schemas.openxmlformats.org/drawingml/2006/table">
            <a:tbl>
              <a:tblPr firstRow="1" bandRow="1">
                <a:tableStyleId>{5C22544A-7EE6-4342-B048-85BDC9FD1C3A}</a:tableStyleId>
              </a:tblPr>
              <a:tblGrid>
                <a:gridCol w="288979">
                  <a:extLst>
                    <a:ext uri="{9D8B030D-6E8A-4147-A177-3AD203B41FA5}">
                      <a16:colId xmlns:a16="http://schemas.microsoft.com/office/drawing/2014/main" val="657570846"/>
                    </a:ext>
                  </a:extLst>
                </a:gridCol>
                <a:gridCol w="338173">
                  <a:extLst>
                    <a:ext uri="{9D8B030D-6E8A-4147-A177-3AD203B41FA5}">
                      <a16:colId xmlns:a16="http://schemas.microsoft.com/office/drawing/2014/main" val="3259894497"/>
                    </a:ext>
                  </a:extLst>
                </a:gridCol>
                <a:gridCol w="453524">
                  <a:extLst>
                    <a:ext uri="{9D8B030D-6E8A-4147-A177-3AD203B41FA5}">
                      <a16:colId xmlns:a16="http://schemas.microsoft.com/office/drawing/2014/main" val="4170535043"/>
                    </a:ext>
                  </a:extLst>
                </a:gridCol>
                <a:gridCol w="418634">
                  <a:extLst>
                    <a:ext uri="{9D8B030D-6E8A-4147-A177-3AD203B41FA5}">
                      <a16:colId xmlns:a16="http://schemas.microsoft.com/office/drawing/2014/main" val="2079070694"/>
                    </a:ext>
                  </a:extLst>
                </a:gridCol>
                <a:gridCol w="418634">
                  <a:extLst>
                    <a:ext uri="{9D8B030D-6E8A-4147-A177-3AD203B41FA5}">
                      <a16:colId xmlns:a16="http://schemas.microsoft.com/office/drawing/2014/main" val="4213315911"/>
                    </a:ext>
                  </a:extLst>
                </a:gridCol>
                <a:gridCol w="418634">
                  <a:extLst>
                    <a:ext uri="{9D8B030D-6E8A-4147-A177-3AD203B41FA5}">
                      <a16:colId xmlns:a16="http://schemas.microsoft.com/office/drawing/2014/main" val="2769999950"/>
                    </a:ext>
                  </a:extLst>
                </a:gridCol>
                <a:gridCol w="418634">
                  <a:extLst>
                    <a:ext uri="{9D8B030D-6E8A-4147-A177-3AD203B41FA5}">
                      <a16:colId xmlns:a16="http://schemas.microsoft.com/office/drawing/2014/main" val="135637185"/>
                    </a:ext>
                  </a:extLst>
                </a:gridCol>
                <a:gridCol w="418634">
                  <a:extLst>
                    <a:ext uri="{9D8B030D-6E8A-4147-A177-3AD203B41FA5}">
                      <a16:colId xmlns:a16="http://schemas.microsoft.com/office/drawing/2014/main" val="3038050475"/>
                    </a:ext>
                  </a:extLst>
                </a:gridCol>
                <a:gridCol w="418634">
                  <a:extLst>
                    <a:ext uri="{9D8B030D-6E8A-4147-A177-3AD203B41FA5}">
                      <a16:colId xmlns:a16="http://schemas.microsoft.com/office/drawing/2014/main" val="1979433044"/>
                    </a:ext>
                  </a:extLst>
                </a:gridCol>
                <a:gridCol w="418634">
                  <a:extLst>
                    <a:ext uri="{9D8B030D-6E8A-4147-A177-3AD203B41FA5}">
                      <a16:colId xmlns:a16="http://schemas.microsoft.com/office/drawing/2014/main" val="4270661649"/>
                    </a:ext>
                  </a:extLst>
                </a:gridCol>
                <a:gridCol w="418634">
                  <a:extLst>
                    <a:ext uri="{9D8B030D-6E8A-4147-A177-3AD203B41FA5}">
                      <a16:colId xmlns:a16="http://schemas.microsoft.com/office/drawing/2014/main" val="3027041370"/>
                    </a:ext>
                  </a:extLst>
                </a:gridCol>
                <a:gridCol w="409244">
                  <a:extLst>
                    <a:ext uri="{9D8B030D-6E8A-4147-A177-3AD203B41FA5}">
                      <a16:colId xmlns:a16="http://schemas.microsoft.com/office/drawing/2014/main" val="2852526216"/>
                    </a:ext>
                  </a:extLst>
                </a:gridCol>
                <a:gridCol w="409244">
                  <a:extLst>
                    <a:ext uri="{9D8B030D-6E8A-4147-A177-3AD203B41FA5}">
                      <a16:colId xmlns:a16="http://schemas.microsoft.com/office/drawing/2014/main" val="103420222"/>
                    </a:ext>
                  </a:extLst>
                </a:gridCol>
                <a:gridCol w="409244">
                  <a:extLst>
                    <a:ext uri="{9D8B030D-6E8A-4147-A177-3AD203B41FA5}">
                      <a16:colId xmlns:a16="http://schemas.microsoft.com/office/drawing/2014/main" val="1470405609"/>
                    </a:ext>
                  </a:extLst>
                </a:gridCol>
                <a:gridCol w="39112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SERIAL_CLK_LOW [5:0]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SERIAL_CLK_HIGH [5:0]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8" name="TextBox 17">
            <a:extLst>
              <a:ext uri="{FF2B5EF4-FFF2-40B4-BE49-F238E27FC236}">
                <a16:creationId xmlns:a16="http://schemas.microsoft.com/office/drawing/2014/main" id="{D2BBA24D-3215-0A43-8722-B85CFCC5505B}"/>
              </a:ext>
            </a:extLst>
          </p:cNvPr>
          <p:cNvSpPr txBox="1"/>
          <p:nvPr/>
        </p:nvSpPr>
        <p:spPr>
          <a:xfrm>
            <a:off x="424787" y="3614074"/>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 LATENCY</a:t>
            </a:r>
          </a:p>
        </p:txBody>
      </p:sp>
      <p:graphicFrame>
        <p:nvGraphicFramePr>
          <p:cNvPr id="19" name="표 18">
            <a:extLst>
              <a:ext uri="{FF2B5EF4-FFF2-40B4-BE49-F238E27FC236}">
                <a16:creationId xmlns:a16="http://schemas.microsoft.com/office/drawing/2014/main" id="{D8746F16-2A79-1E22-42F1-DCA84C8BDF02}"/>
              </a:ext>
            </a:extLst>
          </p:cNvPr>
          <p:cNvGraphicFramePr>
            <a:graphicFrameLocks noGrp="1"/>
          </p:cNvGraphicFramePr>
          <p:nvPr>
            <p:extLst>
              <p:ext uri="{D42A27DB-BD31-4B8C-83A1-F6EECF244321}">
                <p14:modId xmlns:p14="http://schemas.microsoft.com/office/powerpoint/2010/main" val="2917636702"/>
              </p:ext>
            </p:extLst>
          </p:nvPr>
        </p:nvGraphicFramePr>
        <p:xfrm>
          <a:off x="399387" y="4397052"/>
          <a:ext cx="6048610" cy="1604593"/>
        </p:xfrm>
        <a:graphic>
          <a:graphicData uri="http://schemas.openxmlformats.org/drawingml/2006/table">
            <a:tbl>
              <a:tblPr firstRow="1" bandRow="1">
                <a:tableStyleId>{5C22544A-7EE6-4342-B048-85BDC9FD1C3A}</a:tableStyleId>
              </a:tblPr>
              <a:tblGrid>
                <a:gridCol w="437163">
                  <a:extLst>
                    <a:ext uri="{9D8B030D-6E8A-4147-A177-3AD203B41FA5}">
                      <a16:colId xmlns:a16="http://schemas.microsoft.com/office/drawing/2014/main" val="4170535043"/>
                    </a:ext>
                  </a:extLst>
                </a:gridCol>
                <a:gridCol w="1145495">
                  <a:extLst>
                    <a:ext uri="{9D8B030D-6E8A-4147-A177-3AD203B41FA5}">
                      <a16:colId xmlns:a16="http://schemas.microsoft.com/office/drawing/2014/main" val="2079070694"/>
                    </a:ext>
                  </a:extLst>
                </a:gridCol>
                <a:gridCol w="4465952">
                  <a:extLst>
                    <a:ext uri="{9D8B030D-6E8A-4147-A177-3AD203B41FA5}">
                      <a16:colId xmlns:a16="http://schemas.microsoft.com/office/drawing/2014/main" val="32595803"/>
                    </a:ext>
                  </a:extLst>
                </a:gridCol>
              </a:tblGrid>
              <a:tr h="298153">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1573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SERIAL_LAT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interval time between the successive data packets incoming from the XC. That means the interval time between the last bit of n</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XD12R  device’s data packet and the first bit of (n+1)</a:t>
                      </a:r>
                      <a:r>
                        <a:rPr lang="en-US" altLang="ko-KR" sz="900" b="0" baseline="30000" dirty="0" err="1">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XD12R  device’s data packet incoming from the XC. The setting value should be larger than the 1-bit serial data length time at which the XCR is sending to the daisied XD12R s. So, the proper value depends on the serial baudrate of the XCR and can be set between (1-bit time + 3 MCLKs) and (1-bit time + 5 MCLKs). If the proper value will be set, then the serial data value will be broken.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It is careful that this register value should be changed to the proper value firstly in case that the Serializer Output Baudrate of XCR is changed to slow down. </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0" name="표 19">
            <a:extLst>
              <a:ext uri="{FF2B5EF4-FFF2-40B4-BE49-F238E27FC236}">
                <a16:creationId xmlns:a16="http://schemas.microsoft.com/office/drawing/2014/main" id="{B53DE0AB-610D-6165-339F-8BB4D2BACF6A}"/>
              </a:ext>
            </a:extLst>
          </p:cNvPr>
          <p:cNvGraphicFramePr>
            <a:graphicFrameLocks noGrp="1"/>
          </p:cNvGraphicFramePr>
          <p:nvPr>
            <p:extLst>
              <p:ext uri="{D42A27DB-BD31-4B8C-83A1-F6EECF244321}">
                <p14:modId xmlns:p14="http://schemas.microsoft.com/office/powerpoint/2010/main" val="2836082422"/>
              </p:ext>
            </p:extLst>
          </p:nvPr>
        </p:nvGraphicFramePr>
        <p:xfrm>
          <a:off x="404813" y="3876413"/>
          <a:ext cx="6048371" cy="372600"/>
        </p:xfrm>
        <a:graphic>
          <a:graphicData uri="http://schemas.openxmlformats.org/drawingml/2006/table">
            <a:tbl>
              <a:tblPr firstRow="1" bandRow="1">
                <a:tableStyleId>{5C22544A-7EE6-4342-B048-85BDC9FD1C3A}</a:tableStyleId>
              </a:tblPr>
              <a:tblGrid>
                <a:gridCol w="351373">
                  <a:extLst>
                    <a:ext uri="{9D8B030D-6E8A-4147-A177-3AD203B41FA5}">
                      <a16:colId xmlns:a16="http://schemas.microsoft.com/office/drawing/2014/main" val="657570846"/>
                    </a:ext>
                  </a:extLst>
                </a:gridCol>
                <a:gridCol w="386347">
                  <a:extLst>
                    <a:ext uri="{9D8B030D-6E8A-4147-A177-3AD203B41FA5}">
                      <a16:colId xmlns:a16="http://schemas.microsoft.com/office/drawing/2014/main" val="3259894497"/>
                    </a:ext>
                  </a:extLst>
                </a:gridCol>
                <a:gridCol w="454059">
                  <a:extLst>
                    <a:ext uri="{9D8B030D-6E8A-4147-A177-3AD203B41FA5}">
                      <a16:colId xmlns:a16="http://schemas.microsoft.com/office/drawing/2014/main" val="4170535043"/>
                    </a:ext>
                  </a:extLst>
                </a:gridCol>
                <a:gridCol w="404716">
                  <a:extLst>
                    <a:ext uri="{9D8B030D-6E8A-4147-A177-3AD203B41FA5}">
                      <a16:colId xmlns:a16="http://schemas.microsoft.com/office/drawing/2014/main" val="2079070694"/>
                    </a:ext>
                  </a:extLst>
                </a:gridCol>
                <a:gridCol w="404716">
                  <a:extLst>
                    <a:ext uri="{9D8B030D-6E8A-4147-A177-3AD203B41FA5}">
                      <a16:colId xmlns:a16="http://schemas.microsoft.com/office/drawing/2014/main" val="4213315911"/>
                    </a:ext>
                  </a:extLst>
                </a:gridCol>
                <a:gridCol w="404716">
                  <a:extLst>
                    <a:ext uri="{9D8B030D-6E8A-4147-A177-3AD203B41FA5}">
                      <a16:colId xmlns:a16="http://schemas.microsoft.com/office/drawing/2014/main" val="2769999950"/>
                    </a:ext>
                  </a:extLst>
                </a:gridCol>
                <a:gridCol w="404716">
                  <a:extLst>
                    <a:ext uri="{9D8B030D-6E8A-4147-A177-3AD203B41FA5}">
                      <a16:colId xmlns:a16="http://schemas.microsoft.com/office/drawing/2014/main" val="135637185"/>
                    </a:ext>
                  </a:extLst>
                </a:gridCol>
                <a:gridCol w="404716">
                  <a:extLst>
                    <a:ext uri="{9D8B030D-6E8A-4147-A177-3AD203B41FA5}">
                      <a16:colId xmlns:a16="http://schemas.microsoft.com/office/drawing/2014/main" val="3038050475"/>
                    </a:ext>
                  </a:extLst>
                </a:gridCol>
                <a:gridCol w="404716">
                  <a:extLst>
                    <a:ext uri="{9D8B030D-6E8A-4147-A177-3AD203B41FA5}">
                      <a16:colId xmlns:a16="http://schemas.microsoft.com/office/drawing/2014/main" val="1979433044"/>
                    </a:ext>
                  </a:extLst>
                </a:gridCol>
                <a:gridCol w="404716">
                  <a:extLst>
                    <a:ext uri="{9D8B030D-6E8A-4147-A177-3AD203B41FA5}">
                      <a16:colId xmlns:a16="http://schemas.microsoft.com/office/drawing/2014/main" val="4270661649"/>
                    </a:ext>
                  </a:extLst>
                </a:gridCol>
                <a:gridCol w="404716">
                  <a:extLst>
                    <a:ext uri="{9D8B030D-6E8A-4147-A177-3AD203B41FA5}">
                      <a16:colId xmlns:a16="http://schemas.microsoft.com/office/drawing/2014/main" val="3027041370"/>
                    </a:ext>
                  </a:extLst>
                </a:gridCol>
                <a:gridCol w="404716">
                  <a:extLst>
                    <a:ext uri="{9D8B030D-6E8A-4147-A177-3AD203B41FA5}">
                      <a16:colId xmlns:a16="http://schemas.microsoft.com/office/drawing/2014/main" val="2852526216"/>
                    </a:ext>
                  </a:extLst>
                </a:gridCol>
                <a:gridCol w="404716">
                  <a:extLst>
                    <a:ext uri="{9D8B030D-6E8A-4147-A177-3AD203B41FA5}">
                      <a16:colId xmlns:a16="http://schemas.microsoft.com/office/drawing/2014/main" val="103420222"/>
                    </a:ext>
                  </a:extLst>
                </a:gridCol>
                <a:gridCol w="404716">
                  <a:extLst>
                    <a:ext uri="{9D8B030D-6E8A-4147-A177-3AD203B41FA5}">
                      <a16:colId xmlns:a16="http://schemas.microsoft.com/office/drawing/2014/main" val="1470405609"/>
                    </a:ext>
                  </a:extLst>
                </a:gridCol>
                <a:gridCol w="40471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SERIAL_LATENCY [7:0]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33480672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3B53A36-51B8-8AB8-EC86-E46D71AE66B3}"/>
              </a:ext>
            </a:extLst>
          </p:cNvPr>
          <p:cNvSpPr txBox="1"/>
          <p:nvPr/>
        </p:nvSpPr>
        <p:spPr>
          <a:xfrm>
            <a:off x="404813" y="744417"/>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V_MASK</a:t>
            </a:r>
          </a:p>
        </p:txBody>
      </p:sp>
      <p:graphicFrame>
        <p:nvGraphicFramePr>
          <p:cNvPr id="39" name="표 38">
            <a:extLst>
              <a:ext uri="{FF2B5EF4-FFF2-40B4-BE49-F238E27FC236}">
                <a16:creationId xmlns:a16="http://schemas.microsoft.com/office/drawing/2014/main" id="{1A55B969-6895-80EA-3099-07FC6550AEC4}"/>
              </a:ext>
            </a:extLst>
          </p:cNvPr>
          <p:cNvGraphicFramePr>
            <a:graphicFrameLocks noGrp="1"/>
          </p:cNvGraphicFramePr>
          <p:nvPr>
            <p:extLst>
              <p:ext uri="{D42A27DB-BD31-4B8C-83A1-F6EECF244321}">
                <p14:modId xmlns:p14="http://schemas.microsoft.com/office/powerpoint/2010/main" val="1333564403"/>
              </p:ext>
            </p:extLst>
          </p:nvPr>
        </p:nvGraphicFramePr>
        <p:xfrm>
          <a:off x="404813" y="1000416"/>
          <a:ext cx="6048374" cy="372600"/>
        </p:xfrm>
        <a:graphic>
          <a:graphicData uri="http://schemas.openxmlformats.org/drawingml/2006/table">
            <a:tbl>
              <a:tblPr firstRow="1" bandRow="1">
                <a:tableStyleId>{5C22544A-7EE6-4342-B048-85BDC9FD1C3A}</a:tableStyleId>
              </a:tblPr>
              <a:tblGrid>
                <a:gridCol w="295519">
                  <a:extLst>
                    <a:ext uri="{9D8B030D-6E8A-4147-A177-3AD203B41FA5}">
                      <a16:colId xmlns:a16="http://schemas.microsoft.com/office/drawing/2014/main" val="657570846"/>
                    </a:ext>
                  </a:extLst>
                </a:gridCol>
                <a:gridCol w="345825">
                  <a:extLst>
                    <a:ext uri="{9D8B030D-6E8A-4147-A177-3AD203B41FA5}">
                      <a16:colId xmlns:a16="http://schemas.microsoft.com/office/drawing/2014/main" val="3259894497"/>
                    </a:ext>
                  </a:extLst>
                </a:gridCol>
                <a:gridCol w="506743">
                  <a:extLst>
                    <a:ext uri="{9D8B030D-6E8A-4147-A177-3AD203B41FA5}">
                      <a16:colId xmlns:a16="http://schemas.microsoft.com/office/drawing/2014/main" val="4170535043"/>
                    </a:ext>
                  </a:extLst>
                </a:gridCol>
                <a:gridCol w="416746">
                  <a:extLst>
                    <a:ext uri="{9D8B030D-6E8A-4147-A177-3AD203B41FA5}">
                      <a16:colId xmlns:a16="http://schemas.microsoft.com/office/drawing/2014/main" val="2079070694"/>
                    </a:ext>
                  </a:extLst>
                </a:gridCol>
                <a:gridCol w="494238">
                  <a:extLst>
                    <a:ext uri="{9D8B030D-6E8A-4147-A177-3AD203B41FA5}">
                      <a16:colId xmlns:a16="http://schemas.microsoft.com/office/drawing/2014/main" val="4213315911"/>
                    </a:ext>
                  </a:extLst>
                </a:gridCol>
                <a:gridCol w="436129">
                  <a:extLst>
                    <a:ext uri="{9D8B030D-6E8A-4147-A177-3AD203B41FA5}">
                      <a16:colId xmlns:a16="http://schemas.microsoft.com/office/drawing/2014/main" val="2769999950"/>
                    </a:ext>
                  </a:extLst>
                </a:gridCol>
                <a:gridCol w="432344">
                  <a:extLst>
                    <a:ext uri="{9D8B030D-6E8A-4147-A177-3AD203B41FA5}">
                      <a16:colId xmlns:a16="http://schemas.microsoft.com/office/drawing/2014/main" val="135637185"/>
                    </a:ext>
                  </a:extLst>
                </a:gridCol>
                <a:gridCol w="392640">
                  <a:extLst>
                    <a:ext uri="{9D8B030D-6E8A-4147-A177-3AD203B41FA5}">
                      <a16:colId xmlns:a16="http://schemas.microsoft.com/office/drawing/2014/main" val="3038050475"/>
                    </a:ext>
                  </a:extLst>
                </a:gridCol>
                <a:gridCol w="392640">
                  <a:extLst>
                    <a:ext uri="{9D8B030D-6E8A-4147-A177-3AD203B41FA5}">
                      <a16:colId xmlns:a16="http://schemas.microsoft.com/office/drawing/2014/main" val="1979433044"/>
                    </a:ext>
                  </a:extLst>
                </a:gridCol>
                <a:gridCol w="392640">
                  <a:extLst>
                    <a:ext uri="{9D8B030D-6E8A-4147-A177-3AD203B41FA5}">
                      <a16:colId xmlns:a16="http://schemas.microsoft.com/office/drawing/2014/main" val="4270661649"/>
                    </a:ext>
                  </a:extLst>
                </a:gridCol>
                <a:gridCol w="392640">
                  <a:extLst>
                    <a:ext uri="{9D8B030D-6E8A-4147-A177-3AD203B41FA5}">
                      <a16:colId xmlns:a16="http://schemas.microsoft.com/office/drawing/2014/main" val="3027041370"/>
                    </a:ext>
                  </a:extLst>
                </a:gridCol>
                <a:gridCol w="392640">
                  <a:extLst>
                    <a:ext uri="{9D8B030D-6E8A-4147-A177-3AD203B41FA5}">
                      <a16:colId xmlns:a16="http://schemas.microsoft.com/office/drawing/2014/main" val="2852526216"/>
                    </a:ext>
                  </a:extLst>
                </a:gridCol>
                <a:gridCol w="402408">
                  <a:extLst>
                    <a:ext uri="{9D8B030D-6E8A-4147-A177-3AD203B41FA5}">
                      <a16:colId xmlns:a16="http://schemas.microsoft.com/office/drawing/2014/main" val="103420222"/>
                    </a:ext>
                  </a:extLst>
                </a:gridCol>
                <a:gridCol w="392640">
                  <a:extLst>
                    <a:ext uri="{9D8B030D-6E8A-4147-A177-3AD203B41FA5}">
                      <a16:colId xmlns:a16="http://schemas.microsoft.com/office/drawing/2014/main" val="1470405609"/>
                    </a:ext>
                  </a:extLst>
                </a:gridCol>
                <a:gridCol w="362582">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V_MASK [9:0]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40" name="표 39">
            <a:extLst>
              <a:ext uri="{FF2B5EF4-FFF2-40B4-BE49-F238E27FC236}">
                <a16:creationId xmlns:a16="http://schemas.microsoft.com/office/drawing/2014/main" id="{5E4A3898-A33A-F21C-613C-BF0D543313CD}"/>
              </a:ext>
            </a:extLst>
          </p:cNvPr>
          <p:cNvGraphicFramePr>
            <a:graphicFrameLocks noGrp="1"/>
          </p:cNvGraphicFramePr>
          <p:nvPr>
            <p:extLst>
              <p:ext uri="{D42A27DB-BD31-4B8C-83A1-F6EECF244321}">
                <p14:modId xmlns:p14="http://schemas.microsoft.com/office/powerpoint/2010/main" val="1342023976"/>
              </p:ext>
            </p:extLst>
          </p:nvPr>
        </p:nvGraphicFramePr>
        <p:xfrm>
          <a:off x="384769" y="1444587"/>
          <a:ext cx="6046695" cy="679714"/>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V_MASK</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V_MASK determines internal VSYNC position. This register is</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only valid</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under</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a:t>
                      </a:r>
                      <a:r>
                        <a:rPr lang="en-US" altLang="ko-KR" sz="900" b="0" dirty="0" err="1">
                          <a:solidFill>
                            <a:schemeClr val="tx1"/>
                          </a:solidFill>
                          <a:latin typeface="Arial" panose="020B0604020202020204" pitchFamily="34" charset="0"/>
                          <a:ea typeface="+mn-ea"/>
                          <a:cs typeface="Arial" panose="020B0604020202020204" pitchFamily="34" charset="0"/>
                        </a:rPr>
                        <a:t>syncmode</a:t>
                      </a:r>
                      <a:r>
                        <a:rPr lang="en-US" altLang="ko-KR" sz="900" b="0" dirty="0">
                          <a:solidFill>
                            <a:schemeClr val="tx1"/>
                          </a:solidFill>
                          <a:latin typeface="Arial" panose="020B0604020202020204" pitchFamily="34" charset="0"/>
                          <a:ea typeface="+mn-ea"/>
                          <a:cs typeface="Arial" panose="020B0604020202020204" pitchFamily="34" charset="0"/>
                        </a:rPr>
                        <a:t> = 1). Refer the picture Figure 12 below. (unit MCLK/2)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4" name="TextBox 43">
            <a:extLst>
              <a:ext uri="{FF2B5EF4-FFF2-40B4-BE49-F238E27FC236}">
                <a16:creationId xmlns:a16="http://schemas.microsoft.com/office/drawing/2014/main" id="{19602BED-C8B2-1F88-3D7A-109D6FB697B5}"/>
              </a:ext>
            </a:extLst>
          </p:cNvPr>
          <p:cNvSpPr txBox="1"/>
          <p:nvPr/>
        </p:nvSpPr>
        <p:spPr>
          <a:xfrm>
            <a:off x="404813" y="3456174"/>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SV_MASK</a:t>
            </a:r>
          </a:p>
        </p:txBody>
      </p:sp>
      <p:graphicFrame>
        <p:nvGraphicFramePr>
          <p:cNvPr id="45" name="표 44">
            <a:extLst>
              <a:ext uri="{FF2B5EF4-FFF2-40B4-BE49-F238E27FC236}">
                <a16:creationId xmlns:a16="http://schemas.microsoft.com/office/drawing/2014/main" id="{43A90684-9D1F-0C14-6777-FBB0F17E45E1}"/>
              </a:ext>
            </a:extLst>
          </p:cNvPr>
          <p:cNvGraphicFramePr>
            <a:graphicFrameLocks noGrp="1"/>
          </p:cNvGraphicFramePr>
          <p:nvPr>
            <p:extLst>
              <p:ext uri="{D42A27DB-BD31-4B8C-83A1-F6EECF244321}">
                <p14:modId xmlns:p14="http://schemas.microsoft.com/office/powerpoint/2010/main" val="176336407"/>
              </p:ext>
            </p:extLst>
          </p:nvPr>
        </p:nvGraphicFramePr>
        <p:xfrm>
          <a:off x="404813" y="3712173"/>
          <a:ext cx="6048375" cy="372600"/>
        </p:xfrm>
        <a:graphic>
          <a:graphicData uri="http://schemas.openxmlformats.org/drawingml/2006/table">
            <a:tbl>
              <a:tblPr firstRow="1" bandRow="1">
                <a:tableStyleId>{5C22544A-7EE6-4342-B048-85BDC9FD1C3A}</a:tableStyleId>
              </a:tblPr>
              <a:tblGrid>
                <a:gridCol w="295519">
                  <a:extLst>
                    <a:ext uri="{9D8B030D-6E8A-4147-A177-3AD203B41FA5}">
                      <a16:colId xmlns:a16="http://schemas.microsoft.com/office/drawing/2014/main" val="657570846"/>
                    </a:ext>
                  </a:extLst>
                </a:gridCol>
                <a:gridCol w="345825">
                  <a:extLst>
                    <a:ext uri="{9D8B030D-6E8A-4147-A177-3AD203B41FA5}">
                      <a16:colId xmlns:a16="http://schemas.microsoft.com/office/drawing/2014/main" val="3259894497"/>
                    </a:ext>
                  </a:extLst>
                </a:gridCol>
                <a:gridCol w="506743">
                  <a:extLst>
                    <a:ext uri="{9D8B030D-6E8A-4147-A177-3AD203B41FA5}">
                      <a16:colId xmlns:a16="http://schemas.microsoft.com/office/drawing/2014/main" val="4170535043"/>
                    </a:ext>
                  </a:extLst>
                </a:gridCol>
                <a:gridCol w="530387">
                  <a:extLst>
                    <a:ext uri="{9D8B030D-6E8A-4147-A177-3AD203B41FA5}">
                      <a16:colId xmlns:a16="http://schemas.microsoft.com/office/drawing/2014/main" val="2079070694"/>
                    </a:ext>
                  </a:extLst>
                </a:gridCol>
                <a:gridCol w="380598">
                  <a:extLst>
                    <a:ext uri="{9D8B030D-6E8A-4147-A177-3AD203B41FA5}">
                      <a16:colId xmlns:a16="http://schemas.microsoft.com/office/drawing/2014/main" val="4213315911"/>
                    </a:ext>
                  </a:extLst>
                </a:gridCol>
                <a:gridCol w="436129">
                  <a:extLst>
                    <a:ext uri="{9D8B030D-6E8A-4147-A177-3AD203B41FA5}">
                      <a16:colId xmlns:a16="http://schemas.microsoft.com/office/drawing/2014/main" val="2769999950"/>
                    </a:ext>
                  </a:extLst>
                </a:gridCol>
                <a:gridCol w="432344">
                  <a:extLst>
                    <a:ext uri="{9D8B030D-6E8A-4147-A177-3AD203B41FA5}">
                      <a16:colId xmlns:a16="http://schemas.microsoft.com/office/drawing/2014/main" val="135637185"/>
                    </a:ext>
                  </a:extLst>
                </a:gridCol>
                <a:gridCol w="392640">
                  <a:extLst>
                    <a:ext uri="{9D8B030D-6E8A-4147-A177-3AD203B41FA5}">
                      <a16:colId xmlns:a16="http://schemas.microsoft.com/office/drawing/2014/main" val="3038050475"/>
                    </a:ext>
                  </a:extLst>
                </a:gridCol>
                <a:gridCol w="392640">
                  <a:extLst>
                    <a:ext uri="{9D8B030D-6E8A-4147-A177-3AD203B41FA5}">
                      <a16:colId xmlns:a16="http://schemas.microsoft.com/office/drawing/2014/main" val="1979433044"/>
                    </a:ext>
                  </a:extLst>
                </a:gridCol>
                <a:gridCol w="392640">
                  <a:extLst>
                    <a:ext uri="{9D8B030D-6E8A-4147-A177-3AD203B41FA5}">
                      <a16:colId xmlns:a16="http://schemas.microsoft.com/office/drawing/2014/main" val="4270661649"/>
                    </a:ext>
                  </a:extLst>
                </a:gridCol>
                <a:gridCol w="392640">
                  <a:extLst>
                    <a:ext uri="{9D8B030D-6E8A-4147-A177-3AD203B41FA5}">
                      <a16:colId xmlns:a16="http://schemas.microsoft.com/office/drawing/2014/main" val="3027041370"/>
                    </a:ext>
                  </a:extLst>
                </a:gridCol>
                <a:gridCol w="392640">
                  <a:extLst>
                    <a:ext uri="{9D8B030D-6E8A-4147-A177-3AD203B41FA5}">
                      <a16:colId xmlns:a16="http://schemas.microsoft.com/office/drawing/2014/main" val="2852526216"/>
                    </a:ext>
                  </a:extLst>
                </a:gridCol>
                <a:gridCol w="402408">
                  <a:extLst>
                    <a:ext uri="{9D8B030D-6E8A-4147-A177-3AD203B41FA5}">
                      <a16:colId xmlns:a16="http://schemas.microsoft.com/office/drawing/2014/main" val="103420222"/>
                    </a:ext>
                  </a:extLst>
                </a:gridCol>
                <a:gridCol w="392640">
                  <a:extLst>
                    <a:ext uri="{9D8B030D-6E8A-4147-A177-3AD203B41FA5}">
                      <a16:colId xmlns:a16="http://schemas.microsoft.com/office/drawing/2014/main" val="1470405609"/>
                    </a:ext>
                  </a:extLst>
                </a:gridCol>
                <a:gridCol w="362582">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5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SV_MASK_EN</a:t>
                      </a:r>
                      <a:endParaRPr kumimoji="0" lang="ko-KR" altLang="en-US" sz="5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SV_MASK [9:0]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46" name="표 45">
            <a:extLst>
              <a:ext uri="{FF2B5EF4-FFF2-40B4-BE49-F238E27FC236}">
                <a16:creationId xmlns:a16="http://schemas.microsoft.com/office/drawing/2014/main" id="{0C03E747-81D2-2572-07FD-D1E4D54CC79B}"/>
              </a:ext>
            </a:extLst>
          </p:cNvPr>
          <p:cNvGraphicFramePr>
            <a:graphicFrameLocks noGrp="1"/>
          </p:cNvGraphicFramePr>
          <p:nvPr>
            <p:extLst>
              <p:ext uri="{D42A27DB-BD31-4B8C-83A1-F6EECF244321}">
                <p14:modId xmlns:p14="http://schemas.microsoft.com/office/powerpoint/2010/main" val="4052160314"/>
              </p:ext>
            </p:extLst>
          </p:nvPr>
        </p:nvGraphicFramePr>
        <p:xfrm>
          <a:off x="417695" y="4065773"/>
          <a:ext cx="6046695" cy="857189"/>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SV_MASK_EN</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SV_MASK_EN determines SV_MASK function enable or disable.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 1 enable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SV_MASK</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SV_MASK determines internal SVSYNC rising / falling position. (unit MCLK/2)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9891"/>
                  </a:ext>
                </a:extLst>
              </a:tr>
            </a:tbl>
          </a:graphicData>
        </a:graphic>
      </p:graphicFrame>
      <p:sp>
        <p:nvSpPr>
          <p:cNvPr id="3" name="TextBox 2">
            <a:extLst>
              <a:ext uri="{FF2B5EF4-FFF2-40B4-BE49-F238E27FC236}">
                <a16:creationId xmlns:a16="http://schemas.microsoft.com/office/drawing/2014/main" id="{6B77DD34-A322-5D22-CBE4-39955E1647D8}"/>
              </a:ext>
            </a:extLst>
          </p:cNvPr>
          <p:cNvSpPr txBox="1"/>
          <p:nvPr/>
        </p:nvSpPr>
        <p:spPr>
          <a:xfrm>
            <a:off x="421375" y="5363930"/>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RSTCNT</a:t>
            </a:r>
          </a:p>
        </p:txBody>
      </p:sp>
      <p:graphicFrame>
        <p:nvGraphicFramePr>
          <p:cNvPr id="4" name="표 3">
            <a:extLst>
              <a:ext uri="{FF2B5EF4-FFF2-40B4-BE49-F238E27FC236}">
                <a16:creationId xmlns:a16="http://schemas.microsoft.com/office/drawing/2014/main" id="{7F3B34E6-1C8B-528A-478F-C1A45C921525}"/>
              </a:ext>
            </a:extLst>
          </p:cNvPr>
          <p:cNvGraphicFramePr>
            <a:graphicFrameLocks noGrp="1"/>
          </p:cNvGraphicFramePr>
          <p:nvPr>
            <p:extLst>
              <p:ext uri="{D42A27DB-BD31-4B8C-83A1-F6EECF244321}">
                <p14:modId xmlns:p14="http://schemas.microsoft.com/office/powerpoint/2010/main" val="606930469"/>
              </p:ext>
            </p:extLst>
          </p:nvPr>
        </p:nvGraphicFramePr>
        <p:xfrm>
          <a:off x="404813" y="5619929"/>
          <a:ext cx="6048375" cy="372600"/>
        </p:xfrm>
        <a:graphic>
          <a:graphicData uri="http://schemas.openxmlformats.org/drawingml/2006/table">
            <a:tbl>
              <a:tblPr firstRow="1" bandRow="1">
                <a:tableStyleId>{5C22544A-7EE6-4342-B048-85BDC9FD1C3A}</a:tableStyleId>
              </a:tblPr>
              <a:tblGrid>
                <a:gridCol w="295519">
                  <a:extLst>
                    <a:ext uri="{9D8B030D-6E8A-4147-A177-3AD203B41FA5}">
                      <a16:colId xmlns:a16="http://schemas.microsoft.com/office/drawing/2014/main" val="657570846"/>
                    </a:ext>
                  </a:extLst>
                </a:gridCol>
                <a:gridCol w="345825">
                  <a:extLst>
                    <a:ext uri="{9D8B030D-6E8A-4147-A177-3AD203B41FA5}">
                      <a16:colId xmlns:a16="http://schemas.microsoft.com/office/drawing/2014/main" val="3259894497"/>
                    </a:ext>
                  </a:extLst>
                </a:gridCol>
                <a:gridCol w="506743">
                  <a:extLst>
                    <a:ext uri="{9D8B030D-6E8A-4147-A177-3AD203B41FA5}">
                      <a16:colId xmlns:a16="http://schemas.microsoft.com/office/drawing/2014/main" val="4170535043"/>
                    </a:ext>
                  </a:extLst>
                </a:gridCol>
                <a:gridCol w="530387">
                  <a:extLst>
                    <a:ext uri="{9D8B030D-6E8A-4147-A177-3AD203B41FA5}">
                      <a16:colId xmlns:a16="http://schemas.microsoft.com/office/drawing/2014/main" val="2079070694"/>
                    </a:ext>
                  </a:extLst>
                </a:gridCol>
                <a:gridCol w="380598">
                  <a:extLst>
                    <a:ext uri="{9D8B030D-6E8A-4147-A177-3AD203B41FA5}">
                      <a16:colId xmlns:a16="http://schemas.microsoft.com/office/drawing/2014/main" val="4213315911"/>
                    </a:ext>
                  </a:extLst>
                </a:gridCol>
                <a:gridCol w="436129">
                  <a:extLst>
                    <a:ext uri="{9D8B030D-6E8A-4147-A177-3AD203B41FA5}">
                      <a16:colId xmlns:a16="http://schemas.microsoft.com/office/drawing/2014/main" val="2769999950"/>
                    </a:ext>
                  </a:extLst>
                </a:gridCol>
                <a:gridCol w="432344">
                  <a:extLst>
                    <a:ext uri="{9D8B030D-6E8A-4147-A177-3AD203B41FA5}">
                      <a16:colId xmlns:a16="http://schemas.microsoft.com/office/drawing/2014/main" val="135637185"/>
                    </a:ext>
                  </a:extLst>
                </a:gridCol>
                <a:gridCol w="392640">
                  <a:extLst>
                    <a:ext uri="{9D8B030D-6E8A-4147-A177-3AD203B41FA5}">
                      <a16:colId xmlns:a16="http://schemas.microsoft.com/office/drawing/2014/main" val="3038050475"/>
                    </a:ext>
                  </a:extLst>
                </a:gridCol>
                <a:gridCol w="392640">
                  <a:extLst>
                    <a:ext uri="{9D8B030D-6E8A-4147-A177-3AD203B41FA5}">
                      <a16:colId xmlns:a16="http://schemas.microsoft.com/office/drawing/2014/main" val="1979433044"/>
                    </a:ext>
                  </a:extLst>
                </a:gridCol>
                <a:gridCol w="392640">
                  <a:extLst>
                    <a:ext uri="{9D8B030D-6E8A-4147-A177-3AD203B41FA5}">
                      <a16:colId xmlns:a16="http://schemas.microsoft.com/office/drawing/2014/main" val="4270661649"/>
                    </a:ext>
                  </a:extLst>
                </a:gridCol>
                <a:gridCol w="392640">
                  <a:extLst>
                    <a:ext uri="{9D8B030D-6E8A-4147-A177-3AD203B41FA5}">
                      <a16:colId xmlns:a16="http://schemas.microsoft.com/office/drawing/2014/main" val="3027041370"/>
                    </a:ext>
                  </a:extLst>
                </a:gridCol>
                <a:gridCol w="392640">
                  <a:extLst>
                    <a:ext uri="{9D8B030D-6E8A-4147-A177-3AD203B41FA5}">
                      <a16:colId xmlns:a16="http://schemas.microsoft.com/office/drawing/2014/main" val="2852526216"/>
                    </a:ext>
                  </a:extLst>
                </a:gridCol>
                <a:gridCol w="402408">
                  <a:extLst>
                    <a:ext uri="{9D8B030D-6E8A-4147-A177-3AD203B41FA5}">
                      <a16:colId xmlns:a16="http://schemas.microsoft.com/office/drawing/2014/main" val="103420222"/>
                    </a:ext>
                  </a:extLst>
                </a:gridCol>
                <a:gridCol w="392640">
                  <a:extLst>
                    <a:ext uri="{9D8B030D-6E8A-4147-A177-3AD203B41FA5}">
                      <a16:colId xmlns:a16="http://schemas.microsoft.com/office/drawing/2014/main" val="1470405609"/>
                    </a:ext>
                  </a:extLst>
                </a:gridCol>
                <a:gridCol w="362582">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latin typeface="Arial" panose="020B0604020202020204" pitchFamily="34" charset="0"/>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RSTCNT[10:0]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6" name="표 5">
            <a:extLst>
              <a:ext uri="{FF2B5EF4-FFF2-40B4-BE49-F238E27FC236}">
                <a16:creationId xmlns:a16="http://schemas.microsoft.com/office/drawing/2014/main" id="{D9842C39-9300-817D-510B-CC8AE9C68C81}"/>
              </a:ext>
            </a:extLst>
          </p:cNvPr>
          <p:cNvGraphicFramePr>
            <a:graphicFrameLocks noGrp="1"/>
          </p:cNvGraphicFramePr>
          <p:nvPr>
            <p:extLst>
              <p:ext uri="{D42A27DB-BD31-4B8C-83A1-F6EECF244321}">
                <p14:modId xmlns:p14="http://schemas.microsoft.com/office/powerpoint/2010/main" val="2612288218"/>
              </p:ext>
            </p:extLst>
          </p:nvPr>
        </p:nvGraphicFramePr>
        <p:xfrm>
          <a:off x="417695" y="6093062"/>
          <a:ext cx="6046695" cy="785189"/>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RSTCNT</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RSTCNT determines RESET position for interface (decoder/encoder)</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RSTCNT is counted by a MCLK/64 from a last svsync, reset at every </a:t>
                      </a:r>
                      <a:r>
                        <a:rPr lang="en-US" altLang="ko-KR" sz="900" b="0" dirty="0" err="1">
                          <a:solidFill>
                            <a:schemeClr val="tx1"/>
                          </a:solidFill>
                          <a:latin typeface="Arial" panose="020B0604020202020204" pitchFamily="34" charset="0"/>
                          <a:ea typeface="+mn-ea"/>
                          <a:cs typeface="Arial" panose="020B0604020202020204" pitchFamily="34" charset="0"/>
                        </a:rPr>
                        <a:t>vsync</a:t>
                      </a:r>
                      <a:r>
                        <a:rPr lang="en-US" altLang="ko-KR" sz="900" b="0" dirty="0">
                          <a:solidFill>
                            <a:schemeClr val="tx1"/>
                          </a:solidFill>
                          <a:latin typeface="Arial" panose="020B0604020202020204" pitchFamily="34" charset="0"/>
                          <a:ea typeface="+mn-ea"/>
                          <a:cs typeface="Arial" panose="020B0604020202020204" pitchFamily="34" charset="0"/>
                        </a:rPr>
                        <a:t>.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(unit MCLK/64)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8841AF7-A2B7-B367-3181-377F4C5B604F}"/>
              </a:ext>
            </a:extLst>
          </p:cNvPr>
          <p:cNvSpPr txBox="1"/>
          <p:nvPr/>
        </p:nvSpPr>
        <p:spPr>
          <a:xfrm>
            <a:off x="388449" y="7208613"/>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TIMEOUT</a:t>
            </a:r>
          </a:p>
        </p:txBody>
      </p:sp>
      <p:graphicFrame>
        <p:nvGraphicFramePr>
          <p:cNvPr id="9" name="표 8">
            <a:extLst>
              <a:ext uri="{FF2B5EF4-FFF2-40B4-BE49-F238E27FC236}">
                <a16:creationId xmlns:a16="http://schemas.microsoft.com/office/drawing/2014/main" id="{02700F86-541F-33BC-8714-5840CBC606FA}"/>
              </a:ext>
            </a:extLst>
          </p:cNvPr>
          <p:cNvGraphicFramePr>
            <a:graphicFrameLocks noGrp="1"/>
          </p:cNvGraphicFramePr>
          <p:nvPr>
            <p:extLst>
              <p:ext uri="{D42A27DB-BD31-4B8C-83A1-F6EECF244321}">
                <p14:modId xmlns:p14="http://schemas.microsoft.com/office/powerpoint/2010/main" val="2012943670"/>
              </p:ext>
            </p:extLst>
          </p:nvPr>
        </p:nvGraphicFramePr>
        <p:xfrm>
          <a:off x="404813" y="7464612"/>
          <a:ext cx="6048375" cy="372600"/>
        </p:xfrm>
        <a:graphic>
          <a:graphicData uri="http://schemas.openxmlformats.org/drawingml/2006/table">
            <a:tbl>
              <a:tblPr firstRow="1" bandRow="1">
                <a:tableStyleId>{5C22544A-7EE6-4342-B048-85BDC9FD1C3A}</a:tableStyleId>
              </a:tblPr>
              <a:tblGrid>
                <a:gridCol w="293874">
                  <a:extLst>
                    <a:ext uri="{9D8B030D-6E8A-4147-A177-3AD203B41FA5}">
                      <a16:colId xmlns:a16="http://schemas.microsoft.com/office/drawing/2014/main" val="657570846"/>
                    </a:ext>
                  </a:extLst>
                </a:gridCol>
                <a:gridCol w="343900">
                  <a:extLst>
                    <a:ext uri="{9D8B030D-6E8A-4147-A177-3AD203B41FA5}">
                      <a16:colId xmlns:a16="http://schemas.microsoft.com/office/drawing/2014/main" val="3259894497"/>
                    </a:ext>
                  </a:extLst>
                </a:gridCol>
                <a:gridCol w="503923">
                  <a:extLst>
                    <a:ext uri="{9D8B030D-6E8A-4147-A177-3AD203B41FA5}">
                      <a16:colId xmlns:a16="http://schemas.microsoft.com/office/drawing/2014/main" val="4170535043"/>
                    </a:ext>
                  </a:extLst>
                </a:gridCol>
                <a:gridCol w="527435">
                  <a:extLst>
                    <a:ext uri="{9D8B030D-6E8A-4147-A177-3AD203B41FA5}">
                      <a16:colId xmlns:a16="http://schemas.microsoft.com/office/drawing/2014/main" val="2079070694"/>
                    </a:ext>
                  </a:extLst>
                </a:gridCol>
                <a:gridCol w="378480">
                  <a:extLst>
                    <a:ext uri="{9D8B030D-6E8A-4147-A177-3AD203B41FA5}">
                      <a16:colId xmlns:a16="http://schemas.microsoft.com/office/drawing/2014/main" val="4213315911"/>
                    </a:ext>
                  </a:extLst>
                </a:gridCol>
                <a:gridCol w="433702">
                  <a:extLst>
                    <a:ext uri="{9D8B030D-6E8A-4147-A177-3AD203B41FA5}">
                      <a16:colId xmlns:a16="http://schemas.microsoft.com/office/drawing/2014/main" val="2769999950"/>
                    </a:ext>
                  </a:extLst>
                </a:gridCol>
                <a:gridCol w="429938">
                  <a:extLst>
                    <a:ext uri="{9D8B030D-6E8A-4147-A177-3AD203B41FA5}">
                      <a16:colId xmlns:a16="http://schemas.microsoft.com/office/drawing/2014/main" val="135637185"/>
                    </a:ext>
                  </a:extLst>
                </a:gridCol>
                <a:gridCol w="390455">
                  <a:extLst>
                    <a:ext uri="{9D8B030D-6E8A-4147-A177-3AD203B41FA5}">
                      <a16:colId xmlns:a16="http://schemas.microsoft.com/office/drawing/2014/main" val="3038050475"/>
                    </a:ext>
                  </a:extLst>
                </a:gridCol>
                <a:gridCol w="390455">
                  <a:extLst>
                    <a:ext uri="{9D8B030D-6E8A-4147-A177-3AD203B41FA5}">
                      <a16:colId xmlns:a16="http://schemas.microsoft.com/office/drawing/2014/main" val="1979433044"/>
                    </a:ext>
                  </a:extLst>
                </a:gridCol>
                <a:gridCol w="390455">
                  <a:extLst>
                    <a:ext uri="{9D8B030D-6E8A-4147-A177-3AD203B41FA5}">
                      <a16:colId xmlns:a16="http://schemas.microsoft.com/office/drawing/2014/main" val="4270661649"/>
                    </a:ext>
                  </a:extLst>
                </a:gridCol>
                <a:gridCol w="390455">
                  <a:extLst>
                    <a:ext uri="{9D8B030D-6E8A-4147-A177-3AD203B41FA5}">
                      <a16:colId xmlns:a16="http://schemas.microsoft.com/office/drawing/2014/main" val="3027041370"/>
                    </a:ext>
                  </a:extLst>
                </a:gridCol>
                <a:gridCol w="390455">
                  <a:extLst>
                    <a:ext uri="{9D8B030D-6E8A-4147-A177-3AD203B41FA5}">
                      <a16:colId xmlns:a16="http://schemas.microsoft.com/office/drawing/2014/main" val="2852526216"/>
                    </a:ext>
                  </a:extLst>
                </a:gridCol>
                <a:gridCol w="400168">
                  <a:extLst>
                    <a:ext uri="{9D8B030D-6E8A-4147-A177-3AD203B41FA5}">
                      <a16:colId xmlns:a16="http://schemas.microsoft.com/office/drawing/2014/main" val="103420222"/>
                    </a:ext>
                  </a:extLst>
                </a:gridCol>
                <a:gridCol w="424117">
                  <a:extLst>
                    <a:ext uri="{9D8B030D-6E8A-4147-A177-3AD203B41FA5}">
                      <a16:colId xmlns:a16="http://schemas.microsoft.com/office/drawing/2014/main" val="1470405609"/>
                    </a:ext>
                  </a:extLst>
                </a:gridCol>
                <a:gridCol w="360563">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latin typeface="Arial" panose="020B0604020202020204" pitchFamily="34" charset="0"/>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algn="ctr"/>
                      <a:r>
                        <a:rPr lang="en-US" sz="700" dirty="0">
                          <a:latin typeface="Arial" panose="020B0604020202020204" pitchFamily="34" charset="0"/>
                          <a:cs typeface="Arial" panose="020B0604020202020204" pitchFamily="34" charset="0"/>
                        </a:rPr>
                        <a:t>TIMEOUT[9:0]</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1" name="표 10">
            <a:extLst>
              <a:ext uri="{FF2B5EF4-FFF2-40B4-BE49-F238E27FC236}">
                <a16:creationId xmlns:a16="http://schemas.microsoft.com/office/drawing/2014/main" id="{7A5B8558-CB14-B758-93AA-E862D3456F37}"/>
              </a:ext>
            </a:extLst>
          </p:cNvPr>
          <p:cNvGraphicFramePr>
            <a:graphicFrameLocks noGrp="1"/>
          </p:cNvGraphicFramePr>
          <p:nvPr>
            <p:extLst>
              <p:ext uri="{D42A27DB-BD31-4B8C-83A1-F6EECF244321}">
                <p14:modId xmlns:p14="http://schemas.microsoft.com/office/powerpoint/2010/main" val="2606854954"/>
              </p:ext>
            </p:extLst>
          </p:nvPr>
        </p:nvGraphicFramePr>
        <p:xfrm>
          <a:off x="404813" y="7937745"/>
          <a:ext cx="6026651" cy="648029"/>
        </p:xfrm>
        <a:graphic>
          <a:graphicData uri="http://schemas.openxmlformats.org/drawingml/2006/table">
            <a:tbl>
              <a:tblPr firstRow="1" bandRow="1">
                <a:tableStyleId>{5C22544A-7EE6-4342-B048-85BDC9FD1C3A}</a:tableStyleId>
              </a:tblPr>
              <a:tblGrid>
                <a:gridCol w="438520">
                  <a:extLst>
                    <a:ext uri="{9D8B030D-6E8A-4147-A177-3AD203B41FA5}">
                      <a16:colId xmlns:a16="http://schemas.microsoft.com/office/drawing/2014/main" val="4170535043"/>
                    </a:ext>
                  </a:extLst>
                </a:gridCol>
                <a:gridCol w="1124479">
                  <a:extLst>
                    <a:ext uri="{9D8B030D-6E8A-4147-A177-3AD203B41FA5}">
                      <a16:colId xmlns:a16="http://schemas.microsoft.com/office/drawing/2014/main" val="2079070694"/>
                    </a:ext>
                  </a:extLst>
                </a:gridCol>
                <a:gridCol w="4463652">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TIMEOUT</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TIMEOUT is the READOUT output waiting time. If no readout is input for more than TIMEOUT, the read operation is stopped. (unit MCLK/64)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BE34BB5B-EE8C-2259-6D65-D71E2CEB9C28}"/>
              </a:ext>
            </a:extLst>
          </p:cNvPr>
          <p:cNvSpPr txBox="1"/>
          <p:nvPr/>
        </p:nvSpPr>
        <p:spPr>
          <a:xfrm>
            <a:off x="1432912" y="3190954"/>
            <a:ext cx="4469172"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Figure 12. Timing Diagram for VSYNC / SVSYNC generation ( @SYNC_MODE = 1)</a:t>
            </a:r>
          </a:p>
        </p:txBody>
      </p:sp>
      <p:pic>
        <p:nvPicPr>
          <p:cNvPr id="8" name="그림 7">
            <a:extLst>
              <a:ext uri="{FF2B5EF4-FFF2-40B4-BE49-F238E27FC236}">
                <a16:creationId xmlns:a16="http://schemas.microsoft.com/office/drawing/2014/main" id="{C47A0656-18E9-A4CB-30F4-E22703891B7E}"/>
              </a:ext>
            </a:extLst>
          </p:cNvPr>
          <p:cNvPicPr>
            <a:picLocks noChangeAspect="1"/>
          </p:cNvPicPr>
          <p:nvPr/>
        </p:nvPicPr>
        <p:blipFill>
          <a:blip r:embed="rId2"/>
          <a:stretch>
            <a:fillRect/>
          </a:stretch>
        </p:blipFill>
        <p:spPr>
          <a:xfrm>
            <a:off x="351365" y="2263734"/>
            <a:ext cx="6011335" cy="883775"/>
          </a:xfrm>
          <a:prstGeom prst="rect">
            <a:avLst/>
          </a:prstGeom>
        </p:spPr>
      </p:pic>
    </p:spTree>
    <p:extLst>
      <p:ext uri="{BB962C8B-B14F-4D97-AF65-F5344CB8AC3E}">
        <p14:creationId xmlns:p14="http://schemas.microsoft.com/office/powerpoint/2010/main" val="17493792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09B56D3-A1E6-0BF0-F524-22950314FD50}"/>
              </a:ext>
            </a:extLst>
          </p:cNvPr>
          <p:cNvSpPr txBox="1"/>
          <p:nvPr/>
        </p:nvSpPr>
        <p:spPr>
          <a:xfrm>
            <a:off x="382631" y="786066"/>
            <a:ext cx="60572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FLL CONTROL</a:t>
            </a:r>
          </a:p>
        </p:txBody>
      </p: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1512342028"/>
              </p:ext>
            </p:extLst>
          </p:nvPr>
        </p:nvGraphicFramePr>
        <p:xfrm>
          <a:off x="382378" y="1921468"/>
          <a:ext cx="6061539" cy="1906627"/>
        </p:xfrm>
        <a:graphic>
          <a:graphicData uri="http://schemas.openxmlformats.org/drawingml/2006/table">
            <a:tbl>
              <a:tblPr firstRow="1" bandRow="1">
                <a:tableStyleId>{5C22544A-7EE6-4342-B048-85BDC9FD1C3A}</a:tableStyleId>
              </a:tblPr>
              <a:tblGrid>
                <a:gridCol w="331867">
                  <a:extLst>
                    <a:ext uri="{9D8B030D-6E8A-4147-A177-3AD203B41FA5}">
                      <a16:colId xmlns:a16="http://schemas.microsoft.com/office/drawing/2014/main" val="4170535043"/>
                    </a:ext>
                  </a:extLst>
                </a:gridCol>
                <a:gridCol w="1181468">
                  <a:extLst>
                    <a:ext uri="{9D8B030D-6E8A-4147-A177-3AD203B41FA5}">
                      <a16:colId xmlns:a16="http://schemas.microsoft.com/office/drawing/2014/main" val="2079070694"/>
                    </a:ext>
                  </a:extLst>
                </a:gridCol>
                <a:gridCol w="4548204">
                  <a:extLst>
                    <a:ext uri="{9D8B030D-6E8A-4147-A177-3AD203B41FA5}">
                      <a16:colId xmlns:a16="http://schemas.microsoft.com/office/drawing/2014/main" val="32595803"/>
                    </a:ext>
                  </a:extLst>
                </a:gridCol>
              </a:tblGrid>
              <a:tr h="28809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72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FLLCNT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FLLCNT is counted by an MCLK/64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772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the FLL function.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FLL continues to calibrate the MCLK frequency to exactly match the PWM frequency with the time of one frame.</a:t>
                      </a: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FLL function (= The MCLK is unlocking, so calibrated to the target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 FLL function (= The MCLK is locking at the current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It is needed that this bit should be set to 0 just before the first vsync starts to be entered to the XD12R  and set to 1 just before the vsync is not asserted if the vsync will be not supplied any more to the XD12R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6493848"/>
                  </a:ext>
                </a:extLst>
              </a:tr>
              <a:tr h="11493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FLL_RANGE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B74AEC9C-7E5E-C643-C092-A9386D372D49}"/>
              </a:ext>
            </a:extLst>
          </p:cNvPr>
          <p:cNvGraphicFramePr>
            <a:graphicFrameLocks noGrp="1"/>
          </p:cNvGraphicFramePr>
          <p:nvPr>
            <p:extLst>
              <p:ext uri="{D42A27DB-BD31-4B8C-83A1-F6EECF244321}">
                <p14:modId xmlns:p14="http://schemas.microsoft.com/office/powerpoint/2010/main" val="704924327"/>
              </p:ext>
            </p:extLst>
          </p:nvPr>
        </p:nvGraphicFramePr>
        <p:xfrm>
          <a:off x="404813" y="1553077"/>
          <a:ext cx="6048379" cy="387840"/>
        </p:xfrm>
        <a:graphic>
          <a:graphicData uri="http://schemas.openxmlformats.org/drawingml/2006/table">
            <a:tbl>
              <a:tblPr firstRow="1" bandRow="1">
                <a:tableStyleId>{5C22544A-7EE6-4342-B048-85BDC9FD1C3A}</a:tableStyleId>
              </a:tblPr>
              <a:tblGrid>
                <a:gridCol w="296942">
                  <a:extLst>
                    <a:ext uri="{9D8B030D-6E8A-4147-A177-3AD203B41FA5}">
                      <a16:colId xmlns:a16="http://schemas.microsoft.com/office/drawing/2014/main" val="657570846"/>
                    </a:ext>
                  </a:extLst>
                </a:gridCol>
                <a:gridCol w="347491">
                  <a:extLst>
                    <a:ext uri="{9D8B030D-6E8A-4147-A177-3AD203B41FA5}">
                      <a16:colId xmlns:a16="http://schemas.microsoft.com/office/drawing/2014/main" val="3259894497"/>
                    </a:ext>
                  </a:extLst>
                </a:gridCol>
                <a:gridCol w="466020">
                  <a:extLst>
                    <a:ext uri="{9D8B030D-6E8A-4147-A177-3AD203B41FA5}">
                      <a16:colId xmlns:a16="http://schemas.microsoft.com/office/drawing/2014/main" val="4170535043"/>
                    </a:ext>
                  </a:extLst>
                </a:gridCol>
                <a:gridCol w="427835">
                  <a:extLst>
                    <a:ext uri="{9D8B030D-6E8A-4147-A177-3AD203B41FA5}">
                      <a16:colId xmlns:a16="http://schemas.microsoft.com/office/drawing/2014/main" val="2079070694"/>
                    </a:ext>
                  </a:extLst>
                </a:gridCol>
                <a:gridCol w="450416">
                  <a:extLst>
                    <a:ext uri="{9D8B030D-6E8A-4147-A177-3AD203B41FA5}">
                      <a16:colId xmlns:a16="http://schemas.microsoft.com/office/drawing/2014/main" val="4213315911"/>
                    </a:ext>
                  </a:extLst>
                </a:gridCol>
                <a:gridCol w="452837">
                  <a:extLst>
                    <a:ext uri="{9D8B030D-6E8A-4147-A177-3AD203B41FA5}">
                      <a16:colId xmlns:a16="http://schemas.microsoft.com/office/drawing/2014/main" val="2769999950"/>
                    </a:ext>
                  </a:extLst>
                </a:gridCol>
                <a:gridCol w="478250">
                  <a:extLst>
                    <a:ext uri="{9D8B030D-6E8A-4147-A177-3AD203B41FA5}">
                      <a16:colId xmlns:a16="http://schemas.microsoft.com/office/drawing/2014/main" val="135637185"/>
                    </a:ext>
                  </a:extLst>
                </a:gridCol>
                <a:gridCol w="394532">
                  <a:extLst>
                    <a:ext uri="{9D8B030D-6E8A-4147-A177-3AD203B41FA5}">
                      <a16:colId xmlns:a16="http://schemas.microsoft.com/office/drawing/2014/main" val="3038050475"/>
                    </a:ext>
                  </a:extLst>
                </a:gridCol>
                <a:gridCol w="394532">
                  <a:extLst>
                    <a:ext uri="{9D8B030D-6E8A-4147-A177-3AD203B41FA5}">
                      <a16:colId xmlns:a16="http://schemas.microsoft.com/office/drawing/2014/main" val="1979433044"/>
                    </a:ext>
                  </a:extLst>
                </a:gridCol>
                <a:gridCol w="394532">
                  <a:extLst>
                    <a:ext uri="{9D8B030D-6E8A-4147-A177-3AD203B41FA5}">
                      <a16:colId xmlns:a16="http://schemas.microsoft.com/office/drawing/2014/main" val="4270661649"/>
                    </a:ext>
                  </a:extLst>
                </a:gridCol>
                <a:gridCol w="394532">
                  <a:extLst>
                    <a:ext uri="{9D8B030D-6E8A-4147-A177-3AD203B41FA5}">
                      <a16:colId xmlns:a16="http://schemas.microsoft.com/office/drawing/2014/main" val="3027041370"/>
                    </a:ext>
                  </a:extLst>
                </a:gridCol>
                <a:gridCol w="394532">
                  <a:extLst>
                    <a:ext uri="{9D8B030D-6E8A-4147-A177-3AD203B41FA5}">
                      <a16:colId xmlns:a16="http://schemas.microsoft.com/office/drawing/2014/main" val="2852526216"/>
                    </a:ext>
                  </a:extLst>
                </a:gridCol>
                <a:gridCol w="397067">
                  <a:extLst>
                    <a:ext uri="{9D8B030D-6E8A-4147-A177-3AD203B41FA5}">
                      <a16:colId xmlns:a16="http://schemas.microsoft.com/office/drawing/2014/main" val="103420222"/>
                    </a:ext>
                  </a:extLst>
                </a:gridCol>
                <a:gridCol w="394532">
                  <a:extLst>
                    <a:ext uri="{9D8B030D-6E8A-4147-A177-3AD203B41FA5}">
                      <a16:colId xmlns:a16="http://schemas.microsoft.com/office/drawing/2014/main" val="1470405609"/>
                    </a:ext>
                  </a:extLst>
                </a:gridCol>
                <a:gridCol w="36432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0x864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FLL_EN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FLL_RANGE[1:0]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FLLCNT[20:12]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18" name="표 17">
            <a:extLst>
              <a:ext uri="{FF2B5EF4-FFF2-40B4-BE49-F238E27FC236}">
                <a16:creationId xmlns:a16="http://schemas.microsoft.com/office/drawing/2014/main" id="{89F61CF7-913D-64E2-E618-008E8B401C3C}"/>
              </a:ext>
            </a:extLst>
          </p:cNvPr>
          <p:cNvGraphicFramePr>
            <a:graphicFrameLocks noGrp="1"/>
          </p:cNvGraphicFramePr>
          <p:nvPr>
            <p:extLst>
              <p:ext uri="{D42A27DB-BD31-4B8C-83A1-F6EECF244321}">
                <p14:modId xmlns:p14="http://schemas.microsoft.com/office/powerpoint/2010/main" val="3672764367"/>
              </p:ext>
            </p:extLst>
          </p:nvPr>
        </p:nvGraphicFramePr>
        <p:xfrm>
          <a:off x="404812" y="1096476"/>
          <a:ext cx="6048376" cy="372600"/>
        </p:xfrm>
        <a:graphic>
          <a:graphicData uri="http://schemas.openxmlformats.org/drawingml/2006/table">
            <a:tbl>
              <a:tblPr firstRow="1" bandRow="1">
                <a:tableStyleId>{5C22544A-7EE6-4342-B048-85BDC9FD1C3A}</a:tableStyleId>
              </a:tblPr>
              <a:tblGrid>
                <a:gridCol w="291522">
                  <a:extLst>
                    <a:ext uri="{9D8B030D-6E8A-4147-A177-3AD203B41FA5}">
                      <a16:colId xmlns:a16="http://schemas.microsoft.com/office/drawing/2014/main" val="657570846"/>
                    </a:ext>
                  </a:extLst>
                </a:gridCol>
                <a:gridCol w="342375">
                  <a:extLst>
                    <a:ext uri="{9D8B030D-6E8A-4147-A177-3AD203B41FA5}">
                      <a16:colId xmlns:a16="http://schemas.microsoft.com/office/drawing/2014/main" val="3259894497"/>
                    </a:ext>
                  </a:extLst>
                </a:gridCol>
                <a:gridCol w="467475">
                  <a:extLst>
                    <a:ext uri="{9D8B030D-6E8A-4147-A177-3AD203B41FA5}">
                      <a16:colId xmlns:a16="http://schemas.microsoft.com/office/drawing/2014/main" val="4170535043"/>
                    </a:ext>
                  </a:extLst>
                </a:gridCol>
                <a:gridCol w="842922">
                  <a:extLst>
                    <a:ext uri="{9D8B030D-6E8A-4147-A177-3AD203B41FA5}">
                      <a16:colId xmlns:a16="http://schemas.microsoft.com/office/drawing/2014/main" val="2079070694"/>
                    </a:ext>
                  </a:extLst>
                </a:gridCol>
                <a:gridCol w="384274">
                  <a:extLst>
                    <a:ext uri="{9D8B030D-6E8A-4147-A177-3AD203B41FA5}">
                      <a16:colId xmlns:a16="http://schemas.microsoft.com/office/drawing/2014/main" val="4213315911"/>
                    </a:ext>
                  </a:extLst>
                </a:gridCol>
                <a:gridCol w="376548">
                  <a:extLst>
                    <a:ext uri="{9D8B030D-6E8A-4147-A177-3AD203B41FA5}">
                      <a16:colId xmlns:a16="http://schemas.microsoft.com/office/drawing/2014/main" val="2769999950"/>
                    </a:ext>
                  </a:extLst>
                </a:gridCol>
                <a:gridCol w="426431">
                  <a:extLst>
                    <a:ext uri="{9D8B030D-6E8A-4147-A177-3AD203B41FA5}">
                      <a16:colId xmlns:a16="http://schemas.microsoft.com/office/drawing/2014/main" val="135637185"/>
                    </a:ext>
                  </a:extLst>
                </a:gridCol>
                <a:gridCol w="361860">
                  <a:extLst>
                    <a:ext uri="{9D8B030D-6E8A-4147-A177-3AD203B41FA5}">
                      <a16:colId xmlns:a16="http://schemas.microsoft.com/office/drawing/2014/main" val="3038050475"/>
                    </a:ext>
                  </a:extLst>
                </a:gridCol>
                <a:gridCol w="374252">
                  <a:extLst>
                    <a:ext uri="{9D8B030D-6E8A-4147-A177-3AD203B41FA5}">
                      <a16:colId xmlns:a16="http://schemas.microsoft.com/office/drawing/2014/main" val="1979433044"/>
                    </a:ext>
                  </a:extLst>
                </a:gridCol>
                <a:gridCol w="369295">
                  <a:extLst>
                    <a:ext uri="{9D8B030D-6E8A-4147-A177-3AD203B41FA5}">
                      <a16:colId xmlns:a16="http://schemas.microsoft.com/office/drawing/2014/main" val="4270661649"/>
                    </a:ext>
                  </a:extLst>
                </a:gridCol>
                <a:gridCol w="376730">
                  <a:extLst>
                    <a:ext uri="{9D8B030D-6E8A-4147-A177-3AD203B41FA5}">
                      <a16:colId xmlns:a16="http://schemas.microsoft.com/office/drawing/2014/main" val="3027041370"/>
                    </a:ext>
                  </a:extLst>
                </a:gridCol>
                <a:gridCol w="366816">
                  <a:extLst>
                    <a:ext uri="{9D8B030D-6E8A-4147-A177-3AD203B41FA5}">
                      <a16:colId xmlns:a16="http://schemas.microsoft.com/office/drawing/2014/main" val="2852526216"/>
                    </a:ext>
                  </a:extLst>
                </a:gridCol>
                <a:gridCol w="351948">
                  <a:extLst>
                    <a:ext uri="{9D8B030D-6E8A-4147-A177-3AD203B41FA5}">
                      <a16:colId xmlns:a16="http://schemas.microsoft.com/office/drawing/2014/main" val="103420222"/>
                    </a:ext>
                  </a:extLst>
                </a:gridCol>
                <a:gridCol w="351947">
                  <a:extLst>
                    <a:ext uri="{9D8B030D-6E8A-4147-A177-3AD203B41FA5}">
                      <a16:colId xmlns:a16="http://schemas.microsoft.com/office/drawing/2014/main" val="1470405609"/>
                    </a:ext>
                  </a:extLst>
                </a:gridCol>
                <a:gridCol w="36398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FLLCNT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6986462"/>
                  </a:ext>
                </a:extLst>
              </a:tr>
            </a:tbl>
          </a:graphicData>
        </a:graphic>
      </p:graphicFrame>
      <p:sp>
        <p:nvSpPr>
          <p:cNvPr id="3" name="TextBox 2">
            <a:extLst>
              <a:ext uri="{FF2B5EF4-FFF2-40B4-BE49-F238E27FC236}">
                <a16:creationId xmlns:a16="http://schemas.microsoft.com/office/drawing/2014/main" id="{F470ECF6-8CF6-2A72-37E4-E9C31315F8A3}"/>
              </a:ext>
            </a:extLst>
          </p:cNvPr>
          <p:cNvSpPr txBox="1"/>
          <p:nvPr/>
        </p:nvSpPr>
        <p:spPr>
          <a:xfrm>
            <a:off x="404813" y="4953000"/>
            <a:ext cx="60169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WR_PROTECT</a:t>
            </a:r>
          </a:p>
        </p:txBody>
      </p:sp>
      <p:graphicFrame>
        <p:nvGraphicFramePr>
          <p:cNvPr id="9" name="표 8">
            <a:extLst>
              <a:ext uri="{FF2B5EF4-FFF2-40B4-BE49-F238E27FC236}">
                <a16:creationId xmlns:a16="http://schemas.microsoft.com/office/drawing/2014/main" id="{9A5B4602-9808-EC1B-E405-91D7BF92117A}"/>
              </a:ext>
            </a:extLst>
          </p:cNvPr>
          <p:cNvGraphicFramePr>
            <a:graphicFrameLocks noGrp="1"/>
          </p:cNvGraphicFramePr>
          <p:nvPr>
            <p:extLst>
              <p:ext uri="{D42A27DB-BD31-4B8C-83A1-F6EECF244321}">
                <p14:modId xmlns:p14="http://schemas.microsoft.com/office/powerpoint/2010/main" val="403590590"/>
              </p:ext>
            </p:extLst>
          </p:nvPr>
        </p:nvGraphicFramePr>
        <p:xfrm>
          <a:off x="404812" y="5720961"/>
          <a:ext cx="6034799" cy="1286502"/>
        </p:xfrm>
        <a:graphic>
          <a:graphicData uri="http://schemas.openxmlformats.org/drawingml/2006/table">
            <a:tbl>
              <a:tblPr firstRow="1" bandRow="1">
                <a:tableStyleId>{5C22544A-7EE6-4342-B048-85BDC9FD1C3A}</a:tableStyleId>
              </a:tblPr>
              <a:tblGrid>
                <a:gridCol w="440384">
                  <a:extLst>
                    <a:ext uri="{9D8B030D-6E8A-4147-A177-3AD203B41FA5}">
                      <a16:colId xmlns:a16="http://schemas.microsoft.com/office/drawing/2014/main" val="4170535043"/>
                    </a:ext>
                  </a:extLst>
                </a:gridCol>
                <a:gridCol w="959277">
                  <a:extLst>
                    <a:ext uri="{9D8B030D-6E8A-4147-A177-3AD203B41FA5}">
                      <a16:colId xmlns:a16="http://schemas.microsoft.com/office/drawing/2014/main" val="2079070694"/>
                    </a:ext>
                  </a:extLst>
                </a:gridCol>
                <a:gridCol w="4635138">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61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WR_PROTECT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are used REGISTER write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purpose of WR_PROTECT is to prevent registers from being unintentionally written.</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 write-protect1 = 0xAAA : PWMCLK_DIV1/2/3, MAX_CURR_VREF1/2/3 writable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 write-protect2 = 0xCCC : MAX_CURR_VREF1/2/3 writable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 Other values</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 writable </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6" name="표 15">
            <a:extLst>
              <a:ext uri="{FF2B5EF4-FFF2-40B4-BE49-F238E27FC236}">
                <a16:creationId xmlns:a16="http://schemas.microsoft.com/office/drawing/2014/main" id="{4C64A5C7-BAFF-992D-A74D-BEB7178DC029}"/>
              </a:ext>
            </a:extLst>
          </p:cNvPr>
          <p:cNvGraphicFramePr>
            <a:graphicFrameLocks noGrp="1"/>
          </p:cNvGraphicFramePr>
          <p:nvPr>
            <p:extLst>
              <p:ext uri="{D42A27DB-BD31-4B8C-83A1-F6EECF244321}">
                <p14:modId xmlns:p14="http://schemas.microsoft.com/office/powerpoint/2010/main" val="305398074"/>
              </p:ext>
            </p:extLst>
          </p:nvPr>
        </p:nvGraphicFramePr>
        <p:xfrm>
          <a:off x="404813" y="5204116"/>
          <a:ext cx="6048377" cy="372600"/>
        </p:xfrm>
        <a:graphic>
          <a:graphicData uri="http://schemas.openxmlformats.org/drawingml/2006/table">
            <a:tbl>
              <a:tblPr firstRow="1" bandRow="1">
                <a:tableStyleId>{5C22544A-7EE6-4342-B048-85BDC9FD1C3A}</a:tableStyleId>
              </a:tblPr>
              <a:tblGrid>
                <a:gridCol w="298630">
                  <a:extLst>
                    <a:ext uri="{9D8B030D-6E8A-4147-A177-3AD203B41FA5}">
                      <a16:colId xmlns:a16="http://schemas.microsoft.com/office/drawing/2014/main" val="657570846"/>
                    </a:ext>
                  </a:extLst>
                </a:gridCol>
                <a:gridCol w="349467">
                  <a:extLst>
                    <a:ext uri="{9D8B030D-6E8A-4147-A177-3AD203B41FA5}">
                      <a16:colId xmlns:a16="http://schemas.microsoft.com/office/drawing/2014/main" val="3259894497"/>
                    </a:ext>
                  </a:extLst>
                </a:gridCol>
                <a:gridCol w="468671">
                  <a:extLst>
                    <a:ext uri="{9D8B030D-6E8A-4147-A177-3AD203B41FA5}">
                      <a16:colId xmlns:a16="http://schemas.microsoft.com/office/drawing/2014/main" val="4170535043"/>
                    </a:ext>
                  </a:extLst>
                </a:gridCol>
                <a:gridCol w="430267">
                  <a:extLst>
                    <a:ext uri="{9D8B030D-6E8A-4147-A177-3AD203B41FA5}">
                      <a16:colId xmlns:a16="http://schemas.microsoft.com/office/drawing/2014/main" val="2079070694"/>
                    </a:ext>
                  </a:extLst>
                </a:gridCol>
                <a:gridCol w="421134">
                  <a:extLst>
                    <a:ext uri="{9D8B030D-6E8A-4147-A177-3AD203B41FA5}">
                      <a16:colId xmlns:a16="http://schemas.microsoft.com/office/drawing/2014/main" val="4213315911"/>
                    </a:ext>
                  </a:extLst>
                </a:gridCol>
                <a:gridCol w="455413">
                  <a:extLst>
                    <a:ext uri="{9D8B030D-6E8A-4147-A177-3AD203B41FA5}">
                      <a16:colId xmlns:a16="http://schemas.microsoft.com/office/drawing/2014/main" val="2769999950"/>
                    </a:ext>
                  </a:extLst>
                </a:gridCol>
                <a:gridCol w="480969">
                  <a:extLst>
                    <a:ext uri="{9D8B030D-6E8A-4147-A177-3AD203B41FA5}">
                      <a16:colId xmlns:a16="http://schemas.microsoft.com/office/drawing/2014/main" val="135637185"/>
                    </a:ext>
                  </a:extLst>
                </a:gridCol>
                <a:gridCol w="396775">
                  <a:extLst>
                    <a:ext uri="{9D8B030D-6E8A-4147-A177-3AD203B41FA5}">
                      <a16:colId xmlns:a16="http://schemas.microsoft.com/office/drawing/2014/main" val="3038050475"/>
                    </a:ext>
                  </a:extLst>
                </a:gridCol>
                <a:gridCol w="396775">
                  <a:extLst>
                    <a:ext uri="{9D8B030D-6E8A-4147-A177-3AD203B41FA5}">
                      <a16:colId xmlns:a16="http://schemas.microsoft.com/office/drawing/2014/main" val="1979433044"/>
                    </a:ext>
                  </a:extLst>
                </a:gridCol>
                <a:gridCol w="396775">
                  <a:extLst>
                    <a:ext uri="{9D8B030D-6E8A-4147-A177-3AD203B41FA5}">
                      <a16:colId xmlns:a16="http://schemas.microsoft.com/office/drawing/2014/main" val="4270661649"/>
                    </a:ext>
                  </a:extLst>
                </a:gridCol>
                <a:gridCol w="396775">
                  <a:extLst>
                    <a:ext uri="{9D8B030D-6E8A-4147-A177-3AD203B41FA5}">
                      <a16:colId xmlns:a16="http://schemas.microsoft.com/office/drawing/2014/main" val="3027041370"/>
                    </a:ext>
                  </a:extLst>
                </a:gridCol>
                <a:gridCol w="396775">
                  <a:extLst>
                    <a:ext uri="{9D8B030D-6E8A-4147-A177-3AD203B41FA5}">
                      <a16:colId xmlns:a16="http://schemas.microsoft.com/office/drawing/2014/main" val="2852526216"/>
                    </a:ext>
                  </a:extLst>
                </a:gridCol>
                <a:gridCol w="396775">
                  <a:extLst>
                    <a:ext uri="{9D8B030D-6E8A-4147-A177-3AD203B41FA5}">
                      <a16:colId xmlns:a16="http://schemas.microsoft.com/office/drawing/2014/main" val="103420222"/>
                    </a:ext>
                  </a:extLst>
                </a:gridCol>
                <a:gridCol w="396775">
                  <a:extLst>
                    <a:ext uri="{9D8B030D-6E8A-4147-A177-3AD203B41FA5}">
                      <a16:colId xmlns:a16="http://schemas.microsoft.com/office/drawing/2014/main" val="1470405609"/>
                    </a:ext>
                  </a:extLst>
                </a:gridCol>
                <a:gridCol w="36640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0x555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WR_PROTECT[11:0]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spTree>
    <p:extLst>
      <p:ext uri="{BB962C8B-B14F-4D97-AF65-F5344CB8AC3E}">
        <p14:creationId xmlns:p14="http://schemas.microsoft.com/office/powerpoint/2010/main" val="420139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75783E36-D081-8B7A-890F-923F44173C7E}"/>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3F36E75-58AB-1734-4A97-D03F26F4BDFA}"/>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1AD4AAFA-5CAB-3B58-3457-23605F201403}"/>
              </a:ext>
            </a:extLst>
          </p:cNvPr>
          <p:cNvSpPr txBox="1"/>
          <p:nvPr/>
        </p:nvSpPr>
        <p:spPr>
          <a:xfrm>
            <a:off x="404813" y="736491"/>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NF_CONTROL</a:t>
            </a:r>
          </a:p>
        </p:txBody>
      </p:sp>
      <p:graphicFrame>
        <p:nvGraphicFramePr>
          <p:cNvPr id="7" name="표 6">
            <a:extLst>
              <a:ext uri="{FF2B5EF4-FFF2-40B4-BE49-F238E27FC236}">
                <a16:creationId xmlns:a16="http://schemas.microsoft.com/office/drawing/2014/main" id="{61BEBD40-B1FF-FB2B-C6CC-83A0F95F0AAA}"/>
              </a:ext>
            </a:extLst>
          </p:cNvPr>
          <p:cNvGraphicFramePr>
            <a:graphicFrameLocks noGrp="1"/>
          </p:cNvGraphicFramePr>
          <p:nvPr>
            <p:extLst>
              <p:ext uri="{D42A27DB-BD31-4B8C-83A1-F6EECF244321}">
                <p14:modId xmlns:p14="http://schemas.microsoft.com/office/powerpoint/2010/main" val="630109372"/>
              </p:ext>
            </p:extLst>
          </p:nvPr>
        </p:nvGraphicFramePr>
        <p:xfrm>
          <a:off x="414077" y="1550702"/>
          <a:ext cx="6057234" cy="377590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BBKN_TH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BBKN_TH is a register for detecting short DIN pulses.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set BBKN_TH to the max. DIN that should be filtered.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BBKN_TH DIN pulses shorter than this register are not recognized as DIN pulses internally, and the corresponding command is ignored.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029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EMI_REJ_EN</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EMI_REJ_EN determinant EMI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9603658"/>
                  </a:ext>
                </a:extLst>
              </a:tr>
              <a:tr h="322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SGRJT_EN2</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SGRJT_EN2 determinant SVI glitch within 4-MCLK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63765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SGRJT_EN1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SGRJT_EN1 determinant SVI glitch within 3-MCLK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488707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BBKN_EN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BBKN_TH determinant BBKN_EN function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8022440"/>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DGRJT_EN2</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DGRJT_EN2 determinant DIN glitch within 4-MCLK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612521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DGRJT_EN1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DGRJT_EN1 determinant DIN glitch within 3-MCLK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7656316"/>
                  </a:ext>
                </a:extLst>
              </a:tr>
            </a:tbl>
          </a:graphicData>
        </a:graphic>
      </p:graphicFrame>
      <p:graphicFrame>
        <p:nvGraphicFramePr>
          <p:cNvPr id="8" name="표 7">
            <a:extLst>
              <a:ext uri="{FF2B5EF4-FFF2-40B4-BE49-F238E27FC236}">
                <a16:creationId xmlns:a16="http://schemas.microsoft.com/office/drawing/2014/main" id="{79E71122-A029-7760-6816-E3B566A314AB}"/>
              </a:ext>
            </a:extLst>
          </p:cNvPr>
          <p:cNvGraphicFramePr>
            <a:graphicFrameLocks noGrp="1"/>
          </p:cNvGraphicFramePr>
          <p:nvPr>
            <p:extLst>
              <p:ext uri="{D42A27DB-BD31-4B8C-83A1-F6EECF244321}">
                <p14:modId xmlns:p14="http://schemas.microsoft.com/office/powerpoint/2010/main" val="2125243365"/>
              </p:ext>
            </p:extLst>
          </p:nvPr>
        </p:nvGraphicFramePr>
        <p:xfrm>
          <a:off x="414080" y="1002107"/>
          <a:ext cx="6039108" cy="448800"/>
        </p:xfrm>
        <a:graphic>
          <a:graphicData uri="http://schemas.openxmlformats.org/drawingml/2006/table">
            <a:tbl>
              <a:tblPr firstRow="1" bandRow="1">
                <a:tableStyleId>{5C22544A-7EE6-4342-B048-85BDC9FD1C3A}</a:tableStyleId>
              </a:tblPr>
              <a:tblGrid>
                <a:gridCol w="286039">
                  <a:extLst>
                    <a:ext uri="{9D8B030D-6E8A-4147-A177-3AD203B41FA5}">
                      <a16:colId xmlns:a16="http://schemas.microsoft.com/office/drawing/2014/main" val="657570846"/>
                    </a:ext>
                  </a:extLst>
                </a:gridCol>
                <a:gridCol w="334731">
                  <a:extLst>
                    <a:ext uri="{9D8B030D-6E8A-4147-A177-3AD203B41FA5}">
                      <a16:colId xmlns:a16="http://schemas.microsoft.com/office/drawing/2014/main" val="3259894497"/>
                    </a:ext>
                  </a:extLst>
                </a:gridCol>
                <a:gridCol w="448909">
                  <a:extLst>
                    <a:ext uri="{9D8B030D-6E8A-4147-A177-3AD203B41FA5}">
                      <a16:colId xmlns:a16="http://schemas.microsoft.com/office/drawing/2014/main" val="4170535043"/>
                    </a:ext>
                  </a:extLst>
                </a:gridCol>
                <a:gridCol w="412124">
                  <a:extLst>
                    <a:ext uri="{9D8B030D-6E8A-4147-A177-3AD203B41FA5}">
                      <a16:colId xmlns:a16="http://schemas.microsoft.com/office/drawing/2014/main" val="2079070694"/>
                    </a:ext>
                  </a:extLst>
                </a:gridCol>
                <a:gridCol w="433877">
                  <a:extLst>
                    <a:ext uri="{9D8B030D-6E8A-4147-A177-3AD203B41FA5}">
                      <a16:colId xmlns:a16="http://schemas.microsoft.com/office/drawing/2014/main" val="4213315911"/>
                    </a:ext>
                  </a:extLst>
                </a:gridCol>
                <a:gridCol w="436210">
                  <a:extLst>
                    <a:ext uri="{9D8B030D-6E8A-4147-A177-3AD203B41FA5}">
                      <a16:colId xmlns:a16="http://schemas.microsoft.com/office/drawing/2014/main" val="2769999950"/>
                    </a:ext>
                  </a:extLst>
                </a:gridCol>
                <a:gridCol w="460689">
                  <a:extLst>
                    <a:ext uri="{9D8B030D-6E8A-4147-A177-3AD203B41FA5}">
                      <a16:colId xmlns:a16="http://schemas.microsoft.com/office/drawing/2014/main" val="135637185"/>
                    </a:ext>
                  </a:extLst>
                </a:gridCol>
                <a:gridCol w="380044">
                  <a:extLst>
                    <a:ext uri="{9D8B030D-6E8A-4147-A177-3AD203B41FA5}">
                      <a16:colId xmlns:a16="http://schemas.microsoft.com/office/drawing/2014/main" val="3038050475"/>
                    </a:ext>
                  </a:extLst>
                </a:gridCol>
                <a:gridCol w="380045">
                  <a:extLst>
                    <a:ext uri="{9D8B030D-6E8A-4147-A177-3AD203B41FA5}">
                      <a16:colId xmlns:a16="http://schemas.microsoft.com/office/drawing/2014/main" val="1979433044"/>
                    </a:ext>
                  </a:extLst>
                </a:gridCol>
                <a:gridCol w="433683">
                  <a:extLst>
                    <a:ext uri="{9D8B030D-6E8A-4147-A177-3AD203B41FA5}">
                      <a16:colId xmlns:a16="http://schemas.microsoft.com/office/drawing/2014/main" val="4270661649"/>
                    </a:ext>
                  </a:extLst>
                </a:gridCol>
                <a:gridCol w="438769">
                  <a:extLst>
                    <a:ext uri="{9D8B030D-6E8A-4147-A177-3AD203B41FA5}">
                      <a16:colId xmlns:a16="http://schemas.microsoft.com/office/drawing/2014/main" val="3027041370"/>
                    </a:ext>
                  </a:extLst>
                </a:gridCol>
                <a:gridCol w="437955">
                  <a:extLst>
                    <a:ext uri="{9D8B030D-6E8A-4147-A177-3AD203B41FA5}">
                      <a16:colId xmlns:a16="http://schemas.microsoft.com/office/drawing/2014/main" val="3449227607"/>
                    </a:ext>
                  </a:extLst>
                </a:gridCol>
                <a:gridCol w="380859">
                  <a:extLst>
                    <a:ext uri="{9D8B030D-6E8A-4147-A177-3AD203B41FA5}">
                      <a16:colId xmlns:a16="http://schemas.microsoft.com/office/drawing/2014/main" val="2408248379"/>
                    </a:ext>
                  </a:extLst>
                </a:gridCol>
                <a:gridCol w="365498">
                  <a:extLst>
                    <a:ext uri="{9D8B030D-6E8A-4147-A177-3AD203B41FA5}">
                      <a16:colId xmlns:a16="http://schemas.microsoft.com/office/drawing/2014/main" val="1470405609"/>
                    </a:ext>
                  </a:extLst>
                </a:gridCol>
                <a:gridCol w="409676">
                  <a:extLst>
                    <a:ext uri="{9D8B030D-6E8A-4147-A177-3AD203B41FA5}">
                      <a16:colId xmlns:a16="http://schemas.microsoft.com/office/drawing/2014/main" val="110445146"/>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lang="ko-KR" altLang="en-US"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lang="ko-KR" altLang="en-US"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lang="ko-KR" altLang="en-US" dirty="0"/>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BBKN_TH[5:0]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EMI_REJ_EN</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SGRJT_EN2</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SGRJT_EN1</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BBKN_EN</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DGRJT_EN2</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DGRJT_EN1</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sp>
        <p:nvSpPr>
          <p:cNvPr id="9" name="TextBox 8">
            <a:extLst>
              <a:ext uri="{FF2B5EF4-FFF2-40B4-BE49-F238E27FC236}">
                <a16:creationId xmlns:a16="http://schemas.microsoft.com/office/drawing/2014/main" id="{F14113C2-4F58-B531-12BD-7EAB6936C428}"/>
              </a:ext>
            </a:extLst>
          </p:cNvPr>
          <p:cNvSpPr txBox="1"/>
          <p:nvPr/>
        </p:nvSpPr>
        <p:spPr>
          <a:xfrm>
            <a:off x="422690" y="5315958"/>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CHOP_EN</a:t>
            </a:r>
          </a:p>
        </p:txBody>
      </p:sp>
      <p:graphicFrame>
        <p:nvGraphicFramePr>
          <p:cNvPr id="10" name="표 9">
            <a:extLst>
              <a:ext uri="{FF2B5EF4-FFF2-40B4-BE49-F238E27FC236}">
                <a16:creationId xmlns:a16="http://schemas.microsoft.com/office/drawing/2014/main" id="{D10C771E-E749-65C2-FB00-F13EFFC64BFF}"/>
              </a:ext>
            </a:extLst>
          </p:cNvPr>
          <p:cNvGraphicFramePr>
            <a:graphicFrameLocks noGrp="1"/>
          </p:cNvGraphicFramePr>
          <p:nvPr>
            <p:extLst>
              <p:ext uri="{D42A27DB-BD31-4B8C-83A1-F6EECF244321}">
                <p14:modId xmlns:p14="http://schemas.microsoft.com/office/powerpoint/2010/main" val="183870982"/>
              </p:ext>
            </p:extLst>
          </p:nvPr>
        </p:nvGraphicFramePr>
        <p:xfrm>
          <a:off x="392113" y="5963608"/>
          <a:ext cx="6057234" cy="315526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CHOP_DRV_EN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CHOP_DRV_EN is determinant DRIVER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029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CHOP_OSCLDO_EN</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CHOP_OSCLDO_EN is determinant OSC LDO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9603658"/>
                  </a:ext>
                </a:extLst>
              </a:tr>
              <a:tr h="322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CHOP_OSC_EN</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CHOP_OSC_EN determinant OSC CHOPPING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63765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CHOP_IREF_EN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CHOP_IREF_EN determinant IREF CHOPPING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488707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CHOP_DAC_EN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CHOP_DAC_EN determinant DAC CHOPPING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8022440"/>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CHOP_BGR_EN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CHOP_BGR_EN determinant BGR CHOPPING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6125216"/>
                  </a:ext>
                </a:extLst>
              </a:tr>
            </a:tbl>
          </a:graphicData>
        </a:graphic>
      </p:graphicFrame>
      <p:graphicFrame>
        <p:nvGraphicFramePr>
          <p:cNvPr id="14" name="표 13">
            <a:extLst>
              <a:ext uri="{FF2B5EF4-FFF2-40B4-BE49-F238E27FC236}">
                <a16:creationId xmlns:a16="http://schemas.microsoft.com/office/drawing/2014/main" id="{F06593B5-CB48-DD5F-F914-AD9B347D72D2}"/>
              </a:ext>
            </a:extLst>
          </p:cNvPr>
          <p:cNvGraphicFramePr>
            <a:graphicFrameLocks noGrp="1"/>
          </p:cNvGraphicFramePr>
          <p:nvPr>
            <p:extLst>
              <p:ext uri="{D42A27DB-BD31-4B8C-83A1-F6EECF244321}">
                <p14:modId xmlns:p14="http://schemas.microsoft.com/office/powerpoint/2010/main" val="2429498749"/>
              </p:ext>
            </p:extLst>
          </p:nvPr>
        </p:nvGraphicFramePr>
        <p:xfrm>
          <a:off x="404984" y="5577568"/>
          <a:ext cx="6048450" cy="37260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299053">
                  <a:extLst>
                    <a:ext uri="{9D8B030D-6E8A-4147-A177-3AD203B41FA5}">
                      <a16:colId xmlns:a16="http://schemas.microsoft.com/office/drawing/2014/main" val="2079070694"/>
                    </a:ext>
                  </a:extLst>
                </a:gridCol>
                <a:gridCol w="311150">
                  <a:extLst>
                    <a:ext uri="{9D8B030D-6E8A-4147-A177-3AD203B41FA5}">
                      <a16:colId xmlns:a16="http://schemas.microsoft.com/office/drawing/2014/main" val="4213315911"/>
                    </a:ext>
                  </a:extLst>
                </a:gridCol>
                <a:gridCol w="330200">
                  <a:extLst>
                    <a:ext uri="{9D8B030D-6E8A-4147-A177-3AD203B41FA5}">
                      <a16:colId xmlns:a16="http://schemas.microsoft.com/office/drawing/2014/main" val="2769999950"/>
                    </a:ext>
                  </a:extLst>
                </a:gridCol>
                <a:gridCol w="282575">
                  <a:extLst>
                    <a:ext uri="{9D8B030D-6E8A-4147-A177-3AD203B41FA5}">
                      <a16:colId xmlns:a16="http://schemas.microsoft.com/office/drawing/2014/main" val="135637185"/>
                    </a:ext>
                  </a:extLst>
                </a:gridCol>
                <a:gridCol w="254000">
                  <a:extLst>
                    <a:ext uri="{9D8B030D-6E8A-4147-A177-3AD203B41FA5}">
                      <a16:colId xmlns:a16="http://schemas.microsoft.com/office/drawing/2014/main" val="3038050475"/>
                    </a:ext>
                  </a:extLst>
                </a:gridCol>
                <a:gridCol w="257175">
                  <a:extLst>
                    <a:ext uri="{9D8B030D-6E8A-4147-A177-3AD203B41FA5}">
                      <a16:colId xmlns:a16="http://schemas.microsoft.com/office/drawing/2014/main" val="1979433044"/>
                    </a:ext>
                  </a:extLst>
                </a:gridCol>
                <a:gridCol w="527050">
                  <a:extLst>
                    <a:ext uri="{9D8B030D-6E8A-4147-A177-3AD203B41FA5}">
                      <a16:colId xmlns:a16="http://schemas.microsoft.com/office/drawing/2014/main" val="4270661649"/>
                    </a:ext>
                  </a:extLst>
                </a:gridCol>
                <a:gridCol w="619125">
                  <a:extLst>
                    <a:ext uri="{9D8B030D-6E8A-4147-A177-3AD203B41FA5}">
                      <a16:colId xmlns:a16="http://schemas.microsoft.com/office/drawing/2014/main" val="3027041370"/>
                    </a:ext>
                  </a:extLst>
                </a:gridCol>
                <a:gridCol w="476250">
                  <a:extLst>
                    <a:ext uri="{9D8B030D-6E8A-4147-A177-3AD203B41FA5}">
                      <a16:colId xmlns:a16="http://schemas.microsoft.com/office/drawing/2014/main" val="2852526216"/>
                    </a:ext>
                  </a:extLst>
                </a:gridCol>
                <a:gridCol w="488950">
                  <a:extLst>
                    <a:ext uri="{9D8B030D-6E8A-4147-A177-3AD203B41FA5}">
                      <a16:colId xmlns:a16="http://schemas.microsoft.com/office/drawing/2014/main" val="103420222"/>
                    </a:ext>
                  </a:extLst>
                </a:gridCol>
                <a:gridCol w="555625">
                  <a:extLst>
                    <a:ext uri="{9D8B030D-6E8A-4147-A177-3AD203B41FA5}">
                      <a16:colId xmlns:a16="http://schemas.microsoft.com/office/drawing/2014/main" val="1470405609"/>
                    </a:ext>
                  </a:extLst>
                </a:gridCol>
                <a:gridCol w="46538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CHOP_DRV_EN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CHOP_OSCLDO_EN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CHOP_OSC_EN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CHOP_IREF_EN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CHOP_DAC_EN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CHOP_BGR_EN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5561203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C1CCE3D5-00C2-FD2E-4DD3-C6B8F6E684A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E7CEDF2-50D3-CC9C-0120-08F5B66E6027}"/>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CD335A-0277-A41A-A7F2-5CBC9C44750A}"/>
              </a:ext>
            </a:extLst>
          </p:cNvPr>
          <p:cNvSpPr txBox="1"/>
          <p:nvPr/>
        </p:nvSpPr>
        <p:spPr>
          <a:xfrm>
            <a:off x="386687" y="825092"/>
            <a:ext cx="60572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TEMP</a:t>
            </a:r>
          </a:p>
        </p:txBody>
      </p:sp>
      <p:graphicFrame>
        <p:nvGraphicFramePr>
          <p:cNvPr id="15" name="표 14">
            <a:extLst>
              <a:ext uri="{FF2B5EF4-FFF2-40B4-BE49-F238E27FC236}">
                <a16:creationId xmlns:a16="http://schemas.microsoft.com/office/drawing/2014/main" id="{2E2D76C7-6056-18D7-2156-FEFD22AD04AD}"/>
              </a:ext>
            </a:extLst>
          </p:cNvPr>
          <p:cNvGraphicFramePr>
            <a:graphicFrameLocks noGrp="1"/>
          </p:cNvGraphicFramePr>
          <p:nvPr>
            <p:extLst>
              <p:ext uri="{D42A27DB-BD31-4B8C-83A1-F6EECF244321}">
                <p14:modId xmlns:p14="http://schemas.microsoft.com/office/powerpoint/2010/main" val="1627651604"/>
              </p:ext>
            </p:extLst>
          </p:nvPr>
        </p:nvGraphicFramePr>
        <p:xfrm>
          <a:off x="386686" y="1618527"/>
          <a:ext cx="6057230" cy="1736913"/>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25647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10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OFS_TEMP</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temperature level at which the thermal event occurs. The thermal threshold temperature may vary slightly from the set value. The thermal event threshold temperature according to the OFS_TEMP value is mapped as follows.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93/ 99/ 103/ 109/ 113/ 117/ 123/ 127/ 133(default) / 137/ 143/ 147/ 151/ 157/ 161/ 165℃</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32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VDD_SEL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3434939"/>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DAC_RNG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FLT_CTL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set</a:t>
                      </a:r>
                      <a:r>
                        <a:rPr kumimoji="0" lang="ko-KR" altLang="en-US"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a:t>
                      </a: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to</a:t>
                      </a:r>
                      <a:r>
                        <a:rPr kumimoji="0" lang="ko-KR" altLang="en-US"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a:t>
                      </a: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1</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3784100"/>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FLT_GAIN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969923"/>
                  </a:ext>
                </a:extLst>
              </a:tr>
            </a:tbl>
          </a:graphicData>
        </a:graphic>
      </p:graphicFrame>
      <p:graphicFrame>
        <p:nvGraphicFramePr>
          <p:cNvPr id="6" name="표 5">
            <a:extLst>
              <a:ext uri="{FF2B5EF4-FFF2-40B4-BE49-F238E27FC236}">
                <a16:creationId xmlns:a16="http://schemas.microsoft.com/office/drawing/2014/main" id="{CF9F7FBD-1A32-6960-FA16-AC9FDD2544E4}"/>
              </a:ext>
            </a:extLst>
          </p:cNvPr>
          <p:cNvGraphicFramePr>
            <a:graphicFrameLocks noGrp="1"/>
          </p:cNvGraphicFramePr>
          <p:nvPr>
            <p:extLst>
              <p:ext uri="{D42A27DB-BD31-4B8C-83A1-F6EECF244321}">
                <p14:modId xmlns:p14="http://schemas.microsoft.com/office/powerpoint/2010/main" val="2692821672"/>
              </p:ext>
            </p:extLst>
          </p:nvPr>
        </p:nvGraphicFramePr>
        <p:xfrm>
          <a:off x="404812" y="1090806"/>
          <a:ext cx="6048365" cy="372600"/>
        </p:xfrm>
        <a:graphic>
          <a:graphicData uri="http://schemas.openxmlformats.org/drawingml/2006/table">
            <a:tbl>
              <a:tblPr firstRow="1" bandRow="1">
                <a:tableStyleId>{5C22544A-7EE6-4342-B048-85BDC9FD1C3A}</a:tableStyleId>
              </a:tblPr>
              <a:tblGrid>
                <a:gridCol w="348388">
                  <a:extLst>
                    <a:ext uri="{9D8B030D-6E8A-4147-A177-3AD203B41FA5}">
                      <a16:colId xmlns:a16="http://schemas.microsoft.com/office/drawing/2014/main" val="657570846"/>
                    </a:ext>
                  </a:extLst>
                </a:gridCol>
                <a:gridCol w="383065">
                  <a:extLst>
                    <a:ext uri="{9D8B030D-6E8A-4147-A177-3AD203B41FA5}">
                      <a16:colId xmlns:a16="http://schemas.microsoft.com/office/drawing/2014/main" val="3259894497"/>
                    </a:ext>
                  </a:extLst>
                </a:gridCol>
                <a:gridCol w="450201">
                  <a:extLst>
                    <a:ext uri="{9D8B030D-6E8A-4147-A177-3AD203B41FA5}">
                      <a16:colId xmlns:a16="http://schemas.microsoft.com/office/drawing/2014/main" val="4170535043"/>
                    </a:ext>
                  </a:extLst>
                </a:gridCol>
                <a:gridCol w="401278">
                  <a:extLst>
                    <a:ext uri="{9D8B030D-6E8A-4147-A177-3AD203B41FA5}">
                      <a16:colId xmlns:a16="http://schemas.microsoft.com/office/drawing/2014/main" val="2079070694"/>
                    </a:ext>
                  </a:extLst>
                </a:gridCol>
                <a:gridCol w="401278">
                  <a:extLst>
                    <a:ext uri="{9D8B030D-6E8A-4147-A177-3AD203B41FA5}">
                      <a16:colId xmlns:a16="http://schemas.microsoft.com/office/drawing/2014/main" val="4213315911"/>
                    </a:ext>
                  </a:extLst>
                </a:gridCol>
                <a:gridCol w="401278">
                  <a:extLst>
                    <a:ext uri="{9D8B030D-6E8A-4147-A177-3AD203B41FA5}">
                      <a16:colId xmlns:a16="http://schemas.microsoft.com/office/drawing/2014/main" val="2769999950"/>
                    </a:ext>
                  </a:extLst>
                </a:gridCol>
                <a:gridCol w="342367">
                  <a:extLst>
                    <a:ext uri="{9D8B030D-6E8A-4147-A177-3AD203B41FA5}">
                      <a16:colId xmlns:a16="http://schemas.microsoft.com/office/drawing/2014/main" val="135637185"/>
                    </a:ext>
                  </a:extLst>
                </a:gridCol>
                <a:gridCol w="460189">
                  <a:extLst>
                    <a:ext uri="{9D8B030D-6E8A-4147-A177-3AD203B41FA5}">
                      <a16:colId xmlns:a16="http://schemas.microsoft.com/office/drawing/2014/main" val="3038050475"/>
                    </a:ext>
                  </a:extLst>
                </a:gridCol>
                <a:gridCol w="452653">
                  <a:extLst>
                    <a:ext uri="{9D8B030D-6E8A-4147-A177-3AD203B41FA5}">
                      <a16:colId xmlns:a16="http://schemas.microsoft.com/office/drawing/2014/main" val="1979433044"/>
                    </a:ext>
                  </a:extLst>
                </a:gridCol>
                <a:gridCol w="401278">
                  <a:extLst>
                    <a:ext uri="{9D8B030D-6E8A-4147-A177-3AD203B41FA5}">
                      <a16:colId xmlns:a16="http://schemas.microsoft.com/office/drawing/2014/main" val="4270661649"/>
                    </a:ext>
                  </a:extLst>
                </a:gridCol>
                <a:gridCol w="401278">
                  <a:extLst>
                    <a:ext uri="{9D8B030D-6E8A-4147-A177-3AD203B41FA5}">
                      <a16:colId xmlns:a16="http://schemas.microsoft.com/office/drawing/2014/main" val="3027041370"/>
                    </a:ext>
                  </a:extLst>
                </a:gridCol>
                <a:gridCol w="401278">
                  <a:extLst>
                    <a:ext uri="{9D8B030D-6E8A-4147-A177-3AD203B41FA5}">
                      <a16:colId xmlns:a16="http://schemas.microsoft.com/office/drawing/2014/main" val="2852526216"/>
                    </a:ext>
                  </a:extLst>
                </a:gridCol>
                <a:gridCol w="401278">
                  <a:extLst>
                    <a:ext uri="{9D8B030D-6E8A-4147-A177-3AD203B41FA5}">
                      <a16:colId xmlns:a16="http://schemas.microsoft.com/office/drawing/2014/main" val="103420222"/>
                    </a:ext>
                  </a:extLst>
                </a:gridCol>
                <a:gridCol w="401278">
                  <a:extLst>
                    <a:ext uri="{9D8B030D-6E8A-4147-A177-3AD203B41FA5}">
                      <a16:colId xmlns:a16="http://schemas.microsoft.com/office/drawing/2014/main" val="1470405609"/>
                    </a:ext>
                  </a:extLst>
                </a:gridCol>
                <a:gridCol w="40127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OFS_TEMP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VDD_SEL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DAC_RNG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FLT_CTL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FLT_GAIN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55B08AF4-C782-A136-1BBC-8DB15625609A}"/>
              </a:ext>
            </a:extLst>
          </p:cNvPr>
          <p:cNvSpPr txBox="1"/>
          <p:nvPr/>
        </p:nvSpPr>
        <p:spPr>
          <a:xfrm>
            <a:off x="386688" y="3614558"/>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 FLL MANUAL</a:t>
            </a:r>
          </a:p>
        </p:txBody>
      </p:sp>
      <p:graphicFrame>
        <p:nvGraphicFramePr>
          <p:cNvPr id="10" name="표 9">
            <a:extLst>
              <a:ext uri="{FF2B5EF4-FFF2-40B4-BE49-F238E27FC236}">
                <a16:creationId xmlns:a16="http://schemas.microsoft.com/office/drawing/2014/main" id="{E930E701-0F95-4A77-2A04-FAEA137B9F27}"/>
              </a:ext>
            </a:extLst>
          </p:cNvPr>
          <p:cNvGraphicFramePr>
            <a:graphicFrameLocks noGrp="1"/>
          </p:cNvGraphicFramePr>
          <p:nvPr>
            <p:extLst>
              <p:ext uri="{D42A27DB-BD31-4B8C-83A1-F6EECF244321}">
                <p14:modId xmlns:p14="http://schemas.microsoft.com/office/powerpoint/2010/main" val="4294135543"/>
              </p:ext>
            </p:extLst>
          </p:nvPr>
        </p:nvGraphicFramePr>
        <p:xfrm>
          <a:off x="395952" y="4753889"/>
          <a:ext cx="6057234" cy="94702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61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OSC_MAN_E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Enable the manual mode of the FLL module</a:t>
                      </a:r>
                      <a:r>
                        <a:rPr lang="en-US" altLang="ko-KR" sz="900" b="0" i="1" dirty="0">
                          <a:solidFill>
                            <a:schemeClr val="tx1"/>
                          </a:solidFill>
                          <a:latin typeface="Arial" panose="020B0604020202020204" pitchFamily="34" charset="0"/>
                          <a:ea typeface="+mn-ea"/>
                          <a:cs typeface="Arial" panose="020B0604020202020204" pitchFamily="34" charset="0"/>
                        </a:rPr>
                        <a:t>. It is careful that this bit must be cleared during the initialization after POR.</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1079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OSC_FLL_MAN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in manual 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graphicFrame>
        <p:nvGraphicFramePr>
          <p:cNvPr id="12" name="표 11">
            <a:extLst>
              <a:ext uri="{FF2B5EF4-FFF2-40B4-BE49-F238E27FC236}">
                <a16:creationId xmlns:a16="http://schemas.microsoft.com/office/drawing/2014/main" id="{E9D8FCDF-0D0C-E876-153B-5462FD43AD00}"/>
              </a:ext>
            </a:extLst>
          </p:cNvPr>
          <p:cNvGraphicFramePr>
            <a:graphicFrameLocks noGrp="1"/>
          </p:cNvGraphicFramePr>
          <p:nvPr>
            <p:extLst>
              <p:ext uri="{D42A27DB-BD31-4B8C-83A1-F6EECF244321}">
                <p14:modId xmlns:p14="http://schemas.microsoft.com/office/powerpoint/2010/main" val="2294458813"/>
              </p:ext>
            </p:extLst>
          </p:nvPr>
        </p:nvGraphicFramePr>
        <p:xfrm>
          <a:off x="395955" y="3880174"/>
          <a:ext cx="6057233" cy="372600"/>
        </p:xfrm>
        <a:graphic>
          <a:graphicData uri="http://schemas.openxmlformats.org/drawingml/2006/table">
            <a:tbl>
              <a:tblPr firstRow="1" bandRow="1">
                <a:tableStyleId>{5C22544A-7EE6-4342-B048-85BDC9FD1C3A}</a:tableStyleId>
              </a:tblPr>
              <a:tblGrid>
                <a:gridCol w="299068">
                  <a:extLst>
                    <a:ext uri="{9D8B030D-6E8A-4147-A177-3AD203B41FA5}">
                      <a16:colId xmlns:a16="http://schemas.microsoft.com/office/drawing/2014/main" val="657570846"/>
                    </a:ext>
                  </a:extLst>
                </a:gridCol>
                <a:gridCol w="349978">
                  <a:extLst>
                    <a:ext uri="{9D8B030D-6E8A-4147-A177-3AD203B41FA5}">
                      <a16:colId xmlns:a16="http://schemas.microsoft.com/office/drawing/2014/main" val="3259894497"/>
                    </a:ext>
                  </a:extLst>
                </a:gridCol>
                <a:gridCol w="469357">
                  <a:extLst>
                    <a:ext uri="{9D8B030D-6E8A-4147-A177-3AD203B41FA5}">
                      <a16:colId xmlns:a16="http://schemas.microsoft.com/office/drawing/2014/main" val="4170535043"/>
                    </a:ext>
                  </a:extLst>
                </a:gridCol>
                <a:gridCol w="430897">
                  <a:extLst>
                    <a:ext uri="{9D8B030D-6E8A-4147-A177-3AD203B41FA5}">
                      <a16:colId xmlns:a16="http://schemas.microsoft.com/office/drawing/2014/main" val="2079070694"/>
                    </a:ext>
                  </a:extLst>
                </a:gridCol>
                <a:gridCol w="421751">
                  <a:extLst>
                    <a:ext uri="{9D8B030D-6E8A-4147-A177-3AD203B41FA5}">
                      <a16:colId xmlns:a16="http://schemas.microsoft.com/office/drawing/2014/main" val="4213315911"/>
                    </a:ext>
                  </a:extLst>
                </a:gridCol>
                <a:gridCol w="456080">
                  <a:extLst>
                    <a:ext uri="{9D8B030D-6E8A-4147-A177-3AD203B41FA5}">
                      <a16:colId xmlns:a16="http://schemas.microsoft.com/office/drawing/2014/main" val="2769999950"/>
                    </a:ext>
                  </a:extLst>
                </a:gridCol>
                <a:gridCol w="481673">
                  <a:extLst>
                    <a:ext uri="{9D8B030D-6E8A-4147-A177-3AD203B41FA5}">
                      <a16:colId xmlns:a16="http://schemas.microsoft.com/office/drawing/2014/main" val="135637185"/>
                    </a:ext>
                  </a:extLst>
                </a:gridCol>
                <a:gridCol w="397356">
                  <a:extLst>
                    <a:ext uri="{9D8B030D-6E8A-4147-A177-3AD203B41FA5}">
                      <a16:colId xmlns:a16="http://schemas.microsoft.com/office/drawing/2014/main" val="3038050475"/>
                    </a:ext>
                  </a:extLst>
                </a:gridCol>
                <a:gridCol w="397356">
                  <a:extLst>
                    <a:ext uri="{9D8B030D-6E8A-4147-A177-3AD203B41FA5}">
                      <a16:colId xmlns:a16="http://schemas.microsoft.com/office/drawing/2014/main" val="1979433044"/>
                    </a:ext>
                  </a:extLst>
                </a:gridCol>
                <a:gridCol w="397356">
                  <a:extLst>
                    <a:ext uri="{9D8B030D-6E8A-4147-A177-3AD203B41FA5}">
                      <a16:colId xmlns:a16="http://schemas.microsoft.com/office/drawing/2014/main" val="4270661649"/>
                    </a:ext>
                  </a:extLst>
                </a:gridCol>
                <a:gridCol w="397356">
                  <a:extLst>
                    <a:ext uri="{9D8B030D-6E8A-4147-A177-3AD203B41FA5}">
                      <a16:colId xmlns:a16="http://schemas.microsoft.com/office/drawing/2014/main" val="3027041370"/>
                    </a:ext>
                  </a:extLst>
                </a:gridCol>
                <a:gridCol w="397356">
                  <a:extLst>
                    <a:ext uri="{9D8B030D-6E8A-4147-A177-3AD203B41FA5}">
                      <a16:colId xmlns:a16="http://schemas.microsoft.com/office/drawing/2014/main" val="2852526216"/>
                    </a:ext>
                  </a:extLst>
                </a:gridCol>
                <a:gridCol w="397356">
                  <a:extLst>
                    <a:ext uri="{9D8B030D-6E8A-4147-A177-3AD203B41FA5}">
                      <a16:colId xmlns:a16="http://schemas.microsoft.com/office/drawing/2014/main" val="103420222"/>
                    </a:ext>
                  </a:extLst>
                </a:gridCol>
                <a:gridCol w="397356">
                  <a:extLst>
                    <a:ext uri="{9D8B030D-6E8A-4147-A177-3AD203B41FA5}">
                      <a16:colId xmlns:a16="http://schemas.microsoft.com/office/drawing/2014/main" val="1470405609"/>
                    </a:ext>
                  </a:extLst>
                </a:gridCol>
                <a:gridCol w="3669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OSC_FLL_MAN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14" name="표 13">
            <a:extLst>
              <a:ext uri="{FF2B5EF4-FFF2-40B4-BE49-F238E27FC236}">
                <a16:creationId xmlns:a16="http://schemas.microsoft.com/office/drawing/2014/main" id="{9E668C40-2FC3-732F-E4A5-41343C5D4BC7}"/>
              </a:ext>
            </a:extLst>
          </p:cNvPr>
          <p:cNvGraphicFramePr>
            <a:graphicFrameLocks noGrp="1"/>
          </p:cNvGraphicFramePr>
          <p:nvPr>
            <p:extLst>
              <p:ext uri="{D42A27DB-BD31-4B8C-83A1-F6EECF244321}">
                <p14:modId xmlns:p14="http://schemas.microsoft.com/office/powerpoint/2010/main" val="2472364881"/>
              </p:ext>
            </p:extLst>
          </p:nvPr>
        </p:nvGraphicFramePr>
        <p:xfrm>
          <a:off x="395955" y="4323131"/>
          <a:ext cx="6057233" cy="372600"/>
        </p:xfrm>
        <a:graphic>
          <a:graphicData uri="http://schemas.openxmlformats.org/drawingml/2006/table">
            <a:tbl>
              <a:tblPr firstRow="1" bandRow="1">
                <a:tableStyleId>{5C22544A-7EE6-4342-B048-85BDC9FD1C3A}</a:tableStyleId>
              </a:tblPr>
              <a:tblGrid>
                <a:gridCol w="289194">
                  <a:extLst>
                    <a:ext uri="{9D8B030D-6E8A-4147-A177-3AD203B41FA5}">
                      <a16:colId xmlns:a16="http://schemas.microsoft.com/office/drawing/2014/main" val="657570846"/>
                    </a:ext>
                  </a:extLst>
                </a:gridCol>
                <a:gridCol w="345135">
                  <a:extLst>
                    <a:ext uri="{9D8B030D-6E8A-4147-A177-3AD203B41FA5}">
                      <a16:colId xmlns:a16="http://schemas.microsoft.com/office/drawing/2014/main" val="3259894497"/>
                    </a:ext>
                  </a:extLst>
                </a:gridCol>
                <a:gridCol w="463468">
                  <a:extLst>
                    <a:ext uri="{9D8B030D-6E8A-4147-A177-3AD203B41FA5}">
                      <a16:colId xmlns:a16="http://schemas.microsoft.com/office/drawing/2014/main" val="4170535043"/>
                    </a:ext>
                  </a:extLst>
                </a:gridCol>
                <a:gridCol w="553606">
                  <a:extLst>
                    <a:ext uri="{9D8B030D-6E8A-4147-A177-3AD203B41FA5}">
                      <a16:colId xmlns:a16="http://schemas.microsoft.com/office/drawing/2014/main" val="2079070694"/>
                    </a:ext>
                  </a:extLst>
                </a:gridCol>
                <a:gridCol w="400530">
                  <a:extLst>
                    <a:ext uri="{9D8B030D-6E8A-4147-A177-3AD203B41FA5}">
                      <a16:colId xmlns:a16="http://schemas.microsoft.com/office/drawing/2014/main" val="4213315911"/>
                    </a:ext>
                  </a:extLst>
                </a:gridCol>
                <a:gridCol w="400530">
                  <a:extLst>
                    <a:ext uri="{9D8B030D-6E8A-4147-A177-3AD203B41FA5}">
                      <a16:colId xmlns:a16="http://schemas.microsoft.com/office/drawing/2014/main" val="2769999950"/>
                    </a:ext>
                  </a:extLst>
                </a:gridCol>
                <a:gridCol w="400530">
                  <a:extLst>
                    <a:ext uri="{9D8B030D-6E8A-4147-A177-3AD203B41FA5}">
                      <a16:colId xmlns:a16="http://schemas.microsoft.com/office/drawing/2014/main" val="135637185"/>
                    </a:ext>
                  </a:extLst>
                </a:gridCol>
                <a:gridCol w="400530">
                  <a:extLst>
                    <a:ext uri="{9D8B030D-6E8A-4147-A177-3AD203B41FA5}">
                      <a16:colId xmlns:a16="http://schemas.microsoft.com/office/drawing/2014/main" val="3038050475"/>
                    </a:ext>
                  </a:extLst>
                </a:gridCol>
                <a:gridCol w="400530">
                  <a:extLst>
                    <a:ext uri="{9D8B030D-6E8A-4147-A177-3AD203B41FA5}">
                      <a16:colId xmlns:a16="http://schemas.microsoft.com/office/drawing/2014/main" val="1979433044"/>
                    </a:ext>
                  </a:extLst>
                </a:gridCol>
                <a:gridCol w="400530">
                  <a:extLst>
                    <a:ext uri="{9D8B030D-6E8A-4147-A177-3AD203B41FA5}">
                      <a16:colId xmlns:a16="http://schemas.microsoft.com/office/drawing/2014/main" val="4270661649"/>
                    </a:ext>
                  </a:extLst>
                </a:gridCol>
                <a:gridCol w="400530">
                  <a:extLst>
                    <a:ext uri="{9D8B030D-6E8A-4147-A177-3AD203B41FA5}">
                      <a16:colId xmlns:a16="http://schemas.microsoft.com/office/drawing/2014/main" val="3027041370"/>
                    </a:ext>
                  </a:extLst>
                </a:gridCol>
                <a:gridCol w="400530">
                  <a:extLst>
                    <a:ext uri="{9D8B030D-6E8A-4147-A177-3AD203B41FA5}">
                      <a16:colId xmlns:a16="http://schemas.microsoft.com/office/drawing/2014/main" val="2852526216"/>
                    </a:ext>
                  </a:extLst>
                </a:gridCol>
                <a:gridCol w="400530">
                  <a:extLst>
                    <a:ext uri="{9D8B030D-6E8A-4147-A177-3AD203B41FA5}">
                      <a16:colId xmlns:a16="http://schemas.microsoft.com/office/drawing/2014/main" val="103420222"/>
                    </a:ext>
                  </a:extLst>
                </a:gridCol>
                <a:gridCol w="400530">
                  <a:extLst>
                    <a:ext uri="{9D8B030D-6E8A-4147-A177-3AD203B41FA5}">
                      <a16:colId xmlns:a16="http://schemas.microsoft.com/office/drawing/2014/main" val="1470405609"/>
                    </a:ext>
                  </a:extLst>
                </a:gridCol>
                <a:gridCol w="4005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OSC_MAN_E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OSC_FLL_MAN [15:12]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9" name="TextBox 8">
            <a:extLst>
              <a:ext uri="{FF2B5EF4-FFF2-40B4-BE49-F238E27FC236}">
                <a16:creationId xmlns:a16="http://schemas.microsoft.com/office/drawing/2014/main" id="{1A75E865-EC90-F4EB-6CB7-8983809EBC0E}"/>
              </a:ext>
            </a:extLst>
          </p:cNvPr>
          <p:cNvSpPr txBox="1"/>
          <p:nvPr/>
        </p:nvSpPr>
        <p:spPr>
          <a:xfrm>
            <a:off x="395956" y="6027320"/>
            <a:ext cx="60572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SPREAD</a:t>
            </a:r>
          </a:p>
        </p:txBody>
      </p:sp>
      <p:graphicFrame>
        <p:nvGraphicFramePr>
          <p:cNvPr id="11" name="표 10">
            <a:extLst>
              <a:ext uri="{FF2B5EF4-FFF2-40B4-BE49-F238E27FC236}">
                <a16:creationId xmlns:a16="http://schemas.microsoft.com/office/drawing/2014/main" id="{B32264EF-EB67-B922-EB1F-85E43863FCC0}"/>
              </a:ext>
            </a:extLst>
          </p:cNvPr>
          <p:cNvGraphicFramePr>
            <a:graphicFrameLocks noGrp="1"/>
          </p:cNvGraphicFramePr>
          <p:nvPr>
            <p:extLst>
              <p:ext uri="{D42A27DB-BD31-4B8C-83A1-F6EECF244321}">
                <p14:modId xmlns:p14="http://schemas.microsoft.com/office/powerpoint/2010/main" val="2551898504"/>
              </p:ext>
            </p:extLst>
          </p:nvPr>
        </p:nvGraphicFramePr>
        <p:xfrm>
          <a:off x="395955" y="6721695"/>
          <a:ext cx="6057230" cy="1981236"/>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25647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10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SPRD_EN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SPREAD function enable.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32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6:4</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SPRD_SPD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This determines SPREAD step.</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('000' :128 clock, '001' :64 clock, '010' : 32 clock, '011' : 16 clock</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'100’ :    8 clock, '101’ :  4 clock, '110’ :   2 clock, '111’ :   1 clock)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3434939"/>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SPRD_GAIN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This determines SPREAD gain.</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(‘000' : calculated value/8, ‘001' : calculated value/4, </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‘010’ : calculated value/2, ‘011' : calculated value,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‘100’ : calculated value*2, ‘101’ : calculated value*4,</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‘110’ : calculated value*8, ‘111’ : calculated value*16)</a:t>
                      </a: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13" name="표 12">
            <a:extLst>
              <a:ext uri="{FF2B5EF4-FFF2-40B4-BE49-F238E27FC236}">
                <a16:creationId xmlns:a16="http://schemas.microsoft.com/office/drawing/2014/main" id="{07BB6DF7-47EE-B74B-BBE6-7C9C9DCC512C}"/>
              </a:ext>
            </a:extLst>
          </p:cNvPr>
          <p:cNvGraphicFramePr>
            <a:graphicFrameLocks noGrp="1"/>
          </p:cNvGraphicFramePr>
          <p:nvPr>
            <p:extLst>
              <p:ext uri="{D42A27DB-BD31-4B8C-83A1-F6EECF244321}">
                <p14:modId xmlns:p14="http://schemas.microsoft.com/office/powerpoint/2010/main" val="4244132292"/>
              </p:ext>
            </p:extLst>
          </p:nvPr>
        </p:nvGraphicFramePr>
        <p:xfrm>
          <a:off x="395955" y="6293034"/>
          <a:ext cx="6057226" cy="372600"/>
        </p:xfrm>
        <a:graphic>
          <a:graphicData uri="http://schemas.openxmlformats.org/drawingml/2006/table">
            <a:tbl>
              <a:tblPr firstRow="1" bandRow="1">
                <a:tableStyleId>{5C22544A-7EE6-4342-B048-85BDC9FD1C3A}</a:tableStyleId>
              </a:tblPr>
              <a:tblGrid>
                <a:gridCol w="348898">
                  <a:extLst>
                    <a:ext uri="{9D8B030D-6E8A-4147-A177-3AD203B41FA5}">
                      <a16:colId xmlns:a16="http://schemas.microsoft.com/office/drawing/2014/main" val="657570846"/>
                    </a:ext>
                  </a:extLst>
                </a:gridCol>
                <a:gridCol w="383626">
                  <a:extLst>
                    <a:ext uri="{9D8B030D-6E8A-4147-A177-3AD203B41FA5}">
                      <a16:colId xmlns:a16="http://schemas.microsoft.com/office/drawing/2014/main" val="3259894497"/>
                    </a:ext>
                  </a:extLst>
                </a:gridCol>
                <a:gridCol w="450860">
                  <a:extLst>
                    <a:ext uri="{9D8B030D-6E8A-4147-A177-3AD203B41FA5}">
                      <a16:colId xmlns:a16="http://schemas.microsoft.com/office/drawing/2014/main" val="4170535043"/>
                    </a:ext>
                  </a:extLst>
                </a:gridCol>
                <a:gridCol w="529663">
                  <a:extLst>
                    <a:ext uri="{9D8B030D-6E8A-4147-A177-3AD203B41FA5}">
                      <a16:colId xmlns:a16="http://schemas.microsoft.com/office/drawing/2014/main" val="2079070694"/>
                    </a:ext>
                  </a:extLst>
                </a:gridCol>
                <a:gridCol w="414867">
                  <a:extLst>
                    <a:ext uri="{9D8B030D-6E8A-4147-A177-3AD203B41FA5}">
                      <a16:colId xmlns:a16="http://schemas.microsoft.com/office/drawing/2014/main" val="4213315911"/>
                    </a:ext>
                  </a:extLst>
                </a:gridCol>
                <a:gridCol w="364067">
                  <a:extLst>
                    <a:ext uri="{9D8B030D-6E8A-4147-A177-3AD203B41FA5}">
                      <a16:colId xmlns:a16="http://schemas.microsoft.com/office/drawing/2014/main" val="2769999950"/>
                    </a:ext>
                  </a:extLst>
                </a:gridCol>
                <a:gridCol w="330200">
                  <a:extLst>
                    <a:ext uri="{9D8B030D-6E8A-4147-A177-3AD203B41FA5}">
                      <a16:colId xmlns:a16="http://schemas.microsoft.com/office/drawing/2014/main" val="135637185"/>
                    </a:ext>
                  </a:extLst>
                </a:gridCol>
                <a:gridCol w="370533">
                  <a:extLst>
                    <a:ext uri="{9D8B030D-6E8A-4147-A177-3AD203B41FA5}">
                      <a16:colId xmlns:a16="http://schemas.microsoft.com/office/drawing/2014/main" val="3038050475"/>
                    </a:ext>
                  </a:extLst>
                </a:gridCol>
                <a:gridCol w="453316">
                  <a:extLst>
                    <a:ext uri="{9D8B030D-6E8A-4147-A177-3AD203B41FA5}">
                      <a16:colId xmlns:a16="http://schemas.microsoft.com/office/drawing/2014/main" val="1979433044"/>
                    </a:ext>
                  </a:extLst>
                </a:gridCol>
                <a:gridCol w="401866">
                  <a:extLst>
                    <a:ext uri="{9D8B030D-6E8A-4147-A177-3AD203B41FA5}">
                      <a16:colId xmlns:a16="http://schemas.microsoft.com/office/drawing/2014/main" val="4270661649"/>
                    </a:ext>
                  </a:extLst>
                </a:gridCol>
                <a:gridCol w="401866">
                  <a:extLst>
                    <a:ext uri="{9D8B030D-6E8A-4147-A177-3AD203B41FA5}">
                      <a16:colId xmlns:a16="http://schemas.microsoft.com/office/drawing/2014/main" val="3027041370"/>
                    </a:ext>
                  </a:extLst>
                </a:gridCol>
                <a:gridCol w="401866">
                  <a:extLst>
                    <a:ext uri="{9D8B030D-6E8A-4147-A177-3AD203B41FA5}">
                      <a16:colId xmlns:a16="http://schemas.microsoft.com/office/drawing/2014/main" val="2852526216"/>
                    </a:ext>
                  </a:extLst>
                </a:gridCol>
                <a:gridCol w="401866">
                  <a:extLst>
                    <a:ext uri="{9D8B030D-6E8A-4147-A177-3AD203B41FA5}">
                      <a16:colId xmlns:a16="http://schemas.microsoft.com/office/drawing/2014/main" val="103420222"/>
                    </a:ext>
                  </a:extLst>
                </a:gridCol>
                <a:gridCol w="401866">
                  <a:extLst>
                    <a:ext uri="{9D8B030D-6E8A-4147-A177-3AD203B41FA5}">
                      <a16:colId xmlns:a16="http://schemas.microsoft.com/office/drawing/2014/main" val="1470405609"/>
                    </a:ext>
                  </a:extLst>
                </a:gridCol>
                <a:gridCol w="401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SPRD_EN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SPRD_SPD[2:0]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SPRD_GAIN[3:0]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4791028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380901949"/>
              </p:ext>
            </p:extLst>
          </p:nvPr>
        </p:nvGraphicFramePr>
        <p:xfrm>
          <a:off x="395875" y="1734018"/>
          <a:ext cx="6063640" cy="3538409"/>
        </p:xfrm>
        <a:graphic>
          <a:graphicData uri="http://schemas.openxmlformats.org/drawingml/2006/table">
            <a:tbl>
              <a:tblPr firstRow="1" bandRow="1">
                <a:tableStyleId>{5C22544A-7EE6-4342-B048-85BDC9FD1C3A}</a:tableStyleId>
              </a:tblPr>
              <a:tblGrid>
                <a:gridCol w="448185">
                  <a:extLst>
                    <a:ext uri="{9D8B030D-6E8A-4147-A177-3AD203B41FA5}">
                      <a16:colId xmlns:a16="http://schemas.microsoft.com/office/drawing/2014/main" val="4170535043"/>
                    </a:ext>
                  </a:extLst>
                </a:gridCol>
                <a:gridCol w="925008">
                  <a:extLst>
                    <a:ext uri="{9D8B030D-6E8A-4147-A177-3AD203B41FA5}">
                      <a16:colId xmlns:a16="http://schemas.microsoft.com/office/drawing/2014/main" val="2079070694"/>
                    </a:ext>
                  </a:extLst>
                </a:gridCol>
                <a:gridCol w="297857">
                  <a:extLst>
                    <a:ext uri="{9D8B030D-6E8A-4147-A177-3AD203B41FA5}">
                      <a16:colId xmlns:a16="http://schemas.microsoft.com/office/drawing/2014/main" val="2393941440"/>
                    </a:ext>
                  </a:extLst>
                </a:gridCol>
                <a:gridCol w="4392590">
                  <a:extLst>
                    <a:ext uri="{9D8B030D-6E8A-4147-A177-3AD203B41FA5}">
                      <a16:colId xmlns:a16="http://schemas.microsoft.com/office/drawing/2014/main" val="32595803"/>
                    </a:ext>
                  </a:extLst>
                </a:gridCol>
              </a:tblGrid>
              <a:tr h="2912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1245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used to test the device for trimming. To use the PWM_FULL_O, MCLK_O and VREF_O function, this bit should be set firstly and cleared lastly after these functions are used.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11726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TEST_ANA_EN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000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Should be “000”</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7080443"/>
                  </a:ext>
                </a:extLst>
              </a:tr>
              <a:tr h="30439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PWM_FULL_O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enabled channels’ PWM out keeps active state regardless of the vsync.</a:t>
                      </a:r>
                      <a:endParaRPr lang="ko-KR" altLang="en-US" sz="900" b="0" dirty="0">
                        <a:solidFill>
                          <a:srgbClr val="FF0000"/>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1456802"/>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MCLK64_O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clock </a:t>
                      </a:r>
                      <a:r>
                        <a:rPr lang="en-US" altLang="ko-KR" sz="900" b="0" i="0" kern="1200" dirty="0">
                          <a:solidFill>
                            <a:schemeClr val="dk1"/>
                          </a:solidFill>
                          <a:effectLst/>
                          <a:latin typeface="Arial" panose="020B0604020202020204" pitchFamily="34" charset="0"/>
                          <a:ea typeface="+mn-ea"/>
                          <a:cs typeface="Arial" panose="020B0604020202020204" pitchFamily="34" charset="0"/>
                        </a:rPr>
                        <a:t>obtained by dividing MCLK by 64 is output to DDIO pin.</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1427674"/>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OFS_RNG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3638392"/>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EXT_CLKIN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EXT_CLKIN is used under TEST_EN = 1.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Should be “0”</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7162866"/>
                  </a:ext>
                </a:extLst>
              </a:tr>
              <a:tr h="3919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ADDR_EXT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used to select which register groups, the general registers or the OTP mirror registers, will be accessed. The OTP control registers address, 0x3E ~ 0x3F, can be commonly accessed regardless of this bit.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general registers can be accessed except for the OTP mirror registers.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OTP mirror registers can be accessed except for the general registers.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5958323"/>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4" name="표 13">
            <a:extLst>
              <a:ext uri="{FF2B5EF4-FFF2-40B4-BE49-F238E27FC236}">
                <a16:creationId xmlns:a16="http://schemas.microsoft.com/office/drawing/2014/main" id="{DC61DBDC-9142-7382-EC04-5B31D4EBA0B0}"/>
              </a:ext>
            </a:extLst>
          </p:cNvPr>
          <p:cNvGraphicFramePr>
            <a:graphicFrameLocks noGrp="1"/>
          </p:cNvGraphicFramePr>
          <p:nvPr>
            <p:extLst>
              <p:ext uri="{D42A27DB-BD31-4B8C-83A1-F6EECF244321}">
                <p14:modId xmlns:p14="http://schemas.microsoft.com/office/powerpoint/2010/main" val="2743663239"/>
              </p:ext>
            </p:extLst>
          </p:nvPr>
        </p:nvGraphicFramePr>
        <p:xfrm>
          <a:off x="404811" y="1258316"/>
          <a:ext cx="6057353" cy="372600"/>
        </p:xfrm>
        <a:graphic>
          <a:graphicData uri="http://schemas.openxmlformats.org/drawingml/2006/table">
            <a:tbl>
              <a:tblPr firstRow="1" bandRow="1">
                <a:tableStyleId>{5C22544A-7EE6-4342-B048-85BDC9FD1C3A}</a:tableStyleId>
              </a:tblPr>
              <a:tblGrid>
                <a:gridCol w="292531">
                  <a:extLst>
                    <a:ext uri="{9D8B030D-6E8A-4147-A177-3AD203B41FA5}">
                      <a16:colId xmlns:a16="http://schemas.microsoft.com/office/drawing/2014/main" val="657570846"/>
                    </a:ext>
                  </a:extLst>
                </a:gridCol>
                <a:gridCol w="342329">
                  <a:extLst>
                    <a:ext uri="{9D8B030D-6E8A-4147-A177-3AD203B41FA5}">
                      <a16:colId xmlns:a16="http://schemas.microsoft.com/office/drawing/2014/main" val="3259894497"/>
                    </a:ext>
                  </a:extLst>
                </a:gridCol>
                <a:gridCol w="459098">
                  <a:extLst>
                    <a:ext uri="{9D8B030D-6E8A-4147-A177-3AD203B41FA5}">
                      <a16:colId xmlns:a16="http://schemas.microsoft.com/office/drawing/2014/main" val="4170535043"/>
                    </a:ext>
                  </a:extLst>
                </a:gridCol>
                <a:gridCol w="456773">
                  <a:extLst>
                    <a:ext uri="{9D8B030D-6E8A-4147-A177-3AD203B41FA5}">
                      <a16:colId xmlns:a16="http://schemas.microsoft.com/office/drawing/2014/main" val="2079070694"/>
                    </a:ext>
                  </a:extLst>
                </a:gridCol>
                <a:gridCol w="286008">
                  <a:extLst>
                    <a:ext uri="{9D8B030D-6E8A-4147-A177-3AD203B41FA5}">
                      <a16:colId xmlns:a16="http://schemas.microsoft.com/office/drawing/2014/main" val="4213315911"/>
                    </a:ext>
                  </a:extLst>
                </a:gridCol>
                <a:gridCol w="463550">
                  <a:extLst>
                    <a:ext uri="{9D8B030D-6E8A-4147-A177-3AD203B41FA5}">
                      <a16:colId xmlns:a16="http://schemas.microsoft.com/office/drawing/2014/main" val="2769999950"/>
                    </a:ext>
                  </a:extLst>
                </a:gridCol>
                <a:gridCol w="362975">
                  <a:extLst>
                    <a:ext uri="{9D8B030D-6E8A-4147-A177-3AD203B41FA5}">
                      <a16:colId xmlns:a16="http://schemas.microsoft.com/office/drawing/2014/main" val="135637185"/>
                    </a:ext>
                  </a:extLst>
                </a:gridCol>
                <a:gridCol w="247650">
                  <a:extLst>
                    <a:ext uri="{9D8B030D-6E8A-4147-A177-3AD203B41FA5}">
                      <a16:colId xmlns:a16="http://schemas.microsoft.com/office/drawing/2014/main" val="3038050475"/>
                    </a:ext>
                  </a:extLst>
                </a:gridCol>
                <a:gridCol w="205350">
                  <a:extLst>
                    <a:ext uri="{9D8B030D-6E8A-4147-A177-3AD203B41FA5}">
                      <a16:colId xmlns:a16="http://schemas.microsoft.com/office/drawing/2014/main" val="1979433044"/>
                    </a:ext>
                  </a:extLst>
                </a:gridCol>
                <a:gridCol w="644525">
                  <a:extLst>
                    <a:ext uri="{9D8B030D-6E8A-4147-A177-3AD203B41FA5}">
                      <a16:colId xmlns:a16="http://schemas.microsoft.com/office/drawing/2014/main" val="4270661649"/>
                    </a:ext>
                  </a:extLst>
                </a:gridCol>
                <a:gridCol w="504825">
                  <a:extLst>
                    <a:ext uri="{9D8B030D-6E8A-4147-A177-3AD203B41FA5}">
                      <a16:colId xmlns:a16="http://schemas.microsoft.com/office/drawing/2014/main" val="3027041370"/>
                    </a:ext>
                  </a:extLst>
                </a:gridCol>
                <a:gridCol w="273050">
                  <a:extLst>
                    <a:ext uri="{9D8B030D-6E8A-4147-A177-3AD203B41FA5}">
                      <a16:colId xmlns:a16="http://schemas.microsoft.com/office/drawing/2014/main" val="2852526216"/>
                    </a:ext>
                  </a:extLst>
                </a:gridCol>
                <a:gridCol w="441325">
                  <a:extLst>
                    <a:ext uri="{9D8B030D-6E8A-4147-A177-3AD203B41FA5}">
                      <a16:colId xmlns:a16="http://schemas.microsoft.com/office/drawing/2014/main" val="103420222"/>
                    </a:ext>
                  </a:extLst>
                </a:gridCol>
                <a:gridCol w="541601">
                  <a:extLst>
                    <a:ext uri="{9D8B030D-6E8A-4147-A177-3AD203B41FA5}">
                      <a16:colId xmlns:a16="http://schemas.microsoft.com/office/drawing/2014/main" val="1470405609"/>
                    </a:ext>
                  </a:extLst>
                </a:gridCol>
                <a:gridCol w="53576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TEST_ANA_EN[2:0]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PWM_FULL_O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MCLK64_O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OFS_RNG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EXT_CLKIN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ADDR_EXT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6179CFB8-81A8-57C9-41F2-B298EF749D7E}"/>
              </a:ext>
            </a:extLst>
          </p:cNvPr>
          <p:cNvSpPr txBox="1"/>
          <p:nvPr/>
        </p:nvSpPr>
        <p:spPr>
          <a:xfrm>
            <a:off x="404811" y="5380864"/>
            <a:ext cx="60519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ACCESS</a:t>
            </a:r>
          </a:p>
        </p:txBody>
      </p:sp>
      <p:graphicFrame>
        <p:nvGraphicFramePr>
          <p:cNvPr id="24" name="표 23">
            <a:extLst>
              <a:ext uri="{FF2B5EF4-FFF2-40B4-BE49-F238E27FC236}">
                <a16:creationId xmlns:a16="http://schemas.microsoft.com/office/drawing/2014/main" id="{999EB05F-AAFA-8169-C521-02BFC8EA63C8}"/>
              </a:ext>
            </a:extLst>
          </p:cNvPr>
          <p:cNvGraphicFramePr>
            <a:graphicFrameLocks noGrp="1"/>
          </p:cNvGraphicFramePr>
          <p:nvPr>
            <p:extLst>
              <p:ext uri="{D42A27DB-BD31-4B8C-83A1-F6EECF244321}">
                <p14:modId xmlns:p14="http://schemas.microsoft.com/office/powerpoint/2010/main" val="3570208614"/>
              </p:ext>
            </p:extLst>
          </p:nvPr>
        </p:nvGraphicFramePr>
        <p:xfrm>
          <a:off x="413751" y="6847159"/>
          <a:ext cx="6038247" cy="372600"/>
        </p:xfrm>
        <a:graphic>
          <a:graphicData uri="http://schemas.openxmlformats.org/drawingml/2006/table">
            <a:tbl>
              <a:tblPr firstRow="1" bandRow="1">
                <a:tableStyleId>{5C22544A-7EE6-4342-B048-85BDC9FD1C3A}</a:tableStyleId>
              </a:tblPr>
              <a:tblGrid>
                <a:gridCol w="334389">
                  <a:extLst>
                    <a:ext uri="{9D8B030D-6E8A-4147-A177-3AD203B41FA5}">
                      <a16:colId xmlns:a16="http://schemas.microsoft.com/office/drawing/2014/main" val="657570846"/>
                    </a:ext>
                  </a:extLst>
                </a:gridCol>
                <a:gridCol w="354228">
                  <a:extLst>
                    <a:ext uri="{9D8B030D-6E8A-4147-A177-3AD203B41FA5}">
                      <a16:colId xmlns:a16="http://schemas.microsoft.com/office/drawing/2014/main" val="3259894497"/>
                    </a:ext>
                  </a:extLst>
                </a:gridCol>
                <a:gridCol w="464161">
                  <a:extLst>
                    <a:ext uri="{9D8B030D-6E8A-4147-A177-3AD203B41FA5}">
                      <a16:colId xmlns:a16="http://schemas.microsoft.com/office/drawing/2014/main" val="4170535043"/>
                    </a:ext>
                  </a:extLst>
                </a:gridCol>
                <a:gridCol w="423445">
                  <a:extLst>
                    <a:ext uri="{9D8B030D-6E8A-4147-A177-3AD203B41FA5}">
                      <a16:colId xmlns:a16="http://schemas.microsoft.com/office/drawing/2014/main" val="2079070694"/>
                    </a:ext>
                  </a:extLst>
                </a:gridCol>
                <a:gridCol w="407160">
                  <a:extLst>
                    <a:ext uri="{9D8B030D-6E8A-4147-A177-3AD203B41FA5}">
                      <a16:colId xmlns:a16="http://schemas.microsoft.com/office/drawing/2014/main" val="4213315911"/>
                    </a:ext>
                  </a:extLst>
                </a:gridCol>
                <a:gridCol w="415302">
                  <a:extLst>
                    <a:ext uri="{9D8B030D-6E8A-4147-A177-3AD203B41FA5}">
                      <a16:colId xmlns:a16="http://schemas.microsoft.com/office/drawing/2014/main" val="2769999950"/>
                    </a:ext>
                  </a:extLst>
                </a:gridCol>
                <a:gridCol w="411231">
                  <a:extLst>
                    <a:ext uri="{9D8B030D-6E8A-4147-A177-3AD203B41FA5}">
                      <a16:colId xmlns:a16="http://schemas.microsoft.com/office/drawing/2014/main" val="135637185"/>
                    </a:ext>
                  </a:extLst>
                </a:gridCol>
                <a:gridCol w="411230">
                  <a:extLst>
                    <a:ext uri="{9D8B030D-6E8A-4147-A177-3AD203B41FA5}">
                      <a16:colId xmlns:a16="http://schemas.microsoft.com/office/drawing/2014/main" val="3038050475"/>
                    </a:ext>
                  </a:extLst>
                </a:gridCol>
                <a:gridCol w="411230">
                  <a:extLst>
                    <a:ext uri="{9D8B030D-6E8A-4147-A177-3AD203B41FA5}">
                      <a16:colId xmlns:a16="http://schemas.microsoft.com/office/drawing/2014/main" val="1979433044"/>
                    </a:ext>
                  </a:extLst>
                </a:gridCol>
                <a:gridCol w="415303">
                  <a:extLst>
                    <a:ext uri="{9D8B030D-6E8A-4147-A177-3AD203B41FA5}">
                      <a16:colId xmlns:a16="http://schemas.microsoft.com/office/drawing/2014/main" val="4270661649"/>
                    </a:ext>
                  </a:extLst>
                </a:gridCol>
                <a:gridCol w="397996">
                  <a:extLst>
                    <a:ext uri="{9D8B030D-6E8A-4147-A177-3AD203B41FA5}">
                      <a16:colId xmlns:a16="http://schemas.microsoft.com/office/drawing/2014/main" val="3027041370"/>
                    </a:ext>
                  </a:extLst>
                </a:gridCol>
                <a:gridCol w="398143">
                  <a:extLst>
                    <a:ext uri="{9D8B030D-6E8A-4147-A177-3AD203B41FA5}">
                      <a16:colId xmlns:a16="http://schemas.microsoft.com/office/drawing/2014/main" val="2852526216"/>
                    </a:ext>
                  </a:extLst>
                </a:gridCol>
                <a:gridCol w="398143">
                  <a:extLst>
                    <a:ext uri="{9D8B030D-6E8A-4147-A177-3AD203B41FA5}">
                      <a16:colId xmlns:a16="http://schemas.microsoft.com/office/drawing/2014/main" val="103420222"/>
                    </a:ext>
                  </a:extLst>
                </a:gridCol>
                <a:gridCol w="398143">
                  <a:extLst>
                    <a:ext uri="{9D8B030D-6E8A-4147-A177-3AD203B41FA5}">
                      <a16:colId xmlns:a16="http://schemas.microsoft.com/office/drawing/2014/main" val="1470405609"/>
                    </a:ext>
                  </a:extLst>
                </a:gridCol>
                <a:gridCol w="39814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OTP_RD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OTP_WSEL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6" name="TextBox 25">
            <a:extLst>
              <a:ext uri="{FF2B5EF4-FFF2-40B4-BE49-F238E27FC236}">
                <a16:creationId xmlns:a16="http://schemas.microsoft.com/office/drawing/2014/main" id="{B006BA10-BC89-16DF-4D10-C3D035F30E44}"/>
              </a:ext>
            </a:extLst>
          </p:cNvPr>
          <p:cNvSpPr txBox="1"/>
          <p:nvPr/>
        </p:nvSpPr>
        <p:spPr>
          <a:xfrm>
            <a:off x="413751" y="6584073"/>
            <a:ext cx="603824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WRITE</a:t>
            </a:r>
          </a:p>
        </p:txBody>
      </p:sp>
      <p:sp>
        <p:nvSpPr>
          <p:cNvPr id="28" name="TextBox 27">
            <a:extLst>
              <a:ext uri="{FF2B5EF4-FFF2-40B4-BE49-F238E27FC236}">
                <a16:creationId xmlns:a16="http://schemas.microsoft.com/office/drawing/2014/main" id="{C6986916-2C64-B629-A96B-8AF117FEE8DA}"/>
              </a:ext>
            </a:extLst>
          </p:cNvPr>
          <p:cNvSpPr txBox="1"/>
          <p:nvPr/>
        </p:nvSpPr>
        <p:spPr>
          <a:xfrm>
            <a:off x="404814" y="7305037"/>
            <a:ext cx="604865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RD/PROG</a:t>
            </a:r>
          </a:p>
        </p:txBody>
      </p:sp>
      <p:sp>
        <p:nvSpPr>
          <p:cNvPr id="29" name="TextBox 28">
            <a:extLst>
              <a:ext uri="{FF2B5EF4-FFF2-40B4-BE49-F238E27FC236}">
                <a16:creationId xmlns:a16="http://schemas.microsoft.com/office/drawing/2014/main" id="{FC244CE5-E3CF-6B88-F093-0FD103304D76}"/>
              </a:ext>
            </a:extLst>
          </p:cNvPr>
          <p:cNvSpPr txBox="1"/>
          <p:nvPr/>
        </p:nvSpPr>
        <p:spPr>
          <a:xfrm>
            <a:off x="404814" y="8157693"/>
            <a:ext cx="603967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PROTECT</a:t>
            </a:r>
          </a:p>
        </p:txBody>
      </p:sp>
      <p:graphicFrame>
        <p:nvGraphicFramePr>
          <p:cNvPr id="30" name="표 29">
            <a:extLst>
              <a:ext uri="{FF2B5EF4-FFF2-40B4-BE49-F238E27FC236}">
                <a16:creationId xmlns:a16="http://schemas.microsoft.com/office/drawing/2014/main" id="{344C8E5D-6544-504B-AA6C-A6CF302A4DFE}"/>
              </a:ext>
            </a:extLst>
          </p:cNvPr>
          <p:cNvGraphicFramePr>
            <a:graphicFrameLocks noGrp="1"/>
          </p:cNvGraphicFramePr>
          <p:nvPr>
            <p:extLst>
              <p:ext uri="{D42A27DB-BD31-4B8C-83A1-F6EECF244321}">
                <p14:modId xmlns:p14="http://schemas.microsoft.com/office/powerpoint/2010/main" val="1131873578"/>
              </p:ext>
            </p:extLst>
          </p:nvPr>
        </p:nvGraphicFramePr>
        <p:xfrm>
          <a:off x="408467" y="8424309"/>
          <a:ext cx="6043535" cy="372600"/>
        </p:xfrm>
        <a:graphic>
          <a:graphicData uri="http://schemas.openxmlformats.org/drawingml/2006/table">
            <a:tbl>
              <a:tblPr firstRow="1" bandRow="1">
                <a:tableStyleId>{5C22544A-7EE6-4342-B048-85BDC9FD1C3A}</a:tableStyleId>
              </a:tblPr>
              <a:tblGrid>
                <a:gridCol w="351093">
                  <a:extLst>
                    <a:ext uri="{9D8B030D-6E8A-4147-A177-3AD203B41FA5}">
                      <a16:colId xmlns:a16="http://schemas.microsoft.com/office/drawing/2014/main" val="657570846"/>
                    </a:ext>
                  </a:extLst>
                </a:gridCol>
                <a:gridCol w="386041">
                  <a:extLst>
                    <a:ext uri="{9D8B030D-6E8A-4147-A177-3AD203B41FA5}">
                      <a16:colId xmlns:a16="http://schemas.microsoft.com/office/drawing/2014/main" val="3259894497"/>
                    </a:ext>
                  </a:extLst>
                </a:gridCol>
                <a:gridCol w="453697">
                  <a:extLst>
                    <a:ext uri="{9D8B030D-6E8A-4147-A177-3AD203B41FA5}">
                      <a16:colId xmlns:a16="http://schemas.microsoft.com/office/drawing/2014/main" val="4170535043"/>
                    </a:ext>
                  </a:extLst>
                </a:gridCol>
                <a:gridCol w="404392">
                  <a:extLst>
                    <a:ext uri="{9D8B030D-6E8A-4147-A177-3AD203B41FA5}">
                      <a16:colId xmlns:a16="http://schemas.microsoft.com/office/drawing/2014/main" val="2079070694"/>
                    </a:ext>
                  </a:extLst>
                </a:gridCol>
                <a:gridCol w="404392">
                  <a:extLst>
                    <a:ext uri="{9D8B030D-6E8A-4147-A177-3AD203B41FA5}">
                      <a16:colId xmlns:a16="http://schemas.microsoft.com/office/drawing/2014/main" val="4213315911"/>
                    </a:ext>
                  </a:extLst>
                </a:gridCol>
                <a:gridCol w="404392">
                  <a:extLst>
                    <a:ext uri="{9D8B030D-6E8A-4147-A177-3AD203B41FA5}">
                      <a16:colId xmlns:a16="http://schemas.microsoft.com/office/drawing/2014/main" val="2769999950"/>
                    </a:ext>
                  </a:extLst>
                </a:gridCol>
                <a:gridCol w="404392">
                  <a:extLst>
                    <a:ext uri="{9D8B030D-6E8A-4147-A177-3AD203B41FA5}">
                      <a16:colId xmlns:a16="http://schemas.microsoft.com/office/drawing/2014/main" val="135637185"/>
                    </a:ext>
                  </a:extLst>
                </a:gridCol>
                <a:gridCol w="404392">
                  <a:extLst>
                    <a:ext uri="{9D8B030D-6E8A-4147-A177-3AD203B41FA5}">
                      <a16:colId xmlns:a16="http://schemas.microsoft.com/office/drawing/2014/main" val="3038050475"/>
                    </a:ext>
                  </a:extLst>
                </a:gridCol>
                <a:gridCol w="404392">
                  <a:extLst>
                    <a:ext uri="{9D8B030D-6E8A-4147-A177-3AD203B41FA5}">
                      <a16:colId xmlns:a16="http://schemas.microsoft.com/office/drawing/2014/main" val="1979433044"/>
                    </a:ext>
                  </a:extLst>
                </a:gridCol>
                <a:gridCol w="404392">
                  <a:extLst>
                    <a:ext uri="{9D8B030D-6E8A-4147-A177-3AD203B41FA5}">
                      <a16:colId xmlns:a16="http://schemas.microsoft.com/office/drawing/2014/main" val="4270661649"/>
                    </a:ext>
                  </a:extLst>
                </a:gridCol>
                <a:gridCol w="404392">
                  <a:extLst>
                    <a:ext uri="{9D8B030D-6E8A-4147-A177-3AD203B41FA5}">
                      <a16:colId xmlns:a16="http://schemas.microsoft.com/office/drawing/2014/main" val="3027041370"/>
                    </a:ext>
                  </a:extLst>
                </a:gridCol>
                <a:gridCol w="404392">
                  <a:extLst>
                    <a:ext uri="{9D8B030D-6E8A-4147-A177-3AD203B41FA5}">
                      <a16:colId xmlns:a16="http://schemas.microsoft.com/office/drawing/2014/main" val="2852526216"/>
                    </a:ext>
                  </a:extLst>
                </a:gridCol>
                <a:gridCol w="404392">
                  <a:extLst>
                    <a:ext uri="{9D8B030D-6E8A-4147-A177-3AD203B41FA5}">
                      <a16:colId xmlns:a16="http://schemas.microsoft.com/office/drawing/2014/main" val="103420222"/>
                    </a:ext>
                  </a:extLst>
                </a:gridCol>
                <a:gridCol w="404392">
                  <a:extLst>
                    <a:ext uri="{9D8B030D-6E8A-4147-A177-3AD203B41FA5}">
                      <a16:colId xmlns:a16="http://schemas.microsoft.com/office/drawing/2014/main" val="1470405609"/>
                    </a:ext>
                  </a:extLst>
                </a:gridCol>
                <a:gridCol w="4043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0x5A5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               PROTECT_EN/DIS [11:0]        </a:t>
                      </a:r>
                      <a:r>
                        <a:rPr lang="en-US" altLang="ko-KR" sz="700" b="0" kern="1200" dirty="0">
                          <a:solidFill>
                            <a:schemeClr val="tx1"/>
                          </a:solidFill>
                          <a:latin typeface="Microsoft GothicNeo" panose="020B0500000101010101" pitchFamily="50" charset="-127"/>
                          <a:ea typeface="Microsoft GothicNeo" panose="020B0500000101010101" pitchFamily="50" charset="-127"/>
                          <a:cs typeface="Microsoft GothicNeo" panose="020B0500000101010101" pitchFamily="50" charset="-127"/>
                        </a:rPr>
                        <a:t>※ </a:t>
                      </a:r>
                      <a:r>
                        <a:rPr lang="en-US" altLang="ko-KR" sz="700" b="0" kern="1200" dirty="0">
                          <a:solidFill>
                            <a:schemeClr val="tx1"/>
                          </a:solidFill>
                          <a:latin typeface="Arial" panose="020B0604020202020204" pitchFamily="34" charset="0"/>
                          <a:ea typeface="+mn-ea"/>
                          <a:cs typeface="Arial" panose="020B0604020202020204" pitchFamily="34" charset="0"/>
                        </a:rPr>
                        <a:t>enable (0x5A5), disable (0xA5A), need to disable for writing</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3" name="표 32">
            <a:extLst>
              <a:ext uri="{FF2B5EF4-FFF2-40B4-BE49-F238E27FC236}">
                <a16:creationId xmlns:a16="http://schemas.microsoft.com/office/drawing/2014/main" id="{B4B6ADFB-367B-6856-8CC1-29850FE989EC}"/>
              </a:ext>
            </a:extLst>
          </p:cNvPr>
          <p:cNvGraphicFramePr>
            <a:graphicFrameLocks noGrp="1"/>
          </p:cNvGraphicFramePr>
          <p:nvPr>
            <p:extLst>
              <p:ext uri="{D42A27DB-BD31-4B8C-83A1-F6EECF244321}">
                <p14:modId xmlns:p14="http://schemas.microsoft.com/office/powerpoint/2010/main" val="1316919675"/>
              </p:ext>
            </p:extLst>
          </p:nvPr>
        </p:nvGraphicFramePr>
        <p:xfrm>
          <a:off x="404815" y="6099298"/>
          <a:ext cx="6047183" cy="372600"/>
        </p:xfrm>
        <a:graphic>
          <a:graphicData uri="http://schemas.openxmlformats.org/drawingml/2006/table">
            <a:tbl>
              <a:tblPr firstRow="1" bandRow="1">
                <a:tableStyleId>{5C22544A-7EE6-4342-B048-85BDC9FD1C3A}</a:tableStyleId>
              </a:tblPr>
              <a:tblGrid>
                <a:gridCol w="344569">
                  <a:extLst>
                    <a:ext uri="{9D8B030D-6E8A-4147-A177-3AD203B41FA5}">
                      <a16:colId xmlns:a16="http://schemas.microsoft.com/office/drawing/2014/main" val="657570846"/>
                    </a:ext>
                  </a:extLst>
                </a:gridCol>
                <a:gridCol w="352237">
                  <a:extLst>
                    <a:ext uri="{9D8B030D-6E8A-4147-A177-3AD203B41FA5}">
                      <a16:colId xmlns:a16="http://schemas.microsoft.com/office/drawing/2014/main" val="3259894497"/>
                    </a:ext>
                  </a:extLst>
                </a:gridCol>
                <a:gridCol w="466920">
                  <a:extLst>
                    <a:ext uri="{9D8B030D-6E8A-4147-A177-3AD203B41FA5}">
                      <a16:colId xmlns:a16="http://schemas.microsoft.com/office/drawing/2014/main" val="4170535043"/>
                    </a:ext>
                  </a:extLst>
                </a:gridCol>
                <a:gridCol w="370523">
                  <a:extLst>
                    <a:ext uri="{9D8B030D-6E8A-4147-A177-3AD203B41FA5}">
                      <a16:colId xmlns:a16="http://schemas.microsoft.com/office/drawing/2014/main" val="2079070694"/>
                    </a:ext>
                  </a:extLst>
                </a:gridCol>
                <a:gridCol w="503791">
                  <a:extLst>
                    <a:ext uri="{9D8B030D-6E8A-4147-A177-3AD203B41FA5}">
                      <a16:colId xmlns:a16="http://schemas.microsoft.com/office/drawing/2014/main" val="4213315911"/>
                    </a:ext>
                  </a:extLst>
                </a:gridCol>
                <a:gridCol w="402101">
                  <a:extLst>
                    <a:ext uri="{9D8B030D-6E8A-4147-A177-3AD203B41FA5}">
                      <a16:colId xmlns:a16="http://schemas.microsoft.com/office/drawing/2014/main" val="2769999950"/>
                    </a:ext>
                  </a:extLst>
                </a:gridCol>
                <a:gridCol w="402101">
                  <a:extLst>
                    <a:ext uri="{9D8B030D-6E8A-4147-A177-3AD203B41FA5}">
                      <a16:colId xmlns:a16="http://schemas.microsoft.com/office/drawing/2014/main" val="135637185"/>
                    </a:ext>
                  </a:extLst>
                </a:gridCol>
                <a:gridCol w="402101">
                  <a:extLst>
                    <a:ext uri="{9D8B030D-6E8A-4147-A177-3AD203B41FA5}">
                      <a16:colId xmlns:a16="http://schemas.microsoft.com/office/drawing/2014/main" val="3038050475"/>
                    </a:ext>
                  </a:extLst>
                </a:gridCol>
                <a:gridCol w="402101">
                  <a:extLst>
                    <a:ext uri="{9D8B030D-6E8A-4147-A177-3AD203B41FA5}">
                      <a16:colId xmlns:a16="http://schemas.microsoft.com/office/drawing/2014/main" val="1979433044"/>
                    </a:ext>
                  </a:extLst>
                </a:gridCol>
                <a:gridCol w="402101">
                  <a:extLst>
                    <a:ext uri="{9D8B030D-6E8A-4147-A177-3AD203B41FA5}">
                      <a16:colId xmlns:a16="http://schemas.microsoft.com/office/drawing/2014/main" val="4270661649"/>
                    </a:ext>
                  </a:extLst>
                </a:gridCol>
                <a:gridCol w="402101">
                  <a:extLst>
                    <a:ext uri="{9D8B030D-6E8A-4147-A177-3AD203B41FA5}">
                      <a16:colId xmlns:a16="http://schemas.microsoft.com/office/drawing/2014/main" val="3027041370"/>
                    </a:ext>
                  </a:extLst>
                </a:gridCol>
                <a:gridCol w="402101">
                  <a:extLst>
                    <a:ext uri="{9D8B030D-6E8A-4147-A177-3AD203B41FA5}">
                      <a16:colId xmlns:a16="http://schemas.microsoft.com/office/drawing/2014/main" val="2852526216"/>
                    </a:ext>
                  </a:extLst>
                </a:gridCol>
                <a:gridCol w="402101">
                  <a:extLst>
                    <a:ext uri="{9D8B030D-6E8A-4147-A177-3AD203B41FA5}">
                      <a16:colId xmlns:a16="http://schemas.microsoft.com/office/drawing/2014/main" val="103420222"/>
                    </a:ext>
                  </a:extLst>
                </a:gridCol>
                <a:gridCol w="402101">
                  <a:extLst>
                    <a:ext uri="{9D8B030D-6E8A-4147-A177-3AD203B41FA5}">
                      <a16:colId xmlns:a16="http://schemas.microsoft.com/office/drawing/2014/main" val="1470405609"/>
                    </a:ext>
                  </a:extLst>
                </a:gridCol>
                <a:gridCol w="3902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[11:0]</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4" name="표 33">
            <a:extLst>
              <a:ext uri="{FF2B5EF4-FFF2-40B4-BE49-F238E27FC236}">
                <a16:creationId xmlns:a16="http://schemas.microsoft.com/office/drawing/2014/main" id="{A737F4D4-AC2F-DBD8-BB4C-07CEEBF6C658}"/>
              </a:ext>
            </a:extLst>
          </p:cNvPr>
          <p:cNvGraphicFramePr>
            <a:graphicFrameLocks noGrp="1"/>
          </p:cNvGraphicFramePr>
          <p:nvPr>
            <p:extLst>
              <p:ext uri="{D42A27DB-BD31-4B8C-83A1-F6EECF244321}">
                <p14:modId xmlns:p14="http://schemas.microsoft.com/office/powerpoint/2010/main" val="1942217728"/>
              </p:ext>
            </p:extLst>
          </p:nvPr>
        </p:nvGraphicFramePr>
        <p:xfrm>
          <a:off x="404815" y="5652394"/>
          <a:ext cx="6051922" cy="372600"/>
        </p:xfrm>
        <a:graphic>
          <a:graphicData uri="http://schemas.openxmlformats.org/drawingml/2006/table">
            <a:tbl>
              <a:tblPr firstRow="1" bandRow="1">
                <a:tableStyleId>{5C22544A-7EE6-4342-B048-85BDC9FD1C3A}</a:tableStyleId>
              </a:tblPr>
              <a:tblGrid>
                <a:gridCol w="345805">
                  <a:extLst>
                    <a:ext uri="{9D8B030D-6E8A-4147-A177-3AD203B41FA5}">
                      <a16:colId xmlns:a16="http://schemas.microsoft.com/office/drawing/2014/main" val="657570846"/>
                    </a:ext>
                  </a:extLst>
                </a:gridCol>
                <a:gridCol w="358218">
                  <a:extLst>
                    <a:ext uri="{9D8B030D-6E8A-4147-A177-3AD203B41FA5}">
                      <a16:colId xmlns:a16="http://schemas.microsoft.com/office/drawing/2014/main" val="3259894497"/>
                    </a:ext>
                  </a:extLst>
                </a:gridCol>
                <a:gridCol w="466253">
                  <a:extLst>
                    <a:ext uri="{9D8B030D-6E8A-4147-A177-3AD203B41FA5}">
                      <a16:colId xmlns:a16="http://schemas.microsoft.com/office/drawing/2014/main" val="4170535043"/>
                    </a:ext>
                  </a:extLst>
                </a:gridCol>
                <a:gridCol w="327847">
                  <a:extLst>
                    <a:ext uri="{9D8B030D-6E8A-4147-A177-3AD203B41FA5}">
                      <a16:colId xmlns:a16="http://schemas.microsoft.com/office/drawing/2014/main" val="2079070694"/>
                    </a:ext>
                  </a:extLst>
                </a:gridCol>
                <a:gridCol w="418981">
                  <a:extLst>
                    <a:ext uri="{9D8B030D-6E8A-4147-A177-3AD203B41FA5}">
                      <a16:colId xmlns:a16="http://schemas.microsoft.com/office/drawing/2014/main" val="4213315911"/>
                    </a:ext>
                  </a:extLst>
                </a:gridCol>
                <a:gridCol w="334413">
                  <a:extLst>
                    <a:ext uri="{9D8B030D-6E8A-4147-A177-3AD203B41FA5}">
                      <a16:colId xmlns:a16="http://schemas.microsoft.com/office/drawing/2014/main" val="2769999950"/>
                    </a:ext>
                  </a:extLst>
                </a:gridCol>
                <a:gridCol w="334413">
                  <a:extLst>
                    <a:ext uri="{9D8B030D-6E8A-4147-A177-3AD203B41FA5}">
                      <a16:colId xmlns:a16="http://schemas.microsoft.com/office/drawing/2014/main" val="135637185"/>
                    </a:ext>
                  </a:extLst>
                </a:gridCol>
                <a:gridCol w="334413">
                  <a:extLst>
                    <a:ext uri="{9D8B030D-6E8A-4147-A177-3AD203B41FA5}">
                      <a16:colId xmlns:a16="http://schemas.microsoft.com/office/drawing/2014/main" val="3038050475"/>
                    </a:ext>
                  </a:extLst>
                </a:gridCol>
                <a:gridCol w="334413">
                  <a:extLst>
                    <a:ext uri="{9D8B030D-6E8A-4147-A177-3AD203B41FA5}">
                      <a16:colId xmlns:a16="http://schemas.microsoft.com/office/drawing/2014/main" val="1979433044"/>
                    </a:ext>
                  </a:extLst>
                </a:gridCol>
                <a:gridCol w="334413">
                  <a:extLst>
                    <a:ext uri="{9D8B030D-6E8A-4147-A177-3AD203B41FA5}">
                      <a16:colId xmlns:a16="http://schemas.microsoft.com/office/drawing/2014/main" val="4270661649"/>
                    </a:ext>
                  </a:extLst>
                </a:gridCol>
                <a:gridCol w="334413">
                  <a:extLst>
                    <a:ext uri="{9D8B030D-6E8A-4147-A177-3AD203B41FA5}">
                      <a16:colId xmlns:a16="http://schemas.microsoft.com/office/drawing/2014/main" val="3027041370"/>
                    </a:ext>
                  </a:extLst>
                </a:gridCol>
                <a:gridCol w="517570">
                  <a:extLst>
                    <a:ext uri="{9D8B030D-6E8A-4147-A177-3AD203B41FA5}">
                      <a16:colId xmlns:a16="http://schemas.microsoft.com/office/drawing/2014/main" val="2852526216"/>
                    </a:ext>
                  </a:extLst>
                </a:gridCol>
                <a:gridCol w="517570">
                  <a:extLst>
                    <a:ext uri="{9D8B030D-6E8A-4147-A177-3AD203B41FA5}">
                      <a16:colId xmlns:a16="http://schemas.microsoft.com/office/drawing/2014/main" val="103420222"/>
                    </a:ext>
                  </a:extLst>
                </a:gridCol>
                <a:gridCol w="517570">
                  <a:extLst>
                    <a:ext uri="{9D8B030D-6E8A-4147-A177-3AD203B41FA5}">
                      <a16:colId xmlns:a16="http://schemas.microsoft.com/office/drawing/2014/main" val="1470405609"/>
                    </a:ext>
                  </a:extLst>
                </a:gridCol>
                <a:gridCol w="575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[15:12]</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3796B731-2885-C230-7204-FD277CF6F662}"/>
              </a:ext>
            </a:extLst>
          </p:cNvPr>
          <p:cNvSpPr txBox="1"/>
          <p:nvPr/>
        </p:nvSpPr>
        <p:spPr>
          <a:xfrm>
            <a:off x="399058" y="65519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5" name="TextBox 4">
            <a:extLst>
              <a:ext uri="{FF2B5EF4-FFF2-40B4-BE49-F238E27FC236}">
                <a16:creationId xmlns:a16="http://schemas.microsoft.com/office/drawing/2014/main" id="{728915BE-104A-4704-66CA-DFDA6057FCAF}"/>
              </a:ext>
            </a:extLst>
          </p:cNvPr>
          <p:cNvSpPr txBox="1"/>
          <p:nvPr/>
        </p:nvSpPr>
        <p:spPr>
          <a:xfrm>
            <a:off x="404812" y="992188"/>
            <a:ext cx="6054707"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OP MODE</a:t>
            </a:r>
          </a:p>
        </p:txBody>
      </p:sp>
      <p:graphicFrame>
        <p:nvGraphicFramePr>
          <p:cNvPr id="3" name="표 2">
            <a:extLst>
              <a:ext uri="{FF2B5EF4-FFF2-40B4-BE49-F238E27FC236}">
                <a16:creationId xmlns:a16="http://schemas.microsoft.com/office/drawing/2014/main" id="{D206093B-CCD6-EAD8-73FC-FE642D4E5C54}"/>
              </a:ext>
            </a:extLst>
          </p:cNvPr>
          <p:cNvGraphicFramePr>
            <a:graphicFrameLocks noGrp="1"/>
          </p:cNvGraphicFramePr>
          <p:nvPr>
            <p:extLst>
              <p:ext uri="{D42A27DB-BD31-4B8C-83A1-F6EECF244321}">
                <p14:modId xmlns:p14="http://schemas.microsoft.com/office/powerpoint/2010/main" val="2505574438"/>
              </p:ext>
            </p:extLst>
          </p:nvPr>
        </p:nvGraphicFramePr>
        <p:xfrm>
          <a:off x="415983" y="7573618"/>
          <a:ext cx="6043532" cy="479280"/>
        </p:xfrm>
        <a:graphic>
          <a:graphicData uri="http://schemas.openxmlformats.org/drawingml/2006/table">
            <a:tbl>
              <a:tblPr firstRow="1" bandRow="1">
                <a:tableStyleId>{5C22544A-7EE6-4342-B048-85BDC9FD1C3A}</a:tableStyleId>
              </a:tblPr>
              <a:tblGrid>
                <a:gridCol w="349578">
                  <a:extLst>
                    <a:ext uri="{9D8B030D-6E8A-4147-A177-3AD203B41FA5}">
                      <a16:colId xmlns:a16="http://schemas.microsoft.com/office/drawing/2014/main" val="546937022"/>
                    </a:ext>
                  </a:extLst>
                </a:gridCol>
                <a:gridCol w="341612">
                  <a:extLst>
                    <a:ext uri="{9D8B030D-6E8A-4147-A177-3AD203B41FA5}">
                      <a16:colId xmlns:a16="http://schemas.microsoft.com/office/drawing/2014/main" val="3679049324"/>
                    </a:ext>
                  </a:extLst>
                </a:gridCol>
                <a:gridCol w="468643">
                  <a:extLst>
                    <a:ext uri="{9D8B030D-6E8A-4147-A177-3AD203B41FA5}">
                      <a16:colId xmlns:a16="http://schemas.microsoft.com/office/drawing/2014/main" val="1482617252"/>
                    </a:ext>
                  </a:extLst>
                </a:gridCol>
                <a:gridCol w="380816">
                  <a:extLst>
                    <a:ext uri="{9D8B030D-6E8A-4147-A177-3AD203B41FA5}">
                      <a16:colId xmlns:a16="http://schemas.microsoft.com/office/drawing/2014/main" val="3494853055"/>
                    </a:ext>
                  </a:extLst>
                </a:gridCol>
                <a:gridCol w="294773">
                  <a:extLst>
                    <a:ext uri="{9D8B030D-6E8A-4147-A177-3AD203B41FA5}">
                      <a16:colId xmlns:a16="http://schemas.microsoft.com/office/drawing/2014/main" val="1891275224"/>
                    </a:ext>
                  </a:extLst>
                </a:gridCol>
                <a:gridCol w="224253">
                  <a:extLst>
                    <a:ext uri="{9D8B030D-6E8A-4147-A177-3AD203B41FA5}">
                      <a16:colId xmlns:a16="http://schemas.microsoft.com/office/drawing/2014/main" val="1421756592"/>
                    </a:ext>
                  </a:extLst>
                </a:gridCol>
                <a:gridCol w="278855">
                  <a:extLst>
                    <a:ext uri="{9D8B030D-6E8A-4147-A177-3AD203B41FA5}">
                      <a16:colId xmlns:a16="http://schemas.microsoft.com/office/drawing/2014/main" val="2891059164"/>
                    </a:ext>
                  </a:extLst>
                </a:gridCol>
                <a:gridCol w="278855">
                  <a:extLst>
                    <a:ext uri="{9D8B030D-6E8A-4147-A177-3AD203B41FA5}">
                      <a16:colId xmlns:a16="http://schemas.microsoft.com/office/drawing/2014/main" val="535086100"/>
                    </a:ext>
                  </a:extLst>
                </a:gridCol>
                <a:gridCol w="278855">
                  <a:extLst>
                    <a:ext uri="{9D8B030D-6E8A-4147-A177-3AD203B41FA5}">
                      <a16:colId xmlns:a16="http://schemas.microsoft.com/office/drawing/2014/main" val="1174381936"/>
                    </a:ext>
                  </a:extLst>
                </a:gridCol>
                <a:gridCol w="278855">
                  <a:extLst>
                    <a:ext uri="{9D8B030D-6E8A-4147-A177-3AD203B41FA5}">
                      <a16:colId xmlns:a16="http://schemas.microsoft.com/office/drawing/2014/main" val="1887168502"/>
                    </a:ext>
                  </a:extLst>
                </a:gridCol>
                <a:gridCol w="278855">
                  <a:extLst>
                    <a:ext uri="{9D8B030D-6E8A-4147-A177-3AD203B41FA5}">
                      <a16:colId xmlns:a16="http://schemas.microsoft.com/office/drawing/2014/main" val="1577479977"/>
                    </a:ext>
                  </a:extLst>
                </a:gridCol>
                <a:gridCol w="278855">
                  <a:extLst>
                    <a:ext uri="{9D8B030D-6E8A-4147-A177-3AD203B41FA5}">
                      <a16:colId xmlns:a16="http://schemas.microsoft.com/office/drawing/2014/main" val="1361295346"/>
                    </a:ext>
                  </a:extLst>
                </a:gridCol>
                <a:gridCol w="278855">
                  <a:extLst>
                    <a:ext uri="{9D8B030D-6E8A-4147-A177-3AD203B41FA5}">
                      <a16:colId xmlns:a16="http://schemas.microsoft.com/office/drawing/2014/main" val="2176800636"/>
                    </a:ext>
                  </a:extLst>
                </a:gridCol>
                <a:gridCol w="1014921">
                  <a:extLst>
                    <a:ext uri="{9D8B030D-6E8A-4147-A177-3AD203B41FA5}">
                      <a16:colId xmlns:a16="http://schemas.microsoft.com/office/drawing/2014/main" val="24291207"/>
                    </a:ext>
                  </a:extLst>
                </a:gridCol>
                <a:gridCol w="1016951">
                  <a:extLst>
                    <a:ext uri="{9D8B030D-6E8A-4147-A177-3AD203B41FA5}">
                      <a16:colId xmlns:a16="http://schemas.microsoft.com/office/drawing/2014/main" val="2028804627"/>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628007311"/>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OTP_PG_DONE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OTP_RD_START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OTP_PG_START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6841602"/>
                  </a:ext>
                </a:extLst>
              </a:tr>
            </a:tbl>
          </a:graphicData>
        </a:graphic>
      </p:graphicFrame>
    </p:spTree>
    <p:extLst>
      <p:ext uri="{BB962C8B-B14F-4D97-AF65-F5344CB8AC3E}">
        <p14:creationId xmlns:p14="http://schemas.microsoft.com/office/powerpoint/2010/main" val="2078954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9A2885B-6E91-48F5-8F6B-6960BD3383A2}"/>
              </a:ext>
            </a:extLst>
          </p:cNvPr>
          <p:cNvSpPr txBox="1"/>
          <p:nvPr/>
        </p:nvSpPr>
        <p:spPr>
          <a:xfrm>
            <a:off x="399058" y="672784"/>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3311" y="3421353"/>
            <a:ext cx="60460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LDO_DAC_CTL / OSC_RCTL / LDO_OSC_CTL / LOD_CTL</a:t>
            </a:r>
          </a:p>
        </p:txBody>
      </p:sp>
      <p:sp>
        <p:nvSpPr>
          <p:cNvPr id="12" name="TextBox 11">
            <a:extLst>
              <a:ext uri="{FF2B5EF4-FFF2-40B4-BE49-F238E27FC236}">
                <a16:creationId xmlns:a16="http://schemas.microsoft.com/office/drawing/2014/main" id="{704DB72B-2006-4821-8B38-D02A5A436DB3}"/>
              </a:ext>
            </a:extLst>
          </p:cNvPr>
          <p:cNvSpPr txBox="1"/>
          <p:nvPr/>
        </p:nvSpPr>
        <p:spPr>
          <a:xfrm>
            <a:off x="395876" y="1391815"/>
            <a:ext cx="605349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CRC</a:t>
            </a:r>
          </a:p>
        </p:txBody>
      </p:sp>
      <p:graphicFrame>
        <p:nvGraphicFramePr>
          <p:cNvPr id="13" name="표 12">
            <a:extLst>
              <a:ext uri="{FF2B5EF4-FFF2-40B4-BE49-F238E27FC236}">
                <a16:creationId xmlns:a16="http://schemas.microsoft.com/office/drawing/2014/main" id="{3780A594-159F-7DCD-D930-9F425E6521FB}"/>
              </a:ext>
            </a:extLst>
          </p:cNvPr>
          <p:cNvGraphicFramePr>
            <a:graphicFrameLocks noGrp="1"/>
          </p:cNvGraphicFramePr>
          <p:nvPr>
            <p:extLst>
              <p:ext uri="{D42A27DB-BD31-4B8C-83A1-F6EECF244321}">
                <p14:modId xmlns:p14="http://schemas.microsoft.com/office/powerpoint/2010/main" val="1348578482"/>
              </p:ext>
            </p:extLst>
          </p:nvPr>
        </p:nvGraphicFramePr>
        <p:xfrm>
          <a:off x="399057" y="3686127"/>
          <a:ext cx="6054130" cy="479280"/>
        </p:xfrm>
        <a:graphic>
          <a:graphicData uri="http://schemas.openxmlformats.org/drawingml/2006/table">
            <a:tbl>
              <a:tblPr firstRow="1" bandRow="1">
                <a:tableStyleId>{5C22544A-7EE6-4342-B048-85BDC9FD1C3A}</a:tableStyleId>
              </a:tblPr>
              <a:tblGrid>
                <a:gridCol w="333756">
                  <a:extLst>
                    <a:ext uri="{9D8B030D-6E8A-4147-A177-3AD203B41FA5}">
                      <a16:colId xmlns:a16="http://schemas.microsoft.com/office/drawing/2014/main" val="657570846"/>
                    </a:ext>
                  </a:extLst>
                </a:gridCol>
                <a:gridCol w="391551">
                  <a:extLst>
                    <a:ext uri="{9D8B030D-6E8A-4147-A177-3AD203B41FA5}">
                      <a16:colId xmlns:a16="http://schemas.microsoft.com/office/drawing/2014/main" val="3259894497"/>
                    </a:ext>
                  </a:extLst>
                </a:gridCol>
                <a:gridCol w="453079">
                  <a:extLst>
                    <a:ext uri="{9D8B030D-6E8A-4147-A177-3AD203B41FA5}">
                      <a16:colId xmlns:a16="http://schemas.microsoft.com/office/drawing/2014/main" val="4170535043"/>
                    </a:ext>
                  </a:extLst>
                </a:gridCol>
                <a:gridCol w="397143">
                  <a:extLst>
                    <a:ext uri="{9D8B030D-6E8A-4147-A177-3AD203B41FA5}">
                      <a16:colId xmlns:a16="http://schemas.microsoft.com/office/drawing/2014/main" val="2079070694"/>
                    </a:ext>
                  </a:extLst>
                </a:gridCol>
                <a:gridCol w="419516">
                  <a:extLst>
                    <a:ext uri="{9D8B030D-6E8A-4147-A177-3AD203B41FA5}">
                      <a16:colId xmlns:a16="http://schemas.microsoft.com/office/drawing/2014/main" val="4213315911"/>
                    </a:ext>
                  </a:extLst>
                </a:gridCol>
                <a:gridCol w="413923">
                  <a:extLst>
                    <a:ext uri="{9D8B030D-6E8A-4147-A177-3AD203B41FA5}">
                      <a16:colId xmlns:a16="http://schemas.microsoft.com/office/drawing/2014/main" val="2769999950"/>
                    </a:ext>
                  </a:extLst>
                </a:gridCol>
                <a:gridCol w="408330">
                  <a:extLst>
                    <a:ext uri="{9D8B030D-6E8A-4147-A177-3AD203B41FA5}">
                      <a16:colId xmlns:a16="http://schemas.microsoft.com/office/drawing/2014/main" val="135637185"/>
                    </a:ext>
                  </a:extLst>
                </a:gridCol>
                <a:gridCol w="413923">
                  <a:extLst>
                    <a:ext uri="{9D8B030D-6E8A-4147-A177-3AD203B41FA5}">
                      <a16:colId xmlns:a16="http://schemas.microsoft.com/office/drawing/2014/main" val="3038050475"/>
                    </a:ext>
                  </a:extLst>
                </a:gridCol>
                <a:gridCol w="408330">
                  <a:extLst>
                    <a:ext uri="{9D8B030D-6E8A-4147-A177-3AD203B41FA5}">
                      <a16:colId xmlns:a16="http://schemas.microsoft.com/office/drawing/2014/main" val="1979433044"/>
                    </a:ext>
                  </a:extLst>
                </a:gridCol>
                <a:gridCol w="446081">
                  <a:extLst>
                    <a:ext uri="{9D8B030D-6E8A-4147-A177-3AD203B41FA5}">
                      <a16:colId xmlns:a16="http://schemas.microsoft.com/office/drawing/2014/main" val="4270661649"/>
                    </a:ext>
                  </a:extLst>
                </a:gridCol>
                <a:gridCol w="444089">
                  <a:extLst>
                    <a:ext uri="{9D8B030D-6E8A-4147-A177-3AD203B41FA5}">
                      <a16:colId xmlns:a16="http://schemas.microsoft.com/office/drawing/2014/main" val="3027041370"/>
                    </a:ext>
                  </a:extLst>
                </a:gridCol>
                <a:gridCol w="416508">
                  <a:extLst>
                    <a:ext uri="{9D8B030D-6E8A-4147-A177-3AD203B41FA5}">
                      <a16:colId xmlns:a16="http://schemas.microsoft.com/office/drawing/2014/main" val="2852526216"/>
                    </a:ext>
                  </a:extLst>
                </a:gridCol>
                <a:gridCol w="416507">
                  <a:extLst>
                    <a:ext uri="{9D8B030D-6E8A-4147-A177-3AD203B41FA5}">
                      <a16:colId xmlns:a16="http://schemas.microsoft.com/office/drawing/2014/main" val="103420222"/>
                    </a:ext>
                  </a:extLst>
                </a:gridCol>
                <a:gridCol w="351557">
                  <a:extLst>
                    <a:ext uri="{9D8B030D-6E8A-4147-A177-3AD203B41FA5}">
                      <a16:colId xmlns:a16="http://schemas.microsoft.com/office/drawing/2014/main" val="1470405609"/>
                    </a:ext>
                  </a:extLst>
                </a:gridCol>
                <a:gridCol w="3398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LDO_DAC_CTL[4]</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OSC_RCTL[3:0]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78BB3975-E762-D975-1CAE-116F7C33FAA6}"/>
              </a:ext>
            </a:extLst>
          </p:cNvPr>
          <p:cNvSpPr txBox="1"/>
          <p:nvPr/>
        </p:nvSpPr>
        <p:spPr>
          <a:xfrm>
            <a:off x="397648" y="2211992"/>
            <a:ext cx="60468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DAC OFFSET / IREF_CTL / BGR_CTL</a:t>
            </a:r>
          </a:p>
        </p:txBody>
      </p:sp>
      <p:graphicFrame>
        <p:nvGraphicFramePr>
          <p:cNvPr id="6" name="표 5">
            <a:extLst>
              <a:ext uri="{FF2B5EF4-FFF2-40B4-BE49-F238E27FC236}">
                <a16:creationId xmlns:a16="http://schemas.microsoft.com/office/drawing/2014/main" id="{E156B7AC-8C93-3DB4-C5F9-B9E4D324ADC4}"/>
              </a:ext>
            </a:extLst>
          </p:cNvPr>
          <p:cNvGraphicFramePr>
            <a:graphicFrameLocks noGrp="1"/>
          </p:cNvGraphicFramePr>
          <p:nvPr>
            <p:extLst>
              <p:ext uri="{D42A27DB-BD31-4B8C-83A1-F6EECF244321}">
                <p14:modId xmlns:p14="http://schemas.microsoft.com/office/powerpoint/2010/main" val="3421376632"/>
              </p:ext>
            </p:extLst>
          </p:nvPr>
        </p:nvGraphicFramePr>
        <p:xfrm>
          <a:off x="403311" y="2475371"/>
          <a:ext cx="6046058" cy="372600"/>
        </p:xfrm>
        <a:graphic>
          <a:graphicData uri="http://schemas.openxmlformats.org/drawingml/2006/table">
            <a:tbl>
              <a:tblPr firstRow="1" bandRow="1">
                <a:tableStyleId>{5C22544A-7EE6-4342-B048-85BDC9FD1C3A}</a:tableStyleId>
              </a:tblPr>
              <a:tblGrid>
                <a:gridCol w="351239">
                  <a:extLst>
                    <a:ext uri="{9D8B030D-6E8A-4147-A177-3AD203B41FA5}">
                      <a16:colId xmlns:a16="http://schemas.microsoft.com/office/drawing/2014/main" val="657570846"/>
                    </a:ext>
                  </a:extLst>
                </a:gridCol>
                <a:gridCol w="386201">
                  <a:extLst>
                    <a:ext uri="{9D8B030D-6E8A-4147-A177-3AD203B41FA5}">
                      <a16:colId xmlns:a16="http://schemas.microsoft.com/office/drawing/2014/main" val="3259894497"/>
                    </a:ext>
                  </a:extLst>
                </a:gridCol>
                <a:gridCol w="453886">
                  <a:extLst>
                    <a:ext uri="{9D8B030D-6E8A-4147-A177-3AD203B41FA5}">
                      <a16:colId xmlns:a16="http://schemas.microsoft.com/office/drawing/2014/main" val="4170535043"/>
                    </a:ext>
                  </a:extLst>
                </a:gridCol>
                <a:gridCol w="404561">
                  <a:extLst>
                    <a:ext uri="{9D8B030D-6E8A-4147-A177-3AD203B41FA5}">
                      <a16:colId xmlns:a16="http://schemas.microsoft.com/office/drawing/2014/main" val="2079070694"/>
                    </a:ext>
                  </a:extLst>
                </a:gridCol>
                <a:gridCol w="404561">
                  <a:extLst>
                    <a:ext uri="{9D8B030D-6E8A-4147-A177-3AD203B41FA5}">
                      <a16:colId xmlns:a16="http://schemas.microsoft.com/office/drawing/2014/main" val="4213315911"/>
                    </a:ext>
                  </a:extLst>
                </a:gridCol>
                <a:gridCol w="404561">
                  <a:extLst>
                    <a:ext uri="{9D8B030D-6E8A-4147-A177-3AD203B41FA5}">
                      <a16:colId xmlns:a16="http://schemas.microsoft.com/office/drawing/2014/main" val="2769999950"/>
                    </a:ext>
                  </a:extLst>
                </a:gridCol>
                <a:gridCol w="404561">
                  <a:extLst>
                    <a:ext uri="{9D8B030D-6E8A-4147-A177-3AD203B41FA5}">
                      <a16:colId xmlns:a16="http://schemas.microsoft.com/office/drawing/2014/main" val="135637185"/>
                    </a:ext>
                  </a:extLst>
                </a:gridCol>
                <a:gridCol w="404561">
                  <a:extLst>
                    <a:ext uri="{9D8B030D-6E8A-4147-A177-3AD203B41FA5}">
                      <a16:colId xmlns:a16="http://schemas.microsoft.com/office/drawing/2014/main" val="3038050475"/>
                    </a:ext>
                  </a:extLst>
                </a:gridCol>
                <a:gridCol w="404561">
                  <a:extLst>
                    <a:ext uri="{9D8B030D-6E8A-4147-A177-3AD203B41FA5}">
                      <a16:colId xmlns:a16="http://schemas.microsoft.com/office/drawing/2014/main" val="1979433044"/>
                    </a:ext>
                  </a:extLst>
                </a:gridCol>
                <a:gridCol w="404561">
                  <a:extLst>
                    <a:ext uri="{9D8B030D-6E8A-4147-A177-3AD203B41FA5}">
                      <a16:colId xmlns:a16="http://schemas.microsoft.com/office/drawing/2014/main" val="4270661649"/>
                    </a:ext>
                  </a:extLst>
                </a:gridCol>
                <a:gridCol w="404561">
                  <a:extLst>
                    <a:ext uri="{9D8B030D-6E8A-4147-A177-3AD203B41FA5}">
                      <a16:colId xmlns:a16="http://schemas.microsoft.com/office/drawing/2014/main" val="3027041370"/>
                    </a:ext>
                  </a:extLst>
                </a:gridCol>
                <a:gridCol w="404561">
                  <a:extLst>
                    <a:ext uri="{9D8B030D-6E8A-4147-A177-3AD203B41FA5}">
                      <a16:colId xmlns:a16="http://schemas.microsoft.com/office/drawing/2014/main" val="2852526216"/>
                    </a:ext>
                  </a:extLst>
                </a:gridCol>
                <a:gridCol w="404561">
                  <a:extLst>
                    <a:ext uri="{9D8B030D-6E8A-4147-A177-3AD203B41FA5}">
                      <a16:colId xmlns:a16="http://schemas.microsoft.com/office/drawing/2014/main" val="103420222"/>
                    </a:ext>
                  </a:extLst>
                </a:gridCol>
                <a:gridCol w="404561">
                  <a:extLst>
                    <a:ext uri="{9D8B030D-6E8A-4147-A177-3AD203B41FA5}">
                      <a16:colId xmlns:a16="http://schemas.microsoft.com/office/drawing/2014/main" val="1470405609"/>
                    </a:ext>
                  </a:extLst>
                </a:gridCol>
                <a:gridCol w="40456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DACB_OFS[4:0]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DACA_OFS[6:0]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C4563957-6945-7A90-55E9-08278A7599C7}"/>
              </a:ext>
            </a:extLst>
          </p:cNvPr>
          <p:cNvGraphicFramePr>
            <a:graphicFrameLocks noGrp="1"/>
          </p:cNvGraphicFramePr>
          <p:nvPr>
            <p:extLst>
              <p:ext uri="{D42A27DB-BD31-4B8C-83A1-F6EECF244321}">
                <p14:modId xmlns:p14="http://schemas.microsoft.com/office/powerpoint/2010/main" val="2313489449"/>
              </p:ext>
            </p:extLst>
          </p:nvPr>
        </p:nvGraphicFramePr>
        <p:xfrm>
          <a:off x="404813" y="1653952"/>
          <a:ext cx="6044563" cy="372600"/>
        </p:xfrm>
        <a:graphic>
          <a:graphicData uri="http://schemas.openxmlformats.org/drawingml/2006/table">
            <a:tbl>
              <a:tblPr firstRow="1" bandRow="1">
                <a:tableStyleId>{5C22544A-7EE6-4342-B048-85BDC9FD1C3A}</a:tableStyleId>
              </a:tblPr>
              <a:tblGrid>
                <a:gridCol w="338436">
                  <a:extLst>
                    <a:ext uri="{9D8B030D-6E8A-4147-A177-3AD203B41FA5}">
                      <a16:colId xmlns:a16="http://schemas.microsoft.com/office/drawing/2014/main" val="657570846"/>
                    </a:ext>
                  </a:extLst>
                </a:gridCol>
                <a:gridCol w="396048">
                  <a:extLst>
                    <a:ext uri="{9D8B030D-6E8A-4147-A177-3AD203B41FA5}">
                      <a16:colId xmlns:a16="http://schemas.microsoft.com/office/drawing/2014/main" val="3259894497"/>
                    </a:ext>
                  </a:extLst>
                </a:gridCol>
                <a:gridCol w="460603">
                  <a:extLst>
                    <a:ext uri="{9D8B030D-6E8A-4147-A177-3AD203B41FA5}">
                      <a16:colId xmlns:a16="http://schemas.microsoft.com/office/drawing/2014/main" val="4170535043"/>
                    </a:ext>
                  </a:extLst>
                </a:gridCol>
                <a:gridCol w="475729">
                  <a:extLst>
                    <a:ext uri="{9D8B030D-6E8A-4147-A177-3AD203B41FA5}">
                      <a16:colId xmlns:a16="http://schemas.microsoft.com/office/drawing/2014/main" val="2079070694"/>
                    </a:ext>
                  </a:extLst>
                </a:gridCol>
                <a:gridCol w="418290">
                  <a:extLst>
                    <a:ext uri="{9D8B030D-6E8A-4147-A177-3AD203B41FA5}">
                      <a16:colId xmlns:a16="http://schemas.microsoft.com/office/drawing/2014/main" val="4213315911"/>
                    </a:ext>
                  </a:extLst>
                </a:gridCol>
                <a:gridCol w="397189">
                  <a:extLst>
                    <a:ext uri="{9D8B030D-6E8A-4147-A177-3AD203B41FA5}">
                      <a16:colId xmlns:a16="http://schemas.microsoft.com/office/drawing/2014/main" val="2769999950"/>
                    </a:ext>
                  </a:extLst>
                </a:gridCol>
                <a:gridCol w="397189">
                  <a:extLst>
                    <a:ext uri="{9D8B030D-6E8A-4147-A177-3AD203B41FA5}">
                      <a16:colId xmlns:a16="http://schemas.microsoft.com/office/drawing/2014/main" val="135637185"/>
                    </a:ext>
                  </a:extLst>
                </a:gridCol>
                <a:gridCol w="397189">
                  <a:extLst>
                    <a:ext uri="{9D8B030D-6E8A-4147-A177-3AD203B41FA5}">
                      <a16:colId xmlns:a16="http://schemas.microsoft.com/office/drawing/2014/main" val="3038050475"/>
                    </a:ext>
                  </a:extLst>
                </a:gridCol>
                <a:gridCol w="397189">
                  <a:extLst>
                    <a:ext uri="{9D8B030D-6E8A-4147-A177-3AD203B41FA5}">
                      <a16:colId xmlns:a16="http://schemas.microsoft.com/office/drawing/2014/main" val="1979433044"/>
                    </a:ext>
                  </a:extLst>
                </a:gridCol>
                <a:gridCol w="397189">
                  <a:extLst>
                    <a:ext uri="{9D8B030D-6E8A-4147-A177-3AD203B41FA5}">
                      <a16:colId xmlns:a16="http://schemas.microsoft.com/office/drawing/2014/main" val="4270661649"/>
                    </a:ext>
                  </a:extLst>
                </a:gridCol>
                <a:gridCol w="397189">
                  <a:extLst>
                    <a:ext uri="{9D8B030D-6E8A-4147-A177-3AD203B41FA5}">
                      <a16:colId xmlns:a16="http://schemas.microsoft.com/office/drawing/2014/main" val="3027041370"/>
                    </a:ext>
                  </a:extLst>
                </a:gridCol>
                <a:gridCol w="397189">
                  <a:extLst>
                    <a:ext uri="{9D8B030D-6E8A-4147-A177-3AD203B41FA5}">
                      <a16:colId xmlns:a16="http://schemas.microsoft.com/office/drawing/2014/main" val="2852526216"/>
                    </a:ext>
                  </a:extLst>
                </a:gridCol>
                <a:gridCol w="397189">
                  <a:extLst>
                    <a:ext uri="{9D8B030D-6E8A-4147-A177-3AD203B41FA5}">
                      <a16:colId xmlns:a16="http://schemas.microsoft.com/office/drawing/2014/main" val="103420222"/>
                    </a:ext>
                  </a:extLst>
                </a:gridCol>
                <a:gridCol w="397189">
                  <a:extLst>
                    <a:ext uri="{9D8B030D-6E8A-4147-A177-3AD203B41FA5}">
                      <a16:colId xmlns:a16="http://schemas.microsoft.com/office/drawing/2014/main" val="1470405609"/>
                    </a:ext>
                  </a:extLst>
                </a:gridCol>
                <a:gridCol w="38075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OTP_CRC_CHECKSUM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D1F6B3BB-B5B5-2174-FE6F-317B68CEEC78}"/>
              </a:ext>
            </a:extLst>
          </p:cNvPr>
          <p:cNvSpPr txBox="1"/>
          <p:nvPr/>
        </p:nvSpPr>
        <p:spPr>
          <a:xfrm>
            <a:off x="403310" y="988283"/>
            <a:ext cx="60460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These registers are the OTP Mirror registers.</a:t>
            </a:r>
          </a:p>
        </p:txBody>
      </p:sp>
      <p:graphicFrame>
        <p:nvGraphicFramePr>
          <p:cNvPr id="5" name="표 4">
            <a:extLst>
              <a:ext uri="{FF2B5EF4-FFF2-40B4-BE49-F238E27FC236}">
                <a16:creationId xmlns:a16="http://schemas.microsoft.com/office/drawing/2014/main" id="{DCDEB022-41A8-B7A5-2F6D-6B7BE8017AE6}"/>
              </a:ext>
            </a:extLst>
          </p:cNvPr>
          <p:cNvGraphicFramePr>
            <a:graphicFrameLocks noGrp="1"/>
          </p:cNvGraphicFramePr>
          <p:nvPr>
            <p:extLst>
              <p:ext uri="{D42A27DB-BD31-4B8C-83A1-F6EECF244321}">
                <p14:modId xmlns:p14="http://schemas.microsoft.com/office/powerpoint/2010/main" val="2983284502"/>
              </p:ext>
            </p:extLst>
          </p:nvPr>
        </p:nvGraphicFramePr>
        <p:xfrm>
          <a:off x="407377" y="2878992"/>
          <a:ext cx="6046059" cy="372600"/>
        </p:xfrm>
        <a:graphic>
          <a:graphicData uri="http://schemas.openxmlformats.org/drawingml/2006/table">
            <a:tbl>
              <a:tblPr firstRow="1" bandRow="1">
                <a:tableStyleId>{5C22544A-7EE6-4342-B048-85BDC9FD1C3A}</a:tableStyleId>
              </a:tblPr>
              <a:tblGrid>
                <a:gridCol w="351239">
                  <a:extLst>
                    <a:ext uri="{9D8B030D-6E8A-4147-A177-3AD203B41FA5}">
                      <a16:colId xmlns:a16="http://schemas.microsoft.com/office/drawing/2014/main" val="657570846"/>
                    </a:ext>
                  </a:extLst>
                </a:gridCol>
                <a:gridCol w="386201">
                  <a:extLst>
                    <a:ext uri="{9D8B030D-6E8A-4147-A177-3AD203B41FA5}">
                      <a16:colId xmlns:a16="http://schemas.microsoft.com/office/drawing/2014/main" val="3259894497"/>
                    </a:ext>
                  </a:extLst>
                </a:gridCol>
                <a:gridCol w="453886">
                  <a:extLst>
                    <a:ext uri="{9D8B030D-6E8A-4147-A177-3AD203B41FA5}">
                      <a16:colId xmlns:a16="http://schemas.microsoft.com/office/drawing/2014/main" val="4170535043"/>
                    </a:ext>
                  </a:extLst>
                </a:gridCol>
                <a:gridCol w="404561">
                  <a:extLst>
                    <a:ext uri="{9D8B030D-6E8A-4147-A177-3AD203B41FA5}">
                      <a16:colId xmlns:a16="http://schemas.microsoft.com/office/drawing/2014/main" val="2079070694"/>
                    </a:ext>
                  </a:extLst>
                </a:gridCol>
                <a:gridCol w="404561">
                  <a:extLst>
                    <a:ext uri="{9D8B030D-6E8A-4147-A177-3AD203B41FA5}">
                      <a16:colId xmlns:a16="http://schemas.microsoft.com/office/drawing/2014/main" val="4213315911"/>
                    </a:ext>
                  </a:extLst>
                </a:gridCol>
                <a:gridCol w="404561">
                  <a:extLst>
                    <a:ext uri="{9D8B030D-6E8A-4147-A177-3AD203B41FA5}">
                      <a16:colId xmlns:a16="http://schemas.microsoft.com/office/drawing/2014/main" val="2769999950"/>
                    </a:ext>
                  </a:extLst>
                </a:gridCol>
                <a:gridCol w="404561">
                  <a:extLst>
                    <a:ext uri="{9D8B030D-6E8A-4147-A177-3AD203B41FA5}">
                      <a16:colId xmlns:a16="http://schemas.microsoft.com/office/drawing/2014/main" val="135637185"/>
                    </a:ext>
                  </a:extLst>
                </a:gridCol>
                <a:gridCol w="404561">
                  <a:extLst>
                    <a:ext uri="{9D8B030D-6E8A-4147-A177-3AD203B41FA5}">
                      <a16:colId xmlns:a16="http://schemas.microsoft.com/office/drawing/2014/main" val="3038050475"/>
                    </a:ext>
                  </a:extLst>
                </a:gridCol>
                <a:gridCol w="404561">
                  <a:extLst>
                    <a:ext uri="{9D8B030D-6E8A-4147-A177-3AD203B41FA5}">
                      <a16:colId xmlns:a16="http://schemas.microsoft.com/office/drawing/2014/main" val="1979433044"/>
                    </a:ext>
                  </a:extLst>
                </a:gridCol>
                <a:gridCol w="404561">
                  <a:extLst>
                    <a:ext uri="{9D8B030D-6E8A-4147-A177-3AD203B41FA5}">
                      <a16:colId xmlns:a16="http://schemas.microsoft.com/office/drawing/2014/main" val="4270661649"/>
                    </a:ext>
                  </a:extLst>
                </a:gridCol>
                <a:gridCol w="404561">
                  <a:extLst>
                    <a:ext uri="{9D8B030D-6E8A-4147-A177-3AD203B41FA5}">
                      <a16:colId xmlns:a16="http://schemas.microsoft.com/office/drawing/2014/main" val="3027041370"/>
                    </a:ext>
                  </a:extLst>
                </a:gridCol>
                <a:gridCol w="404562">
                  <a:extLst>
                    <a:ext uri="{9D8B030D-6E8A-4147-A177-3AD203B41FA5}">
                      <a16:colId xmlns:a16="http://schemas.microsoft.com/office/drawing/2014/main" val="2852526216"/>
                    </a:ext>
                  </a:extLst>
                </a:gridCol>
                <a:gridCol w="404561">
                  <a:extLst>
                    <a:ext uri="{9D8B030D-6E8A-4147-A177-3AD203B41FA5}">
                      <a16:colId xmlns:a16="http://schemas.microsoft.com/office/drawing/2014/main" val="103420222"/>
                    </a:ext>
                  </a:extLst>
                </a:gridCol>
                <a:gridCol w="404561">
                  <a:extLst>
                    <a:ext uri="{9D8B030D-6E8A-4147-A177-3AD203B41FA5}">
                      <a16:colId xmlns:a16="http://schemas.microsoft.com/office/drawing/2014/main" val="1470405609"/>
                    </a:ext>
                  </a:extLst>
                </a:gridCol>
                <a:gridCol w="40456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DACB_OFS[4:0]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IREF_CTL[4:0]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a:r>
                        <a:rPr lang="en-US" sz="700" dirty="0">
                          <a:latin typeface="Arial" panose="020B0604020202020204" pitchFamily="34" charset="0"/>
                          <a:cs typeface="Arial" panose="020B0604020202020204" pitchFamily="34" charset="0"/>
                        </a:rPr>
                        <a:t>BGR_TC[4:0]</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9" name="표 8">
            <a:extLst>
              <a:ext uri="{FF2B5EF4-FFF2-40B4-BE49-F238E27FC236}">
                <a16:creationId xmlns:a16="http://schemas.microsoft.com/office/drawing/2014/main" id="{F0312C83-859C-0031-8589-EE9378A2D76F}"/>
              </a:ext>
            </a:extLst>
          </p:cNvPr>
          <p:cNvGraphicFramePr>
            <a:graphicFrameLocks noGrp="1"/>
          </p:cNvGraphicFramePr>
          <p:nvPr>
            <p:extLst>
              <p:ext uri="{D42A27DB-BD31-4B8C-83A1-F6EECF244321}">
                <p14:modId xmlns:p14="http://schemas.microsoft.com/office/powerpoint/2010/main" val="3282676122"/>
              </p:ext>
            </p:extLst>
          </p:nvPr>
        </p:nvGraphicFramePr>
        <p:xfrm>
          <a:off x="403619" y="4234513"/>
          <a:ext cx="6049567" cy="372600"/>
        </p:xfrm>
        <a:graphic>
          <a:graphicData uri="http://schemas.openxmlformats.org/drawingml/2006/table">
            <a:tbl>
              <a:tblPr firstRow="1" bandRow="1">
                <a:tableStyleId>{5C22544A-7EE6-4342-B048-85BDC9FD1C3A}</a:tableStyleId>
              </a:tblPr>
              <a:tblGrid>
                <a:gridCol w="333505">
                  <a:extLst>
                    <a:ext uri="{9D8B030D-6E8A-4147-A177-3AD203B41FA5}">
                      <a16:colId xmlns:a16="http://schemas.microsoft.com/office/drawing/2014/main" val="657570846"/>
                    </a:ext>
                  </a:extLst>
                </a:gridCol>
                <a:gridCol w="391256">
                  <a:extLst>
                    <a:ext uri="{9D8B030D-6E8A-4147-A177-3AD203B41FA5}">
                      <a16:colId xmlns:a16="http://schemas.microsoft.com/office/drawing/2014/main" val="3259894497"/>
                    </a:ext>
                  </a:extLst>
                </a:gridCol>
                <a:gridCol w="452737">
                  <a:extLst>
                    <a:ext uri="{9D8B030D-6E8A-4147-A177-3AD203B41FA5}">
                      <a16:colId xmlns:a16="http://schemas.microsoft.com/office/drawing/2014/main" val="4170535043"/>
                    </a:ext>
                  </a:extLst>
                </a:gridCol>
                <a:gridCol w="396844">
                  <a:extLst>
                    <a:ext uri="{9D8B030D-6E8A-4147-A177-3AD203B41FA5}">
                      <a16:colId xmlns:a16="http://schemas.microsoft.com/office/drawing/2014/main" val="2079070694"/>
                    </a:ext>
                  </a:extLst>
                </a:gridCol>
                <a:gridCol w="419200">
                  <a:extLst>
                    <a:ext uri="{9D8B030D-6E8A-4147-A177-3AD203B41FA5}">
                      <a16:colId xmlns:a16="http://schemas.microsoft.com/office/drawing/2014/main" val="4213315911"/>
                    </a:ext>
                  </a:extLst>
                </a:gridCol>
                <a:gridCol w="413611">
                  <a:extLst>
                    <a:ext uri="{9D8B030D-6E8A-4147-A177-3AD203B41FA5}">
                      <a16:colId xmlns:a16="http://schemas.microsoft.com/office/drawing/2014/main" val="2769999950"/>
                    </a:ext>
                  </a:extLst>
                </a:gridCol>
                <a:gridCol w="408022">
                  <a:extLst>
                    <a:ext uri="{9D8B030D-6E8A-4147-A177-3AD203B41FA5}">
                      <a16:colId xmlns:a16="http://schemas.microsoft.com/office/drawing/2014/main" val="135637185"/>
                    </a:ext>
                  </a:extLst>
                </a:gridCol>
                <a:gridCol w="413611">
                  <a:extLst>
                    <a:ext uri="{9D8B030D-6E8A-4147-A177-3AD203B41FA5}">
                      <a16:colId xmlns:a16="http://schemas.microsoft.com/office/drawing/2014/main" val="3038050475"/>
                    </a:ext>
                  </a:extLst>
                </a:gridCol>
                <a:gridCol w="408022">
                  <a:extLst>
                    <a:ext uri="{9D8B030D-6E8A-4147-A177-3AD203B41FA5}">
                      <a16:colId xmlns:a16="http://schemas.microsoft.com/office/drawing/2014/main" val="1979433044"/>
                    </a:ext>
                  </a:extLst>
                </a:gridCol>
                <a:gridCol w="445745">
                  <a:extLst>
                    <a:ext uri="{9D8B030D-6E8A-4147-A177-3AD203B41FA5}">
                      <a16:colId xmlns:a16="http://schemas.microsoft.com/office/drawing/2014/main" val="4270661649"/>
                    </a:ext>
                  </a:extLst>
                </a:gridCol>
                <a:gridCol w="443754">
                  <a:extLst>
                    <a:ext uri="{9D8B030D-6E8A-4147-A177-3AD203B41FA5}">
                      <a16:colId xmlns:a16="http://schemas.microsoft.com/office/drawing/2014/main" val="3027041370"/>
                    </a:ext>
                  </a:extLst>
                </a:gridCol>
                <a:gridCol w="416194">
                  <a:extLst>
                    <a:ext uri="{9D8B030D-6E8A-4147-A177-3AD203B41FA5}">
                      <a16:colId xmlns:a16="http://schemas.microsoft.com/office/drawing/2014/main" val="2852526216"/>
                    </a:ext>
                  </a:extLst>
                </a:gridCol>
                <a:gridCol w="416193">
                  <a:extLst>
                    <a:ext uri="{9D8B030D-6E8A-4147-A177-3AD203B41FA5}">
                      <a16:colId xmlns:a16="http://schemas.microsoft.com/office/drawing/2014/main" val="103420222"/>
                    </a:ext>
                  </a:extLst>
                </a:gridCol>
                <a:gridCol w="351292">
                  <a:extLst>
                    <a:ext uri="{9D8B030D-6E8A-4147-A177-3AD203B41FA5}">
                      <a16:colId xmlns:a16="http://schemas.microsoft.com/office/drawing/2014/main" val="1470405609"/>
                    </a:ext>
                  </a:extLst>
                </a:gridCol>
                <a:gridCol w="33958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LDO_DAC_CTL[3:0]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LDO_OSC_CTL[3:0]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LDO_CTL[3:0]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2597739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a:t>
            </a:r>
          </a:p>
        </p:txBody>
      </p:sp>
      <p:graphicFrame>
        <p:nvGraphicFramePr>
          <p:cNvPr id="20" name="표 19">
            <a:extLst>
              <a:ext uri="{FF2B5EF4-FFF2-40B4-BE49-F238E27FC236}">
                <a16:creationId xmlns:a16="http://schemas.microsoft.com/office/drawing/2014/main" id="{AE12691E-C981-3606-36D9-5004E2726680}"/>
              </a:ext>
            </a:extLst>
          </p:cNvPr>
          <p:cNvGraphicFramePr>
            <a:graphicFrameLocks noGrp="1"/>
          </p:cNvGraphicFramePr>
          <p:nvPr>
            <p:extLst>
              <p:ext uri="{D42A27DB-BD31-4B8C-83A1-F6EECF244321}">
                <p14:modId xmlns:p14="http://schemas.microsoft.com/office/powerpoint/2010/main" val="1810971518"/>
              </p:ext>
            </p:extLst>
          </p:nvPr>
        </p:nvGraphicFramePr>
        <p:xfrm>
          <a:off x="400082" y="1910270"/>
          <a:ext cx="6059148"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7">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_CH2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C1ED9103-A3B5-553E-C424-E74EB0043AD4}"/>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2</a:t>
            </a:r>
          </a:p>
        </p:txBody>
      </p:sp>
      <p:graphicFrame>
        <p:nvGraphicFramePr>
          <p:cNvPr id="26" name="표 25">
            <a:extLst>
              <a:ext uri="{FF2B5EF4-FFF2-40B4-BE49-F238E27FC236}">
                <a16:creationId xmlns:a16="http://schemas.microsoft.com/office/drawing/2014/main" id="{22B07154-E7B3-7FEF-4598-3C989132CB71}"/>
              </a:ext>
            </a:extLst>
          </p:cNvPr>
          <p:cNvGraphicFramePr>
            <a:graphicFrameLocks noGrp="1"/>
          </p:cNvGraphicFramePr>
          <p:nvPr>
            <p:extLst>
              <p:ext uri="{D42A27DB-BD31-4B8C-83A1-F6EECF244321}">
                <p14:modId xmlns:p14="http://schemas.microsoft.com/office/powerpoint/2010/main" val="3698336576"/>
              </p:ext>
            </p:extLst>
          </p:nvPr>
        </p:nvGraphicFramePr>
        <p:xfrm>
          <a:off x="403572" y="2558889"/>
          <a:ext cx="6058595"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8">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_CH3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FC7759F-EBE4-5DE8-90E0-DE7D4C8E6081}"/>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3</a:t>
            </a:r>
          </a:p>
        </p:txBody>
      </p:sp>
      <p:graphicFrame>
        <p:nvGraphicFramePr>
          <p:cNvPr id="30" name="표 29">
            <a:extLst>
              <a:ext uri="{FF2B5EF4-FFF2-40B4-BE49-F238E27FC236}">
                <a16:creationId xmlns:a16="http://schemas.microsoft.com/office/drawing/2014/main" id="{E75B2089-F6D9-989C-7540-63292FD72D76}"/>
              </a:ext>
            </a:extLst>
          </p:cNvPr>
          <p:cNvGraphicFramePr>
            <a:graphicFrameLocks noGrp="1"/>
          </p:cNvGraphicFramePr>
          <p:nvPr>
            <p:extLst>
              <p:ext uri="{D42A27DB-BD31-4B8C-83A1-F6EECF244321}">
                <p14:modId xmlns:p14="http://schemas.microsoft.com/office/powerpoint/2010/main" val="1140736945"/>
              </p:ext>
            </p:extLst>
          </p:nvPr>
        </p:nvGraphicFramePr>
        <p:xfrm>
          <a:off x="402554" y="3210327"/>
          <a:ext cx="6063914"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0">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_CH4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0C4C225D-B915-FD28-C5ED-7822B2D27829}"/>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4</a:t>
            </a:r>
          </a:p>
        </p:txBody>
      </p:sp>
      <p:graphicFrame>
        <p:nvGraphicFramePr>
          <p:cNvPr id="32" name="표 31">
            <a:extLst>
              <a:ext uri="{FF2B5EF4-FFF2-40B4-BE49-F238E27FC236}">
                <a16:creationId xmlns:a16="http://schemas.microsoft.com/office/drawing/2014/main" id="{02EB7AF6-FB6D-9D98-1536-4E34479D6845}"/>
              </a:ext>
            </a:extLst>
          </p:cNvPr>
          <p:cNvGraphicFramePr>
            <a:graphicFrameLocks noGrp="1"/>
          </p:cNvGraphicFramePr>
          <p:nvPr>
            <p:extLst>
              <p:ext uri="{D42A27DB-BD31-4B8C-83A1-F6EECF244321}">
                <p14:modId xmlns:p14="http://schemas.microsoft.com/office/powerpoint/2010/main" val="861907550"/>
              </p:ext>
            </p:extLst>
          </p:nvPr>
        </p:nvGraphicFramePr>
        <p:xfrm>
          <a:off x="395604" y="3859634"/>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2">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_CH5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3" name="TextBox 32">
            <a:extLst>
              <a:ext uri="{FF2B5EF4-FFF2-40B4-BE49-F238E27FC236}">
                <a16:creationId xmlns:a16="http://schemas.microsoft.com/office/drawing/2014/main" id="{54B15480-C4E5-C4A4-DB65-B7DADAA6F574}"/>
              </a:ext>
            </a:extLst>
          </p:cNvPr>
          <p:cNvSpPr txBox="1"/>
          <p:nvPr/>
        </p:nvSpPr>
        <p:spPr>
          <a:xfrm>
            <a:off x="399097" y="3596814"/>
            <a:ext cx="607077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5</a:t>
            </a:r>
          </a:p>
        </p:txBody>
      </p:sp>
      <p:graphicFrame>
        <p:nvGraphicFramePr>
          <p:cNvPr id="34" name="표 33">
            <a:extLst>
              <a:ext uri="{FF2B5EF4-FFF2-40B4-BE49-F238E27FC236}">
                <a16:creationId xmlns:a16="http://schemas.microsoft.com/office/drawing/2014/main" id="{859DFFCE-B74E-98EE-8E06-A3A14041C684}"/>
              </a:ext>
            </a:extLst>
          </p:cNvPr>
          <p:cNvGraphicFramePr>
            <a:graphicFrameLocks noGrp="1"/>
          </p:cNvGraphicFramePr>
          <p:nvPr>
            <p:extLst>
              <p:ext uri="{D42A27DB-BD31-4B8C-83A1-F6EECF244321}">
                <p14:modId xmlns:p14="http://schemas.microsoft.com/office/powerpoint/2010/main" val="3799959792"/>
              </p:ext>
            </p:extLst>
          </p:nvPr>
        </p:nvGraphicFramePr>
        <p:xfrm>
          <a:off x="393878" y="4511628"/>
          <a:ext cx="6072541"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1">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_CH6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618718C2-741F-A6DA-C399-8573E65A97EF}"/>
              </a:ext>
            </a:extLst>
          </p:cNvPr>
          <p:cNvSpPr txBox="1"/>
          <p:nvPr/>
        </p:nvSpPr>
        <p:spPr>
          <a:xfrm>
            <a:off x="397371" y="4248808"/>
            <a:ext cx="607077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6</a:t>
            </a:r>
          </a:p>
        </p:txBody>
      </p:sp>
      <p:graphicFrame>
        <p:nvGraphicFramePr>
          <p:cNvPr id="36" name="표 35">
            <a:extLst>
              <a:ext uri="{FF2B5EF4-FFF2-40B4-BE49-F238E27FC236}">
                <a16:creationId xmlns:a16="http://schemas.microsoft.com/office/drawing/2014/main" id="{C985D9D9-F7C3-6464-0BAF-A458BDB41114}"/>
              </a:ext>
            </a:extLst>
          </p:cNvPr>
          <p:cNvGraphicFramePr>
            <a:graphicFrameLocks noGrp="1"/>
          </p:cNvGraphicFramePr>
          <p:nvPr>
            <p:extLst>
              <p:ext uri="{D42A27DB-BD31-4B8C-83A1-F6EECF244321}">
                <p14:modId xmlns:p14="http://schemas.microsoft.com/office/powerpoint/2010/main" val="260263506"/>
              </p:ext>
            </p:extLst>
          </p:nvPr>
        </p:nvGraphicFramePr>
        <p:xfrm>
          <a:off x="393878" y="5167508"/>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_CH7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7" name="TextBox 36">
            <a:extLst>
              <a:ext uri="{FF2B5EF4-FFF2-40B4-BE49-F238E27FC236}">
                <a16:creationId xmlns:a16="http://schemas.microsoft.com/office/drawing/2014/main" id="{FC525441-C066-FDE0-D0A1-D79F2E88EF30}"/>
              </a:ext>
            </a:extLst>
          </p:cNvPr>
          <p:cNvSpPr txBox="1"/>
          <p:nvPr/>
        </p:nvSpPr>
        <p:spPr>
          <a:xfrm>
            <a:off x="398604" y="4906099"/>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7</a:t>
            </a:r>
          </a:p>
        </p:txBody>
      </p:sp>
      <p:graphicFrame>
        <p:nvGraphicFramePr>
          <p:cNvPr id="38" name="표 37">
            <a:extLst>
              <a:ext uri="{FF2B5EF4-FFF2-40B4-BE49-F238E27FC236}">
                <a16:creationId xmlns:a16="http://schemas.microsoft.com/office/drawing/2014/main" id="{AA7B3CA4-1C9B-5752-7181-F7C5162E0487}"/>
              </a:ext>
            </a:extLst>
          </p:cNvPr>
          <p:cNvGraphicFramePr>
            <a:graphicFrameLocks noGrp="1"/>
          </p:cNvGraphicFramePr>
          <p:nvPr>
            <p:extLst>
              <p:ext uri="{D42A27DB-BD31-4B8C-83A1-F6EECF244321}">
                <p14:modId xmlns:p14="http://schemas.microsoft.com/office/powerpoint/2010/main" val="3062240666"/>
              </p:ext>
            </p:extLst>
          </p:nvPr>
        </p:nvGraphicFramePr>
        <p:xfrm>
          <a:off x="391745" y="581613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_CH8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26F5A40C-4C80-11B8-890B-481D22447744}"/>
              </a:ext>
            </a:extLst>
          </p:cNvPr>
          <p:cNvSpPr txBox="1"/>
          <p:nvPr/>
        </p:nvSpPr>
        <p:spPr>
          <a:xfrm>
            <a:off x="396471" y="5555626"/>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8</a:t>
            </a:r>
          </a:p>
        </p:txBody>
      </p:sp>
      <p:graphicFrame>
        <p:nvGraphicFramePr>
          <p:cNvPr id="40" name="표 39">
            <a:extLst>
              <a:ext uri="{FF2B5EF4-FFF2-40B4-BE49-F238E27FC236}">
                <a16:creationId xmlns:a16="http://schemas.microsoft.com/office/drawing/2014/main" id="{0A3FCDFD-37BD-88E3-8B05-0B7D62151B45}"/>
              </a:ext>
            </a:extLst>
          </p:cNvPr>
          <p:cNvGraphicFramePr>
            <a:graphicFrameLocks noGrp="1"/>
          </p:cNvGraphicFramePr>
          <p:nvPr>
            <p:extLst>
              <p:ext uri="{D42A27DB-BD31-4B8C-83A1-F6EECF244321}">
                <p14:modId xmlns:p14="http://schemas.microsoft.com/office/powerpoint/2010/main" val="2536425212"/>
              </p:ext>
            </p:extLst>
          </p:nvPr>
        </p:nvGraphicFramePr>
        <p:xfrm>
          <a:off x="383939" y="647324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_CH9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1" name="TextBox 40">
            <a:extLst>
              <a:ext uri="{FF2B5EF4-FFF2-40B4-BE49-F238E27FC236}">
                <a16:creationId xmlns:a16="http://schemas.microsoft.com/office/drawing/2014/main" id="{365706EB-F63F-F4B5-BDD3-1A86C902281D}"/>
              </a:ext>
            </a:extLst>
          </p:cNvPr>
          <p:cNvSpPr txBox="1"/>
          <p:nvPr/>
        </p:nvSpPr>
        <p:spPr>
          <a:xfrm>
            <a:off x="388665" y="6208518"/>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9</a:t>
            </a:r>
          </a:p>
        </p:txBody>
      </p:sp>
      <p:graphicFrame>
        <p:nvGraphicFramePr>
          <p:cNvPr id="42" name="표 41">
            <a:extLst>
              <a:ext uri="{FF2B5EF4-FFF2-40B4-BE49-F238E27FC236}">
                <a16:creationId xmlns:a16="http://schemas.microsoft.com/office/drawing/2014/main" id="{CEC4A77F-58FB-B266-D60A-10EDA7AA163B}"/>
              </a:ext>
            </a:extLst>
          </p:cNvPr>
          <p:cNvGraphicFramePr>
            <a:graphicFrameLocks noGrp="1"/>
          </p:cNvGraphicFramePr>
          <p:nvPr>
            <p:extLst>
              <p:ext uri="{D42A27DB-BD31-4B8C-83A1-F6EECF244321}">
                <p14:modId xmlns:p14="http://schemas.microsoft.com/office/powerpoint/2010/main" val="1022368405"/>
              </p:ext>
            </p:extLst>
          </p:nvPr>
        </p:nvGraphicFramePr>
        <p:xfrm>
          <a:off x="391745" y="7127782"/>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_CH10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3" name="TextBox 42">
            <a:extLst>
              <a:ext uri="{FF2B5EF4-FFF2-40B4-BE49-F238E27FC236}">
                <a16:creationId xmlns:a16="http://schemas.microsoft.com/office/drawing/2014/main" id="{2A1335A5-CAB7-BBF1-831A-6479A2C19275}"/>
              </a:ext>
            </a:extLst>
          </p:cNvPr>
          <p:cNvSpPr txBox="1"/>
          <p:nvPr/>
        </p:nvSpPr>
        <p:spPr>
          <a:xfrm>
            <a:off x="396471" y="686396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10</a:t>
            </a:r>
          </a:p>
        </p:txBody>
      </p:sp>
      <p:graphicFrame>
        <p:nvGraphicFramePr>
          <p:cNvPr id="6" name="표 5">
            <a:extLst>
              <a:ext uri="{FF2B5EF4-FFF2-40B4-BE49-F238E27FC236}">
                <a16:creationId xmlns:a16="http://schemas.microsoft.com/office/drawing/2014/main" id="{FCF1F636-FE6C-B712-4D78-ACB7EBC010F0}"/>
              </a:ext>
            </a:extLst>
          </p:cNvPr>
          <p:cNvGraphicFramePr>
            <a:graphicFrameLocks noGrp="1"/>
          </p:cNvGraphicFramePr>
          <p:nvPr>
            <p:extLst>
              <p:ext uri="{D42A27DB-BD31-4B8C-83A1-F6EECF244321}">
                <p14:modId xmlns:p14="http://schemas.microsoft.com/office/powerpoint/2010/main" val="3495992096"/>
              </p:ext>
            </p:extLst>
          </p:nvPr>
        </p:nvGraphicFramePr>
        <p:xfrm>
          <a:off x="404813" y="1259733"/>
          <a:ext cx="6057359"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2">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65C20FBD-C111-AB06-D27D-1D7DC7584ADD}"/>
              </a:ext>
            </a:extLst>
          </p:cNvPr>
          <p:cNvGraphicFramePr>
            <a:graphicFrameLocks noGrp="1"/>
          </p:cNvGraphicFramePr>
          <p:nvPr>
            <p:extLst>
              <p:ext uri="{D42A27DB-BD31-4B8C-83A1-F6EECF244321}">
                <p14:modId xmlns:p14="http://schemas.microsoft.com/office/powerpoint/2010/main" val="2099657067"/>
              </p:ext>
            </p:extLst>
          </p:nvPr>
        </p:nvGraphicFramePr>
        <p:xfrm>
          <a:off x="383939" y="8429736"/>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_CH12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E533027C-E661-0D43-5589-5DB3A4143832}"/>
              </a:ext>
            </a:extLst>
          </p:cNvPr>
          <p:cNvSpPr txBox="1"/>
          <p:nvPr/>
        </p:nvSpPr>
        <p:spPr>
          <a:xfrm>
            <a:off x="388665" y="8168327"/>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12</a:t>
            </a:r>
          </a:p>
        </p:txBody>
      </p:sp>
      <p:graphicFrame>
        <p:nvGraphicFramePr>
          <p:cNvPr id="10" name="표 9">
            <a:extLst>
              <a:ext uri="{FF2B5EF4-FFF2-40B4-BE49-F238E27FC236}">
                <a16:creationId xmlns:a16="http://schemas.microsoft.com/office/drawing/2014/main" id="{BE9CFE18-B2D9-0F51-0D6B-19743A92302B}"/>
              </a:ext>
            </a:extLst>
          </p:cNvPr>
          <p:cNvGraphicFramePr>
            <a:graphicFrameLocks noGrp="1"/>
          </p:cNvGraphicFramePr>
          <p:nvPr>
            <p:extLst>
              <p:ext uri="{D42A27DB-BD31-4B8C-83A1-F6EECF244321}">
                <p14:modId xmlns:p14="http://schemas.microsoft.com/office/powerpoint/2010/main" val="1755617589"/>
              </p:ext>
            </p:extLst>
          </p:nvPr>
        </p:nvGraphicFramePr>
        <p:xfrm>
          <a:off x="387798" y="7778972"/>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OFS_</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948F7305-578E-CB0D-96BE-E2A987B46CA6}"/>
              </a:ext>
            </a:extLst>
          </p:cNvPr>
          <p:cNvSpPr txBox="1"/>
          <p:nvPr/>
        </p:nvSpPr>
        <p:spPr>
          <a:xfrm>
            <a:off x="392524" y="751515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11</a:t>
            </a:r>
          </a:p>
        </p:txBody>
      </p:sp>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Tree>
    <p:extLst>
      <p:ext uri="{BB962C8B-B14F-4D97-AF65-F5344CB8AC3E}">
        <p14:creationId xmlns:p14="http://schemas.microsoft.com/office/powerpoint/2010/main" val="20856366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a:t>
            </a:r>
          </a:p>
        </p:txBody>
      </p:sp>
      <p:graphicFrame>
        <p:nvGraphicFramePr>
          <p:cNvPr id="20" name="표 19">
            <a:extLst>
              <a:ext uri="{FF2B5EF4-FFF2-40B4-BE49-F238E27FC236}">
                <a16:creationId xmlns:a16="http://schemas.microsoft.com/office/drawing/2014/main" id="{AE12691E-C981-3606-36D9-5004E2726680}"/>
              </a:ext>
            </a:extLst>
          </p:cNvPr>
          <p:cNvGraphicFramePr>
            <a:graphicFrameLocks noGrp="1"/>
          </p:cNvGraphicFramePr>
          <p:nvPr>
            <p:extLst>
              <p:ext uri="{D42A27DB-BD31-4B8C-83A1-F6EECF244321}">
                <p14:modId xmlns:p14="http://schemas.microsoft.com/office/powerpoint/2010/main" val="1349578046"/>
              </p:ext>
            </p:extLst>
          </p:nvPr>
        </p:nvGraphicFramePr>
        <p:xfrm>
          <a:off x="400082" y="1910270"/>
          <a:ext cx="6059149"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8">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C1ED9103-A3B5-553E-C424-E74EB0043AD4}"/>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2</a:t>
            </a:r>
          </a:p>
        </p:txBody>
      </p:sp>
      <p:graphicFrame>
        <p:nvGraphicFramePr>
          <p:cNvPr id="26" name="표 25">
            <a:extLst>
              <a:ext uri="{FF2B5EF4-FFF2-40B4-BE49-F238E27FC236}">
                <a16:creationId xmlns:a16="http://schemas.microsoft.com/office/drawing/2014/main" id="{22B07154-E7B3-7FEF-4598-3C989132CB71}"/>
              </a:ext>
            </a:extLst>
          </p:cNvPr>
          <p:cNvGraphicFramePr>
            <a:graphicFrameLocks noGrp="1"/>
          </p:cNvGraphicFramePr>
          <p:nvPr>
            <p:extLst>
              <p:ext uri="{D42A27DB-BD31-4B8C-83A1-F6EECF244321}">
                <p14:modId xmlns:p14="http://schemas.microsoft.com/office/powerpoint/2010/main" val="269861347"/>
              </p:ext>
            </p:extLst>
          </p:nvPr>
        </p:nvGraphicFramePr>
        <p:xfrm>
          <a:off x="403572" y="2558889"/>
          <a:ext cx="6058596"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9">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FC7759F-EBE4-5DE8-90E0-DE7D4C8E6081}"/>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3</a:t>
            </a:r>
          </a:p>
        </p:txBody>
      </p:sp>
      <p:graphicFrame>
        <p:nvGraphicFramePr>
          <p:cNvPr id="30" name="표 29">
            <a:extLst>
              <a:ext uri="{FF2B5EF4-FFF2-40B4-BE49-F238E27FC236}">
                <a16:creationId xmlns:a16="http://schemas.microsoft.com/office/drawing/2014/main" id="{E75B2089-F6D9-989C-7540-63292FD72D76}"/>
              </a:ext>
            </a:extLst>
          </p:cNvPr>
          <p:cNvGraphicFramePr>
            <a:graphicFrameLocks noGrp="1"/>
          </p:cNvGraphicFramePr>
          <p:nvPr>
            <p:extLst>
              <p:ext uri="{D42A27DB-BD31-4B8C-83A1-F6EECF244321}">
                <p14:modId xmlns:p14="http://schemas.microsoft.com/office/powerpoint/2010/main" val="1033736475"/>
              </p:ext>
            </p:extLst>
          </p:nvPr>
        </p:nvGraphicFramePr>
        <p:xfrm>
          <a:off x="402554" y="3210327"/>
          <a:ext cx="6063915"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1">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0C4C225D-B915-FD28-C5ED-7822B2D27829}"/>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4</a:t>
            </a:r>
          </a:p>
        </p:txBody>
      </p:sp>
      <p:graphicFrame>
        <p:nvGraphicFramePr>
          <p:cNvPr id="32" name="표 31">
            <a:extLst>
              <a:ext uri="{FF2B5EF4-FFF2-40B4-BE49-F238E27FC236}">
                <a16:creationId xmlns:a16="http://schemas.microsoft.com/office/drawing/2014/main" id="{02EB7AF6-FB6D-9D98-1536-4E34479D6845}"/>
              </a:ext>
            </a:extLst>
          </p:cNvPr>
          <p:cNvGraphicFramePr>
            <a:graphicFrameLocks noGrp="1"/>
          </p:cNvGraphicFramePr>
          <p:nvPr>
            <p:extLst>
              <p:ext uri="{D42A27DB-BD31-4B8C-83A1-F6EECF244321}">
                <p14:modId xmlns:p14="http://schemas.microsoft.com/office/powerpoint/2010/main" val="2915244592"/>
              </p:ext>
            </p:extLst>
          </p:nvPr>
        </p:nvGraphicFramePr>
        <p:xfrm>
          <a:off x="395604" y="3859634"/>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2">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GAIN_CH5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3" name="TextBox 32">
            <a:extLst>
              <a:ext uri="{FF2B5EF4-FFF2-40B4-BE49-F238E27FC236}">
                <a16:creationId xmlns:a16="http://schemas.microsoft.com/office/drawing/2014/main" id="{54B15480-C4E5-C4A4-DB65-B7DADAA6F574}"/>
              </a:ext>
            </a:extLst>
          </p:cNvPr>
          <p:cNvSpPr txBox="1"/>
          <p:nvPr/>
        </p:nvSpPr>
        <p:spPr>
          <a:xfrm>
            <a:off x="399097" y="3596814"/>
            <a:ext cx="607077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5</a:t>
            </a:r>
          </a:p>
        </p:txBody>
      </p:sp>
      <p:graphicFrame>
        <p:nvGraphicFramePr>
          <p:cNvPr id="34" name="표 33">
            <a:extLst>
              <a:ext uri="{FF2B5EF4-FFF2-40B4-BE49-F238E27FC236}">
                <a16:creationId xmlns:a16="http://schemas.microsoft.com/office/drawing/2014/main" id="{859DFFCE-B74E-98EE-8E06-A3A14041C684}"/>
              </a:ext>
            </a:extLst>
          </p:cNvPr>
          <p:cNvGraphicFramePr>
            <a:graphicFrameLocks noGrp="1"/>
          </p:cNvGraphicFramePr>
          <p:nvPr>
            <p:extLst>
              <p:ext uri="{D42A27DB-BD31-4B8C-83A1-F6EECF244321}">
                <p14:modId xmlns:p14="http://schemas.microsoft.com/office/powerpoint/2010/main" val="3136746327"/>
              </p:ext>
            </p:extLst>
          </p:nvPr>
        </p:nvGraphicFramePr>
        <p:xfrm>
          <a:off x="393878" y="4511628"/>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1">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5">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GAIN_CH6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618718C2-741F-A6DA-C399-8573E65A97EF}"/>
              </a:ext>
            </a:extLst>
          </p:cNvPr>
          <p:cNvSpPr txBox="1"/>
          <p:nvPr/>
        </p:nvSpPr>
        <p:spPr>
          <a:xfrm>
            <a:off x="397371" y="4248808"/>
            <a:ext cx="607077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6</a:t>
            </a:r>
          </a:p>
        </p:txBody>
      </p:sp>
      <p:graphicFrame>
        <p:nvGraphicFramePr>
          <p:cNvPr id="36" name="표 35">
            <a:extLst>
              <a:ext uri="{FF2B5EF4-FFF2-40B4-BE49-F238E27FC236}">
                <a16:creationId xmlns:a16="http://schemas.microsoft.com/office/drawing/2014/main" id="{C985D9D9-F7C3-6464-0BAF-A458BDB41114}"/>
              </a:ext>
            </a:extLst>
          </p:cNvPr>
          <p:cNvGraphicFramePr>
            <a:graphicFrameLocks noGrp="1"/>
          </p:cNvGraphicFramePr>
          <p:nvPr>
            <p:extLst>
              <p:ext uri="{D42A27DB-BD31-4B8C-83A1-F6EECF244321}">
                <p14:modId xmlns:p14="http://schemas.microsoft.com/office/powerpoint/2010/main" val="3182512136"/>
              </p:ext>
            </p:extLst>
          </p:nvPr>
        </p:nvGraphicFramePr>
        <p:xfrm>
          <a:off x="391745" y="5174894"/>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GAIN_CH7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7" name="TextBox 36">
            <a:extLst>
              <a:ext uri="{FF2B5EF4-FFF2-40B4-BE49-F238E27FC236}">
                <a16:creationId xmlns:a16="http://schemas.microsoft.com/office/drawing/2014/main" id="{FC525441-C066-FDE0-D0A1-D79F2E88EF30}"/>
              </a:ext>
            </a:extLst>
          </p:cNvPr>
          <p:cNvSpPr txBox="1"/>
          <p:nvPr/>
        </p:nvSpPr>
        <p:spPr>
          <a:xfrm>
            <a:off x="398604" y="4906099"/>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7</a:t>
            </a:r>
          </a:p>
        </p:txBody>
      </p:sp>
      <p:graphicFrame>
        <p:nvGraphicFramePr>
          <p:cNvPr id="38" name="표 37">
            <a:extLst>
              <a:ext uri="{FF2B5EF4-FFF2-40B4-BE49-F238E27FC236}">
                <a16:creationId xmlns:a16="http://schemas.microsoft.com/office/drawing/2014/main" id="{AA7B3CA4-1C9B-5752-7181-F7C5162E0487}"/>
              </a:ext>
            </a:extLst>
          </p:cNvPr>
          <p:cNvGraphicFramePr>
            <a:graphicFrameLocks noGrp="1"/>
          </p:cNvGraphicFramePr>
          <p:nvPr>
            <p:extLst>
              <p:ext uri="{D42A27DB-BD31-4B8C-83A1-F6EECF244321}">
                <p14:modId xmlns:p14="http://schemas.microsoft.com/office/powerpoint/2010/main" val="1472267095"/>
              </p:ext>
            </p:extLst>
          </p:nvPr>
        </p:nvGraphicFramePr>
        <p:xfrm>
          <a:off x="391745" y="5816130"/>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GAIN_CH8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26F5A40C-4C80-11B8-890B-481D22447744}"/>
              </a:ext>
            </a:extLst>
          </p:cNvPr>
          <p:cNvSpPr txBox="1"/>
          <p:nvPr/>
        </p:nvSpPr>
        <p:spPr>
          <a:xfrm>
            <a:off x="396471" y="5555626"/>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8</a:t>
            </a:r>
          </a:p>
        </p:txBody>
      </p:sp>
      <p:graphicFrame>
        <p:nvGraphicFramePr>
          <p:cNvPr id="40" name="표 39">
            <a:extLst>
              <a:ext uri="{FF2B5EF4-FFF2-40B4-BE49-F238E27FC236}">
                <a16:creationId xmlns:a16="http://schemas.microsoft.com/office/drawing/2014/main" id="{0A3FCDFD-37BD-88E3-8B05-0B7D62151B45}"/>
              </a:ext>
            </a:extLst>
          </p:cNvPr>
          <p:cNvGraphicFramePr>
            <a:graphicFrameLocks noGrp="1"/>
          </p:cNvGraphicFramePr>
          <p:nvPr>
            <p:extLst>
              <p:ext uri="{D42A27DB-BD31-4B8C-83A1-F6EECF244321}">
                <p14:modId xmlns:p14="http://schemas.microsoft.com/office/powerpoint/2010/main" val="2699462966"/>
              </p:ext>
            </p:extLst>
          </p:nvPr>
        </p:nvGraphicFramePr>
        <p:xfrm>
          <a:off x="383939" y="6473240"/>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GAIN_CH9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1" name="TextBox 40">
            <a:extLst>
              <a:ext uri="{FF2B5EF4-FFF2-40B4-BE49-F238E27FC236}">
                <a16:creationId xmlns:a16="http://schemas.microsoft.com/office/drawing/2014/main" id="{365706EB-F63F-F4B5-BDD3-1A86C902281D}"/>
              </a:ext>
            </a:extLst>
          </p:cNvPr>
          <p:cNvSpPr txBox="1"/>
          <p:nvPr/>
        </p:nvSpPr>
        <p:spPr>
          <a:xfrm>
            <a:off x="388665" y="6208518"/>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9</a:t>
            </a:r>
          </a:p>
        </p:txBody>
      </p:sp>
      <p:graphicFrame>
        <p:nvGraphicFramePr>
          <p:cNvPr id="42" name="표 41">
            <a:extLst>
              <a:ext uri="{FF2B5EF4-FFF2-40B4-BE49-F238E27FC236}">
                <a16:creationId xmlns:a16="http://schemas.microsoft.com/office/drawing/2014/main" id="{CEC4A77F-58FB-B266-D60A-10EDA7AA163B}"/>
              </a:ext>
            </a:extLst>
          </p:cNvPr>
          <p:cNvGraphicFramePr>
            <a:graphicFrameLocks noGrp="1"/>
          </p:cNvGraphicFramePr>
          <p:nvPr>
            <p:extLst>
              <p:ext uri="{D42A27DB-BD31-4B8C-83A1-F6EECF244321}">
                <p14:modId xmlns:p14="http://schemas.microsoft.com/office/powerpoint/2010/main" val="3909562581"/>
              </p:ext>
            </p:extLst>
          </p:nvPr>
        </p:nvGraphicFramePr>
        <p:xfrm>
          <a:off x="391745" y="7127782"/>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GAIN_CH10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3" name="TextBox 42">
            <a:extLst>
              <a:ext uri="{FF2B5EF4-FFF2-40B4-BE49-F238E27FC236}">
                <a16:creationId xmlns:a16="http://schemas.microsoft.com/office/drawing/2014/main" id="{2A1335A5-CAB7-BBF1-831A-6479A2C19275}"/>
              </a:ext>
            </a:extLst>
          </p:cNvPr>
          <p:cNvSpPr txBox="1"/>
          <p:nvPr/>
        </p:nvSpPr>
        <p:spPr>
          <a:xfrm>
            <a:off x="396471" y="686396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10</a:t>
            </a:r>
          </a:p>
        </p:txBody>
      </p:sp>
      <p:graphicFrame>
        <p:nvGraphicFramePr>
          <p:cNvPr id="6" name="표 5">
            <a:extLst>
              <a:ext uri="{FF2B5EF4-FFF2-40B4-BE49-F238E27FC236}">
                <a16:creationId xmlns:a16="http://schemas.microsoft.com/office/drawing/2014/main" id="{FCF1F636-FE6C-B712-4D78-ACB7EBC010F0}"/>
              </a:ext>
            </a:extLst>
          </p:cNvPr>
          <p:cNvGraphicFramePr>
            <a:graphicFrameLocks noGrp="1"/>
          </p:cNvGraphicFramePr>
          <p:nvPr>
            <p:extLst>
              <p:ext uri="{D42A27DB-BD31-4B8C-83A1-F6EECF244321}">
                <p14:modId xmlns:p14="http://schemas.microsoft.com/office/powerpoint/2010/main" val="1617428199"/>
              </p:ext>
            </p:extLst>
          </p:nvPr>
        </p:nvGraphicFramePr>
        <p:xfrm>
          <a:off x="404813" y="1259733"/>
          <a:ext cx="6057360"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3">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65C20FBD-C111-AB06-D27D-1D7DC7584ADD}"/>
              </a:ext>
            </a:extLst>
          </p:cNvPr>
          <p:cNvGraphicFramePr>
            <a:graphicFrameLocks noGrp="1"/>
          </p:cNvGraphicFramePr>
          <p:nvPr>
            <p:extLst>
              <p:ext uri="{D42A27DB-BD31-4B8C-83A1-F6EECF244321}">
                <p14:modId xmlns:p14="http://schemas.microsoft.com/office/powerpoint/2010/main" val="2543376988"/>
              </p:ext>
            </p:extLst>
          </p:nvPr>
        </p:nvGraphicFramePr>
        <p:xfrm>
          <a:off x="383939" y="8429736"/>
          <a:ext cx="6067486"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1">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E533027C-E661-0D43-5589-5DB3A4143832}"/>
              </a:ext>
            </a:extLst>
          </p:cNvPr>
          <p:cNvSpPr txBox="1"/>
          <p:nvPr/>
        </p:nvSpPr>
        <p:spPr>
          <a:xfrm>
            <a:off x="388665" y="8168327"/>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12</a:t>
            </a:r>
          </a:p>
        </p:txBody>
      </p:sp>
      <p:graphicFrame>
        <p:nvGraphicFramePr>
          <p:cNvPr id="10" name="표 9">
            <a:extLst>
              <a:ext uri="{FF2B5EF4-FFF2-40B4-BE49-F238E27FC236}">
                <a16:creationId xmlns:a16="http://schemas.microsoft.com/office/drawing/2014/main" id="{BE9CFE18-B2D9-0F51-0D6B-19743A92302B}"/>
              </a:ext>
            </a:extLst>
          </p:cNvPr>
          <p:cNvGraphicFramePr>
            <a:graphicFrameLocks noGrp="1"/>
          </p:cNvGraphicFramePr>
          <p:nvPr>
            <p:extLst>
              <p:ext uri="{D42A27DB-BD31-4B8C-83A1-F6EECF244321}">
                <p14:modId xmlns:p14="http://schemas.microsoft.com/office/powerpoint/2010/main" val="783349435"/>
              </p:ext>
            </p:extLst>
          </p:nvPr>
        </p:nvGraphicFramePr>
        <p:xfrm>
          <a:off x="387798" y="7778972"/>
          <a:ext cx="6067486"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1">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948F7305-578E-CB0D-96BE-E2A987B46CA6}"/>
              </a:ext>
            </a:extLst>
          </p:cNvPr>
          <p:cNvSpPr txBox="1"/>
          <p:nvPr/>
        </p:nvSpPr>
        <p:spPr>
          <a:xfrm>
            <a:off x="392524" y="751515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11</a:t>
            </a:r>
          </a:p>
        </p:txBody>
      </p:sp>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Tree>
    <p:extLst>
      <p:ext uri="{BB962C8B-B14F-4D97-AF65-F5344CB8AC3E}">
        <p14:creationId xmlns:p14="http://schemas.microsoft.com/office/powerpoint/2010/main" val="32049329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0481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Soldering Temperature Reflow Profile</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2" name="object 9">
            <a:extLst>
              <a:ext uri="{FF2B5EF4-FFF2-40B4-BE49-F238E27FC236}">
                <a16:creationId xmlns:a16="http://schemas.microsoft.com/office/drawing/2014/main" id="{D6154BFE-7514-F37B-CF49-47138627C315}"/>
              </a:ext>
            </a:extLst>
          </p:cNvPr>
          <p:cNvSpPr txBox="1"/>
          <p:nvPr/>
        </p:nvSpPr>
        <p:spPr>
          <a:xfrm>
            <a:off x="413545" y="8470612"/>
            <a:ext cx="6039889" cy="335989"/>
          </a:xfrm>
          <a:prstGeom prst="rect">
            <a:avLst/>
          </a:prstGeom>
        </p:spPr>
        <p:txBody>
          <a:bodyPr vert="horz" wrap="square" lIns="0" tIns="50800" rIns="0" bIns="0" rtlCol="0">
            <a:spAutoFit/>
          </a:bodyPr>
          <a:lstStyle/>
          <a:p>
            <a:pPr marL="12700" defTabSz="839876" fontAlgn="auto">
              <a:spcBef>
                <a:spcPts val="400"/>
              </a:spcBef>
              <a:spcAft>
                <a:spcPts val="0"/>
              </a:spcAft>
            </a:pPr>
            <a:r>
              <a:rPr kumimoji="0" sz="800" b="1" spc="-5" dirty="0">
                <a:solidFill>
                  <a:prstClr val="black"/>
                </a:solidFill>
                <a:latin typeface="Arial" panose="020B0604020202020204" pitchFamily="34" charset="0"/>
                <a:ea typeface="+mn-ea"/>
                <a:cs typeface="Arial" panose="020B0604020202020204" pitchFamily="34" charset="0"/>
              </a:rPr>
              <a:t>Important</a:t>
            </a:r>
            <a:r>
              <a:rPr kumimoji="0" sz="800" b="1" spc="-15" dirty="0">
                <a:solidFill>
                  <a:prstClr val="black"/>
                </a:solidFill>
                <a:latin typeface="Arial" panose="020B0604020202020204" pitchFamily="34" charset="0"/>
                <a:ea typeface="+mn-ea"/>
                <a:cs typeface="Arial" panose="020B0604020202020204" pitchFamily="34" charset="0"/>
              </a:rPr>
              <a:t> </a:t>
            </a:r>
            <a:r>
              <a:rPr kumimoji="0" sz="800" b="1" spc="-5" dirty="0">
                <a:solidFill>
                  <a:prstClr val="black"/>
                </a:solidFill>
                <a:latin typeface="Arial" panose="020B0604020202020204" pitchFamily="34" charset="0"/>
                <a:ea typeface="+mn-ea"/>
                <a:cs typeface="Arial" panose="020B0604020202020204" pitchFamily="34" charset="0"/>
              </a:rPr>
              <a:t>statement</a:t>
            </a:r>
            <a:endParaRPr kumimoji="0" sz="800" dirty="0">
              <a:solidFill>
                <a:prstClr val="black"/>
              </a:solidFill>
              <a:latin typeface="Arial" panose="020B0604020202020204" pitchFamily="34" charset="0"/>
              <a:ea typeface="+mn-ea"/>
              <a:cs typeface="Arial" panose="020B0604020202020204" pitchFamily="34" charset="0"/>
            </a:endParaRPr>
          </a:p>
          <a:p>
            <a:pPr marL="12700" defTabSz="839876" fontAlgn="auto">
              <a:spcBef>
                <a:spcPts val="305"/>
              </a:spcBef>
              <a:spcAft>
                <a:spcPts val="0"/>
              </a:spcAft>
            </a:pPr>
            <a:r>
              <a:rPr kumimoji="0" lang="en-US" sz="800" spc="-5" dirty="0">
                <a:solidFill>
                  <a:prstClr val="black"/>
                </a:solidFill>
                <a:latin typeface="Arial" panose="020B0604020202020204" pitchFamily="34" charset="0"/>
                <a:ea typeface="+mn-ea"/>
                <a:cs typeface="Arial" panose="020B0604020202020204" pitchFamily="34" charset="0"/>
              </a:rPr>
              <a:t>Global Technologies </a:t>
            </a:r>
            <a:r>
              <a:rPr kumimoji="0" sz="800" spc="-15" dirty="0">
                <a:solidFill>
                  <a:prstClr val="black"/>
                </a:solidFill>
                <a:latin typeface="Arial" panose="020B0604020202020204" pitchFamily="34" charset="0"/>
                <a:ea typeface="+mn-ea"/>
                <a:cs typeface="Arial" panose="020B0604020202020204" pitchFamily="34" charset="0"/>
              </a:rPr>
              <a:t> </a:t>
            </a:r>
            <a:r>
              <a:rPr kumimoji="0" sz="800" dirty="0">
                <a:solidFill>
                  <a:prstClr val="black"/>
                </a:solidFill>
                <a:latin typeface="Arial" panose="020B0604020202020204" pitchFamily="34" charset="0"/>
                <a:ea typeface="+mn-ea"/>
                <a:cs typeface="Arial" panose="020B0604020202020204" pitchFamily="34" charset="0"/>
              </a:rPr>
              <a:t>reserves</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right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to</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change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above-mentioned</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information</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without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prior</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notice.</a:t>
            </a:r>
            <a:endParaRPr kumimoji="0" sz="800" dirty="0">
              <a:solidFill>
                <a:prstClr val="black"/>
              </a:solidFill>
              <a:latin typeface="Arial" panose="020B0604020202020204" pitchFamily="34" charset="0"/>
              <a:ea typeface="+mn-ea"/>
              <a:cs typeface="Arial" panose="020B0604020202020204" pitchFamily="34" charset="0"/>
            </a:endParaRPr>
          </a:p>
        </p:txBody>
      </p:sp>
      <p:sp>
        <p:nvSpPr>
          <p:cNvPr id="4" name="object 84">
            <a:extLst>
              <a:ext uri="{FF2B5EF4-FFF2-40B4-BE49-F238E27FC236}">
                <a16:creationId xmlns:a16="http://schemas.microsoft.com/office/drawing/2014/main" id="{4840524A-B3EF-ABB9-6510-7CC402EFF71E}"/>
              </a:ext>
            </a:extLst>
          </p:cNvPr>
          <p:cNvSpPr txBox="1"/>
          <p:nvPr/>
        </p:nvSpPr>
        <p:spPr>
          <a:xfrm>
            <a:off x="2298356" y="4784057"/>
            <a:ext cx="2308324" cy="138499"/>
          </a:xfrm>
          <a:prstGeom prst="rect">
            <a:avLst/>
          </a:prstGeom>
        </p:spPr>
        <p:txBody>
          <a:bodyPr vert="horz" wrap="none" lIns="0" tIns="0" rIns="0" bIns="0" rtlCol="0" anchor="ctr" anchorCtr="0">
            <a:spAutoFit/>
          </a:bodyPr>
          <a:lstStyle/>
          <a:p>
            <a:pPr marL="12700" defTabSz="839876" fontAlgn="auto">
              <a:spcBef>
                <a:spcPts val="120"/>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13.  Reflow Soldering information</a:t>
            </a:r>
          </a:p>
        </p:txBody>
      </p:sp>
      <p:graphicFrame>
        <p:nvGraphicFramePr>
          <p:cNvPr id="5" name="object 8">
            <a:extLst>
              <a:ext uri="{FF2B5EF4-FFF2-40B4-BE49-F238E27FC236}">
                <a16:creationId xmlns:a16="http://schemas.microsoft.com/office/drawing/2014/main" id="{2D0CDE7B-4464-6845-2220-F4DF8F4E17D7}"/>
              </a:ext>
            </a:extLst>
          </p:cNvPr>
          <p:cNvGraphicFramePr>
            <a:graphicFrameLocks noGrp="1"/>
          </p:cNvGraphicFramePr>
          <p:nvPr>
            <p:extLst>
              <p:ext uri="{D42A27DB-BD31-4B8C-83A1-F6EECF244321}">
                <p14:modId xmlns:p14="http://schemas.microsoft.com/office/powerpoint/2010/main" val="1165019878"/>
              </p:ext>
            </p:extLst>
          </p:nvPr>
        </p:nvGraphicFramePr>
        <p:xfrm>
          <a:off x="887435" y="5002608"/>
          <a:ext cx="5130165" cy="1692571"/>
        </p:xfrm>
        <a:graphic>
          <a:graphicData uri="http://schemas.openxmlformats.org/drawingml/2006/table">
            <a:tbl>
              <a:tblPr firstRow="1" bandRow="1"/>
              <a:tblGrid>
                <a:gridCol w="2615490">
                  <a:extLst>
                    <a:ext uri="{9D8B030D-6E8A-4147-A177-3AD203B41FA5}">
                      <a16:colId xmlns:a16="http://schemas.microsoft.com/office/drawing/2014/main" val="20000"/>
                    </a:ext>
                  </a:extLst>
                </a:gridCol>
                <a:gridCol w="2514675">
                  <a:extLst>
                    <a:ext uri="{9D8B030D-6E8A-4147-A177-3AD203B41FA5}">
                      <a16:colId xmlns:a16="http://schemas.microsoft.com/office/drawing/2014/main" val="20001"/>
                    </a:ext>
                  </a:extLst>
                </a:gridCol>
              </a:tblGrid>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sz="900" b="1" dirty="0">
                          <a:solidFill>
                            <a:schemeClr val="tx1"/>
                          </a:solidFill>
                          <a:latin typeface="Arial"/>
                          <a:ea typeface="+mn-ea"/>
                          <a:cs typeface="Arial"/>
                        </a:rPr>
                        <a:t>Parameter</a:t>
                      </a: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lang="en-US" sz="900" b="1" dirty="0">
                          <a:solidFill>
                            <a:schemeClr val="tx1"/>
                          </a:solidFill>
                          <a:latin typeface="Arial"/>
                          <a:ea typeface="+mn-ea"/>
                          <a:cs typeface="Arial"/>
                        </a:rPr>
                        <a:t>Pb</a:t>
                      </a:r>
                      <a:r>
                        <a:rPr sz="900" b="1" dirty="0">
                          <a:solidFill>
                            <a:schemeClr val="tx1"/>
                          </a:solidFill>
                          <a:latin typeface="Arial"/>
                          <a:ea typeface="+mn-ea"/>
                          <a:cs typeface="Arial"/>
                        </a:rPr>
                        <a:t>-free soldering conditions</a:t>
                      </a:r>
                    </a:p>
                  </a:txBody>
                  <a:tcPr marL="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0"/>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5" dirty="0">
                          <a:latin typeface="Arial" panose="020B0604020202020204" pitchFamily="34" charset="0"/>
                          <a:cs typeface="Arial" panose="020B0604020202020204" pitchFamily="34" charset="0"/>
                        </a:rPr>
                        <a:t>Average</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ramp-up</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rate</a:t>
                      </a:r>
                      <a:r>
                        <a:rPr lang="en-US" sz="800" spc="-1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26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Peak)</a:t>
                      </a:r>
                      <a:endParaRPr sz="800" dirty="0">
                        <a:latin typeface="Arial" panose="020B0604020202020204" pitchFamily="34" charset="0"/>
                        <a:cs typeface="Arial" panose="020B0604020202020204" pitchFamily="34" charset="0"/>
                      </a:endParaRPr>
                    </a:p>
                  </a:txBody>
                  <a:tcPr marL="0" marR="0" marT="4445"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0" dirty="0">
                          <a:latin typeface="Arial" panose="020B0604020202020204" pitchFamily="34" charset="0"/>
                          <a:cs typeface="Arial" panose="020B0604020202020204" pitchFamily="34" charset="0"/>
                        </a:rPr>
                        <a:t>3℃/second</a:t>
                      </a:r>
                      <a:r>
                        <a:rPr sz="800" spc="-2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4445"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13092">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of</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P</a:t>
                      </a:r>
                      <a:r>
                        <a:rPr sz="800" spc="-15" dirty="0">
                          <a:latin typeface="Arial" panose="020B0604020202020204" pitchFamily="34" charset="0"/>
                          <a:cs typeface="Arial" panose="020B0604020202020204" pitchFamily="34" charset="0"/>
                        </a:rPr>
                        <a:t>r</a:t>
                      </a:r>
                      <a:r>
                        <a:rPr sz="800" spc="-5" dirty="0">
                          <a:latin typeface="Arial" panose="020B0604020202020204" pitchFamily="34" charset="0"/>
                          <a:cs typeface="Arial" panose="020B0604020202020204" pitchFamily="34" charset="0"/>
                        </a:rPr>
                        <a:t>e</a:t>
                      </a:r>
                      <a:r>
                        <a:rPr sz="800" spc="15" dirty="0">
                          <a:latin typeface="Arial" panose="020B0604020202020204" pitchFamily="34" charset="0"/>
                          <a:cs typeface="Arial" panose="020B0604020202020204" pitchFamily="34" charset="0"/>
                        </a:rPr>
                        <a:t>h</a:t>
                      </a:r>
                      <a:r>
                        <a:rPr sz="800" spc="-5" dirty="0">
                          <a:latin typeface="Arial" panose="020B0604020202020204" pitchFamily="34" charset="0"/>
                          <a:cs typeface="Arial" panose="020B0604020202020204" pitchFamily="34" charset="0"/>
                        </a:rPr>
                        <a:t>e</a:t>
                      </a:r>
                      <a:r>
                        <a:rPr sz="800" spc="-10" dirty="0">
                          <a:latin typeface="Arial" panose="020B0604020202020204" pitchFamily="34" charset="0"/>
                          <a:cs typeface="Arial" panose="020B0604020202020204" pitchFamily="34" charset="0"/>
                        </a:rPr>
                        <a:t>a</a:t>
                      </a:r>
                      <a:r>
                        <a:rPr sz="800" dirty="0">
                          <a:latin typeface="Arial" panose="020B0604020202020204" pitchFamily="34" charset="0"/>
                          <a:cs typeface="Arial" panose="020B0604020202020204" pitchFamily="34" charset="0"/>
                        </a:rPr>
                        <a:t>t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r>
                        <a:rPr lang="en-US"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sz="800" spc="-10" dirty="0">
                          <a:latin typeface="Arial" panose="020B0604020202020204" pitchFamily="34" charset="0"/>
                          <a:cs typeface="Arial" panose="020B0604020202020204" pitchFamily="34" charset="0"/>
                        </a:rPr>
                        <a:t>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1</a:t>
                      </a:r>
                      <a:r>
                        <a:rPr sz="800" dirty="0">
                          <a:latin typeface="Arial" panose="020B0604020202020204" pitchFamily="34" charset="0"/>
                          <a:cs typeface="Arial" panose="020B0604020202020204" pitchFamily="34" charset="0"/>
                        </a:rPr>
                        <a:t>50</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lang="en-US"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200</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120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14173">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be</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maintained</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above</a:t>
                      </a:r>
                      <a:r>
                        <a:rPr lang="en-US"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150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10" dirty="0">
                          <a:latin typeface="Arial" panose="020B0604020202020204" pitchFamily="34" charset="0"/>
                          <a:cs typeface="Arial" panose="020B0604020202020204" pitchFamily="34" charset="0"/>
                        </a:rPr>
                        <a:t>Peak</a:t>
                      </a:r>
                      <a:r>
                        <a:rPr sz="800" spc="-3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temperature</a:t>
                      </a:r>
                      <a:endParaRPr sz="8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lang="en-US" sz="800" spc="-5" dirty="0">
                          <a:latin typeface="Arial" panose="020B0604020202020204" pitchFamily="34" charset="0"/>
                          <a:cs typeface="Arial" panose="020B0604020202020204" pitchFamily="34" charset="0"/>
                        </a:rPr>
                        <a:t> </a:t>
                      </a:r>
                      <a:r>
                        <a:rPr lang="en-US" sz="800" kern="1200" spc="-5" dirty="0">
                          <a:solidFill>
                            <a:schemeClr val="tx1"/>
                          </a:solidFill>
                          <a:latin typeface="Arial" panose="020B0604020202020204" pitchFamily="34" charset="0"/>
                          <a:ea typeface="+mn-ea"/>
                          <a:cs typeface="Arial" panose="020B0604020202020204" pitchFamily="34" charset="0"/>
                        </a:rPr>
                        <a:t>260 </a:t>
                      </a:r>
                      <a:r>
                        <a:rPr lang="ko-KR" altLang="en-US" sz="800" kern="1200" spc="-5" dirty="0">
                          <a:solidFill>
                            <a:schemeClr val="tx1"/>
                          </a:solidFill>
                          <a:latin typeface="Arial" panose="020B0604020202020204" pitchFamily="34" charset="0"/>
                          <a:ea typeface="+mn-ea"/>
                          <a:cs typeface="Arial" panose="020B0604020202020204" pitchFamily="34" charset="0"/>
                        </a:rPr>
                        <a:t>℃</a:t>
                      </a:r>
                      <a:endParaRPr sz="800" kern="1200" spc="-5" dirty="0">
                        <a:solidFill>
                          <a:schemeClr val="tx1"/>
                        </a:solidFill>
                        <a:latin typeface="Arial" panose="020B0604020202020204" pitchFamily="34" charset="0"/>
                        <a:ea typeface="+mn-ea"/>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within 5</a:t>
                      </a:r>
                      <a:r>
                        <a:rPr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of</a:t>
                      </a:r>
                      <a:r>
                        <a:rPr sz="800" spc="-1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actual</a:t>
                      </a:r>
                      <a:r>
                        <a:rPr sz="800" spc="-5" dirty="0">
                          <a:latin typeface="Arial" panose="020B0604020202020204" pitchFamily="34" charset="0"/>
                          <a:cs typeface="Arial" panose="020B0604020202020204" pitchFamily="34" charset="0"/>
                        </a:rPr>
                        <a:t> peak </a:t>
                      </a:r>
                      <a:r>
                        <a:rPr sz="800" spc="-10" dirty="0">
                          <a:latin typeface="Arial" panose="020B0604020202020204" pitchFamily="34" charset="0"/>
                          <a:cs typeface="Arial" panose="020B0604020202020204" pitchFamily="34" charset="0"/>
                        </a:rPr>
                        <a:t>temp</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30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Ramp-down</a:t>
                      </a:r>
                      <a:r>
                        <a:rPr sz="800" spc="-25" dirty="0">
                          <a:latin typeface="Arial" panose="020B0604020202020204" pitchFamily="34" charset="0"/>
                          <a:cs typeface="Arial" panose="020B0604020202020204" pitchFamily="34" charset="0"/>
                        </a:rPr>
                        <a:t> </a:t>
                      </a:r>
                      <a:r>
                        <a:rPr sz="800" spc="-15" dirty="0">
                          <a:latin typeface="Arial" panose="020B0604020202020204" pitchFamily="34" charset="0"/>
                          <a:cs typeface="Arial" panose="020B0604020202020204" pitchFamily="34" charset="0"/>
                        </a:rPr>
                        <a:t>rate</a:t>
                      </a:r>
                      <a:endParaRPr sz="8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6</a:t>
                      </a:r>
                      <a:r>
                        <a:rPr sz="800" spc="19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℃/second</a:t>
                      </a:r>
                      <a:r>
                        <a:rPr sz="800" spc="-2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max.</a:t>
                      </a:r>
                      <a:endParaRPr sz="800" dirty="0">
                        <a:latin typeface="Arial" panose="020B0604020202020204" pitchFamily="34" charset="0"/>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0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 </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2</a:t>
                      </a:r>
                      <a:r>
                        <a:rPr sz="800" spc="15" dirty="0">
                          <a:latin typeface="Arial" panose="020B0604020202020204" pitchFamily="34" charset="0"/>
                          <a:cs typeface="Arial" panose="020B0604020202020204" pitchFamily="34" charset="0"/>
                        </a:rPr>
                        <a:t>5</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a:t>
                      </a:r>
                      <a:r>
                        <a:rPr sz="800" spc="5" dirty="0">
                          <a:latin typeface="Arial" panose="020B0604020202020204" pitchFamily="34" charset="0"/>
                          <a:cs typeface="Arial" panose="020B0604020202020204" pitchFamily="34" charset="0"/>
                        </a:rPr>
                        <a:t>p</a:t>
                      </a:r>
                      <a:r>
                        <a:rPr sz="800" spc="-5" dirty="0">
                          <a:latin typeface="Arial" panose="020B0604020202020204" pitchFamily="34" charset="0"/>
                          <a:cs typeface="Arial" panose="020B0604020202020204" pitchFamily="34" charset="0"/>
                        </a:rPr>
                        <a:t>e</a:t>
                      </a:r>
                      <a:r>
                        <a:rPr sz="800" dirty="0">
                          <a:latin typeface="Arial" panose="020B0604020202020204" pitchFamily="34" charset="0"/>
                          <a:cs typeface="Arial" panose="020B0604020202020204" pitchFamily="34" charset="0"/>
                        </a:rPr>
                        <a:t>ak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8</a:t>
                      </a:r>
                      <a:r>
                        <a:rPr sz="800" spc="-3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minutes</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6" name="object 11">
            <a:extLst>
              <a:ext uri="{FF2B5EF4-FFF2-40B4-BE49-F238E27FC236}">
                <a16:creationId xmlns:a16="http://schemas.microsoft.com/office/drawing/2014/main" id="{069DF14D-707B-B04B-2829-2465CDF5CE1B}"/>
              </a:ext>
            </a:extLst>
          </p:cNvPr>
          <p:cNvSpPr txBox="1"/>
          <p:nvPr/>
        </p:nvSpPr>
        <p:spPr>
          <a:xfrm>
            <a:off x="2354026" y="6775231"/>
            <a:ext cx="2149948" cy="132024"/>
          </a:xfrm>
          <a:prstGeom prst="rect">
            <a:avLst/>
          </a:prstGeom>
        </p:spPr>
        <p:txBody>
          <a:bodyPr vert="horz" wrap="none" lIns="0" tIns="0" rIns="0" bIns="0" rtlCol="0" anchor="ctr" anchorCtr="0">
            <a:spAutoFit/>
          </a:bodyPr>
          <a:lstStyle/>
          <a:p>
            <a:pPr marL="63500" defTabSz="839876" fontAlgn="auto">
              <a:lnSpc>
                <a:spcPts val="1065"/>
              </a:lnSpc>
              <a:spcBef>
                <a:spcPts val="100"/>
              </a:spcBef>
              <a:spcAft>
                <a:spcPts val="0"/>
              </a:spcAft>
              <a:tabLst>
                <a:tab pos="673100" algn="l"/>
              </a:tabLst>
            </a:pPr>
            <a:r>
              <a:rPr kumimoji="0" sz="900" b="1" spc="-65"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8</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Reflow Soldering Parameter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7" name="object 7">
            <a:extLst>
              <a:ext uri="{FF2B5EF4-FFF2-40B4-BE49-F238E27FC236}">
                <a16:creationId xmlns:a16="http://schemas.microsoft.com/office/drawing/2014/main" id="{E96B3914-0E06-3FC2-95C5-531C84860C34}"/>
              </a:ext>
            </a:extLst>
          </p:cNvPr>
          <p:cNvSpPr txBox="1"/>
          <p:nvPr/>
        </p:nvSpPr>
        <p:spPr>
          <a:xfrm>
            <a:off x="404812" y="6906460"/>
            <a:ext cx="6048622" cy="1533753"/>
          </a:xfrm>
          <a:prstGeom prst="rect">
            <a:avLst/>
          </a:prstGeom>
        </p:spPr>
        <p:txBody>
          <a:bodyPr vert="horz" wrap="square" lIns="0" tIns="0" rIns="0" bIns="0" rtlCol="0" anchor="ctr" anchorCtr="0">
            <a:spAutoFit/>
          </a:bodyPr>
          <a:lstStyle/>
          <a:p>
            <a:pPr marL="11527" marR="4611">
              <a:spcBef>
                <a:spcPts val="159"/>
              </a:spcBef>
            </a:pPr>
            <a:r>
              <a:rPr sz="800" spc="-5" dirty="0">
                <a:latin typeface="Arial"/>
                <a:cs typeface="Arial"/>
              </a:rPr>
              <a:t>Note: </a:t>
            </a:r>
            <a:endParaRPr lang="en-US" sz="800" spc="-5" dirty="0">
              <a:latin typeface="Arial"/>
              <a:cs typeface="Arial"/>
            </a:endParaRPr>
          </a:p>
          <a:p>
            <a:pPr marL="11527" marR="4611">
              <a:spcBef>
                <a:spcPts val="159"/>
              </a:spcBef>
            </a:pPr>
            <a:r>
              <a:rPr lang="en-US" sz="800" spc="-5" dirty="0">
                <a:latin typeface="Arial"/>
                <a:cs typeface="Arial"/>
              </a:rPr>
              <a:t>1. </a:t>
            </a:r>
            <a:r>
              <a:rPr sz="800" spc="-5" dirty="0">
                <a:latin typeface="Arial"/>
                <a:cs typeface="Arial"/>
              </a:rPr>
              <a:t>The</a:t>
            </a:r>
            <a:r>
              <a:rPr sz="800" spc="14" dirty="0">
                <a:latin typeface="Arial"/>
                <a:cs typeface="Arial"/>
              </a:rPr>
              <a:t> </a:t>
            </a:r>
            <a:r>
              <a:rPr sz="800" spc="-5" dirty="0">
                <a:latin typeface="Arial"/>
                <a:cs typeface="Arial"/>
              </a:rPr>
              <a:t>reflow</a:t>
            </a:r>
            <a:r>
              <a:rPr sz="800" spc="5" dirty="0">
                <a:latin typeface="Arial"/>
                <a:cs typeface="Arial"/>
              </a:rPr>
              <a:t> </a:t>
            </a:r>
            <a:r>
              <a:rPr sz="800" spc="-5" dirty="0">
                <a:latin typeface="Arial"/>
                <a:cs typeface="Arial"/>
              </a:rPr>
              <a:t>peak</a:t>
            </a:r>
            <a:r>
              <a:rPr sz="800" spc="9" dirty="0">
                <a:latin typeface="Arial"/>
                <a:cs typeface="Arial"/>
              </a:rPr>
              <a:t> </a:t>
            </a:r>
            <a:r>
              <a:rPr sz="800" spc="-5" dirty="0">
                <a:latin typeface="Arial"/>
                <a:cs typeface="Arial"/>
              </a:rPr>
              <a:t>soldering</a:t>
            </a:r>
            <a:r>
              <a:rPr sz="800" spc="14" dirty="0">
                <a:latin typeface="Arial"/>
                <a:cs typeface="Arial"/>
              </a:rPr>
              <a:t> </a:t>
            </a:r>
            <a:r>
              <a:rPr sz="800" spc="-5" dirty="0">
                <a:latin typeface="Arial"/>
                <a:cs typeface="Arial"/>
              </a:rPr>
              <a:t>temperature</a:t>
            </a:r>
            <a:r>
              <a:rPr sz="800" spc="14" dirty="0">
                <a:latin typeface="Arial"/>
                <a:cs typeface="Arial"/>
              </a:rPr>
              <a:t> </a:t>
            </a:r>
            <a:r>
              <a:rPr sz="800" spc="-9" dirty="0">
                <a:latin typeface="Arial"/>
                <a:cs typeface="Arial"/>
              </a:rPr>
              <a:t>is</a:t>
            </a:r>
            <a:r>
              <a:rPr sz="800" spc="23" dirty="0">
                <a:latin typeface="Arial"/>
                <a:cs typeface="Arial"/>
              </a:rPr>
              <a:t> </a:t>
            </a:r>
            <a:r>
              <a:rPr sz="800" spc="-9" dirty="0">
                <a:latin typeface="Arial"/>
                <a:cs typeface="Arial"/>
              </a:rPr>
              <a:t>peak</a:t>
            </a:r>
            <a:r>
              <a:rPr sz="800" spc="27" dirty="0">
                <a:latin typeface="Arial"/>
                <a:cs typeface="Arial"/>
              </a:rPr>
              <a:t> </a:t>
            </a:r>
            <a:r>
              <a:rPr sz="800" spc="-5" dirty="0">
                <a:latin typeface="Arial"/>
                <a:cs typeface="Arial"/>
              </a:rPr>
              <a:t>260°C</a:t>
            </a:r>
            <a:r>
              <a:rPr sz="800" spc="18" dirty="0">
                <a:latin typeface="Arial"/>
                <a:cs typeface="Arial"/>
              </a:rPr>
              <a:t> </a:t>
            </a:r>
            <a:r>
              <a:rPr sz="800" spc="-5" dirty="0">
                <a:latin typeface="Arial"/>
                <a:cs typeface="Arial"/>
              </a:rPr>
              <a:t>and</a:t>
            </a:r>
            <a:r>
              <a:rPr sz="800" spc="14" dirty="0">
                <a:latin typeface="Arial"/>
                <a:cs typeface="Arial"/>
              </a:rPr>
              <a:t> </a:t>
            </a:r>
            <a:r>
              <a:rPr sz="800" spc="-9" dirty="0">
                <a:latin typeface="Arial"/>
                <a:cs typeface="Arial"/>
              </a:rPr>
              <a:t>it</a:t>
            </a:r>
            <a:r>
              <a:rPr sz="800" spc="18" dirty="0">
                <a:latin typeface="Arial"/>
                <a:cs typeface="Arial"/>
              </a:rPr>
              <a:t> </a:t>
            </a:r>
            <a:r>
              <a:rPr sz="800" spc="-9" dirty="0">
                <a:latin typeface="Arial"/>
                <a:cs typeface="Arial"/>
              </a:rPr>
              <a:t>is</a:t>
            </a:r>
            <a:r>
              <a:rPr sz="800" spc="9" dirty="0">
                <a:latin typeface="Arial"/>
                <a:cs typeface="Arial"/>
              </a:rPr>
              <a:t> </a:t>
            </a:r>
            <a:r>
              <a:rPr sz="800" spc="-5" dirty="0">
                <a:latin typeface="Arial"/>
                <a:cs typeface="Arial"/>
              </a:rPr>
              <a:t>specified</a:t>
            </a:r>
            <a:r>
              <a:rPr sz="800" spc="5" dirty="0">
                <a:latin typeface="Arial"/>
                <a:cs typeface="Arial"/>
              </a:rPr>
              <a:t> </a:t>
            </a:r>
            <a:r>
              <a:rPr sz="800" spc="-5" dirty="0">
                <a:latin typeface="Arial"/>
                <a:cs typeface="Arial"/>
              </a:rPr>
              <a:t>based</a:t>
            </a:r>
            <a:r>
              <a:rPr sz="800" spc="5" dirty="0">
                <a:latin typeface="Arial"/>
                <a:cs typeface="Arial"/>
              </a:rPr>
              <a:t> </a:t>
            </a:r>
            <a:r>
              <a:rPr sz="800" dirty="0">
                <a:latin typeface="Arial"/>
                <a:cs typeface="Arial"/>
              </a:rPr>
              <a:t>on</a:t>
            </a:r>
            <a:r>
              <a:rPr sz="800" spc="5" dirty="0">
                <a:latin typeface="Arial"/>
                <a:cs typeface="Arial"/>
              </a:rPr>
              <a:t> </a:t>
            </a:r>
            <a:r>
              <a:rPr sz="800" spc="-5" dirty="0">
                <a:latin typeface="Arial"/>
                <a:cs typeface="Arial"/>
              </a:rPr>
              <a:t>IPC/JEDEC</a:t>
            </a:r>
            <a:r>
              <a:rPr sz="800" spc="5" dirty="0">
                <a:latin typeface="Arial"/>
                <a:cs typeface="Arial"/>
              </a:rPr>
              <a:t> </a:t>
            </a:r>
            <a:r>
              <a:rPr sz="800" spc="-5" dirty="0">
                <a:latin typeface="Arial"/>
                <a:cs typeface="Arial"/>
              </a:rPr>
              <a:t>J-STD- </a:t>
            </a:r>
            <a:r>
              <a:rPr sz="800" spc="-236" dirty="0">
                <a:latin typeface="Arial"/>
                <a:cs typeface="Arial"/>
              </a:rPr>
              <a:t> </a:t>
            </a:r>
            <a:r>
              <a:rPr sz="800" spc="-9" dirty="0">
                <a:latin typeface="Arial"/>
                <a:cs typeface="Arial"/>
              </a:rPr>
              <a:t>020</a:t>
            </a:r>
            <a:r>
              <a:rPr sz="800" dirty="0">
                <a:latin typeface="Arial"/>
                <a:cs typeface="Arial"/>
              </a:rPr>
              <a:t> </a:t>
            </a:r>
            <a:r>
              <a:rPr sz="800" spc="-5" dirty="0">
                <a:latin typeface="Arial"/>
                <a:cs typeface="Arial"/>
              </a:rPr>
              <a:t>“</a:t>
            </a:r>
            <a:endParaRPr lang="en-US" sz="800" spc="-5" dirty="0">
              <a:latin typeface="Arial"/>
              <a:cs typeface="Arial"/>
            </a:endParaRPr>
          </a:p>
          <a:p>
            <a:pPr marL="11527" marR="4611">
              <a:spcBef>
                <a:spcPts val="159"/>
              </a:spcBef>
            </a:pPr>
            <a:r>
              <a:rPr lang="en-US" sz="800" spc="-5" dirty="0">
                <a:latin typeface="Arial"/>
                <a:cs typeface="Arial"/>
              </a:rPr>
              <a:t>     </a:t>
            </a:r>
            <a:r>
              <a:rPr sz="800" spc="-5" dirty="0">
                <a:latin typeface="Arial"/>
                <a:cs typeface="Arial"/>
              </a:rPr>
              <a:t>Moisture/Reflow</a:t>
            </a:r>
            <a:r>
              <a:rPr sz="800" spc="14" dirty="0">
                <a:latin typeface="Arial"/>
                <a:cs typeface="Arial"/>
              </a:rPr>
              <a:t> </a:t>
            </a:r>
            <a:r>
              <a:rPr sz="800" spc="-5" dirty="0">
                <a:latin typeface="Arial"/>
                <a:cs typeface="Arial"/>
              </a:rPr>
              <a:t>Sensitivity</a:t>
            </a:r>
            <a:r>
              <a:rPr sz="800" spc="5" dirty="0">
                <a:latin typeface="Arial"/>
                <a:cs typeface="Arial"/>
              </a:rPr>
              <a:t> </a:t>
            </a:r>
            <a:r>
              <a:rPr sz="800" spc="-5" dirty="0">
                <a:latin typeface="Arial"/>
                <a:cs typeface="Arial"/>
              </a:rPr>
              <a:t>Classification</a:t>
            </a:r>
            <a:r>
              <a:rPr sz="800" spc="5" dirty="0">
                <a:latin typeface="Arial"/>
                <a:cs typeface="Arial"/>
              </a:rPr>
              <a:t> </a:t>
            </a:r>
            <a:r>
              <a:rPr sz="800" spc="-5" dirty="0">
                <a:latin typeface="Arial"/>
                <a:cs typeface="Arial"/>
              </a:rPr>
              <a:t>for</a:t>
            </a:r>
            <a:r>
              <a:rPr sz="800" spc="14" dirty="0">
                <a:latin typeface="Arial"/>
                <a:cs typeface="Arial"/>
              </a:rPr>
              <a:t> </a:t>
            </a:r>
            <a:r>
              <a:rPr sz="800" spc="-5" dirty="0">
                <a:latin typeface="Arial"/>
                <a:cs typeface="Arial"/>
              </a:rPr>
              <a:t>Non-Hermetic</a:t>
            </a:r>
            <a:r>
              <a:rPr sz="800" spc="9" dirty="0">
                <a:latin typeface="Arial"/>
                <a:cs typeface="Arial"/>
              </a:rPr>
              <a:t> </a:t>
            </a:r>
            <a:r>
              <a:rPr sz="800" spc="-5" dirty="0">
                <a:latin typeface="Arial"/>
                <a:cs typeface="Arial"/>
              </a:rPr>
              <a:t>Solid</a:t>
            </a:r>
            <a:r>
              <a:rPr sz="800" spc="9" dirty="0">
                <a:latin typeface="Arial"/>
                <a:cs typeface="Arial"/>
              </a:rPr>
              <a:t> </a:t>
            </a:r>
            <a:r>
              <a:rPr sz="800" spc="-5" dirty="0">
                <a:latin typeface="Arial"/>
                <a:cs typeface="Arial"/>
              </a:rPr>
              <a:t>State</a:t>
            </a:r>
            <a:r>
              <a:rPr sz="800" spc="5" dirty="0">
                <a:latin typeface="Arial"/>
                <a:cs typeface="Arial"/>
              </a:rPr>
              <a:t> </a:t>
            </a:r>
            <a:r>
              <a:rPr sz="800" dirty="0">
                <a:latin typeface="Arial"/>
                <a:cs typeface="Arial"/>
              </a:rPr>
              <a:t>Surface </a:t>
            </a:r>
            <a:r>
              <a:rPr sz="800" spc="-5" dirty="0">
                <a:latin typeface="Arial"/>
                <a:cs typeface="Arial"/>
              </a:rPr>
              <a:t>Mount</a:t>
            </a:r>
            <a:r>
              <a:rPr sz="800" spc="5" dirty="0">
                <a:latin typeface="Arial"/>
                <a:cs typeface="Arial"/>
              </a:rPr>
              <a:t> </a:t>
            </a:r>
            <a:r>
              <a:rPr sz="800" dirty="0">
                <a:latin typeface="Arial"/>
                <a:cs typeface="Arial"/>
              </a:rPr>
              <a:t>Devices”</a:t>
            </a:r>
            <a:endParaRPr lang="en-US" sz="800" dirty="0">
              <a:latin typeface="Arial"/>
              <a:cs typeface="Arial"/>
            </a:endParaRPr>
          </a:p>
          <a:p>
            <a:pPr marL="11527" marR="4611">
              <a:spcBef>
                <a:spcPts val="159"/>
              </a:spcBef>
            </a:pPr>
            <a:r>
              <a:rPr lang="en-US" sz="800" dirty="0">
                <a:latin typeface="Arial"/>
                <a:cs typeface="Arial"/>
              </a:rPr>
              <a:t>2. Tolerance for peak proﬁle temperature (Tp) is deﬁned as a supplier minimum and a user maximum.</a:t>
            </a:r>
          </a:p>
          <a:p>
            <a:pPr marL="88900" marR="4611" indent="-77788">
              <a:spcBef>
                <a:spcPts val="159"/>
              </a:spcBef>
            </a:pPr>
            <a:r>
              <a:rPr lang="en-US" sz="800" dirty="0">
                <a:latin typeface="Arial"/>
                <a:cs typeface="Arial"/>
              </a:rPr>
              <a:t>3. This document should serve as recommendation only. Other parameters may also affect soldering, so these profiles</a:t>
            </a:r>
          </a:p>
          <a:p>
            <a:pPr marL="88900" marR="4611" indent="-77788">
              <a:spcBef>
                <a:spcPts val="159"/>
              </a:spcBef>
            </a:pPr>
            <a:r>
              <a:rPr lang="en-US" sz="800" dirty="0">
                <a:latin typeface="Arial"/>
                <a:cs typeface="Arial"/>
              </a:rPr>
              <a:t>   do not guarantee absolute success.</a:t>
            </a:r>
          </a:p>
          <a:p>
            <a:pPr marL="88900" marR="4611" indent="-77788">
              <a:spcBef>
                <a:spcPts val="159"/>
              </a:spcBef>
            </a:pPr>
            <a:r>
              <a:rPr lang="en-US" sz="800" dirty="0">
                <a:latin typeface="Arial"/>
                <a:cs typeface="Arial"/>
              </a:rPr>
              <a:t>4. Soldering profiles should be determined by reference to the solder and solder paste manufacturer's specifications, unless they conflict with the recommendations in this document.</a:t>
            </a:r>
          </a:p>
          <a:p>
            <a:pPr marL="88900" marR="4611" indent="-77788">
              <a:spcBef>
                <a:spcPts val="159"/>
              </a:spcBef>
            </a:pPr>
            <a:r>
              <a:rPr lang="en-US" sz="800" dirty="0">
                <a:latin typeface="Arial"/>
                <a:cs typeface="Arial"/>
              </a:rPr>
              <a:t>5. The soldering profile and footprint information specified in this datasheet are general recommendations and are provided for reference only. The design, control, and quality assurance of the actual soldering process are the sole responsibility of the customer. The supplier assumes no responsibility for the soldering process or its results.</a:t>
            </a:r>
            <a:endParaRPr sz="800" dirty="0">
              <a:latin typeface="Arial"/>
              <a:cs typeface="Arial"/>
            </a:endParaRPr>
          </a:p>
        </p:txBody>
      </p:sp>
      <p:pic>
        <p:nvPicPr>
          <p:cNvPr id="8" name="그림 7">
            <a:extLst>
              <a:ext uri="{FF2B5EF4-FFF2-40B4-BE49-F238E27FC236}">
                <a16:creationId xmlns:a16="http://schemas.microsoft.com/office/drawing/2014/main" id="{7AA2AEB0-6189-E4C2-B6EF-5A50F4C2EFA9}"/>
              </a:ext>
            </a:extLst>
          </p:cNvPr>
          <p:cNvPicPr>
            <a:picLocks noChangeAspect="1"/>
          </p:cNvPicPr>
          <p:nvPr/>
        </p:nvPicPr>
        <p:blipFill>
          <a:blip r:embed="rId2"/>
          <a:stretch>
            <a:fillRect/>
          </a:stretch>
        </p:blipFill>
        <p:spPr>
          <a:xfrm>
            <a:off x="1164855" y="1131343"/>
            <a:ext cx="4483612" cy="3472798"/>
          </a:xfrm>
          <a:prstGeom prst="rect">
            <a:avLst/>
          </a:prstGeom>
        </p:spPr>
      </p:pic>
    </p:spTree>
    <p:extLst>
      <p:ext uri="{BB962C8B-B14F-4D97-AF65-F5344CB8AC3E}">
        <p14:creationId xmlns:p14="http://schemas.microsoft.com/office/powerpoint/2010/main" val="7566176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0205E-7C87-EED9-8872-AB393304C1C5}"/>
            </a:ext>
          </a:extLst>
        </p:cNvPr>
        <p:cNvGrpSpPr/>
        <p:nvPr/>
      </p:nvGrpSpPr>
      <p:grpSpPr>
        <a:xfrm>
          <a:off x="0" y="0"/>
          <a:ext cx="0" cy="0"/>
          <a:chOff x="0" y="0"/>
          <a:chExt cx="0" cy="0"/>
        </a:xfrm>
      </p:grpSpPr>
      <p:cxnSp>
        <p:nvCxnSpPr>
          <p:cNvPr id="14" name="직선 연결선 13">
            <a:extLst>
              <a:ext uri="{FF2B5EF4-FFF2-40B4-BE49-F238E27FC236}">
                <a16:creationId xmlns:a16="http://schemas.microsoft.com/office/drawing/2014/main" id="{36E953EA-0322-6F28-C7CA-FCA8CBBB041B}"/>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A8504EA-51F4-F29D-363C-B1F553700374}"/>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pSp>
        <p:nvGrpSpPr>
          <p:cNvPr id="6" name="그룹 5">
            <a:extLst>
              <a:ext uri="{FF2B5EF4-FFF2-40B4-BE49-F238E27FC236}">
                <a16:creationId xmlns:a16="http://schemas.microsoft.com/office/drawing/2014/main" id="{0B926796-826C-8FB6-4304-EFB8BE484653}"/>
              </a:ext>
            </a:extLst>
          </p:cNvPr>
          <p:cNvGrpSpPr/>
          <p:nvPr/>
        </p:nvGrpSpPr>
        <p:grpSpPr>
          <a:xfrm>
            <a:off x="2976684" y="2012056"/>
            <a:ext cx="997628" cy="989567"/>
            <a:chOff x="3030961" y="1951322"/>
            <a:chExt cx="997628" cy="989567"/>
          </a:xfrm>
        </p:grpSpPr>
        <p:sp>
          <p:nvSpPr>
            <p:cNvPr id="4483" name="직사각형 4482">
              <a:extLst>
                <a:ext uri="{FF2B5EF4-FFF2-40B4-BE49-F238E27FC236}">
                  <a16:creationId xmlns:a16="http://schemas.microsoft.com/office/drawing/2014/main" id="{DF49E695-762E-CE84-7A16-54E986048318}"/>
                </a:ext>
              </a:extLst>
            </p:cNvPr>
            <p:cNvSpPr/>
            <p:nvPr/>
          </p:nvSpPr>
          <p:spPr>
            <a:xfrm>
              <a:off x="3030961" y="1951322"/>
              <a:ext cx="997628" cy="98956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latin typeface="Arial" panose="020B0604020202020204" pitchFamily="34" charset="0"/>
                <a:cs typeface="Arial" panose="020B0604020202020204" pitchFamily="34" charset="0"/>
              </a:endParaRPr>
            </a:p>
          </p:txBody>
        </p:sp>
        <p:sp>
          <p:nvSpPr>
            <p:cNvPr id="4484" name="object 19">
              <a:extLst>
                <a:ext uri="{FF2B5EF4-FFF2-40B4-BE49-F238E27FC236}">
                  <a16:creationId xmlns:a16="http://schemas.microsoft.com/office/drawing/2014/main" id="{7C196ADE-2E63-D7E1-85C6-8DEB225C3CFE}"/>
                </a:ext>
              </a:extLst>
            </p:cNvPr>
            <p:cNvSpPr txBox="1"/>
            <p:nvPr/>
          </p:nvSpPr>
          <p:spPr>
            <a:xfrm>
              <a:off x="3190293" y="2160781"/>
              <a:ext cx="723151" cy="246221"/>
            </a:xfrm>
            <a:prstGeom prst="rect">
              <a:avLst/>
            </a:prstGeom>
          </p:spPr>
          <p:txBody>
            <a:bodyPr vert="horz" wrap="square" lIns="0" tIns="0" rIns="0" bIns="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gn="ctr">
                <a:spcBef>
                  <a:spcPts val="409"/>
                </a:spcBef>
              </a:pPr>
              <a:r>
                <a:rPr lang="en-US" sz="1600" b="1" spc="-20" dirty="0">
                  <a:solidFill>
                    <a:schemeClr val="bg1"/>
                  </a:solidFill>
                  <a:latin typeface="Arial" panose="020B0604020202020204" pitchFamily="34" charset="0"/>
                  <a:cs typeface="Arial" panose="020B0604020202020204" pitchFamily="34" charset="0"/>
                </a:rPr>
                <a:t>XXXXX</a:t>
              </a:r>
              <a:endParaRPr sz="1600" b="1" dirty="0">
                <a:solidFill>
                  <a:schemeClr val="bg1"/>
                </a:solidFill>
                <a:latin typeface="Arial" panose="020B0604020202020204" pitchFamily="34" charset="0"/>
                <a:cs typeface="Arial" panose="020B0604020202020204" pitchFamily="34" charset="0"/>
              </a:endParaRPr>
            </a:p>
          </p:txBody>
        </p:sp>
        <p:sp>
          <p:nvSpPr>
            <p:cNvPr id="4485" name="object 19">
              <a:extLst>
                <a:ext uri="{FF2B5EF4-FFF2-40B4-BE49-F238E27FC236}">
                  <a16:creationId xmlns:a16="http://schemas.microsoft.com/office/drawing/2014/main" id="{5775165B-85C9-715D-A91D-51B00135E9A4}"/>
                </a:ext>
              </a:extLst>
            </p:cNvPr>
            <p:cNvSpPr txBox="1"/>
            <p:nvPr/>
          </p:nvSpPr>
          <p:spPr>
            <a:xfrm>
              <a:off x="3228408" y="2386971"/>
              <a:ext cx="586947" cy="153888"/>
            </a:xfrm>
            <a:prstGeom prst="rect">
              <a:avLst/>
            </a:prstGeom>
          </p:spPr>
          <p:txBody>
            <a:bodyPr vert="horz" wrap="square" lIns="0" tIns="0" rIns="0" bIns="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spcBef>
                  <a:spcPts val="409"/>
                </a:spcBef>
              </a:pPr>
              <a:r>
                <a:rPr lang="en-US" sz="1000" b="1" spc="-20" dirty="0" err="1">
                  <a:solidFill>
                    <a:schemeClr val="bg1"/>
                  </a:solidFill>
                  <a:latin typeface="Arial" panose="020B0604020202020204" pitchFamily="34" charset="0"/>
                  <a:cs typeface="Arial" panose="020B0604020202020204" pitchFamily="34" charset="0"/>
                </a:rPr>
                <a:t>abc</a:t>
              </a:r>
              <a:endParaRPr sz="1000" b="1" dirty="0">
                <a:solidFill>
                  <a:schemeClr val="bg1"/>
                </a:solidFill>
                <a:latin typeface="Arial" panose="020B0604020202020204" pitchFamily="34" charset="0"/>
                <a:cs typeface="Arial" panose="020B0604020202020204" pitchFamily="34" charset="0"/>
              </a:endParaRPr>
            </a:p>
          </p:txBody>
        </p:sp>
        <p:sp>
          <p:nvSpPr>
            <p:cNvPr id="4486" name="object 19">
              <a:extLst>
                <a:ext uri="{FF2B5EF4-FFF2-40B4-BE49-F238E27FC236}">
                  <a16:creationId xmlns:a16="http://schemas.microsoft.com/office/drawing/2014/main" id="{686801C9-6A0A-47E4-F4EC-9B97C4B29728}"/>
                </a:ext>
              </a:extLst>
            </p:cNvPr>
            <p:cNvSpPr txBox="1"/>
            <p:nvPr/>
          </p:nvSpPr>
          <p:spPr>
            <a:xfrm>
              <a:off x="3229406" y="2558504"/>
              <a:ext cx="586947" cy="153888"/>
            </a:xfrm>
            <a:prstGeom prst="rect">
              <a:avLst/>
            </a:prstGeom>
          </p:spPr>
          <p:txBody>
            <a:bodyPr vert="horz" wrap="square" lIns="0" tIns="0" rIns="0" bIns="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spcBef>
                  <a:spcPts val="409"/>
                </a:spcBef>
              </a:pPr>
              <a:r>
                <a:rPr lang="en-US" sz="1000" b="1" spc="-20" dirty="0">
                  <a:solidFill>
                    <a:schemeClr val="bg1"/>
                  </a:solidFill>
                  <a:latin typeface="Arial" panose="020B0604020202020204" pitchFamily="34" charset="0"/>
                  <a:cs typeface="Arial" panose="020B0604020202020204" pitchFamily="34" charset="0"/>
                </a:rPr>
                <a:t>YWCD@</a:t>
              </a:r>
              <a:endParaRPr sz="1000" b="1" dirty="0">
                <a:solidFill>
                  <a:schemeClr val="bg1"/>
                </a:solidFill>
                <a:latin typeface="Arial" panose="020B0604020202020204" pitchFamily="34" charset="0"/>
                <a:cs typeface="Arial" panose="020B0604020202020204" pitchFamily="34" charset="0"/>
              </a:endParaRPr>
            </a:p>
          </p:txBody>
        </p:sp>
      </p:grpSp>
      <p:sp>
        <p:nvSpPr>
          <p:cNvPr id="7" name="object 24">
            <a:extLst>
              <a:ext uri="{FF2B5EF4-FFF2-40B4-BE49-F238E27FC236}">
                <a16:creationId xmlns:a16="http://schemas.microsoft.com/office/drawing/2014/main" id="{0BBA2FDD-E2A2-0EC2-D3F2-D59E72D37CA2}"/>
              </a:ext>
            </a:extLst>
          </p:cNvPr>
          <p:cNvSpPr txBox="1"/>
          <p:nvPr/>
        </p:nvSpPr>
        <p:spPr>
          <a:xfrm>
            <a:off x="2776170" y="4530771"/>
            <a:ext cx="3376961" cy="271869"/>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4">
              <a:spcBef>
                <a:spcPts val="100"/>
              </a:spcBef>
            </a:pPr>
            <a:r>
              <a:rPr lang="en-US" altLang="ko-KR" sz="800" dirty="0">
                <a:latin typeface="Arial" panose="020B0604020202020204" pitchFamily="34" charset="0"/>
                <a:cs typeface="Arial" panose="020B0604020202020204" pitchFamily="34" charset="0"/>
              </a:rPr>
              <a:t>※ </a:t>
            </a:r>
            <a:r>
              <a:rPr lang="en-US" sz="800" dirty="0">
                <a:latin typeface="Arial" panose="020B0604020202020204" pitchFamily="34" charset="0"/>
                <a:cs typeface="Arial" panose="020B0604020202020204" pitchFamily="34" charset="0"/>
              </a:rPr>
              <a:t>Example code :2025. 07. 07</a:t>
            </a:r>
          </a:p>
          <a:p>
            <a:pPr lvl="4">
              <a:spcBef>
                <a:spcPts val="100"/>
              </a:spcBef>
            </a:pPr>
            <a:r>
              <a:rPr lang="en-US" sz="800" dirty="0">
                <a:latin typeface="Arial" panose="020B0604020202020204" pitchFamily="34" charset="0"/>
                <a:ea typeface="맑은 고딕" panose="020B0503020000020004" pitchFamily="50" charset="-127"/>
                <a:cs typeface="Arial" panose="020B0604020202020204" pitchFamily="34" charset="0"/>
              </a:rPr>
              <a:t>                             wafer Lot </a:t>
            </a:r>
            <a:r>
              <a:rPr lang="ko-KR" altLang="en-US" sz="800" dirty="0">
                <a:latin typeface="Arial" panose="020B0604020202020204" pitchFamily="34" charset="0"/>
                <a:ea typeface="맑은 고딕" panose="020B0503020000020004" pitchFamily="50" charset="-127"/>
                <a:cs typeface="Arial" panose="020B0604020202020204" pitchFamily="34" charset="0"/>
              </a:rPr>
              <a:t> </a:t>
            </a:r>
            <a:r>
              <a:rPr lang="en-US" altLang="ko-KR" sz="800" dirty="0">
                <a:latin typeface="Arial" panose="020B0604020202020204" pitchFamily="34" charset="0"/>
                <a:ea typeface="맑은 고딕" panose="020B0503020000020004" pitchFamily="50" charset="-127"/>
                <a:cs typeface="Arial" panose="020B0604020202020204" pitchFamily="34" charset="0"/>
              </a:rPr>
              <a:t>#1-5</a:t>
            </a:r>
            <a:endParaRPr lang="en-US" sz="800" dirty="0">
              <a:latin typeface="Arial" panose="020B0604020202020204" pitchFamily="34" charset="0"/>
              <a:ea typeface="맑은 고딕" panose="020B0503020000020004" pitchFamily="50" charset="-127"/>
              <a:cs typeface="Arial" panose="020B0604020202020204" pitchFamily="34" charset="0"/>
            </a:endParaRPr>
          </a:p>
        </p:txBody>
      </p:sp>
      <p:sp>
        <p:nvSpPr>
          <p:cNvPr id="18" name="object 18">
            <a:extLst>
              <a:ext uri="{FF2B5EF4-FFF2-40B4-BE49-F238E27FC236}">
                <a16:creationId xmlns:a16="http://schemas.microsoft.com/office/drawing/2014/main" id="{E07664D1-C1ED-69C4-640B-B5BBFE6DABF4}"/>
              </a:ext>
            </a:extLst>
          </p:cNvPr>
          <p:cNvSpPr txBox="1"/>
          <p:nvPr/>
        </p:nvSpPr>
        <p:spPr>
          <a:xfrm>
            <a:off x="1349546" y="3669278"/>
            <a:ext cx="836725"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gn="ctr">
              <a:lnSpc>
                <a:spcPct val="100000"/>
              </a:lnSpc>
              <a:spcBef>
                <a:spcPts val="100"/>
              </a:spcBef>
            </a:pPr>
            <a:r>
              <a:rPr sz="1200" dirty="0">
                <a:uFill>
                  <a:solidFill>
                    <a:srgbClr val="000000"/>
                  </a:solidFill>
                </a:uFill>
                <a:latin typeface="Calibri"/>
                <a:cs typeface="Calibri"/>
              </a:rPr>
              <a:t>TOP</a:t>
            </a:r>
            <a:r>
              <a:rPr sz="1200" spc="-70" dirty="0">
                <a:uFill>
                  <a:solidFill>
                    <a:srgbClr val="000000"/>
                  </a:solidFill>
                </a:uFill>
                <a:latin typeface="Calibri"/>
                <a:cs typeface="Calibri"/>
              </a:rPr>
              <a:t> </a:t>
            </a:r>
            <a:r>
              <a:rPr sz="1200" spc="-20" dirty="0">
                <a:uFill>
                  <a:solidFill>
                    <a:srgbClr val="000000"/>
                  </a:solidFill>
                </a:uFill>
                <a:latin typeface="Calibri"/>
                <a:cs typeface="Calibri"/>
              </a:rPr>
              <a:t>VIEW</a:t>
            </a:r>
            <a:endParaRPr sz="1200" dirty="0">
              <a:latin typeface="Calibri"/>
              <a:cs typeface="Calibri"/>
            </a:endParaRPr>
          </a:p>
        </p:txBody>
      </p:sp>
      <p:pic>
        <p:nvPicPr>
          <p:cNvPr id="19" name="object 22">
            <a:extLst>
              <a:ext uri="{FF2B5EF4-FFF2-40B4-BE49-F238E27FC236}">
                <a16:creationId xmlns:a16="http://schemas.microsoft.com/office/drawing/2014/main" id="{CC01A5A4-136B-50B7-E8A0-FBC4C94CE803}"/>
              </a:ext>
            </a:extLst>
          </p:cNvPr>
          <p:cNvPicPr/>
          <p:nvPr/>
        </p:nvPicPr>
        <p:blipFill>
          <a:blip r:embed="rId2" cstate="print"/>
          <a:stretch>
            <a:fillRect/>
          </a:stretch>
        </p:blipFill>
        <p:spPr>
          <a:xfrm>
            <a:off x="1132848" y="3240016"/>
            <a:ext cx="112794" cy="114265"/>
          </a:xfrm>
          <a:prstGeom prst="rect">
            <a:avLst/>
          </a:prstGeom>
        </p:spPr>
      </p:pic>
      <p:sp>
        <p:nvSpPr>
          <p:cNvPr id="20" name="직사각형 19">
            <a:extLst>
              <a:ext uri="{FF2B5EF4-FFF2-40B4-BE49-F238E27FC236}">
                <a16:creationId xmlns:a16="http://schemas.microsoft.com/office/drawing/2014/main" id="{601ACE50-EB3E-5A0B-FC6F-398F47549F8D}"/>
              </a:ext>
            </a:extLst>
          </p:cNvPr>
          <p:cNvSpPr/>
          <p:nvPr/>
        </p:nvSpPr>
        <p:spPr>
          <a:xfrm>
            <a:off x="931467" y="1733065"/>
            <a:ext cx="1825573" cy="182045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solidFill>
                <a:schemeClr val="tx1"/>
              </a:solidFill>
              <a:latin typeface="Arial" panose="020B0604020202020204" pitchFamily="34" charset="0"/>
              <a:cs typeface="Arial" panose="020B0604020202020204" pitchFamily="34" charset="0"/>
            </a:endParaRPr>
          </a:p>
        </p:txBody>
      </p:sp>
      <p:sp>
        <p:nvSpPr>
          <p:cNvPr id="21" name="TextBox 4533">
            <a:extLst>
              <a:ext uri="{FF2B5EF4-FFF2-40B4-BE49-F238E27FC236}">
                <a16:creationId xmlns:a16="http://schemas.microsoft.com/office/drawing/2014/main" id="{B5F6F448-6570-362D-9F87-64B8791D4A24}"/>
              </a:ext>
            </a:extLst>
          </p:cNvPr>
          <p:cNvSpPr txBox="1"/>
          <p:nvPr/>
        </p:nvSpPr>
        <p:spPr>
          <a:xfrm>
            <a:off x="1049723" y="1284948"/>
            <a:ext cx="1724937"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ko-KR" sz="1200" b="1" dirty="0">
                <a:latin typeface="Arial" panose="020B0604020202020204" pitchFamily="34" charset="0"/>
                <a:cs typeface="Arial" panose="020B0604020202020204" pitchFamily="34" charset="0"/>
              </a:rPr>
              <a:t>&lt; JSICAT marking &gt;</a:t>
            </a:r>
            <a:endParaRPr lang="ko-KR" altLang="en-US" sz="1200" b="1" dirty="0">
              <a:latin typeface="Arial" panose="020B0604020202020204" pitchFamily="34" charset="0"/>
              <a:cs typeface="Arial" panose="020B0604020202020204" pitchFamily="34" charset="0"/>
            </a:endParaRPr>
          </a:p>
        </p:txBody>
      </p:sp>
      <p:sp>
        <p:nvSpPr>
          <p:cNvPr id="22" name="object 24">
            <a:extLst>
              <a:ext uri="{FF2B5EF4-FFF2-40B4-BE49-F238E27FC236}">
                <a16:creationId xmlns:a16="http://schemas.microsoft.com/office/drawing/2014/main" id="{BD1FCA71-29AA-7FFC-5E78-EA09D080E9B3}"/>
              </a:ext>
            </a:extLst>
          </p:cNvPr>
          <p:cNvSpPr txBox="1"/>
          <p:nvPr/>
        </p:nvSpPr>
        <p:spPr>
          <a:xfrm>
            <a:off x="678169" y="4298373"/>
            <a:ext cx="2468046" cy="39498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00000"/>
              </a:lnSpc>
              <a:spcBef>
                <a:spcPts val="100"/>
              </a:spcBef>
            </a:pPr>
            <a:r>
              <a:rPr lang="en-US" sz="1200" b="1" dirty="0">
                <a:latin typeface="Arial" panose="020B0604020202020204" pitchFamily="34" charset="0"/>
                <a:cs typeface="Arial" panose="020B0604020202020204" pitchFamily="34" charset="0"/>
              </a:rPr>
              <a:t>Fix. Code </a:t>
            </a:r>
            <a:r>
              <a:rPr sz="1200" b="1" dirty="0">
                <a:latin typeface="Arial" panose="020B0604020202020204" pitchFamily="34" charset="0"/>
                <a:cs typeface="Arial" panose="020B0604020202020204" pitchFamily="34" charset="0"/>
              </a:rPr>
              <a:t>IC</a:t>
            </a:r>
            <a:r>
              <a:rPr sz="1200" b="1" spc="-20" dirty="0">
                <a:latin typeface="Arial" panose="020B0604020202020204" pitchFamily="34" charset="0"/>
                <a:cs typeface="Arial" panose="020B0604020202020204" pitchFamily="34" charset="0"/>
              </a:rPr>
              <a:t> </a:t>
            </a:r>
            <a:r>
              <a:rPr sz="1200" b="1" dirty="0">
                <a:latin typeface="Arial" panose="020B0604020202020204" pitchFamily="34" charset="0"/>
                <a:cs typeface="Arial" panose="020B0604020202020204" pitchFamily="34" charset="0"/>
              </a:rPr>
              <a:t>Part</a:t>
            </a:r>
            <a:r>
              <a:rPr sz="1200" b="1" spc="-25" dirty="0">
                <a:latin typeface="Arial" panose="020B0604020202020204" pitchFamily="34" charset="0"/>
                <a:cs typeface="Arial" panose="020B0604020202020204" pitchFamily="34" charset="0"/>
              </a:rPr>
              <a:t> </a:t>
            </a:r>
            <a:r>
              <a:rPr sz="1200" b="1" spc="-20" dirty="0">
                <a:latin typeface="Arial" panose="020B0604020202020204" pitchFamily="34" charset="0"/>
                <a:cs typeface="Arial" panose="020B0604020202020204" pitchFamily="34" charset="0"/>
              </a:rPr>
              <a:t>Name</a:t>
            </a:r>
            <a:r>
              <a:rPr lang="en-US" sz="1200" b="1" spc="-20" dirty="0">
                <a:latin typeface="Arial" panose="020B0604020202020204" pitchFamily="34" charset="0"/>
                <a:cs typeface="Arial" panose="020B0604020202020204" pitchFamily="34" charset="0"/>
              </a:rPr>
              <a:t>: </a:t>
            </a:r>
            <a:r>
              <a:rPr lang="en-US" altLang="ko-KR" sz="1200" b="1" dirty="0">
                <a:latin typeface="Arial" panose="020B0604020202020204" pitchFamily="34" charset="0"/>
                <a:cs typeface="Arial" panose="020B0604020202020204" pitchFamily="34" charset="0"/>
              </a:rPr>
              <a:t>XD12R</a:t>
            </a:r>
          </a:p>
          <a:p>
            <a:pPr marL="228600" indent="-228600">
              <a:lnSpc>
                <a:spcPct val="100000"/>
              </a:lnSpc>
              <a:spcBef>
                <a:spcPts val="100"/>
              </a:spcBef>
              <a:buAutoNum type="arabicParenBoth"/>
            </a:pPr>
            <a:endParaRPr lang="en-US" sz="1200" b="1" dirty="0">
              <a:latin typeface="Arial" panose="020B0604020202020204" pitchFamily="34" charset="0"/>
              <a:cs typeface="Arial" panose="020B0604020202020204" pitchFamily="34" charset="0"/>
            </a:endParaRPr>
          </a:p>
        </p:txBody>
      </p:sp>
      <p:sp>
        <p:nvSpPr>
          <p:cNvPr id="24" name="object 18">
            <a:extLst>
              <a:ext uri="{FF2B5EF4-FFF2-40B4-BE49-F238E27FC236}">
                <a16:creationId xmlns:a16="http://schemas.microsoft.com/office/drawing/2014/main" id="{B70A2B5A-7D84-C460-3DCF-975EFAC058F9}"/>
              </a:ext>
            </a:extLst>
          </p:cNvPr>
          <p:cNvSpPr txBox="1"/>
          <p:nvPr/>
        </p:nvSpPr>
        <p:spPr>
          <a:xfrm>
            <a:off x="4549673" y="3673154"/>
            <a:ext cx="836725"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gn="ctr">
              <a:lnSpc>
                <a:spcPct val="100000"/>
              </a:lnSpc>
              <a:spcBef>
                <a:spcPts val="100"/>
              </a:spcBef>
            </a:pPr>
            <a:r>
              <a:rPr sz="1200" dirty="0">
                <a:uFill>
                  <a:solidFill>
                    <a:srgbClr val="000000"/>
                  </a:solidFill>
                </a:uFill>
                <a:latin typeface="Calibri"/>
                <a:cs typeface="Calibri"/>
              </a:rPr>
              <a:t>TOP</a:t>
            </a:r>
            <a:r>
              <a:rPr sz="1200" spc="-70" dirty="0">
                <a:uFill>
                  <a:solidFill>
                    <a:srgbClr val="000000"/>
                  </a:solidFill>
                </a:uFill>
                <a:latin typeface="Calibri"/>
                <a:cs typeface="Calibri"/>
              </a:rPr>
              <a:t> </a:t>
            </a:r>
            <a:r>
              <a:rPr sz="1200" spc="-20" dirty="0">
                <a:uFill>
                  <a:solidFill>
                    <a:srgbClr val="000000"/>
                  </a:solidFill>
                </a:uFill>
                <a:latin typeface="Calibri"/>
                <a:cs typeface="Calibri"/>
              </a:rPr>
              <a:t>VIEW</a:t>
            </a:r>
            <a:endParaRPr sz="1200" dirty="0">
              <a:latin typeface="Calibri"/>
              <a:cs typeface="Calibri"/>
            </a:endParaRPr>
          </a:p>
        </p:txBody>
      </p:sp>
      <p:sp>
        <p:nvSpPr>
          <p:cNvPr id="38" name="object 129">
            <a:extLst>
              <a:ext uri="{FF2B5EF4-FFF2-40B4-BE49-F238E27FC236}">
                <a16:creationId xmlns:a16="http://schemas.microsoft.com/office/drawing/2014/main" id="{436C4AE4-77E5-A72B-BE05-F384812CCB0C}"/>
              </a:ext>
            </a:extLst>
          </p:cNvPr>
          <p:cNvSpPr/>
          <p:nvPr/>
        </p:nvSpPr>
        <p:spPr>
          <a:xfrm rot="5400000">
            <a:off x="4136022" y="1863832"/>
            <a:ext cx="62951" cy="26101"/>
          </a:xfrm>
          <a:custGeom>
            <a:avLst/>
            <a:gdLst/>
            <a:ahLst/>
            <a:cxnLst/>
            <a:rect l="l" t="t" r="r" b="b"/>
            <a:pathLst>
              <a:path w="78105" h="32385">
                <a:moveTo>
                  <a:pt x="1524" y="1524"/>
                </a:moveTo>
                <a:lnTo>
                  <a:pt x="0" y="1524"/>
                </a:lnTo>
                <a:lnTo>
                  <a:pt x="0" y="0"/>
                </a:lnTo>
                <a:lnTo>
                  <a:pt x="1524" y="0"/>
                </a:lnTo>
                <a:lnTo>
                  <a:pt x="1524" y="1524"/>
                </a:lnTo>
                <a:close/>
              </a:path>
              <a:path w="78105" h="32385">
                <a:moveTo>
                  <a:pt x="1524" y="32004"/>
                </a:moveTo>
                <a:lnTo>
                  <a:pt x="0" y="32004"/>
                </a:lnTo>
                <a:lnTo>
                  <a:pt x="0" y="30480"/>
                </a:lnTo>
                <a:lnTo>
                  <a:pt x="1524" y="30480"/>
                </a:lnTo>
                <a:lnTo>
                  <a:pt x="1524" y="32004"/>
                </a:lnTo>
                <a:close/>
              </a:path>
              <a:path w="78105" h="32385">
                <a:moveTo>
                  <a:pt x="77724" y="32004"/>
                </a:moveTo>
                <a:lnTo>
                  <a:pt x="76200" y="32004"/>
                </a:lnTo>
                <a:lnTo>
                  <a:pt x="76200" y="30480"/>
                </a:lnTo>
                <a:lnTo>
                  <a:pt x="77724" y="30480"/>
                </a:lnTo>
                <a:lnTo>
                  <a:pt x="77724" y="32004"/>
                </a:lnTo>
                <a:close/>
              </a:path>
            </a:pathLst>
          </a:custGeom>
          <a:solidFill>
            <a:srgbClr val="000000"/>
          </a:solidFill>
        </p:spPr>
        <p:txBody>
          <a:bodyPr wrap="square" lIns="0" tIns="0" rIns="0" bIns="0" rtlCol="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a:latin typeface="Arial" panose="020B0604020202020204" pitchFamily="34" charset="0"/>
              <a:cs typeface="Arial" panose="020B0604020202020204" pitchFamily="34" charset="0"/>
            </a:endParaRPr>
          </a:p>
        </p:txBody>
      </p:sp>
      <p:sp>
        <p:nvSpPr>
          <p:cNvPr id="41" name="TextBox 24">
            <a:extLst>
              <a:ext uri="{FF2B5EF4-FFF2-40B4-BE49-F238E27FC236}">
                <a16:creationId xmlns:a16="http://schemas.microsoft.com/office/drawing/2014/main" id="{4B95F45A-B22A-09DF-4B6F-4017A7DF7EA9}"/>
              </a:ext>
            </a:extLst>
          </p:cNvPr>
          <p:cNvSpPr txBox="1"/>
          <p:nvPr/>
        </p:nvSpPr>
        <p:spPr>
          <a:xfrm>
            <a:off x="4180548" y="1287753"/>
            <a:ext cx="1879805"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ko-KR" sz="1200" b="1" dirty="0">
                <a:latin typeface="Arial" panose="020B0604020202020204" pitchFamily="34" charset="0"/>
                <a:cs typeface="Arial" panose="020B0604020202020204" pitchFamily="34" charset="0"/>
              </a:rPr>
              <a:t>&lt; SEMTECH marking &gt;</a:t>
            </a:r>
            <a:endParaRPr lang="ko-KR" altLang="en-US" sz="1200" b="1" dirty="0">
              <a:latin typeface="Arial" panose="020B0604020202020204" pitchFamily="34" charset="0"/>
              <a:cs typeface="Arial" panose="020B0604020202020204" pitchFamily="34" charset="0"/>
            </a:endParaRPr>
          </a:p>
        </p:txBody>
      </p:sp>
      <p:pic>
        <p:nvPicPr>
          <p:cNvPr id="42" name="table">
            <a:extLst>
              <a:ext uri="{FF2B5EF4-FFF2-40B4-BE49-F238E27FC236}">
                <a16:creationId xmlns:a16="http://schemas.microsoft.com/office/drawing/2014/main" id="{6FFCDCD8-54E3-BF90-0BD6-358EF908E2B7}"/>
              </a:ext>
            </a:extLst>
          </p:cNvPr>
          <p:cNvPicPr>
            <a:picLocks noChangeAspect="1"/>
          </p:cNvPicPr>
          <p:nvPr/>
        </p:nvPicPr>
        <p:blipFill>
          <a:blip r:embed="rId3"/>
          <a:stretch>
            <a:fillRect/>
          </a:stretch>
        </p:blipFill>
        <p:spPr>
          <a:xfrm>
            <a:off x="608985" y="4984306"/>
            <a:ext cx="2298549" cy="1892537"/>
          </a:xfrm>
          <a:prstGeom prst="rect">
            <a:avLst/>
          </a:prstGeom>
        </p:spPr>
      </p:pic>
      <p:sp>
        <p:nvSpPr>
          <p:cNvPr id="43" name="object 24">
            <a:extLst>
              <a:ext uri="{FF2B5EF4-FFF2-40B4-BE49-F238E27FC236}">
                <a16:creationId xmlns:a16="http://schemas.microsoft.com/office/drawing/2014/main" id="{6AE1A0A4-04E2-9230-C40E-3B5E2810A41D}"/>
              </a:ext>
            </a:extLst>
          </p:cNvPr>
          <p:cNvSpPr txBox="1"/>
          <p:nvPr/>
        </p:nvSpPr>
        <p:spPr>
          <a:xfrm>
            <a:off x="672424" y="4742978"/>
            <a:ext cx="2218444"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00000"/>
              </a:lnSpc>
              <a:spcBef>
                <a:spcPts val="100"/>
              </a:spcBef>
            </a:pPr>
            <a:r>
              <a:rPr lang="en-US" sz="1200" b="1" dirty="0">
                <a:latin typeface="Arial" panose="020B0604020202020204" pitchFamily="34" charset="0"/>
                <a:cs typeface="Arial" panose="020B0604020202020204" pitchFamily="34" charset="0"/>
              </a:rPr>
              <a:t>Package Drawings </a:t>
            </a:r>
            <a:r>
              <a:rPr sz="1200" b="1" dirty="0">
                <a:latin typeface="Arial" panose="020B0604020202020204" pitchFamily="34" charset="0"/>
                <a:cs typeface="Arial" panose="020B0604020202020204" pitchFamily="34" charset="0"/>
              </a:rPr>
              <a:t>Marking</a:t>
            </a:r>
            <a:r>
              <a:rPr lang="en-US" sz="1200" b="1" spc="-30" dirty="0">
                <a:latin typeface="Arial" panose="020B0604020202020204" pitchFamily="34" charset="0"/>
                <a:cs typeface="Arial" panose="020B0604020202020204" pitchFamily="34" charset="0"/>
              </a:rPr>
              <a:t>s</a:t>
            </a:r>
            <a:endParaRPr sz="1200" b="1" dirty="0">
              <a:latin typeface="Arial" panose="020B0604020202020204" pitchFamily="34" charset="0"/>
              <a:cs typeface="Arial" panose="020B0604020202020204" pitchFamily="34" charset="0"/>
            </a:endParaRPr>
          </a:p>
        </p:txBody>
      </p:sp>
      <p:sp>
        <p:nvSpPr>
          <p:cNvPr id="44" name="object 24">
            <a:extLst>
              <a:ext uri="{FF2B5EF4-FFF2-40B4-BE49-F238E27FC236}">
                <a16:creationId xmlns:a16="http://schemas.microsoft.com/office/drawing/2014/main" id="{708D742D-7B3C-9BDB-615F-D6D4A3EECA5F}"/>
              </a:ext>
            </a:extLst>
          </p:cNvPr>
          <p:cNvSpPr txBox="1"/>
          <p:nvPr/>
        </p:nvSpPr>
        <p:spPr>
          <a:xfrm>
            <a:off x="3264750" y="4290671"/>
            <a:ext cx="3145553"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00000"/>
              </a:lnSpc>
              <a:spcBef>
                <a:spcPts val="100"/>
              </a:spcBef>
            </a:pPr>
            <a:r>
              <a:rPr lang="en-US" sz="1200" b="1" dirty="0">
                <a:latin typeface="Arial" panose="020B0604020202020204" pitchFamily="34" charset="0"/>
                <a:cs typeface="Arial" panose="020B0604020202020204" pitchFamily="34" charset="0"/>
              </a:rPr>
              <a:t>Assembly production Code : </a:t>
            </a:r>
            <a:r>
              <a:rPr lang="en-US" sz="1200" b="1" spc="-20" dirty="0">
                <a:latin typeface="Arial" panose="020B0604020202020204" pitchFamily="34" charset="0"/>
                <a:cs typeface="Arial" panose="020B0604020202020204" pitchFamily="34" charset="0"/>
              </a:rPr>
              <a:t> </a:t>
            </a:r>
            <a:r>
              <a:rPr lang="en-US" altLang="ko-KR" sz="1050" b="1" dirty="0">
                <a:latin typeface="Arial" panose="020B0604020202020204" pitchFamily="34" charset="0"/>
                <a:cs typeface="Arial" panose="020B0604020202020204" pitchFamily="34" charset="0"/>
              </a:rPr>
              <a:t>CBA2J, CBA2S</a:t>
            </a:r>
            <a:endParaRPr sz="1200" b="1" dirty="0">
              <a:latin typeface="Arial" panose="020B0604020202020204" pitchFamily="34" charset="0"/>
              <a:cs typeface="Arial" panose="020B0604020202020204" pitchFamily="34" charset="0"/>
            </a:endParaRPr>
          </a:p>
        </p:txBody>
      </p:sp>
      <p:sp>
        <p:nvSpPr>
          <p:cNvPr id="45" name="object 24">
            <a:extLst>
              <a:ext uri="{FF2B5EF4-FFF2-40B4-BE49-F238E27FC236}">
                <a16:creationId xmlns:a16="http://schemas.microsoft.com/office/drawing/2014/main" id="{AFA2563C-47AB-C72E-660A-4DEA4D6D5A90}"/>
              </a:ext>
            </a:extLst>
          </p:cNvPr>
          <p:cNvSpPr txBox="1"/>
          <p:nvPr/>
        </p:nvSpPr>
        <p:spPr>
          <a:xfrm>
            <a:off x="-1111250" y="7202785"/>
            <a:ext cx="3526853" cy="271869"/>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4">
              <a:spcBef>
                <a:spcPts val="100"/>
              </a:spcBef>
            </a:pPr>
            <a:r>
              <a:rPr lang="en-US" sz="800" dirty="0">
                <a:latin typeface="Arial" panose="020B0604020202020204" pitchFamily="34" charset="0"/>
                <a:cs typeface="Arial" panose="020B0604020202020204" pitchFamily="34" charset="0"/>
              </a:rPr>
              <a:t>** Font Type : Arial</a:t>
            </a:r>
          </a:p>
          <a:p>
            <a:pPr lvl="4">
              <a:spcBef>
                <a:spcPts val="100"/>
              </a:spcBef>
            </a:pPr>
            <a:r>
              <a:rPr lang="en-US" sz="800" dirty="0">
                <a:latin typeface="Arial" panose="020B0604020202020204" pitchFamily="34" charset="0"/>
                <a:cs typeface="Arial" panose="020B0604020202020204" pitchFamily="34" charset="0"/>
              </a:rPr>
              <a:t>    Marking text tolerance : </a:t>
            </a:r>
            <a:r>
              <a:rPr lang="en-US" sz="800" dirty="0">
                <a:latin typeface="Arial" panose="020B0604020202020204" pitchFamily="34" charset="0"/>
                <a:ea typeface="맑은 고딕" panose="020B0503020000020004" pitchFamily="50" charset="-127"/>
                <a:cs typeface="Arial" panose="020B0604020202020204" pitchFamily="34" charset="0"/>
              </a:rPr>
              <a:t>±0.05mm</a:t>
            </a:r>
          </a:p>
        </p:txBody>
      </p:sp>
      <p:sp>
        <p:nvSpPr>
          <p:cNvPr id="46" name="object 10">
            <a:extLst>
              <a:ext uri="{FF2B5EF4-FFF2-40B4-BE49-F238E27FC236}">
                <a16:creationId xmlns:a16="http://schemas.microsoft.com/office/drawing/2014/main" id="{887C044C-85F8-8C52-0A5E-E4ED8AFFD953}"/>
              </a:ext>
            </a:extLst>
          </p:cNvPr>
          <p:cNvSpPr txBox="1"/>
          <p:nvPr/>
        </p:nvSpPr>
        <p:spPr>
          <a:xfrm>
            <a:off x="3311200" y="4671908"/>
            <a:ext cx="823594" cy="154529"/>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lang="en-US" sz="900" dirty="0">
                <a:latin typeface="Arial"/>
                <a:cs typeface="Arial"/>
              </a:rPr>
              <a:t>Y</a:t>
            </a:r>
            <a:r>
              <a:rPr sz="900" spc="15" dirty="0">
                <a:latin typeface="Arial"/>
                <a:cs typeface="Arial"/>
              </a:rPr>
              <a:t> </a:t>
            </a:r>
            <a:r>
              <a:rPr sz="900" dirty="0">
                <a:latin typeface="Arial"/>
                <a:cs typeface="Arial"/>
              </a:rPr>
              <a:t>→</a:t>
            </a:r>
            <a:r>
              <a:rPr sz="900" spc="20" dirty="0">
                <a:latin typeface="Arial"/>
                <a:cs typeface="Arial"/>
              </a:rPr>
              <a:t> </a:t>
            </a:r>
            <a:r>
              <a:rPr sz="900" dirty="0">
                <a:latin typeface="Arial"/>
                <a:cs typeface="Arial"/>
              </a:rPr>
              <a:t>Year</a:t>
            </a:r>
            <a:r>
              <a:rPr sz="900" spc="35" dirty="0">
                <a:latin typeface="Arial"/>
                <a:cs typeface="Arial"/>
              </a:rPr>
              <a:t> </a:t>
            </a:r>
            <a:r>
              <a:rPr sz="900" spc="-20" dirty="0">
                <a:latin typeface="Arial"/>
                <a:cs typeface="Arial"/>
              </a:rPr>
              <a:t>code</a:t>
            </a:r>
            <a:endParaRPr sz="900" dirty="0">
              <a:latin typeface="Arial"/>
              <a:cs typeface="Arial"/>
            </a:endParaRPr>
          </a:p>
        </p:txBody>
      </p:sp>
      <p:pic>
        <p:nvPicPr>
          <p:cNvPr id="47" name="table">
            <a:extLst>
              <a:ext uri="{FF2B5EF4-FFF2-40B4-BE49-F238E27FC236}">
                <a16:creationId xmlns:a16="http://schemas.microsoft.com/office/drawing/2014/main" id="{CDC11C2F-D4B8-38D6-BBB5-DC63C4CBC7EC}"/>
              </a:ext>
            </a:extLst>
          </p:cNvPr>
          <p:cNvPicPr>
            <a:picLocks noChangeAspect="1"/>
          </p:cNvPicPr>
          <p:nvPr/>
        </p:nvPicPr>
        <p:blipFill>
          <a:blip r:embed="rId4"/>
          <a:stretch>
            <a:fillRect/>
          </a:stretch>
        </p:blipFill>
        <p:spPr>
          <a:xfrm>
            <a:off x="3264751" y="4849102"/>
            <a:ext cx="2863234" cy="539750"/>
          </a:xfrm>
          <a:prstGeom prst="rect">
            <a:avLst/>
          </a:prstGeom>
        </p:spPr>
      </p:pic>
      <p:sp>
        <p:nvSpPr>
          <p:cNvPr id="48" name="object 11">
            <a:extLst>
              <a:ext uri="{FF2B5EF4-FFF2-40B4-BE49-F238E27FC236}">
                <a16:creationId xmlns:a16="http://schemas.microsoft.com/office/drawing/2014/main" id="{CE1DDC1A-5507-416B-0700-A9E3026F81D3}"/>
              </a:ext>
            </a:extLst>
          </p:cNvPr>
          <p:cNvSpPr txBox="1"/>
          <p:nvPr/>
        </p:nvSpPr>
        <p:spPr>
          <a:xfrm>
            <a:off x="3311200" y="5480428"/>
            <a:ext cx="2223195" cy="154529"/>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lang="en-US" sz="900" spc="25" dirty="0">
                <a:latin typeface="Arial"/>
                <a:cs typeface="Arial"/>
              </a:rPr>
              <a:t>W</a:t>
            </a:r>
            <a:r>
              <a:rPr sz="900" spc="25" dirty="0">
                <a:latin typeface="Arial"/>
                <a:cs typeface="Arial"/>
              </a:rPr>
              <a:t> </a:t>
            </a:r>
            <a:r>
              <a:rPr sz="900" dirty="0">
                <a:latin typeface="Arial"/>
                <a:cs typeface="Arial"/>
              </a:rPr>
              <a:t>→</a:t>
            </a:r>
            <a:r>
              <a:rPr sz="900" spc="20" dirty="0">
                <a:latin typeface="Arial"/>
                <a:cs typeface="Arial"/>
              </a:rPr>
              <a:t> </a:t>
            </a:r>
            <a:r>
              <a:rPr sz="900" dirty="0">
                <a:latin typeface="Arial"/>
                <a:cs typeface="Arial"/>
              </a:rPr>
              <a:t>Week</a:t>
            </a:r>
            <a:r>
              <a:rPr sz="900" spc="5" dirty="0">
                <a:latin typeface="Arial"/>
                <a:cs typeface="Arial"/>
              </a:rPr>
              <a:t> </a:t>
            </a:r>
            <a:r>
              <a:rPr sz="900" dirty="0">
                <a:latin typeface="Arial"/>
                <a:cs typeface="Arial"/>
              </a:rPr>
              <a:t>code</a:t>
            </a:r>
            <a:r>
              <a:rPr sz="900" spc="295" dirty="0">
                <a:latin typeface="Arial"/>
                <a:cs typeface="Arial"/>
              </a:rPr>
              <a:t> </a:t>
            </a:r>
            <a:r>
              <a:rPr sz="900" dirty="0">
                <a:latin typeface="Arial"/>
                <a:cs typeface="Arial"/>
              </a:rPr>
              <a:t>,</a:t>
            </a:r>
            <a:r>
              <a:rPr sz="900" spc="325" dirty="0">
                <a:latin typeface="Arial"/>
                <a:cs typeface="Arial"/>
              </a:rPr>
              <a:t> </a:t>
            </a:r>
            <a:r>
              <a:rPr sz="900" dirty="0">
                <a:latin typeface="Arial"/>
                <a:cs typeface="Arial"/>
              </a:rPr>
              <a:t>A=W1,</a:t>
            </a:r>
            <a:r>
              <a:rPr sz="900" spc="160" dirty="0">
                <a:latin typeface="Arial"/>
                <a:cs typeface="Arial"/>
              </a:rPr>
              <a:t>  </a:t>
            </a:r>
            <a:r>
              <a:rPr sz="900" spc="-10" dirty="0">
                <a:latin typeface="Arial"/>
                <a:cs typeface="Arial"/>
              </a:rPr>
              <a:t>B=W2,….</a:t>
            </a:r>
            <a:endParaRPr sz="900" dirty="0">
              <a:latin typeface="Arial"/>
              <a:cs typeface="Arial"/>
            </a:endParaRPr>
          </a:p>
        </p:txBody>
      </p:sp>
      <p:pic>
        <p:nvPicPr>
          <p:cNvPr id="49" name="table">
            <a:extLst>
              <a:ext uri="{FF2B5EF4-FFF2-40B4-BE49-F238E27FC236}">
                <a16:creationId xmlns:a16="http://schemas.microsoft.com/office/drawing/2014/main" id="{6E59BFAB-F276-07E2-15AA-0F2C75B08D75}"/>
              </a:ext>
            </a:extLst>
          </p:cNvPr>
          <p:cNvPicPr>
            <a:picLocks noChangeAspect="1"/>
          </p:cNvPicPr>
          <p:nvPr/>
        </p:nvPicPr>
        <p:blipFill>
          <a:blip r:embed="rId5"/>
          <a:stretch>
            <a:fillRect/>
          </a:stretch>
        </p:blipFill>
        <p:spPr>
          <a:xfrm>
            <a:off x="3246274" y="5673164"/>
            <a:ext cx="2906863" cy="433070"/>
          </a:xfrm>
          <a:prstGeom prst="rect">
            <a:avLst/>
          </a:prstGeom>
        </p:spPr>
      </p:pic>
      <p:sp>
        <p:nvSpPr>
          <p:cNvPr id="50" name="object 12">
            <a:extLst>
              <a:ext uri="{FF2B5EF4-FFF2-40B4-BE49-F238E27FC236}">
                <a16:creationId xmlns:a16="http://schemas.microsoft.com/office/drawing/2014/main" id="{9DA46B66-8819-6B3E-A817-84B3DAB1CFAE}"/>
              </a:ext>
            </a:extLst>
          </p:cNvPr>
          <p:cNvSpPr txBox="1"/>
          <p:nvPr/>
        </p:nvSpPr>
        <p:spPr>
          <a:xfrm>
            <a:off x="3311199" y="6206718"/>
            <a:ext cx="2841938" cy="431528"/>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66700" indent="-254000">
              <a:lnSpc>
                <a:spcPct val="100000"/>
              </a:lnSpc>
              <a:spcBef>
                <a:spcPts val="125"/>
              </a:spcBef>
            </a:pPr>
            <a:r>
              <a:rPr sz="900" dirty="0">
                <a:latin typeface="Arial"/>
                <a:cs typeface="Arial"/>
              </a:rPr>
              <a:t>C</a:t>
            </a:r>
            <a:r>
              <a:rPr sz="900" spc="25" dirty="0">
                <a:latin typeface="Arial"/>
                <a:cs typeface="Arial"/>
              </a:rPr>
              <a:t> </a:t>
            </a:r>
            <a:r>
              <a:rPr sz="900" dirty="0">
                <a:latin typeface="Arial"/>
                <a:cs typeface="Arial"/>
              </a:rPr>
              <a:t>→</a:t>
            </a:r>
            <a:r>
              <a:rPr sz="900" spc="25" dirty="0">
                <a:latin typeface="Arial"/>
                <a:cs typeface="Arial"/>
              </a:rPr>
              <a:t> </a:t>
            </a:r>
            <a:r>
              <a:rPr sz="900" dirty="0">
                <a:latin typeface="Arial"/>
                <a:cs typeface="Arial"/>
              </a:rPr>
              <a:t>Wafer lot,</a:t>
            </a:r>
            <a:r>
              <a:rPr sz="900" spc="180" dirty="0">
                <a:latin typeface="Arial"/>
                <a:cs typeface="Arial"/>
              </a:rPr>
              <a:t>  </a:t>
            </a:r>
            <a:r>
              <a:rPr sz="900" dirty="0">
                <a:latin typeface="Arial"/>
                <a:cs typeface="Arial"/>
              </a:rPr>
              <a:t>Each</a:t>
            </a:r>
            <a:r>
              <a:rPr sz="900" spc="35" dirty="0">
                <a:latin typeface="Arial"/>
                <a:cs typeface="Arial"/>
              </a:rPr>
              <a:t> </a:t>
            </a:r>
            <a:r>
              <a:rPr sz="900" dirty="0">
                <a:latin typeface="Arial"/>
                <a:cs typeface="Arial"/>
              </a:rPr>
              <a:t>wafer</a:t>
            </a:r>
            <a:r>
              <a:rPr sz="900" spc="25" dirty="0">
                <a:latin typeface="Arial"/>
                <a:cs typeface="Arial"/>
              </a:rPr>
              <a:t> </a:t>
            </a:r>
            <a:r>
              <a:rPr sz="900" dirty="0">
                <a:latin typeface="Arial"/>
                <a:cs typeface="Arial"/>
              </a:rPr>
              <a:t>Lot</a:t>
            </a:r>
            <a:r>
              <a:rPr sz="900" spc="30" dirty="0">
                <a:latin typeface="Arial"/>
                <a:cs typeface="Arial"/>
              </a:rPr>
              <a:t> </a:t>
            </a:r>
            <a:r>
              <a:rPr sz="900" dirty="0">
                <a:latin typeface="Arial"/>
                <a:cs typeface="Arial"/>
              </a:rPr>
              <a:t>is</a:t>
            </a:r>
            <a:r>
              <a:rPr sz="900" spc="30" dirty="0">
                <a:latin typeface="Arial"/>
                <a:cs typeface="Arial"/>
              </a:rPr>
              <a:t> </a:t>
            </a:r>
            <a:r>
              <a:rPr sz="900" dirty="0">
                <a:latin typeface="Arial"/>
                <a:cs typeface="Arial"/>
              </a:rPr>
              <a:t>represented</a:t>
            </a:r>
            <a:r>
              <a:rPr sz="900" spc="25" dirty="0">
                <a:latin typeface="Arial"/>
                <a:cs typeface="Arial"/>
              </a:rPr>
              <a:t> </a:t>
            </a:r>
            <a:r>
              <a:rPr sz="900" dirty="0">
                <a:latin typeface="Arial"/>
                <a:cs typeface="Arial"/>
              </a:rPr>
              <a:t>by</a:t>
            </a:r>
            <a:r>
              <a:rPr sz="900" spc="30" dirty="0">
                <a:latin typeface="Arial"/>
                <a:cs typeface="Arial"/>
              </a:rPr>
              <a:t> </a:t>
            </a:r>
            <a:r>
              <a:rPr sz="900" dirty="0">
                <a:latin typeface="Arial"/>
                <a:cs typeface="Arial"/>
              </a:rPr>
              <a:t>a</a:t>
            </a:r>
            <a:r>
              <a:rPr sz="900" spc="35" dirty="0">
                <a:latin typeface="Arial"/>
                <a:cs typeface="Arial"/>
              </a:rPr>
              <a:t> </a:t>
            </a:r>
            <a:r>
              <a:rPr sz="900" dirty="0">
                <a:latin typeface="Arial"/>
                <a:cs typeface="Arial"/>
              </a:rPr>
              <a:t>character</a:t>
            </a:r>
            <a:r>
              <a:rPr sz="900" spc="15" dirty="0">
                <a:latin typeface="Arial"/>
                <a:cs typeface="Arial"/>
              </a:rPr>
              <a:t> </a:t>
            </a:r>
            <a:r>
              <a:rPr sz="900" dirty="0">
                <a:latin typeface="Arial"/>
                <a:cs typeface="Arial"/>
              </a:rPr>
              <a:t>(Ex:</a:t>
            </a:r>
            <a:r>
              <a:rPr sz="900" spc="65"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B,</a:t>
            </a:r>
            <a:r>
              <a:rPr sz="900" spc="45" dirty="0">
                <a:latin typeface="Arial"/>
                <a:cs typeface="Arial"/>
              </a:rPr>
              <a:t> </a:t>
            </a:r>
            <a:r>
              <a:rPr sz="900" dirty="0">
                <a:latin typeface="Arial"/>
                <a:cs typeface="Arial"/>
              </a:rPr>
              <a:t>C,</a:t>
            </a:r>
            <a:r>
              <a:rPr sz="900" spc="30" dirty="0">
                <a:latin typeface="Arial"/>
                <a:cs typeface="Arial"/>
              </a:rPr>
              <a:t> </a:t>
            </a:r>
            <a:r>
              <a:rPr sz="900" spc="-25" dirty="0">
                <a:latin typeface="Arial"/>
                <a:cs typeface="Arial"/>
              </a:rPr>
              <a:t>…).</a:t>
            </a:r>
            <a:endParaRPr sz="900" dirty="0">
              <a:latin typeface="Arial"/>
              <a:cs typeface="Arial"/>
            </a:endParaRPr>
          </a:p>
          <a:p>
            <a:pPr marL="266700">
              <a:lnSpc>
                <a:spcPct val="100000"/>
              </a:lnSpc>
              <a:spcBef>
                <a:spcPts val="20"/>
              </a:spcBef>
            </a:pPr>
            <a:r>
              <a:rPr sz="900" dirty="0">
                <a:latin typeface="Arial"/>
                <a:cs typeface="Arial"/>
              </a:rPr>
              <a:t>These</a:t>
            </a:r>
            <a:r>
              <a:rPr sz="900" spc="30" dirty="0">
                <a:latin typeface="Arial"/>
                <a:cs typeface="Arial"/>
              </a:rPr>
              <a:t> </a:t>
            </a:r>
            <a:r>
              <a:rPr sz="900" dirty="0">
                <a:latin typeface="Arial"/>
                <a:cs typeface="Arial"/>
              </a:rPr>
              <a:t>character</a:t>
            </a:r>
            <a:r>
              <a:rPr sz="900" spc="50" dirty="0">
                <a:latin typeface="Arial"/>
                <a:cs typeface="Arial"/>
              </a:rPr>
              <a:t> </a:t>
            </a:r>
            <a:r>
              <a:rPr sz="900" dirty="0">
                <a:latin typeface="Arial"/>
                <a:cs typeface="Arial"/>
              </a:rPr>
              <a:t>cycle</a:t>
            </a:r>
            <a:r>
              <a:rPr sz="900" spc="65" dirty="0">
                <a:latin typeface="Arial"/>
                <a:cs typeface="Arial"/>
              </a:rPr>
              <a:t> </a:t>
            </a:r>
            <a:r>
              <a:rPr sz="900" dirty="0">
                <a:latin typeface="Arial"/>
                <a:cs typeface="Arial"/>
              </a:rPr>
              <a:t>once</a:t>
            </a:r>
            <a:r>
              <a:rPr sz="900" spc="30" dirty="0">
                <a:latin typeface="Arial"/>
                <a:cs typeface="Arial"/>
              </a:rPr>
              <a:t> </a:t>
            </a:r>
            <a:r>
              <a:rPr sz="900" dirty="0">
                <a:latin typeface="Arial"/>
                <a:cs typeface="Arial"/>
              </a:rPr>
              <a:t>a</a:t>
            </a:r>
            <a:r>
              <a:rPr sz="900" spc="65" dirty="0">
                <a:latin typeface="Arial"/>
                <a:cs typeface="Arial"/>
              </a:rPr>
              <a:t> </a:t>
            </a:r>
            <a:r>
              <a:rPr sz="900" spc="-20" dirty="0">
                <a:latin typeface="Arial"/>
                <a:cs typeface="Arial"/>
              </a:rPr>
              <a:t>week.</a:t>
            </a:r>
            <a:endParaRPr sz="900" dirty="0">
              <a:latin typeface="Arial"/>
              <a:cs typeface="Arial"/>
            </a:endParaRPr>
          </a:p>
        </p:txBody>
      </p:sp>
      <p:pic>
        <p:nvPicPr>
          <p:cNvPr id="51" name="table">
            <a:extLst>
              <a:ext uri="{FF2B5EF4-FFF2-40B4-BE49-F238E27FC236}">
                <a16:creationId xmlns:a16="http://schemas.microsoft.com/office/drawing/2014/main" id="{3C72237E-AA48-8D0D-7AB6-AA30D5A8D0F7}"/>
              </a:ext>
            </a:extLst>
          </p:cNvPr>
          <p:cNvPicPr>
            <a:picLocks noChangeAspect="1"/>
          </p:cNvPicPr>
          <p:nvPr/>
        </p:nvPicPr>
        <p:blipFill>
          <a:blip r:embed="rId6"/>
          <a:stretch>
            <a:fillRect/>
          </a:stretch>
        </p:blipFill>
        <p:spPr>
          <a:xfrm>
            <a:off x="3246273" y="6667842"/>
            <a:ext cx="2906865" cy="433070"/>
          </a:xfrm>
          <a:prstGeom prst="rect">
            <a:avLst/>
          </a:prstGeom>
        </p:spPr>
      </p:pic>
      <p:sp>
        <p:nvSpPr>
          <p:cNvPr id="52" name="object 13">
            <a:extLst>
              <a:ext uri="{FF2B5EF4-FFF2-40B4-BE49-F238E27FC236}">
                <a16:creationId xmlns:a16="http://schemas.microsoft.com/office/drawing/2014/main" id="{3E105C42-2789-C087-6073-8D9512EF705D}"/>
              </a:ext>
            </a:extLst>
          </p:cNvPr>
          <p:cNvSpPr txBox="1"/>
          <p:nvPr/>
        </p:nvSpPr>
        <p:spPr>
          <a:xfrm>
            <a:off x="3311199" y="7192234"/>
            <a:ext cx="2841938" cy="595676"/>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sz="900" dirty="0">
                <a:latin typeface="Arial"/>
                <a:cs typeface="Arial"/>
              </a:rPr>
              <a:t>D</a:t>
            </a:r>
            <a:r>
              <a:rPr sz="900" spc="30" dirty="0">
                <a:latin typeface="Arial"/>
                <a:cs typeface="Arial"/>
              </a:rPr>
              <a:t> </a:t>
            </a:r>
            <a:r>
              <a:rPr sz="900" dirty="0">
                <a:latin typeface="Arial"/>
                <a:cs typeface="Arial"/>
              </a:rPr>
              <a:t>→</a:t>
            </a:r>
            <a:r>
              <a:rPr sz="900" spc="30" dirty="0">
                <a:latin typeface="Arial"/>
                <a:cs typeface="Arial"/>
              </a:rPr>
              <a:t> </a:t>
            </a:r>
            <a:r>
              <a:rPr lang="en-US" sz="900" spc="30" dirty="0">
                <a:latin typeface="Arial"/>
                <a:cs typeface="Arial"/>
              </a:rPr>
              <a:t>Traceability Code </a:t>
            </a:r>
            <a:r>
              <a:rPr sz="900" dirty="0">
                <a:latin typeface="Arial"/>
                <a:cs typeface="Arial"/>
              </a:rPr>
              <a:t>Wafer</a:t>
            </a:r>
            <a:r>
              <a:rPr sz="900" spc="5" dirty="0">
                <a:latin typeface="Arial"/>
                <a:cs typeface="Arial"/>
              </a:rPr>
              <a:t> </a:t>
            </a:r>
            <a:r>
              <a:rPr sz="900" dirty="0">
                <a:latin typeface="Arial"/>
                <a:cs typeface="Arial"/>
              </a:rPr>
              <a:t>lot</a:t>
            </a:r>
            <a:r>
              <a:rPr sz="900" spc="35" dirty="0">
                <a:latin typeface="Arial"/>
                <a:cs typeface="Arial"/>
              </a:rPr>
              <a:t> </a:t>
            </a:r>
            <a:r>
              <a:rPr sz="900" dirty="0">
                <a:latin typeface="Arial"/>
                <a:cs typeface="Arial"/>
              </a:rPr>
              <a:t>NO.</a:t>
            </a:r>
            <a:r>
              <a:rPr sz="900" spc="315" dirty="0">
                <a:latin typeface="Arial"/>
                <a:cs typeface="Arial"/>
              </a:rPr>
              <a:t> </a:t>
            </a:r>
            <a:r>
              <a:rPr sz="900" dirty="0">
                <a:latin typeface="Arial"/>
                <a:cs typeface="Arial"/>
              </a:rPr>
              <a:t>:</a:t>
            </a:r>
            <a:r>
              <a:rPr sz="900" spc="50" dirty="0">
                <a:latin typeface="Arial"/>
                <a:cs typeface="Arial"/>
              </a:rPr>
              <a:t> </a:t>
            </a:r>
            <a:endParaRPr lang="en-US" sz="900" spc="50" dirty="0">
              <a:latin typeface="Arial"/>
              <a:cs typeface="Arial"/>
            </a:endParaRPr>
          </a:p>
          <a:p>
            <a:pPr marL="182563" indent="84138">
              <a:lnSpc>
                <a:spcPct val="100000"/>
              </a:lnSpc>
              <a:spcBef>
                <a:spcPts val="125"/>
              </a:spcBef>
            </a:pPr>
            <a:r>
              <a:rPr sz="900" dirty="0">
                <a:latin typeface="Arial"/>
                <a:cs typeface="Arial"/>
              </a:rPr>
              <a:t>A</a:t>
            </a:r>
            <a:r>
              <a:rPr sz="900" spc="35" dirty="0">
                <a:latin typeface="Arial"/>
                <a:cs typeface="Arial"/>
              </a:rPr>
              <a:t> </a:t>
            </a:r>
            <a:r>
              <a:rPr sz="900" dirty="0">
                <a:latin typeface="Arial"/>
                <a:cs typeface="Arial"/>
              </a:rPr>
              <a:t>big</a:t>
            </a:r>
            <a:r>
              <a:rPr sz="900" spc="30" dirty="0">
                <a:latin typeface="Arial"/>
                <a:cs typeface="Arial"/>
              </a:rPr>
              <a:t> </a:t>
            </a:r>
            <a:r>
              <a:rPr sz="900" dirty="0">
                <a:latin typeface="Arial"/>
                <a:cs typeface="Arial"/>
              </a:rPr>
              <a:t>assembly</a:t>
            </a:r>
            <a:r>
              <a:rPr sz="900" spc="10" dirty="0">
                <a:latin typeface="Arial"/>
                <a:cs typeface="Arial"/>
              </a:rPr>
              <a:t> </a:t>
            </a:r>
            <a:r>
              <a:rPr sz="900" dirty="0">
                <a:latin typeface="Arial"/>
                <a:cs typeface="Arial"/>
              </a:rPr>
              <a:t>Lot</a:t>
            </a:r>
            <a:r>
              <a:rPr sz="900" spc="35" dirty="0">
                <a:latin typeface="Arial"/>
                <a:cs typeface="Arial"/>
              </a:rPr>
              <a:t> </a:t>
            </a:r>
            <a:r>
              <a:rPr sz="900" dirty="0">
                <a:latin typeface="Arial"/>
                <a:cs typeface="Arial"/>
              </a:rPr>
              <a:t>consists</a:t>
            </a:r>
            <a:r>
              <a:rPr sz="900" spc="15" dirty="0">
                <a:latin typeface="Arial"/>
                <a:cs typeface="Arial"/>
              </a:rPr>
              <a:t> </a:t>
            </a:r>
            <a:r>
              <a:rPr sz="900" dirty="0">
                <a:latin typeface="Arial"/>
                <a:cs typeface="Arial"/>
              </a:rPr>
              <a:t>of</a:t>
            </a:r>
            <a:r>
              <a:rPr sz="900" spc="50" dirty="0">
                <a:latin typeface="Arial"/>
                <a:cs typeface="Arial"/>
              </a:rPr>
              <a:t> </a:t>
            </a:r>
            <a:r>
              <a:rPr sz="900" dirty="0">
                <a:latin typeface="Arial"/>
                <a:cs typeface="Arial"/>
              </a:rPr>
              <a:t>three</a:t>
            </a:r>
            <a:r>
              <a:rPr sz="900" spc="45" dirty="0">
                <a:latin typeface="Arial"/>
                <a:cs typeface="Arial"/>
              </a:rPr>
              <a:t> </a:t>
            </a:r>
            <a:r>
              <a:rPr sz="900" dirty="0">
                <a:latin typeface="Arial"/>
                <a:cs typeface="Arial"/>
              </a:rPr>
              <a:t>wafers.</a:t>
            </a:r>
            <a:r>
              <a:rPr sz="900" spc="315" dirty="0">
                <a:latin typeface="Arial"/>
                <a:cs typeface="Arial"/>
              </a:rPr>
              <a:t> </a:t>
            </a:r>
            <a:r>
              <a:rPr sz="900" dirty="0">
                <a:latin typeface="Arial"/>
                <a:cs typeface="Arial"/>
              </a:rPr>
              <a:t>Each</a:t>
            </a:r>
            <a:r>
              <a:rPr sz="900" spc="35" dirty="0">
                <a:latin typeface="Arial"/>
                <a:cs typeface="Arial"/>
              </a:rPr>
              <a:t> </a:t>
            </a:r>
            <a:r>
              <a:rPr sz="900" dirty="0">
                <a:latin typeface="Arial"/>
                <a:cs typeface="Arial"/>
              </a:rPr>
              <a:t>big</a:t>
            </a:r>
            <a:r>
              <a:rPr sz="900" spc="30" dirty="0">
                <a:latin typeface="Arial"/>
                <a:cs typeface="Arial"/>
              </a:rPr>
              <a:t> </a:t>
            </a:r>
            <a:r>
              <a:rPr sz="900" dirty="0">
                <a:latin typeface="Arial"/>
                <a:cs typeface="Arial"/>
              </a:rPr>
              <a:t>assembly</a:t>
            </a:r>
            <a:r>
              <a:rPr sz="900" spc="10" dirty="0">
                <a:latin typeface="Arial"/>
                <a:cs typeface="Arial"/>
              </a:rPr>
              <a:t> </a:t>
            </a:r>
            <a:r>
              <a:rPr sz="900" spc="-25" dirty="0">
                <a:latin typeface="Arial"/>
                <a:cs typeface="Arial"/>
              </a:rPr>
              <a:t>Lot</a:t>
            </a:r>
            <a:r>
              <a:rPr lang="en-US" sz="900" spc="-25" dirty="0">
                <a:latin typeface="Arial"/>
                <a:cs typeface="Arial"/>
              </a:rPr>
              <a:t>.</a:t>
            </a:r>
          </a:p>
          <a:p>
            <a:pPr marL="182563" indent="84138">
              <a:lnSpc>
                <a:spcPct val="100000"/>
              </a:lnSpc>
              <a:spcBef>
                <a:spcPts val="125"/>
              </a:spcBef>
            </a:pPr>
            <a:r>
              <a:rPr sz="900" dirty="0">
                <a:latin typeface="Arial"/>
                <a:cs typeface="Arial"/>
              </a:rPr>
              <a:t>Lot</a:t>
            </a:r>
            <a:r>
              <a:rPr sz="900" spc="40" dirty="0">
                <a:latin typeface="Arial"/>
                <a:cs typeface="Arial"/>
              </a:rPr>
              <a:t> </a:t>
            </a:r>
            <a:r>
              <a:rPr sz="900" dirty="0">
                <a:latin typeface="Arial"/>
                <a:cs typeface="Arial"/>
              </a:rPr>
              <a:t>is</a:t>
            </a:r>
            <a:r>
              <a:rPr sz="900" spc="45" dirty="0">
                <a:latin typeface="Arial"/>
                <a:cs typeface="Arial"/>
              </a:rPr>
              <a:t> </a:t>
            </a:r>
            <a:r>
              <a:rPr sz="900" dirty="0">
                <a:latin typeface="Arial"/>
                <a:cs typeface="Arial"/>
              </a:rPr>
              <a:t>represented</a:t>
            </a:r>
            <a:r>
              <a:rPr sz="900" spc="25" dirty="0">
                <a:latin typeface="Arial"/>
                <a:cs typeface="Arial"/>
              </a:rPr>
              <a:t> </a:t>
            </a:r>
            <a:r>
              <a:rPr sz="900" dirty="0">
                <a:latin typeface="Arial"/>
                <a:cs typeface="Arial"/>
              </a:rPr>
              <a:t>by</a:t>
            </a:r>
            <a:r>
              <a:rPr sz="900" spc="60" dirty="0">
                <a:latin typeface="Arial"/>
                <a:cs typeface="Arial"/>
              </a:rPr>
              <a:t> </a:t>
            </a:r>
            <a:r>
              <a:rPr sz="900" dirty="0">
                <a:latin typeface="Arial"/>
                <a:cs typeface="Arial"/>
              </a:rPr>
              <a:t>a</a:t>
            </a:r>
            <a:r>
              <a:rPr sz="900" spc="45" dirty="0">
                <a:latin typeface="Arial"/>
                <a:cs typeface="Arial"/>
              </a:rPr>
              <a:t> </a:t>
            </a:r>
            <a:r>
              <a:rPr sz="900" dirty="0">
                <a:latin typeface="Arial"/>
                <a:cs typeface="Arial"/>
              </a:rPr>
              <a:t>character</a:t>
            </a:r>
            <a:r>
              <a:rPr sz="900" spc="40" dirty="0">
                <a:latin typeface="Arial"/>
                <a:cs typeface="Arial"/>
              </a:rPr>
              <a:t> </a:t>
            </a:r>
            <a:r>
              <a:rPr sz="900" dirty="0">
                <a:latin typeface="Arial"/>
                <a:cs typeface="Arial"/>
              </a:rPr>
              <a:t>(Ex:</a:t>
            </a:r>
            <a:r>
              <a:rPr sz="900" spc="75" dirty="0">
                <a:latin typeface="Arial"/>
                <a:cs typeface="Arial"/>
              </a:rPr>
              <a:t> </a:t>
            </a:r>
            <a:r>
              <a:rPr sz="900" spc="-10" dirty="0">
                <a:latin typeface="Arial"/>
                <a:cs typeface="Arial"/>
              </a:rPr>
              <a:t>1,2,3,…)</a:t>
            </a:r>
            <a:endParaRPr sz="900" dirty="0">
              <a:latin typeface="Arial"/>
              <a:cs typeface="Arial"/>
            </a:endParaRPr>
          </a:p>
        </p:txBody>
      </p:sp>
      <p:pic>
        <p:nvPicPr>
          <p:cNvPr id="53" name="table">
            <a:extLst>
              <a:ext uri="{FF2B5EF4-FFF2-40B4-BE49-F238E27FC236}">
                <a16:creationId xmlns:a16="http://schemas.microsoft.com/office/drawing/2014/main" id="{3A4D7DF2-9821-813A-CC3B-1A5A9781C24B}"/>
              </a:ext>
            </a:extLst>
          </p:cNvPr>
          <p:cNvPicPr>
            <a:picLocks noChangeAspect="1"/>
          </p:cNvPicPr>
          <p:nvPr/>
        </p:nvPicPr>
        <p:blipFill>
          <a:blip r:embed="rId7"/>
          <a:stretch>
            <a:fillRect/>
          </a:stretch>
        </p:blipFill>
        <p:spPr>
          <a:xfrm>
            <a:off x="3246269" y="7798226"/>
            <a:ext cx="2906863" cy="433070"/>
          </a:xfrm>
          <a:prstGeom prst="rect">
            <a:avLst/>
          </a:prstGeom>
        </p:spPr>
      </p:pic>
      <p:sp>
        <p:nvSpPr>
          <p:cNvPr id="54" name="object 10">
            <a:extLst>
              <a:ext uri="{FF2B5EF4-FFF2-40B4-BE49-F238E27FC236}">
                <a16:creationId xmlns:a16="http://schemas.microsoft.com/office/drawing/2014/main" id="{3F4802A4-CE43-6C2F-E275-0296B4053A40}"/>
              </a:ext>
            </a:extLst>
          </p:cNvPr>
          <p:cNvSpPr txBox="1"/>
          <p:nvPr/>
        </p:nvSpPr>
        <p:spPr>
          <a:xfrm>
            <a:off x="3311199" y="8330595"/>
            <a:ext cx="2223195" cy="154529"/>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lang="en-US" sz="900" dirty="0">
                <a:latin typeface="Arial"/>
                <a:cs typeface="Arial"/>
              </a:rPr>
              <a:t>@</a:t>
            </a:r>
            <a:r>
              <a:rPr sz="900" spc="15" dirty="0">
                <a:latin typeface="Arial"/>
                <a:cs typeface="Arial"/>
              </a:rPr>
              <a:t> </a:t>
            </a:r>
            <a:r>
              <a:rPr sz="900" dirty="0">
                <a:latin typeface="Arial"/>
                <a:cs typeface="Arial"/>
              </a:rPr>
              <a:t>→</a:t>
            </a:r>
            <a:r>
              <a:rPr sz="900" spc="20" dirty="0">
                <a:latin typeface="Arial"/>
                <a:cs typeface="Arial"/>
              </a:rPr>
              <a:t> </a:t>
            </a:r>
            <a:r>
              <a:rPr lang="en-US" sz="900" spc="20" dirty="0">
                <a:latin typeface="Arial"/>
                <a:cs typeface="Arial"/>
              </a:rPr>
              <a:t>Assembly plant</a:t>
            </a:r>
            <a:r>
              <a:rPr sz="900" spc="35" dirty="0">
                <a:latin typeface="Arial"/>
                <a:cs typeface="Arial"/>
              </a:rPr>
              <a:t> </a:t>
            </a:r>
            <a:r>
              <a:rPr sz="900" spc="-20" dirty="0">
                <a:latin typeface="Arial"/>
                <a:cs typeface="Arial"/>
              </a:rPr>
              <a:t>code</a:t>
            </a:r>
            <a:endParaRPr sz="900" dirty="0">
              <a:latin typeface="Arial"/>
              <a:cs typeface="Arial"/>
            </a:endParaRPr>
          </a:p>
        </p:txBody>
      </p:sp>
      <p:pic>
        <p:nvPicPr>
          <p:cNvPr id="55" name="table">
            <a:extLst>
              <a:ext uri="{FF2B5EF4-FFF2-40B4-BE49-F238E27FC236}">
                <a16:creationId xmlns:a16="http://schemas.microsoft.com/office/drawing/2014/main" id="{337FFB37-A1A6-91CA-1444-1B811EB86C12}"/>
              </a:ext>
            </a:extLst>
          </p:cNvPr>
          <p:cNvPicPr>
            <a:picLocks noChangeAspect="1"/>
          </p:cNvPicPr>
          <p:nvPr/>
        </p:nvPicPr>
        <p:blipFill>
          <a:blip r:embed="rId8"/>
          <a:stretch>
            <a:fillRect/>
          </a:stretch>
        </p:blipFill>
        <p:spPr>
          <a:xfrm>
            <a:off x="3246268" y="8523029"/>
            <a:ext cx="2906863" cy="433070"/>
          </a:xfrm>
          <a:prstGeom prst="rect">
            <a:avLst/>
          </a:prstGeom>
        </p:spPr>
      </p:pic>
      <p:sp>
        <p:nvSpPr>
          <p:cNvPr id="56" name="object 19">
            <a:extLst>
              <a:ext uri="{FF2B5EF4-FFF2-40B4-BE49-F238E27FC236}">
                <a16:creationId xmlns:a16="http://schemas.microsoft.com/office/drawing/2014/main" id="{85A9BBA8-9E97-0C84-DB3F-305341E0BBF6}"/>
              </a:ext>
            </a:extLst>
          </p:cNvPr>
          <p:cNvSpPr txBox="1"/>
          <p:nvPr/>
        </p:nvSpPr>
        <p:spPr>
          <a:xfrm>
            <a:off x="1323989" y="2717999"/>
            <a:ext cx="1377142"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spc="-10" dirty="0">
                <a:latin typeface="Arial" panose="020B0604020202020204" pitchFamily="34" charset="0"/>
                <a:cs typeface="Arial" panose="020B0604020202020204" pitchFamily="34" charset="0"/>
              </a:rPr>
              <a:t>CBA2J</a:t>
            </a:r>
            <a:endParaRPr sz="2000" b="1" dirty="0">
              <a:latin typeface="Arial" panose="020B0604020202020204" pitchFamily="34" charset="0"/>
              <a:cs typeface="Arial" panose="020B0604020202020204" pitchFamily="34" charset="0"/>
            </a:endParaRPr>
          </a:p>
        </p:txBody>
      </p:sp>
      <p:sp>
        <p:nvSpPr>
          <p:cNvPr id="57" name="object 19">
            <a:extLst>
              <a:ext uri="{FF2B5EF4-FFF2-40B4-BE49-F238E27FC236}">
                <a16:creationId xmlns:a16="http://schemas.microsoft.com/office/drawing/2014/main" id="{3284A6AF-7121-936D-2A80-4626E8F9F5E6}"/>
              </a:ext>
            </a:extLst>
          </p:cNvPr>
          <p:cNvSpPr txBox="1"/>
          <p:nvPr/>
        </p:nvSpPr>
        <p:spPr>
          <a:xfrm>
            <a:off x="1313782" y="1980518"/>
            <a:ext cx="1441965" cy="483465"/>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409"/>
              </a:spcBef>
            </a:pPr>
            <a:r>
              <a:rPr lang="en-US" sz="2800" b="1" spc="-20" dirty="0">
                <a:latin typeface="Arial" panose="020B0604020202020204" pitchFamily="34" charset="0"/>
                <a:cs typeface="Arial" panose="020B0604020202020204" pitchFamily="34" charset="0"/>
              </a:rPr>
              <a:t>XD12R</a:t>
            </a:r>
            <a:endParaRPr sz="2800" b="1" dirty="0">
              <a:latin typeface="Arial" panose="020B0604020202020204" pitchFamily="34" charset="0"/>
              <a:cs typeface="Arial" panose="020B0604020202020204" pitchFamily="34" charset="0"/>
            </a:endParaRPr>
          </a:p>
        </p:txBody>
      </p:sp>
      <p:sp>
        <p:nvSpPr>
          <p:cNvPr id="58" name="object 19">
            <a:extLst>
              <a:ext uri="{FF2B5EF4-FFF2-40B4-BE49-F238E27FC236}">
                <a16:creationId xmlns:a16="http://schemas.microsoft.com/office/drawing/2014/main" id="{5828DA3C-3E72-49CC-B228-6DACDD4F2A6B}"/>
              </a:ext>
            </a:extLst>
          </p:cNvPr>
          <p:cNvSpPr txBox="1"/>
          <p:nvPr/>
        </p:nvSpPr>
        <p:spPr>
          <a:xfrm>
            <a:off x="1325384" y="2395505"/>
            <a:ext cx="1101426"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dirty="0">
                <a:latin typeface="Arial" panose="020B0604020202020204" pitchFamily="34" charset="0"/>
                <a:cs typeface="Arial" panose="020B0604020202020204" pitchFamily="34" charset="0"/>
              </a:rPr>
              <a:t>AAA</a:t>
            </a:r>
            <a:endParaRPr sz="2000" b="1" dirty="0">
              <a:latin typeface="Arial" panose="020B0604020202020204" pitchFamily="34" charset="0"/>
              <a:cs typeface="Arial" panose="020B0604020202020204" pitchFamily="34" charset="0"/>
            </a:endParaRPr>
          </a:p>
        </p:txBody>
      </p:sp>
      <p:sp>
        <p:nvSpPr>
          <p:cNvPr id="59" name="직사각형 58">
            <a:extLst>
              <a:ext uri="{FF2B5EF4-FFF2-40B4-BE49-F238E27FC236}">
                <a16:creationId xmlns:a16="http://schemas.microsoft.com/office/drawing/2014/main" id="{A45AB195-67EF-B230-C453-FDA9193DE3AF}"/>
              </a:ext>
            </a:extLst>
          </p:cNvPr>
          <p:cNvSpPr/>
          <p:nvPr/>
        </p:nvSpPr>
        <p:spPr>
          <a:xfrm>
            <a:off x="4169849" y="1733065"/>
            <a:ext cx="1825573" cy="182045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solidFill>
                <a:schemeClr val="tx1"/>
              </a:solidFill>
              <a:latin typeface="Arial" panose="020B0604020202020204" pitchFamily="34" charset="0"/>
              <a:cs typeface="Arial" panose="020B0604020202020204" pitchFamily="34" charset="0"/>
            </a:endParaRPr>
          </a:p>
        </p:txBody>
      </p:sp>
      <p:sp>
        <p:nvSpPr>
          <p:cNvPr id="60" name="object 19">
            <a:extLst>
              <a:ext uri="{FF2B5EF4-FFF2-40B4-BE49-F238E27FC236}">
                <a16:creationId xmlns:a16="http://schemas.microsoft.com/office/drawing/2014/main" id="{A458A3E4-10BA-0BAD-FD2A-E8F6D1C110AA}"/>
              </a:ext>
            </a:extLst>
          </p:cNvPr>
          <p:cNvSpPr txBox="1"/>
          <p:nvPr/>
        </p:nvSpPr>
        <p:spPr>
          <a:xfrm>
            <a:off x="4562371" y="2717999"/>
            <a:ext cx="1377142"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spc="-10" dirty="0">
                <a:latin typeface="Arial" panose="020B0604020202020204" pitchFamily="34" charset="0"/>
                <a:cs typeface="Arial" panose="020B0604020202020204" pitchFamily="34" charset="0"/>
              </a:rPr>
              <a:t>CBA2S</a:t>
            </a:r>
            <a:endParaRPr sz="2000" b="1" dirty="0">
              <a:latin typeface="Arial" panose="020B0604020202020204" pitchFamily="34" charset="0"/>
              <a:cs typeface="Arial" panose="020B0604020202020204" pitchFamily="34" charset="0"/>
            </a:endParaRPr>
          </a:p>
        </p:txBody>
      </p:sp>
      <p:sp>
        <p:nvSpPr>
          <p:cNvPr id="61" name="object 19">
            <a:extLst>
              <a:ext uri="{FF2B5EF4-FFF2-40B4-BE49-F238E27FC236}">
                <a16:creationId xmlns:a16="http://schemas.microsoft.com/office/drawing/2014/main" id="{3ECD27CD-7DEF-1BF1-0AA5-24021E20B8FA}"/>
              </a:ext>
            </a:extLst>
          </p:cNvPr>
          <p:cNvSpPr txBox="1"/>
          <p:nvPr/>
        </p:nvSpPr>
        <p:spPr>
          <a:xfrm>
            <a:off x="4539464" y="1980518"/>
            <a:ext cx="1441965" cy="483465"/>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409"/>
              </a:spcBef>
            </a:pPr>
            <a:r>
              <a:rPr lang="en-US" sz="2800" b="1" spc="-20" dirty="0">
                <a:latin typeface="Arial" panose="020B0604020202020204" pitchFamily="34" charset="0"/>
                <a:cs typeface="Arial" panose="020B0604020202020204" pitchFamily="34" charset="0"/>
              </a:rPr>
              <a:t>XD12R</a:t>
            </a:r>
            <a:endParaRPr sz="2800" b="1" dirty="0">
              <a:latin typeface="Arial" panose="020B0604020202020204" pitchFamily="34" charset="0"/>
              <a:cs typeface="Arial" panose="020B0604020202020204" pitchFamily="34" charset="0"/>
            </a:endParaRPr>
          </a:p>
        </p:txBody>
      </p:sp>
      <p:sp>
        <p:nvSpPr>
          <p:cNvPr id="62" name="object 19">
            <a:extLst>
              <a:ext uri="{FF2B5EF4-FFF2-40B4-BE49-F238E27FC236}">
                <a16:creationId xmlns:a16="http://schemas.microsoft.com/office/drawing/2014/main" id="{14C6ED34-A95C-660E-4918-9D9C55787A8B}"/>
              </a:ext>
            </a:extLst>
          </p:cNvPr>
          <p:cNvSpPr txBox="1"/>
          <p:nvPr/>
        </p:nvSpPr>
        <p:spPr>
          <a:xfrm>
            <a:off x="4563766" y="2395505"/>
            <a:ext cx="1101426"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spc="-10" dirty="0">
                <a:latin typeface="Arial" panose="020B0604020202020204" pitchFamily="34" charset="0"/>
                <a:cs typeface="Arial" panose="020B0604020202020204" pitchFamily="34" charset="0"/>
              </a:rPr>
              <a:t>AAA</a:t>
            </a:r>
            <a:endParaRPr sz="2000" b="1" dirty="0">
              <a:latin typeface="Arial" panose="020B0604020202020204" pitchFamily="34" charset="0"/>
              <a:cs typeface="Arial" panose="020B0604020202020204" pitchFamily="34" charset="0"/>
            </a:endParaRPr>
          </a:p>
        </p:txBody>
      </p:sp>
      <p:pic>
        <p:nvPicPr>
          <p:cNvPr id="63" name="object 22">
            <a:extLst>
              <a:ext uri="{FF2B5EF4-FFF2-40B4-BE49-F238E27FC236}">
                <a16:creationId xmlns:a16="http://schemas.microsoft.com/office/drawing/2014/main" id="{E2965C42-BF0B-A564-C8C5-6B0AEB48F905}"/>
              </a:ext>
            </a:extLst>
          </p:cNvPr>
          <p:cNvPicPr/>
          <p:nvPr/>
        </p:nvPicPr>
        <p:blipFill>
          <a:blip r:embed="rId2" cstate="print"/>
          <a:stretch>
            <a:fillRect/>
          </a:stretch>
        </p:blipFill>
        <p:spPr>
          <a:xfrm>
            <a:off x="4366399" y="3240016"/>
            <a:ext cx="112794" cy="114265"/>
          </a:xfrm>
          <a:prstGeom prst="rect">
            <a:avLst/>
          </a:prstGeom>
        </p:spPr>
      </p:pic>
      <p:sp>
        <p:nvSpPr>
          <p:cNvPr id="4480" name="TextBox 12">
            <a:extLst>
              <a:ext uri="{FF2B5EF4-FFF2-40B4-BE49-F238E27FC236}">
                <a16:creationId xmlns:a16="http://schemas.microsoft.com/office/drawing/2014/main" id="{EC65BC56-D97E-579F-E179-A6CAD5057235}"/>
              </a:ext>
            </a:extLst>
          </p:cNvPr>
          <p:cNvSpPr txBox="1"/>
          <p:nvPr/>
        </p:nvSpPr>
        <p:spPr>
          <a:xfrm>
            <a:off x="419512" y="835600"/>
            <a:ext cx="6048622" cy="307777"/>
          </a:xfrm>
          <a:prstGeom prst="rect">
            <a:avLst/>
          </a:prstGeom>
          <a:noFill/>
        </p:spPr>
        <p:txBody>
          <a:bodyPr wrap="square" l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435">
              <a:spcBef>
                <a:spcPts val="98"/>
              </a:spcBef>
            </a:pPr>
            <a:r>
              <a:rPr lang="en-US" altLang="ko-KR" sz="1400" b="1" spc="-5" dirty="0">
                <a:latin typeface="Arial"/>
                <a:cs typeface="Arial"/>
              </a:rPr>
              <a:t>Body TOP Marking </a:t>
            </a:r>
            <a:endParaRPr lang="en-US" altLang="ko-KR" sz="1400" dirty="0">
              <a:latin typeface="Arial"/>
              <a:cs typeface="Arial"/>
            </a:endParaRPr>
          </a:p>
        </p:txBody>
      </p:sp>
      <p:sp>
        <p:nvSpPr>
          <p:cNvPr id="4482" name="타원 4481">
            <a:extLst>
              <a:ext uri="{FF2B5EF4-FFF2-40B4-BE49-F238E27FC236}">
                <a16:creationId xmlns:a16="http://schemas.microsoft.com/office/drawing/2014/main" id="{4C204CD4-FEA8-796B-E39D-9011CDC9AFFD}"/>
              </a:ext>
            </a:extLst>
          </p:cNvPr>
          <p:cNvSpPr/>
          <p:nvPr/>
        </p:nvSpPr>
        <p:spPr>
          <a:xfrm>
            <a:off x="3070792" y="2834118"/>
            <a:ext cx="65223" cy="6522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p>
        </p:txBody>
      </p:sp>
    </p:spTree>
    <p:extLst>
      <p:ext uri="{BB962C8B-B14F-4D97-AF65-F5344CB8AC3E}">
        <p14:creationId xmlns:p14="http://schemas.microsoft.com/office/powerpoint/2010/main" val="19151303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4D04B-1A87-13B5-C111-1D888F129B68}"/>
            </a:ext>
          </a:extLst>
        </p:cNvPr>
        <p:cNvGrpSpPr/>
        <p:nvPr/>
      </p:nvGrpSpPr>
      <p:grpSpPr>
        <a:xfrm>
          <a:off x="0" y="0"/>
          <a:ext cx="0" cy="0"/>
          <a:chOff x="0" y="0"/>
          <a:chExt cx="0" cy="0"/>
        </a:xfrm>
      </p:grpSpPr>
      <p:sp>
        <p:nvSpPr>
          <p:cNvPr id="10" name="object 4">
            <a:extLst>
              <a:ext uri="{FF2B5EF4-FFF2-40B4-BE49-F238E27FC236}">
                <a16:creationId xmlns:a16="http://schemas.microsoft.com/office/drawing/2014/main" id="{3F2BD2B8-D409-B60E-0763-F9D71F813185}"/>
              </a:ext>
            </a:extLst>
          </p:cNvPr>
          <p:cNvSpPr txBox="1"/>
          <p:nvPr/>
        </p:nvSpPr>
        <p:spPr>
          <a:xfrm>
            <a:off x="692150" y="1250061"/>
            <a:ext cx="2287905" cy="197490"/>
          </a:xfrm>
          <a:prstGeom prst="rect">
            <a:avLst/>
          </a:prstGeom>
        </p:spPr>
        <p:txBody>
          <a:bodyPr vert="horz" wrap="square" lIns="0" tIns="12700" rIns="0" bIns="0" rtlCol="0">
            <a:spAutoFit/>
          </a:bodyPr>
          <a:lstStyle/>
          <a:p>
            <a:pPr marL="219710">
              <a:lnSpc>
                <a:spcPct val="100000"/>
              </a:lnSpc>
              <a:spcBef>
                <a:spcPts val="940"/>
              </a:spcBef>
            </a:pPr>
            <a:r>
              <a:rPr sz="1200" spc="-5" dirty="0">
                <a:latin typeface="Arial"/>
                <a:cs typeface="Arial"/>
              </a:rPr>
              <a:t>1</a:t>
            </a:r>
            <a:r>
              <a:rPr sz="1050" spc="-5" dirty="0">
                <a:latin typeface="Arial"/>
                <a:cs typeface="Arial"/>
              </a:rPr>
              <a:t>)</a:t>
            </a:r>
            <a:r>
              <a:rPr sz="1050" spc="-45" dirty="0">
                <a:latin typeface="Arial"/>
                <a:cs typeface="Arial"/>
              </a:rPr>
              <a:t> </a:t>
            </a:r>
            <a:r>
              <a:rPr sz="1200" spc="-5" dirty="0">
                <a:latin typeface="Arial"/>
                <a:cs typeface="Arial"/>
              </a:rPr>
              <a:t>JSICAT</a:t>
            </a:r>
            <a:endParaRPr sz="1050" dirty="0">
              <a:latin typeface="Arial"/>
              <a:cs typeface="Arial"/>
            </a:endParaRPr>
          </a:p>
        </p:txBody>
      </p:sp>
      <p:pic>
        <p:nvPicPr>
          <p:cNvPr id="3" name="图片 3">
            <a:extLst>
              <a:ext uri="{FF2B5EF4-FFF2-40B4-BE49-F238E27FC236}">
                <a16:creationId xmlns:a16="http://schemas.microsoft.com/office/drawing/2014/main" id="{7616BB36-7622-F44A-4237-7A725692773C}"/>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5000"/>
                    </a14:imgEffect>
                    <a14:imgEffect>
                      <a14:saturation sat="18000"/>
                    </a14:imgEffect>
                  </a14:imgLayer>
                </a14:imgProps>
              </a:ext>
            </a:extLst>
          </a:blip>
          <a:stretch>
            <a:fillRect/>
          </a:stretch>
        </p:blipFill>
        <p:spPr>
          <a:xfrm>
            <a:off x="1198805" y="4953000"/>
            <a:ext cx="4659191" cy="3389302"/>
          </a:xfrm>
          <a:prstGeom prst="rect">
            <a:avLst/>
          </a:prstGeom>
          <a:noFill/>
          <a:ln w="9525">
            <a:noFill/>
          </a:ln>
        </p:spPr>
      </p:pic>
      <p:pic>
        <p:nvPicPr>
          <p:cNvPr id="9" name="그림 1">
            <a:extLst>
              <a:ext uri="{FF2B5EF4-FFF2-40B4-BE49-F238E27FC236}">
                <a16:creationId xmlns:a16="http://schemas.microsoft.com/office/drawing/2014/main" id="{8F166DB8-6313-A18A-C526-EAD1D5C93B3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36666"/>
          <a:stretch>
            <a:fillRect/>
          </a:stretch>
        </p:blipFill>
        <p:spPr bwMode="auto">
          <a:xfrm>
            <a:off x="1270001" y="1530811"/>
            <a:ext cx="5068645" cy="225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그림 1">
            <a:extLst>
              <a:ext uri="{FF2B5EF4-FFF2-40B4-BE49-F238E27FC236}">
                <a16:creationId xmlns:a16="http://schemas.microsoft.com/office/drawing/2014/main" id="{FA213CC8-2E98-EE78-0C66-81D483AF52F1}"/>
              </a:ext>
            </a:extLst>
          </p:cNvPr>
          <p:cNvPicPr>
            <a:picLocks noChangeAspect="1" noChangeArrowheads="1"/>
          </p:cNvPicPr>
          <p:nvPr/>
        </p:nvPicPr>
        <p:blipFill>
          <a:blip r:embed="rId6" cstate="print">
            <a:extLst>
              <a:ext uri="{BEBA8EAE-BF5A-486C-A8C5-ECC9F3942E4B}">
                <a14:imgProps xmlns:a14="http://schemas.microsoft.com/office/drawing/2010/main">
                  <a14:imgLayer r:embed="rId7">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1412166" y="3237848"/>
            <a:ext cx="1586393" cy="343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47FB9822-8FA1-8943-5C39-B071E2AAD5BB}"/>
              </a:ext>
            </a:extLst>
          </p:cNvPr>
          <p:cNvSpPr txBox="1"/>
          <p:nvPr/>
        </p:nvSpPr>
        <p:spPr>
          <a:xfrm>
            <a:off x="404813" y="774866"/>
            <a:ext cx="6048622" cy="307777"/>
          </a:xfrm>
          <a:prstGeom prst="rect">
            <a:avLst/>
          </a:prstGeom>
          <a:noFill/>
        </p:spPr>
        <p:txBody>
          <a:bodyPr wrap="square" lIns="0" rtlCol="0">
            <a:spAutoFit/>
          </a:bodyPr>
          <a:lstStyle/>
          <a:p>
            <a:pPr marL="12700">
              <a:lnSpc>
                <a:spcPct val="100000"/>
              </a:lnSpc>
              <a:spcBef>
                <a:spcPts val="100"/>
              </a:spcBef>
            </a:pPr>
            <a:r>
              <a:rPr lang="en-US" altLang="ko-KR" sz="1400" b="1" spc="-5" dirty="0">
                <a:latin typeface="Arial"/>
                <a:cs typeface="Arial"/>
              </a:rPr>
              <a:t>Embossed</a:t>
            </a:r>
            <a:r>
              <a:rPr lang="en-US" altLang="ko-KR" sz="1400" b="1" spc="-50" dirty="0">
                <a:latin typeface="Arial"/>
                <a:cs typeface="Arial"/>
              </a:rPr>
              <a:t> </a:t>
            </a:r>
            <a:r>
              <a:rPr lang="en-US" altLang="ko-KR" sz="1400" b="1" dirty="0">
                <a:latin typeface="Arial"/>
                <a:cs typeface="Arial"/>
              </a:rPr>
              <a:t>tape</a:t>
            </a:r>
            <a:r>
              <a:rPr lang="en-US" altLang="ko-KR" sz="1400" b="1" spc="-40" dirty="0">
                <a:latin typeface="Arial"/>
                <a:cs typeface="Arial"/>
              </a:rPr>
              <a:t> </a:t>
            </a:r>
            <a:r>
              <a:rPr lang="en-US" altLang="ko-KR" sz="1400" b="1" dirty="0">
                <a:latin typeface="Arial"/>
                <a:cs typeface="Arial"/>
              </a:rPr>
              <a:t>and</a:t>
            </a:r>
            <a:r>
              <a:rPr lang="en-US" altLang="ko-KR" sz="1400" b="1" spc="-30" dirty="0">
                <a:latin typeface="Arial"/>
                <a:cs typeface="Arial"/>
              </a:rPr>
              <a:t> </a:t>
            </a:r>
            <a:r>
              <a:rPr lang="en-US" altLang="ko-KR" sz="1400" b="1" spc="-5" dirty="0">
                <a:latin typeface="Arial"/>
                <a:cs typeface="Arial"/>
              </a:rPr>
              <a:t>reel</a:t>
            </a:r>
            <a:r>
              <a:rPr lang="en-US" altLang="ko-KR" sz="1400" b="1" spc="-45" dirty="0">
                <a:latin typeface="Arial"/>
                <a:cs typeface="Arial"/>
              </a:rPr>
              <a:t> </a:t>
            </a:r>
            <a:r>
              <a:rPr lang="en-US" altLang="ko-KR" sz="1400" b="1" dirty="0">
                <a:latin typeface="Arial"/>
                <a:cs typeface="Arial"/>
              </a:rPr>
              <a:t>data</a:t>
            </a:r>
            <a:endParaRPr lang="en-US" altLang="ko-KR" sz="1400" dirty="0">
              <a:latin typeface="Arial"/>
              <a:cs typeface="Arial"/>
            </a:endParaRPr>
          </a:p>
        </p:txBody>
      </p:sp>
      <p:cxnSp>
        <p:nvCxnSpPr>
          <p:cNvPr id="11" name="직선 연결선 10">
            <a:extLst>
              <a:ext uri="{FF2B5EF4-FFF2-40B4-BE49-F238E27FC236}">
                <a16:creationId xmlns:a16="http://schemas.microsoft.com/office/drawing/2014/main" id="{2273513B-8326-19FD-22DB-E93D8EC79C7C}"/>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71FA746-A3FB-ACE4-EB6D-B3203164ADD7}"/>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4" name="object 84">
            <a:extLst>
              <a:ext uri="{FF2B5EF4-FFF2-40B4-BE49-F238E27FC236}">
                <a16:creationId xmlns:a16="http://schemas.microsoft.com/office/drawing/2014/main" id="{F2F9DB30-9F1E-9882-18A1-04D724F79138}"/>
              </a:ext>
            </a:extLst>
          </p:cNvPr>
          <p:cNvSpPr txBox="1"/>
          <p:nvPr/>
        </p:nvSpPr>
        <p:spPr>
          <a:xfrm>
            <a:off x="2475954" y="8517440"/>
            <a:ext cx="214417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14. Tape and </a:t>
            </a:r>
            <a:r>
              <a:rPr lang="en-US" sz="900" b="1" spc="15" dirty="0">
                <a:solidFill>
                  <a:prstClr val="black"/>
                </a:solidFill>
                <a:latin typeface="Arial" panose="020B0604020202020204" pitchFamily="34" charset="0"/>
                <a:cs typeface="Arial" panose="020B0604020202020204" pitchFamily="34" charset="0"/>
              </a:rPr>
              <a:t>reel </a:t>
            </a:r>
            <a:r>
              <a:rPr kumimoji="0" lang="en-US" sz="900" b="1" spc="15" dirty="0">
                <a:solidFill>
                  <a:prstClr val="black"/>
                </a:solidFill>
                <a:latin typeface="Arial" panose="020B0604020202020204" pitchFamily="34" charset="0"/>
                <a:ea typeface="+mn-ea"/>
                <a:cs typeface="Arial" panose="020B0604020202020204" pitchFamily="34" charset="0"/>
              </a:rPr>
              <a:t>specification</a:t>
            </a:r>
          </a:p>
        </p:txBody>
      </p:sp>
      <p:graphicFrame>
        <p:nvGraphicFramePr>
          <p:cNvPr id="16" name="표 15">
            <a:extLst>
              <a:ext uri="{FF2B5EF4-FFF2-40B4-BE49-F238E27FC236}">
                <a16:creationId xmlns:a16="http://schemas.microsoft.com/office/drawing/2014/main" id="{CEB55193-1A3D-2432-1439-1C7C546BECD4}"/>
              </a:ext>
            </a:extLst>
          </p:cNvPr>
          <p:cNvGraphicFramePr>
            <a:graphicFrameLocks noGrp="1"/>
          </p:cNvGraphicFramePr>
          <p:nvPr>
            <p:extLst>
              <p:ext uri="{D42A27DB-BD31-4B8C-83A1-F6EECF244321}">
                <p14:modId xmlns:p14="http://schemas.microsoft.com/office/powerpoint/2010/main" val="3036793649"/>
              </p:ext>
            </p:extLst>
          </p:nvPr>
        </p:nvGraphicFramePr>
        <p:xfrm>
          <a:off x="1270001" y="3995533"/>
          <a:ext cx="4587995" cy="714720"/>
        </p:xfrm>
        <a:graphic>
          <a:graphicData uri="http://schemas.openxmlformats.org/drawingml/2006/table">
            <a:tbl>
              <a:tblPr firstRow="1" bandRow="1">
                <a:tableStyleId>{5C22544A-7EE6-4342-B048-85BDC9FD1C3A}</a:tableStyleId>
              </a:tblPr>
              <a:tblGrid>
                <a:gridCol w="520555">
                  <a:extLst>
                    <a:ext uri="{9D8B030D-6E8A-4147-A177-3AD203B41FA5}">
                      <a16:colId xmlns:a16="http://schemas.microsoft.com/office/drawing/2014/main" val="74672149"/>
                    </a:ext>
                  </a:extLst>
                </a:gridCol>
                <a:gridCol w="574216">
                  <a:extLst>
                    <a:ext uri="{9D8B030D-6E8A-4147-A177-3AD203B41FA5}">
                      <a16:colId xmlns:a16="http://schemas.microsoft.com/office/drawing/2014/main" val="3542412228"/>
                    </a:ext>
                  </a:extLst>
                </a:gridCol>
                <a:gridCol w="582204">
                  <a:extLst>
                    <a:ext uri="{9D8B030D-6E8A-4147-A177-3AD203B41FA5}">
                      <a16:colId xmlns:a16="http://schemas.microsoft.com/office/drawing/2014/main" val="1447971793"/>
                    </a:ext>
                  </a:extLst>
                </a:gridCol>
                <a:gridCol w="582204">
                  <a:extLst>
                    <a:ext uri="{9D8B030D-6E8A-4147-A177-3AD203B41FA5}">
                      <a16:colId xmlns:a16="http://schemas.microsoft.com/office/drawing/2014/main" val="3786809632"/>
                    </a:ext>
                  </a:extLst>
                </a:gridCol>
                <a:gridCol w="582204">
                  <a:extLst>
                    <a:ext uri="{9D8B030D-6E8A-4147-A177-3AD203B41FA5}">
                      <a16:colId xmlns:a16="http://schemas.microsoft.com/office/drawing/2014/main" val="23671882"/>
                    </a:ext>
                  </a:extLst>
                </a:gridCol>
                <a:gridCol w="582204">
                  <a:extLst>
                    <a:ext uri="{9D8B030D-6E8A-4147-A177-3AD203B41FA5}">
                      <a16:colId xmlns:a16="http://schemas.microsoft.com/office/drawing/2014/main" val="2154264380"/>
                    </a:ext>
                  </a:extLst>
                </a:gridCol>
                <a:gridCol w="582204">
                  <a:extLst>
                    <a:ext uri="{9D8B030D-6E8A-4147-A177-3AD203B41FA5}">
                      <a16:colId xmlns:a16="http://schemas.microsoft.com/office/drawing/2014/main" val="265539384"/>
                    </a:ext>
                  </a:extLst>
                </a:gridCol>
                <a:gridCol w="582204">
                  <a:extLst>
                    <a:ext uri="{9D8B030D-6E8A-4147-A177-3AD203B41FA5}">
                      <a16:colId xmlns:a16="http://schemas.microsoft.com/office/drawing/2014/main" val="2203870411"/>
                    </a:ext>
                  </a:extLst>
                </a:gridCol>
              </a:tblGrid>
              <a:tr h="130431">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12.00±0.10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0.20±0.05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1.55±0.10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ko-KR" altLang="en-US" sz="700" b="0" dirty="0">
                          <a:solidFill>
                            <a:schemeClr val="tx1"/>
                          </a:solidFill>
                          <a:latin typeface="Arial" panose="020B0604020202020204" pitchFamily="34" charset="0"/>
                          <a:cs typeface="Arial" panose="020B0604020202020204" pitchFamily="34" charset="0"/>
                        </a:rPr>
                        <a:t>单位</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Mm</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940243"/>
                  </a:ext>
                </a:extLst>
              </a:tr>
              <a:tr h="13043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1.75±0.10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5.50±0.10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1.55±0.10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材质</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ABS</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2582253"/>
                  </a:ext>
                </a:extLst>
              </a:tr>
              <a:tr h="13043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4.00±0.10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8.00±0.10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2.00±0.10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品名</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QFN3*3-0.75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7999027"/>
                  </a:ext>
                </a:extLst>
              </a:tr>
              <a:tr h="13043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A0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3.18±0.10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B0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3.22±0.10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K0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0.75±0.10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制造商</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新创源</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4177519"/>
                  </a:ext>
                </a:extLst>
              </a:tr>
            </a:tbl>
          </a:graphicData>
        </a:graphic>
      </p:graphicFrame>
    </p:spTree>
    <p:extLst>
      <p:ext uri="{BB962C8B-B14F-4D97-AF65-F5344CB8AC3E}">
        <p14:creationId xmlns:p14="http://schemas.microsoft.com/office/powerpoint/2010/main" val="19621169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D882A-1B0A-C5D4-2AA8-259F5208BD04}"/>
            </a:ext>
          </a:extLst>
        </p:cNvPr>
        <p:cNvGrpSpPr/>
        <p:nvPr/>
      </p:nvGrpSpPr>
      <p:grpSpPr>
        <a:xfrm>
          <a:off x="0" y="0"/>
          <a:ext cx="0" cy="0"/>
          <a:chOff x="0" y="0"/>
          <a:chExt cx="0" cy="0"/>
        </a:xfrm>
      </p:grpSpPr>
      <p:sp>
        <p:nvSpPr>
          <p:cNvPr id="10" name="object 4">
            <a:extLst>
              <a:ext uri="{FF2B5EF4-FFF2-40B4-BE49-F238E27FC236}">
                <a16:creationId xmlns:a16="http://schemas.microsoft.com/office/drawing/2014/main" id="{006A1C83-190F-5BD1-FB3A-6DE48A101BD0}"/>
              </a:ext>
            </a:extLst>
          </p:cNvPr>
          <p:cNvSpPr txBox="1"/>
          <p:nvPr/>
        </p:nvSpPr>
        <p:spPr>
          <a:xfrm>
            <a:off x="593242" y="950090"/>
            <a:ext cx="2287905" cy="197490"/>
          </a:xfrm>
          <a:prstGeom prst="rect">
            <a:avLst/>
          </a:prstGeom>
        </p:spPr>
        <p:txBody>
          <a:bodyPr vert="horz" wrap="square" lIns="0" tIns="12700" rIns="0" bIns="0" rtlCol="0">
            <a:spAutoFit/>
          </a:bodyPr>
          <a:lstStyle/>
          <a:p>
            <a:pPr marL="219710">
              <a:lnSpc>
                <a:spcPct val="100000"/>
              </a:lnSpc>
              <a:spcBef>
                <a:spcPts val="940"/>
              </a:spcBef>
            </a:pPr>
            <a:r>
              <a:rPr lang="en-US" sz="1200" spc="-5" dirty="0">
                <a:latin typeface="Arial"/>
                <a:cs typeface="Arial"/>
              </a:rPr>
              <a:t>2</a:t>
            </a:r>
            <a:r>
              <a:rPr sz="1200" spc="-5" dirty="0">
                <a:latin typeface="Arial"/>
                <a:cs typeface="Arial"/>
              </a:rPr>
              <a:t>)</a:t>
            </a:r>
            <a:r>
              <a:rPr sz="1200" spc="-45" dirty="0">
                <a:latin typeface="Arial"/>
                <a:cs typeface="Arial"/>
              </a:rPr>
              <a:t> </a:t>
            </a:r>
            <a:r>
              <a:rPr lang="en-US" sz="1200" spc="-45" dirty="0">
                <a:latin typeface="Arial"/>
                <a:cs typeface="Arial"/>
              </a:rPr>
              <a:t>SEMTECH</a:t>
            </a:r>
            <a:endParaRPr sz="1200" dirty="0">
              <a:latin typeface="Arial"/>
              <a:cs typeface="Arial"/>
            </a:endParaRPr>
          </a:p>
        </p:txBody>
      </p:sp>
      <p:cxnSp>
        <p:nvCxnSpPr>
          <p:cNvPr id="4" name="직선 연결선 3">
            <a:extLst>
              <a:ext uri="{FF2B5EF4-FFF2-40B4-BE49-F238E27FC236}">
                <a16:creationId xmlns:a16="http://schemas.microsoft.com/office/drawing/2014/main" id="{A2AF0985-2444-6909-FF6A-0DF7B5673107}"/>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36B29E2-58B4-EBFB-C3AA-8D01D3B6C003}"/>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3" name="object 84">
            <a:extLst>
              <a:ext uri="{FF2B5EF4-FFF2-40B4-BE49-F238E27FC236}">
                <a16:creationId xmlns:a16="http://schemas.microsoft.com/office/drawing/2014/main" id="{8E4DC635-883E-54C8-9614-7D9F97C2628B}"/>
              </a:ext>
            </a:extLst>
          </p:cNvPr>
          <p:cNvSpPr txBox="1"/>
          <p:nvPr/>
        </p:nvSpPr>
        <p:spPr>
          <a:xfrm>
            <a:off x="2353705" y="7807356"/>
            <a:ext cx="214417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15. Tape and reel specification</a:t>
            </a:r>
          </a:p>
        </p:txBody>
      </p:sp>
      <p:pic>
        <p:nvPicPr>
          <p:cNvPr id="23" name="그림 22">
            <a:extLst>
              <a:ext uri="{FF2B5EF4-FFF2-40B4-BE49-F238E27FC236}">
                <a16:creationId xmlns:a16="http://schemas.microsoft.com/office/drawing/2014/main" id="{0665F417-906B-55E7-65C9-0FDDC58356B0}"/>
              </a:ext>
            </a:extLst>
          </p:cNvPr>
          <p:cNvPicPr>
            <a:picLocks noChangeAspect="1"/>
          </p:cNvPicPr>
          <p:nvPr/>
        </p:nvPicPr>
        <p:blipFill>
          <a:blip r:embed="rId3"/>
          <a:stretch>
            <a:fillRect/>
          </a:stretch>
        </p:blipFill>
        <p:spPr>
          <a:xfrm>
            <a:off x="1062759" y="3709043"/>
            <a:ext cx="2043564" cy="1213366"/>
          </a:xfrm>
          <a:prstGeom prst="rect">
            <a:avLst/>
          </a:prstGeom>
        </p:spPr>
      </p:pic>
      <p:pic>
        <p:nvPicPr>
          <p:cNvPr id="25" name="그림 24">
            <a:extLst>
              <a:ext uri="{FF2B5EF4-FFF2-40B4-BE49-F238E27FC236}">
                <a16:creationId xmlns:a16="http://schemas.microsoft.com/office/drawing/2014/main" id="{EFDFA6BE-D4E0-A966-D13D-4CA030071A1B}"/>
              </a:ext>
            </a:extLst>
          </p:cNvPr>
          <p:cNvPicPr>
            <a:picLocks noChangeAspect="1"/>
          </p:cNvPicPr>
          <p:nvPr/>
        </p:nvPicPr>
        <p:blipFill>
          <a:blip r:embed="rId4"/>
          <a:stretch>
            <a:fillRect/>
          </a:stretch>
        </p:blipFill>
        <p:spPr>
          <a:xfrm>
            <a:off x="3507050" y="3470660"/>
            <a:ext cx="2161191" cy="1420643"/>
          </a:xfrm>
          <a:prstGeom prst="rect">
            <a:avLst/>
          </a:prstGeom>
        </p:spPr>
      </p:pic>
      <p:pic>
        <p:nvPicPr>
          <p:cNvPr id="27" name="그림 26">
            <a:extLst>
              <a:ext uri="{FF2B5EF4-FFF2-40B4-BE49-F238E27FC236}">
                <a16:creationId xmlns:a16="http://schemas.microsoft.com/office/drawing/2014/main" id="{89827A5E-B16D-D3D8-DFC3-E02B410D1FBB}"/>
              </a:ext>
            </a:extLst>
          </p:cNvPr>
          <p:cNvPicPr>
            <a:picLocks noChangeAspect="1"/>
          </p:cNvPicPr>
          <p:nvPr/>
        </p:nvPicPr>
        <p:blipFill>
          <a:blip r:embed="rId5"/>
          <a:stretch>
            <a:fillRect/>
          </a:stretch>
        </p:blipFill>
        <p:spPr>
          <a:xfrm>
            <a:off x="995605" y="5062656"/>
            <a:ext cx="2141784" cy="1460064"/>
          </a:xfrm>
          <a:prstGeom prst="rect">
            <a:avLst/>
          </a:prstGeom>
        </p:spPr>
      </p:pic>
      <p:pic>
        <p:nvPicPr>
          <p:cNvPr id="29" name="그림 28">
            <a:extLst>
              <a:ext uri="{FF2B5EF4-FFF2-40B4-BE49-F238E27FC236}">
                <a16:creationId xmlns:a16="http://schemas.microsoft.com/office/drawing/2014/main" id="{08593B92-A620-3AD7-34FB-81AB38F14865}"/>
              </a:ext>
            </a:extLst>
          </p:cNvPr>
          <p:cNvPicPr>
            <a:picLocks noChangeAspect="1"/>
          </p:cNvPicPr>
          <p:nvPr/>
        </p:nvPicPr>
        <p:blipFill>
          <a:blip r:embed="rId6"/>
          <a:stretch>
            <a:fillRect/>
          </a:stretch>
        </p:blipFill>
        <p:spPr>
          <a:xfrm>
            <a:off x="3559381" y="5123351"/>
            <a:ext cx="2495216" cy="1338674"/>
          </a:xfrm>
          <a:prstGeom prst="rect">
            <a:avLst/>
          </a:prstGeom>
        </p:spPr>
      </p:pic>
      <p:pic>
        <p:nvPicPr>
          <p:cNvPr id="31" name="그림 30">
            <a:extLst>
              <a:ext uri="{FF2B5EF4-FFF2-40B4-BE49-F238E27FC236}">
                <a16:creationId xmlns:a16="http://schemas.microsoft.com/office/drawing/2014/main" id="{736ECF55-F29F-2147-6977-4784A8F0136B}"/>
              </a:ext>
            </a:extLst>
          </p:cNvPr>
          <p:cNvPicPr>
            <a:picLocks noChangeAspect="1"/>
          </p:cNvPicPr>
          <p:nvPr/>
        </p:nvPicPr>
        <p:blipFill>
          <a:blip r:embed="rId7"/>
          <a:stretch>
            <a:fillRect/>
          </a:stretch>
        </p:blipFill>
        <p:spPr>
          <a:xfrm>
            <a:off x="1062759" y="1472026"/>
            <a:ext cx="1873247" cy="2064953"/>
          </a:xfrm>
          <a:prstGeom prst="rect">
            <a:avLst/>
          </a:prstGeom>
        </p:spPr>
      </p:pic>
      <p:pic>
        <p:nvPicPr>
          <p:cNvPr id="33" name="그림 32">
            <a:extLst>
              <a:ext uri="{FF2B5EF4-FFF2-40B4-BE49-F238E27FC236}">
                <a16:creationId xmlns:a16="http://schemas.microsoft.com/office/drawing/2014/main" id="{E12568AD-DF73-976D-9F0F-D65D64719629}"/>
              </a:ext>
            </a:extLst>
          </p:cNvPr>
          <p:cNvPicPr>
            <a:picLocks noChangeAspect="1"/>
          </p:cNvPicPr>
          <p:nvPr/>
        </p:nvPicPr>
        <p:blipFill>
          <a:blip r:embed="rId8"/>
          <a:stretch>
            <a:fillRect/>
          </a:stretch>
        </p:blipFill>
        <p:spPr>
          <a:xfrm>
            <a:off x="3269364" y="1672303"/>
            <a:ext cx="2785233" cy="1664398"/>
          </a:xfrm>
          <a:prstGeom prst="rect">
            <a:avLst/>
          </a:prstGeom>
        </p:spPr>
      </p:pic>
      <p:sp>
        <p:nvSpPr>
          <p:cNvPr id="34" name="TextBox 33">
            <a:extLst>
              <a:ext uri="{FF2B5EF4-FFF2-40B4-BE49-F238E27FC236}">
                <a16:creationId xmlns:a16="http://schemas.microsoft.com/office/drawing/2014/main" id="{B1AB06D6-3852-8522-40EC-62A64F1942A1}"/>
              </a:ext>
            </a:extLst>
          </p:cNvPr>
          <p:cNvSpPr txBox="1"/>
          <p:nvPr/>
        </p:nvSpPr>
        <p:spPr>
          <a:xfrm>
            <a:off x="593243" y="8018424"/>
            <a:ext cx="5813908" cy="615553"/>
          </a:xfrm>
          <a:prstGeom prst="rect">
            <a:avLst/>
          </a:prstGeom>
          <a:noFill/>
        </p:spPr>
        <p:txBody>
          <a:bodyPr wrap="square" lIns="0" tIns="0" rIns="36000" bIns="0" rtlCol="0">
            <a:spAutoFit/>
          </a:bodyPr>
          <a:lstStyle/>
          <a:p>
            <a:r>
              <a:rPr lang="en-US" altLang="ko-KR" sz="1000" dirty="0">
                <a:latin typeface="Arial" panose="020B0604020202020204" pitchFamily="34" charset="0"/>
                <a:cs typeface="Arial" panose="020B0604020202020204" pitchFamily="34" charset="0"/>
              </a:rPr>
              <a:t>Note : </a:t>
            </a:r>
            <a:br>
              <a:rPr lang="en-US" altLang="ko-KR" sz="1000" dirty="0">
                <a:latin typeface="Arial" panose="020B0604020202020204" pitchFamily="34" charset="0"/>
                <a:cs typeface="Arial" panose="020B0604020202020204" pitchFamily="34" charset="0"/>
              </a:rPr>
            </a:br>
            <a:r>
              <a:rPr lang="en-US" altLang="ko-KR" sz="1000" dirty="0">
                <a:latin typeface="Arial" panose="020B0604020202020204" pitchFamily="34" charset="0"/>
                <a:cs typeface="Arial" panose="020B0604020202020204" pitchFamily="34" charset="0"/>
              </a:rPr>
              <a:t>1. Metric dimensions govern-English are in parentheses for reference only.</a:t>
            </a:r>
            <a:br>
              <a:rPr lang="en-US" altLang="ko-KR" sz="1000" dirty="0">
                <a:latin typeface="Arial" panose="020B0604020202020204" pitchFamily="34" charset="0"/>
                <a:cs typeface="Arial" panose="020B0604020202020204" pitchFamily="34" charset="0"/>
              </a:rPr>
            </a:br>
            <a:r>
              <a:rPr lang="en-US" altLang="ko-KR" sz="1000" dirty="0">
                <a:latin typeface="Arial" panose="020B0604020202020204" pitchFamily="34" charset="0"/>
                <a:cs typeface="Arial" panose="020B0604020202020204" pitchFamily="34" charset="0"/>
              </a:rPr>
              <a:t>2. The clearance between the components and the cavity must be within 0.05 mm min. to 0.5 mm max.</a:t>
            </a:r>
          </a:p>
          <a:p>
            <a:r>
              <a:rPr lang="en-US" altLang="ko-KR" sz="1000" dirty="0">
                <a:latin typeface="Arial" panose="020B0604020202020204" pitchFamily="34" charset="0"/>
                <a:cs typeface="Arial" panose="020B0604020202020204" pitchFamily="34" charset="0"/>
              </a:rPr>
              <a:t>3. The component cannot rotate more than 10</a:t>
            </a:r>
            <a:r>
              <a:rPr lang="en-US" altLang="ko-KR" sz="1000" dirty="0">
                <a:latin typeface="맑은 고딕" panose="020B0503020000020004" pitchFamily="50" charset="-127"/>
                <a:ea typeface="맑은 고딕" panose="020B0503020000020004" pitchFamily="50" charset="-127"/>
                <a:cs typeface="Arial" panose="020B0604020202020204" pitchFamily="34" charset="0"/>
              </a:rPr>
              <a:t>︒</a:t>
            </a:r>
            <a:r>
              <a:rPr lang="en-US" altLang="ko-KR" sz="1000" dirty="0">
                <a:latin typeface="Arial" panose="020B0604020202020204" pitchFamily="34" charset="0"/>
                <a:ea typeface="맑은 고딕" panose="020B0503020000020004" pitchFamily="50" charset="-127"/>
                <a:cs typeface="Arial" panose="020B0604020202020204" pitchFamily="34" charset="0"/>
              </a:rPr>
              <a:t> within the determined cavity.</a:t>
            </a:r>
            <a:endParaRPr lang="en-US" altLang="ko-KR" sz="1000" dirty="0">
              <a:latin typeface="Arial" panose="020B0604020202020204" pitchFamily="34" charset="0"/>
              <a:cs typeface="Arial" panose="020B0604020202020204" pitchFamily="34" charset="0"/>
            </a:endParaRPr>
          </a:p>
        </p:txBody>
      </p:sp>
      <p:graphicFrame>
        <p:nvGraphicFramePr>
          <p:cNvPr id="41" name="표 40">
            <a:extLst>
              <a:ext uri="{FF2B5EF4-FFF2-40B4-BE49-F238E27FC236}">
                <a16:creationId xmlns:a16="http://schemas.microsoft.com/office/drawing/2014/main" id="{2B6B45EA-BD84-198B-D9EA-A8EA93528716}"/>
              </a:ext>
            </a:extLst>
          </p:cNvPr>
          <p:cNvGraphicFramePr>
            <a:graphicFrameLocks noGrp="1"/>
          </p:cNvGraphicFramePr>
          <p:nvPr>
            <p:extLst>
              <p:ext uri="{D42A27DB-BD31-4B8C-83A1-F6EECF244321}">
                <p14:modId xmlns:p14="http://schemas.microsoft.com/office/powerpoint/2010/main" val="751329291"/>
              </p:ext>
            </p:extLst>
          </p:nvPr>
        </p:nvGraphicFramePr>
        <p:xfrm>
          <a:off x="945132" y="6694784"/>
          <a:ext cx="5023867" cy="433560"/>
        </p:xfrm>
        <a:graphic>
          <a:graphicData uri="http://schemas.openxmlformats.org/drawingml/2006/table">
            <a:tbl>
              <a:tblPr firstRow="1" bandRow="1">
                <a:tableStyleId>{5C22544A-7EE6-4342-B048-85BDC9FD1C3A}</a:tableStyleId>
              </a:tblPr>
              <a:tblGrid>
                <a:gridCol w="505822">
                  <a:extLst>
                    <a:ext uri="{9D8B030D-6E8A-4147-A177-3AD203B41FA5}">
                      <a16:colId xmlns:a16="http://schemas.microsoft.com/office/drawing/2014/main" val="3246048688"/>
                    </a:ext>
                  </a:extLst>
                </a:gridCol>
                <a:gridCol w="557963">
                  <a:extLst>
                    <a:ext uri="{9D8B030D-6E8A-4147-A177-3AD203B41FA5}">
                      <a16:colId xmlns:a16="http://schemas.microsoft.com/office/drawing/2014/main" val="3109661393"/>
                    </a:ext>
                  </a:extLst>
                </a:gridCol>
                <a:gridCol w="565726">
                  <a:extLst>
                    <a:ext uri="{9D8B030D-6E8A-4147-A177-3AD203B41FA5}">
                      <a16:colId xmlns:a16="http://schemas.microsoft.com/office/drawing/2014/main" val="336048231"/>
                    </a:ext>
                  </a:extLst>
                </a:gridCol>
                <a:gridCol w="565726">
                  <a:extLst>
                    <a:ext uri="{9D8B030D-6E8A-4147-A177-3AD203B41FA5}">
                      <a16:colId xmlns:a16="http://schemas.microsoft.com/office/drawing/2014/main" val="825296521"/>
                    </a:ext>
                  </a:extLst>
                </a:gridCol>
                <a:gridCol w="565726">
                  <a:extLst>
                    <a:ext uri="{9D8B030D-6E8A-4147-A177-3AD203B41FA5}">
                      <a16:colId xmlns:a16="http://schemas.microsoft.com/office/drawing/2014/main" val="1377223108"/>
                    </a:ext>
                  </a:extLst>
                </a:gridCol>
                <a:gridCol w="565726">
                  <a:extLst>
                    <a:ext uri="{9D8B030D-6E8A-4147-A177-3AD203B41FA5}">
                      <a16:colId xmlns:a16="http://schemas.microsoft.com/office/drawing/2014/main" val="3700380994"/>
                    </a:ext>
                  </a:extLst>
                </a:gridCol>
                <a:gridCol w="565726">
                  <a:extLst>
                    <a:ext uri="{9D8B030D-6E8A-4147-A177-3AD203B41FA5}">
                      <a16:colId xmlns:a16="http://schemas.microsoft.com/office/drawing/2014/main" val="869300479"/>
                    </a:ext>
                  </a:extLst>
                </a:gridCol>
                <a:gridCol w="565726">
                  <a:extLst>
                    <a:ext uri="{9D8B030D-6E8A-4147-A177-3AD203B41FA5}">
                      <a16:colId xmlns:a16="http://schemas.microsoft.com/office/drawing/2014/main" val="4036811077"/>
                    </a:ext>
                  </a:extLst>
                </a:gridCol>
                <a:gridCol w="565726">
                  <a:extLst>
                    <a:ext uri="{9D8B030D-6E8A-4147-A177-3AD203B41FA5}">
                      <a16:colId xmlns:a16="http://schemas.microsoft.com/office/drawing/2014/main" val="2101304561"/>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Package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Tape Size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a:t>
                      </a:r>
                      <a:r>
                        <a:rPr kumimoji="0" lang="en-US" altLang="ko-KR" sz="700" b="0" i="0" u="none" strike="noStrike" kern="1200" cap="none" spc="0" normalizeH="0" baseline="-25000" noProof="0" dirty="0">
                          <a:ln>
                            <a:noFill/>
                          </a:ln>
                          <a:solidFill>
                            <a:schemeClr val="tx1"/>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a:t>
                      </a:r>
                      <a:r>
                        <a:rPr kumimoji="0" lang="en-US" altLang="ko-KR" sz="700" b="0" i="0" u="none" strike="noStrike" kern="1200" cap="none" spc="0" normalizeH="0" baseline="-25000" noProof="0" dirty="0">
                          <a:ln>
                            <a:noFill/>
                          </a:ln>
                          <a:solidFill>
                            <a:schemeClr val="tx1"/>
                          </a:solidFill>
                          <a:effectLst/>
                          <a:uLnTx/>
                          <a:uFillTx/>
                          <a:latin typeface="Arial" panose="020B0604020202020204" pitchFamily="34" charset="0"/>
                          <a:ea typeface="+mn-ea"/>
                          <a:cs typeface="Arial" panose="020B0604020202020204" pitchFamily="34" charset="0"/>
                        </a:rPr>
                        <a:t>2</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63115578"/>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QFN3030-24L</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12mm</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1.55</a:t>
                      </a:r>
                      <a:r>
                        <a:rPr lang="en-US" altLang="ko-KR" sz="600" b="0" dirty="0">
                          <a:solidFill>
                            <a:schemeClr val="tx1"/>
                          </a:solidFill>
                          <a:latin typeface="Arial" panose="020B0604020202020204" pitchFamily="34" charset="0"/>
                          <a:ea typeface="맑은 고딕" panose="020B0503020000020004" pitchFamily="50" charset="-127"/>
                          <a:cs typeface="Arial" panose="020B0604020202020204" pitchFamily="34" charset="0"/>
                        </a:rPr>
                        <a:t>±0.1mm (0.061±0.004”)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1.55±0.1mm (0.061±0.004”)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1.75±0.1mm (0.069±0.004”)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5.5±0.1mm (0.217±0.004”)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8±0.1mm (0.315±0.004”)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4±0.1mm (0.157±0.004”)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2±0.1mm (0.079±0.004”)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49335514"/>
                  </a:ext>
                </a:extLst>
              </a:tr>
            </a:tbl>
          </a:graphicData>
        </a:graphic>
      </p:graphicFrame>
      <p:graphicFrame>
        <p:nvGraphicFramePr>
          <p:cNvPr id="42" name="표 41">
            <a:extLst>
              <a:ext uri="{FF2B5EF4-FFF2-40B4-BE49-F238E27FC236}">
                <a16:creationId xmlns:a16="http://schemas.microsoft.com/office/drawing/2014/main" id="{59FE0F30-C51D-81BB-8941-C7B8BCB3C6FC}"/>
              </a:ext>
            </a:extLst>
          </p:cNvPr>
          <p:cNvGraphicFramePr>
            <a:graphicFrameLocks noGrp="1"/>
          </p:cNvGraphicFramePr>
          <p:nvPr>
            <p:extLst>
              <p:ext uri="{D42A27DB-BD31-4B8C-83A1-F6EECF244321}">
                <p14:modId xmlns:p14="http://schemas.microsoft.com/office/powerpoint/2010/main" val="3472337985"/>
              </p:ext>
            </p:extLst>
          </p:nvPr>
        </p:nvGraphicFramePr>
        <p:xfrm>
          <a:off x="945132" y="7209491"/>
          <a:ext cx="4185668" cy="433560"/>
        </p:xfrm>
        <a:graphic>
          <a:graphicData uri="http://schemas.openxmlformats.org/drawingml/2006/table">
            <a:tbl>
              <a:tblPr firstRow="1" bandRow="1">
                <a:tableStyleId>{5C22544A-7EE6-4342-B048-85BDC9FD1C3A}</a:tableStyleId>
              </a:tblPr>
              <a:tblGrid>
                <a:gridCol w="499493">
                  <a:extLst>
                    <a:ext uri="{9D8B030D-6E8A-4147-A177-3AD203B41FA5}">
                      <a16:colId xmlns:a16="http://schemas.microsoft.com/office/drawing/2014/main" val="74672149"/>
                    </a:ext>
                  </a:extLst>
                </a:gridCol>
                <a:gridCol w="558800">
                  <a:extLst>
                    <a:ext uri="{9D8B030D-6E8A-4147-A177-3AD203B41FA5}">
                      <a16:colId xmlns:a16="http://schemas.microsoft.com/office/drawing/2014/main" val="1668447251"/>
                    </a:ext>
                  </a:extLst>
                </a:gridCol>
                <a:gridCol w="625475">
                  <a:extLst>
                    <a:ext uri="{9D8B030D-6E8A-4147-A177-3AD203B41FA5}">
                      <a16:colId xmlns:a16="http://schemas.microsoft.com/office/drawing/2014/main" val="1378522382"/>
                    </a:ext>
                  </a:extLst>
                </a:gridCol>
                <a:gridCol w="625475">
                  <a:extLst>
                    <a:ext uri="{9D8B030D-6E8A-4147-A177-3AD203B41FA5}">
                      <a16:colId xmlns:a16="http://schemas.microsoft.com/office/drawing/2014/main" val="2132518063"/>
                    </a:ext>
                  </a:extLst>
                </a:gridCol>
                <a:gridCol w="625475">
                  <a:extLst>
                    <a:ext uri="{9D8B030D-6E8A-4147-A177-3AD203B41FA5}">
                      <a16:colId xmlns:a16="http://schemas.microsoft.com/office/drawing/2014/main" val="3542412228"/>
                    </a:ext>
                  </a:extLst>
                </a:gridCol>
                <a:gridCol w="625475">
                  <a:extLst>
                    <a:ext uri="{9D8B030D-6E8A-4147-A177-3AD203B41FA5}">
                      <a16:colId xmlns:a16="http://schemas.microsoft.com/office/drawing/2014/main" val="1447971793"/>
                    </a:ext>
                  </a:extLst>
                </a:gridCol>
                <a:gridCol w="625475">
                  <a:extLst>
                    <a:ext uri="{9D8B030D-6E8A-4147-A177-3AD203B41FA5}">
                      <a16:colId xmlns:a16="http://schemas.microsoft.com/office/drawing/2014/main" val="3786809632"/>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Package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R Min.</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T</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W</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A0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B0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K0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72940243"/>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QFN3030</a:t>
                      </a:r>
                      <a:br>
                        <a:rPr lang="en-US" altLang="ko-KR" sz="600" b="0" dirty="0">
                          <a:solidFill>
                            <a:schemeClr val="tx1"/>
                          </a:solidFill>
                          <a:latin typeface="Arial" panose="020B0604020202020204" pitchFamily="34" charset="0"/>
                          <a:ea typeface="+mn-ea"/>
                          <a:cs typeface="Arial" panose="020B0604020202020204" pitchFamily="34" charset="0"/>
                        </a:rPr>
                      </a:br>
                      <a:r>
                        <a:rPr lang="en-US" altLang="ko-KR" sz="600" b="0" dirty="0">
                          <a:solidFill>
                            <a:schemeClr val="tx1"/>
                          </a:solidFill>
                          <a:latin typeface="Arial" panose="020B0604020202020204" pitchFamily="34" charset="0"/>
                          <a:ea typeface="+mn-ea"/>
                          <a:cs typeface="Arial" panose="020B0604020202020204" pitchFamily="34" charset="0"/>
                        </a:rPr>
                        <a:t>-24L</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25mm</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(0.98”)</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0.20±0.05mm (0.008±0.002”)</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12mm±0.1mm (0.472±0.004”)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3.22±0.1 mm (0.127±0.004”)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3.22</a:t>
                      </a:r>
                      <a:r>
                        <a:rPr lang="en-US" altLang="ko-KR" sz="600" b="0" dirty="0">
                          <a:solidFill>
                            <a:schemeClr val="tx1"/>
                          </a:solidFill>
                          <a:latin typeface="Arial" panose="020B0604020202020204" pitchFamily="34" charset="0"/>
                          <a:ea typeface="맑은 고딕" panose="020B0503020000020004" pitchFamily="50" charset="-127"/>
                          <a:cs typeface="Arial" panose="020B0604020202020204" pitchFamily="34" charset="0"/>
                        </a:rPr>
                        <a:t>±0.1mm (0.127±0.004”)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0.75±0.1mm (0.03±0.004”)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2582253"/>
                  </a:ext>
                </a:extLst>
              </a:tr>
            </a:tbl>
          </a:graphicData>
        </a:graphic>
      </p:graphicFrame>
      <p:pic>
        <p:nvPicPr>
          <p:cNvPr id="2" name="그림 1">
            <a:extLst>
              <a:ext uri="{FF2B5EF4-FFF2-40B4-BE49-F238E27FC236}">
                <a16:creationId xmlns:a16="http://schemas.microsoft.com/office/drawing/2014/main" id="{73DB685C-48DF-77FF-3376-5D03E370EAE6}"/>
              </a:ext>
            </a:extLst>
          </p:cNvPr>
          <p:cNvPicPr>
            <a:picLocks noChangeAspect="1"/>
          </p:cNvPicPr>
          <p:nvPr/>
        </p:nvPicPr>
        <p:blipFill>
          <a:blip r:embed="rId9"/>
          <a:stretch>
            <a:fillRect/>
          </a:stretch>
        </p:blipFill>
        <p:spPr>
          <a:xfrm>
            <a:off x="1782780" y="3543839"/>
            <a:ext cx="1776601" cy="503986"/>
          </a:xfrm>
          <a:prstGeom prst="rect">
            <a:avLst/>
          </a:prstGeom>
        </p:spPr>
      </p:pic>
    </p:spTree>
    <p:extLst>
      <p:ext uri="{BB962C8B-B14F-4D97-AF65-F5344CB8AC3E}">
        <p14:creationId xmlns:p14="http://schemas.microsoft.com/office/powerpoint/2010/main" val="33014140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6714C100-CA75-7D6D-3FD1-E7D5C8E8F9DB}"/>
              </a:ext>
            </a:extLst>
          </p:cNvPr>
          <p:cNvSpPr txBox="1"/>
          <p:nvPr/>
        </p:nvSpPr>
        <p:spPr>
          <a:xfrm>
            <a:off x="404813" y="774866"/>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Package specification</a:t>
            </a:r>
          </a:p>
        </p:txBody>
      </p:sp>
      <p:sp>
        <p:nvSpPr>
          <p:cNvPr id="6" name="object 3">
            <a:extLst>
              <a:ext uri="{FF2B5EF4-FFF2-40B4-BE49-F238E27FC236}">
                <a16:creationId xmlns:a16="http://schemas.microsoft.com/office/drawing/2014/main" id="{00880CD7-A534-CAB7-D5AF-BB9F79C36ED0}"/>
              </a:ext>
            </a:extLst>
          </p:cNvPr>
          <p:cNvSpPr txBox="1"/>
          <p:nvPr/>
        </p:nvSpPr>
        <p:spPr>
          <a:xfrm>
            <a:off x="2397979" y="1158676"/>
            <a:ext cx="2062039" cy="205629"/>
          </a:xfrm>
          <a:prstGeom prst="rect">
            <a:avLst/>
          </a:prstGeom>
        </p:spPr>
        <p:txBody>
          <a:bodyPr vert="horz" wrap="none" lIns="0" tIns="36000" rIns="0" bIns="0" rtlCol="0" anchor="ctr" anchorCtr="0">
            <a:spAutoFit/>
          </a:bodyPr>
          <a:lstStyle/>
          <a:p>
            <a:pPr algn="ctr" defTabSz="895327" fontAlgn="auto">
              <a:spcBef>
                <a:spcPts val="474"/>
              </a:spcBef>
              <a:spcAft>
                <a:spcPts val="0"/>
              </a:spcAft>
            </a:pPr>
            <a:r>
              <a:rPr lang="en-US" altLang="ko-KR" sz="1100" b="1" spc="-20" dirty="0">
                <a:solidFill>
                  <a:prstClr val="black"/>
                </a:solidFill>
                <a:latin typeface="Arial"/>
                <a:ea typeface="맑은 고딕" panose="020B0503020000020004" pitchFamily="50" charset="-127"/>
                <a:cs typeface="Arial"/>
              </a:rPr>
              <a:t>Q</a:t>
            </a:r>
            <a:r>
              <a:rPr kumimoji="0" lang="en-US" altLang="ko-KR" sz="1100" b="1" spc="-20" dirty="0">
                <a:solidFill>
                  <a:prstClr val="black"/>
                </a:solidFill>
                <a:latin typeface="Arial"/>
                <a:ea typeface="맑은 고딕" panose="020B0503020000020004" pitchFamily="50" charset="-127"/>
                <a:cs typeface="Arial"/>
              </a:rPr>
              <a:t>FN 3030-24L </a:t>
            </a:r>
            <a:r>
              <a:rPr kumimoji="0" lang="en-US" altLang="ko-KR" sz="1100" b="1" spc="-5" dirty="0">
                <a:solidFill>
                  <a:prstClr val="black"/>
                </a:solidFill>
                <a:latin typeface="Arial"/>
                <a:ea typeface="맑은 고딕" panose="020B0503020000020004" pitchFamily="50" charset="-127"/>
                <a:cs typeface="Arial"/>
              </a:rPr>
              <a:t> Package</a:t>
            </a:r>
            <a:r>
              <a:rPr kumimoji="0" lang="en-US" altLang="ko-KR" sz="1100" b="1" spc="-73" dirty="0">
                <a:solidFill>
                  <a:prstClr val="black"/>
                </a:solidFill>
                <a:latin typeface="Arial"/>
                <a:ea typeface="맑은 고딕" panose="020B0503020000020004" pitchFamily="50" charset="-127"/>
                <a:cs typeface="Arial"/>
              </a:rPr>
              <a:t> </a:t>
            </a:r>
            <a:r>
              <a:rPr kumimoji="0" lang="en-US" altLang="ko-KR" sz="1100" b="1" spc="-5" dirty="0">
                <a:solidFill>
                  <a:prstClr val="black"/>
                </a:solidFill>
                <a:latin typeface="Arial"/>
                <a:ea typeface="맑은 고딕" panose="020B0503020000020004" pitchFamily="50" charset="-127"/>
                <a:cs typeface="Arial"/>
              </a:rPr>
              <a:t>Outline</a:t>
            </a:r>
            <a:endParaRPr kumimoji="0" lang="en-US" altLang="ko-KR" sz="1100" b="1" dirty="0">
              <a:solidFill>
                <a:prstClr val="black"/>
              </a:solidFill>
              <a:latin typeface="Arial"/>
              <a:ea typeface="맑은 고딕" panose="020B0503020000020004" pitchFamily="50" charset="-127"/>
              <a:cs typeface="Arial"/>
            </a:endParaRPr>
          </a:p>
        </p:txBody>
      </p:sp>
      <p:sp>
        <p:nvSpPr>
          <p:cNvPr id="21" name="TextBox 20">
            <a:extLst>
              <a:ext uri="{FF2B5EF4-FFF2-40B4-BE49-F238E27FC236}">
                <a16:creationId xmlns:a16="http://schemas.microsoft.com/office/drawing/2014/main" id="{CB84AEBF-2E25-6C65-29B1-083A98ACA839}"/>
              </a:ext>
            </a:extLst>
          </p:cNvPr>
          <p:cNvSpPr txBox="1"/>
          <p:nvPr/>
        </p:nvSpPr>
        <p:spPr>
          <a:xfrm>
            <a:off x="1637426" y="1546772"/>
            <a:ext cx="625171"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TOP VIEW</a:t>
            </a:r>
            <a:endParaRPr lang="ko-KR" altLang="en-US" sz="1000" b="1"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B1B64D9B-8D51-F969-ACF9-A736D5F48DC8}"/>
              </a:ext>
            </a:extLst>
          </p:cNvPr>
          <p:cNvSpPr txBox="1"/>
          <p:nvPr/>
        </p:nvSpPr>
        <p:spPr>
          <a:xfrm>
            <a:off x="4292955" y="1546772"/>
            <a:ext cx="918521" cy="153888"/>
          </a:xfrm>
          <a:prstGeom prst="rect">
            <a:avLst/>
          </a:prstGeom>
          <a:noFill/>
        </p:spPr>
        <p:txBody>
          <a:bodyPr vert="horz" wrap="none" lIns="0" tIns="0" rIns="0" bIns="0" rtlCol="0" anchor="ctr" anchorCtr="0">
            <a:spAutoFit/>
          </a:bodyPr>
          <a:lstStyle>
            <a:defPPr>
              <a:defRPr lang="en-US"/>
            </a:defPPr>
            <a:lvl1pPr>
              <a:defRPr sz="1100">
                <a:latin typeface="Arial" panose="020B0604020202020204" pitchFamily="34" charset="0"/>
                <a:cs typeface="Arial" panose="020B0604020202020204" pitchFamily="34" charset="0"/>
              </a:defRPr>
            </a:lvl1pPr>
          </a:lstStyle>
          <a:p>
            <a:r>
              <a:rPr lang="en-US" altLang="ko-KR" sz="1000" b="1" dirty="0"/>
              <a:t>BOTTOM VIEW</a:t>
            </a:r>
            <a:endParaRPr lang="ko-KR" altLang="en-US" sz="1000" b="1" dirty="0"/>
          </a:p>
        </p:txBody>
      </p:sp>
      <p:sp>
        <p:nvSpPr>
          <p:cNvPr id="26" name="TextBox 25">
            <a:extLst>
              <a:ext uri="{FF2B5EF4-FFF2-40B4-BE49-F238E27FC236}">
                <a16:creationId xmlns:a16="http://schemas.microsoft.com/office/drawing/2014/main" id="{0FE4A7D8-38BD-BDCE-CC64-C9F5B83183BE}"/>
              </a:ext>
            </a:extLst>
          </p:cNvPr>
          <p:cNvSpPr txBox="1"/>
          <p:nvPr/>
        </p:nvSpPr>
        <p:spPr>
          <a:xfrm>
            <a:off x="1558118" y="4388099"/>
            <a:ext cx="660437"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SIDE VIEW</a:t>
            </a:r>
            <a:endParaRPr lang="ko-KR" altLang="en-US" sz="1000" b="1" dirty="0">
              <a:latin typeface="Arial" panose="020B0604020202020204" pitchFamily="34" charset="0"/>
              <a:cs typeface="Arial" panose="020B0604020202020204" pitchFamily="34" charset="0"/>
            </a:endParaRPr>
          </a:p>
        </p:txBody>
      </p:sp>
      <p:sp>
        <p:nvSpPr>
          <p:cNvPr id="27" name="object 84">
            <a:extLst>
              <a:ext uri="{FF2B5EF4-FFF2-40B4-BE49-F238E27FC236}">
                <a16:creationId xmlns:a16="http://schemas.microsoft.com/office/drawing/2014/main" id="{DDD161F0-9A6A-466A-6CDC-EFA15D80ADE8}"/>
              </a:ext>
            </a:extLst>
          </p:cNvPr>
          <p:cNvSpPr txBox="1"/>
          <p:nvPr/>
        </p:nvSpPr>
        <p:spPr>
          <a:xfrm>
            <a:off x="2660199" y="8608825"/>
            <a:ext cx="1537600"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16. Package Outline</a:t>
            </a:r>
          </a:p>
        </p:txBody>
      </p:sp>
      <p:graphicFrame>
        <p:nvGraphicFramePr>
          <p:cNvPr id="30" name="object 2">
            <a:extLst>
              <a:ext uri="{FF2B5EF4-FFF2-40B4-BE49-F238E27FC236}">
                <a16:creationId xmlns:a16="http://schemas.microsoft.com/office/drawing/2014/main" id="{DAA7FD1F-432C-67AB-4B9B-2D1672FC5653}"/>
              </a:ext>
            </a:extLst>
          </p:cNvPr>
          <p:cNvGraphicFramePr>
            <a:graphicFrameLocks noGrp="1"/>
          </p:cNvGraphicFramePr>
          <p:nvPr>
            <p:extLst>
              <p:ext uri="{D42A27DB-BD31-4B8C-83A1-F6EECF244321}">
                <p14:modId xmlns:p14="http://schemas.microsoft.com/office/powerpoint/2010/main" val="843778723"/>
              </p:ext>
            </p:extLst>
          </p:nvPr>
        </p:nvGraphicFramePr>
        <p:xfrm>
          <a:off x="4166634" y="4685026"/>
          <a:ext cx="2089684" cy="3196952"/>
        </p:xfrm>
        <a:graphic>
          <a:graphicData uri="http://schemas.openxmlformats.org/drawingml/2006/table">
            <a:tbl>
              <a:tblPr firstRow="1" bandRow="1">
                <a:tableStyleId>{2D5ABB26-0587-4C30-8999-92F81FD0307C}</a:tableStyleId>
              </a:tblPr>
              <a:tblGrid>
                <a:gridCol w="614714">
                  <a:extLst>
                    <a:ext uri="{9D8B030D-6E8A-4147-A177-3AD203B41FA5}">
                      <a16:colId xmlns:a16="http://schemas.microsoft.com/office/drawing/2014/main" val="20000"/>
                    </a:ext>
                  </a:extLst>
                </a:gridCol>
                <a:gridCol w="492911">
                  <a:extLst>
                    <a:ext uri="{9D8B030D-6E8A-4147-A177-3AD203B41FA5}">
                      <a16:colId xmlns:a16="http://schemas.microsoft.com/office/drawing/2014/main" val="20001"/>
                    </a:ext>
                  </a:extLst>
                </a:gridCol>
                <a:gridCol w="483097">
                  <a:extLst>
                    <a:ext uri="{9D8B030D-6E8A-4147-A177-3AD203B41FA5}">
                      <a16:colId xmlns:a16="http://schemas.microsoft.com/office/drawing/2014/main" val="4065758931"/>
                    </a:ext>
                  </a:extLst>
                </a:gridCol>
                <a:gridCol w="498962">
                  <a:extLst>
                    <a:ext uri="{9D8B030D-6E8A-4147-A177-3AD203B41FA5}">
                      <a16:colId xmlns:a16="http://schemas.microsoft.com/office/drawing/2014/main" val="20002"/>
                    </a:ext>
                  </a:extLst>
                </a:gridCol>
              </a:tblGrid>
              <a:tr h="228236">
                <a:tc rowSpan="2">
                  <a:txBody>
                    <a:bodyPr/>
                    <a:lstStyle/>
                    <a:p>
                      <a:pPr marL="0" indent="0" algn="ctr">
                        <a:lnSpc>
                          <a:spcPct val="100000"/>
                        </a:lnSpc>
                        <a:spcBef>
                          <a:spcPts val="185"/>
                        </a:spcBef>
                      </a:pPr>
                      <a:r>
                        <a:rPr lang="en-US" sz="900" b="1"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3">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3500" algn="ctr">
                        <a:lnSpc>
                          <a:spcPct val="100000"/>
                        </a:lnSpc>
                        <a:spcBef>
                          <a:spcPts val="185"/>
                        </a:spcBef>
                      </a:pPr>
                      <a:endParaRPr sz="1000" dirty="0">
                        <a:latin typeface="Calibri"/>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hMerge="1">
                  <a:txBody>
                    <a:bodyPr/>
                    <a:lstStyle/>
                    <a:p>
                      <a:pPr marL="64135" algn="ctr">
                        <a:lnSpc>
                          <a:spcPct val="100000"/>
                        </a:lnSpc>
                        <a:spcBef>
                          <a:spcPts val="185"/>
                        </a:spcBef>
                      </a:pPr>
                      <a:endParaRPr sz="10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28236">
                <a:tc v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Min</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Typ</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Max</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0.60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A2</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0.45 REF</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664519172"/>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A3</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0.152 REF</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b</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1.75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1.75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 </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0.40 BSC</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1"/>
                  </a:ext>
                </a:extLst>
              </a:tr>
              <a:tr h="22906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K</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2906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L</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pic>
        <p:nvPicPr>
          <p:cNvPr id="31" name="그림 30">
            <a:extLst>
              <a:ext uri="{FF2B5EF4-FFF2-40B4-BE49-F238E27FC236}">
                <a16:creationId xmlns:a16="http://schemas.microsoft.com/office/drawing/2014/main" id="{CE848123-CDDB-148B-28EA-F1DE3BA00A44}"/>
              </a:ext>
            </a:extLst>
          </p:cNvPr>
          <p:cNvPicPr>
            <a:picLocks noChangeAspect="1"/>
          </p:cNvPicPr>
          <p:nvPr/>
        </p:nvPicPr>
        <p:blipFill>
          <a:blip r:embed="rId2"/>
          <a:stretch>
            <a:fillRect/>
          </a:stretch>
        </p:blipFill>
        <p:spPr>
          <a:xfrm>
            <a:off x="581913" y="1771896"/>
            <a:ext cx="2407920" cy="2300197"/>
          </a:xfrm>
          <a:prstGeom prst="rect">
            <a:avLst/>
          </a:prstGeom>
        </p:spPr>
      </p:pic>
      <p:pic>
        <p:nvPicPr>
          <p:cNvPr id="32" name="그림 31">
            <a:extLst>
              <a:ext uri="{FF2B5EF4-FFF2-40B4-BE49-F238E27FC236}">
                <a16:creationId xmlns:a16="http://schemas.microsoft.com/office/drawing/2014/main" id="{850ED7EF-09C8-5BFD-3F78-30068E21F9FC}"/>
              </a:ext>
            </a:extLst>
          </p:cNvPr>
          <p:cNvPicPr>
            <a:picLocks noChangeAspect="1"/>
          </p:cNvPicPr>
          <p:nvPr/>
        </p:nvPicPr>
        <p:blipFill>
          <a:blip r:embed="rId3"/>
          <a:stretch>
            <a:fillRect/>
          </a:stretch>
        </p:blipFill>
        <p:spPr>
          <a:xfrm>
            <a:off x="581273" y="4613439"/>
            <a:ext cx="2448000" cy="740842"/>
          </a:xfrm>
          <a:prstGeom prst="rect">
            <a:avLst/>
          </a:prstGeom>
        </p:spPr>
      </p:pic>
      <p:sp>
        <p:nvSpPr>
          <p:cNvPr id="33" name="object 84">
            <a:extLst>
              <a:ext uri="{FF2B5EF4-FFF2-40B4-BE49-F238E27FC236}">
                <a16:creationId xmlns:a16="http://schemas.microsoft.com/office/drawing/2014/main" id="{56A8851A-D181-7E54-3F5D-5972D24D79EF}"/>
              </a:ext>
            </a:extLst>
          </p:cNvPr>
          <p:cNvSpPr txBox="1"/>
          <p:nvPr/>
        </p:nvSpPr>
        <p:spPr>
          <a:xfrm>
            <a:off x="3556004" y="8109033"/>
            <a:ext cx="3042407" cy="289823"/>
          </a:xfrm>
          <a:prstGeom prst="rect">
            <a:avLst/>
          </a:prstGeom>
        </p:spPr>
        <p:txBody>
          <a:bodyPr vert="horz" wrap="square" lIns="0" tIns="0" rIns="0" bIns="0" rtlCol="0" anchor="ctr" anchorCtr="0">
            <a:spAutoFit/>
          </a:bodyPr>
          <a:lstStyle/>
          <a:p>
            <a:pPr marL="12435" defTabSz="895327" fontAlgn="auto">
              <a:spcBef>
                <a:spcPts val="118"/>
              </a:spcBef>
              <a:spcAft>
                <a:spcPts val="0"/>
              </a:spcAft>
            </a:pPr>
            <a:r>
              <a:rPr kumimoji="0" lang="en-US" sz="900" spc="15" dirty="0">
                <a:latin typeface="Arial" panose="020B0604020202020204" pitchFamily="34" charset="0"/>
                <a:ea typeface="+mn-ea"/>
                <a:cs typeface="Arial" panose="020B0604020202020204" pitchFamily="34" charset="0"/>
              </a:rPr>
              <a:t>Note</a:t>
            </a:r>
          </a:p>
          <a:p>
            <a:pPr marL="12435" defTabSz="895327" fontAlgn="auto">
              <a:spcBef>
                <a:spcPts val="118"/>
              </a:spcBef>
              <a:spcAft>
                <a:spcPts val="0"/>
              </a:spcAft>
            </a:pPr>
            <a:r>
              <a:rPr lang="en-US" sz="900" spc="15" dirty="0">
                <a:latin typeface="Arial" panose="020B0604020202020204" pitchFamily="34" charset="0"/>
                <a:cs typeface="Arial" panose="020B0604020202020204" pitchFamily="34" charset="0"/>
              </a:rPr>
              <a:t>All Dimensions Do Not Include mold flash or Protrusions.</a:t>
            </a:r>
            <a:endParaRPr kumimoji="0" lang="en-US" sz="900" spc="15" dirty="0">
              <a:latin typeface="Arial" panose="020B0604020202020204" pitchFamily="34" charset="0"/>
              <a:ea typeface="+mn-ea"/>
              <a:cs typeface="Arial" panose="020B0604020202020204" pitchFamily="34" charset="0"/>
            </a:endParaRPr>
          </a:p>
        </p:txBody>
      </p:sp>
      <p:grpSp>
        <p:nvGrpSpPr>
          <p:cNvPr id="34" name="그룹 33">
            <a:extLst>
              <a:ext uri="{FF2B5EF4-FFF2-40B4-BE49-F238E27FC236}">
                <a16:creationId xmlns:a16="http://schemas.microsoft.com/office/drawing/2014/main" id="{7412E709-CB2A-AF3A-D540-B8B4E561B6D7}"/>
              </a:ext>
            </a:extLst>
          </p:cNvPr>
          <p:cNvGrpSpPr/>
          <p:nvPr/>
        </p:nvGrpSpPr>
        <p:grpSpPr>
          <a:xfrm>
            <a:off x="3315903" y="1834545"/>
            <a:ext cx="3132000" cy="2399113"/>
            <a:chOff x="3315903" y="1796967"/>
            <a:chExt cx="3132000" cy="2399113"/>
          </a:xfrm>
        </p:grpSpPr>
        <p:pic>
          <p:nvPicPr>
            <p:cNvPr id="35" name="그림 34">
              <a:extLst>
                <a:ext uri="{FF2B5EF4-FFF2-40B4-BE49-F238E27FC236}">
                  <a16:creationId xmlns:a16="http://schemas.microsoft.com/office/drawing/2014/main" id="{9FD05F57-B000-1536-0305-2CF26A7E1507}"/>
                </a:ext>
              </a:extLst>
            </p:cNvPr>
            <p:cNvPicPr>
              <a:picLocks noChangeAspect="1"/>
            </p:cNvPicPr>
            <p:nvPr/>
          </p:nvPicPr>
          <p:blipFill>
            <a:blip r:embed="rId4"/>
            <a:stretch>
              <a:fillRect/>
            </a:stretch>
          </p:blipFill>
          <p:spPr>
            <a:xfrm>
              <a:off x="3315903" y="1796967"/>
              <a:ext cx="3132000" cy="2399113"/>
            </a:xfrm>
            <a:prstGeom prst="rect">
              <a:avLst/>
            </a:prstGeom>
          </p:spPr>
        </p:pic>
        <p:sp>
          <p:nvSpPr>
            <p:cNvPr id="36" name="직사각형 35">
              <a:extLst>
                <a:ext uri="{FF2B5EF4-FFF2-40B4-BE49-F238E27FC236}">
                  <a16:creationId xmlns:a16="http://schemas.microsoft.com/office/drawing/2014/main" id="{36DA337C-4792-15D4-6601-2B9125EAEF7A}"/>
                </a:ext>
              </a:extLst>
            </p:cNvPr>
            <p:cNvSpPr/>
            <p:nvPr/>
          </p:nvSpPr>
          <p:spPr>
            <a:xfrm>
              <a:off x="3334956" y="2185645"/>
              <a:ext cx="399644" cy="44767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4319634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13545" y="774866"/>
            <a:ext cx="6039890"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Recommended Footprint</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9591E58-643D-71CA-18A8-8C8A710F928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pSp>
        <p:nvGrpSpPr>
          <p:cNvPr id="6" name="그룹 5">
            <a:extLst>
              <a:ext uri="{FF2B5EF4-FFF2-40B4-BE49-F238E27FC236}">
                <a16:creationId xmlns:a16="http://schemas.microsoft.com/office/drawing/2014/main" id="{E446668B-293A-3483-CAD4-0C200CA3B1DF}"/>
              </a:ext>
            </a:extLst>
          </p:cNvPr>
          <p:cNvGrpSpPr/>
          <p:nvPr/>
        </p:nvGrpSpPr>
        <p:grpSpPr>
          <a:xfrm>
            <a:off x="404813" y="6815467"/>
            <a:ext cx="6048622" cy="2069900"/>
            <a:chOff x="291219" y="7274365"/>
            <a:chExt cx="6048622" cy="2069900"/>
          </a:xfrm>
        </p:grpSpPr>
        <p:grpSp>
          <p:nvGrpSpPr>
            <p:cNvPr id="7" name="그룹 6">
              <a:extLst>
                <a:ext uri="{FF2B5EF4-FFF2-40B4-BE49-F238E27FC236}">
                  <a16:creationId xmlns:a16="http://schemas.microsoft.com/office/drawing/2014/main" id="{9C5D1598-38F6-135A-3CCD-4A17839DBE12}"/>
                </a:ext>
              </a:extLst>
            </p:cNvPr>
            <p:cNvGrpSpPr/>
            <p:nvPr/>
          </p:nvGrpSpPr>
          <p:grpSpPr>
            <a:xfrm>
              <a:off x="291219" y="7274365"/>
              <a:ext cx="6048622" cy="2069900"/>
              <a:chOff x="291219" y="7274365"/>
              <a:chExt cx="6048622" cy="2069900"/>
            </a:xfrm>
          </p:grpSpPr>
          <p:sp>
            <p:nvSpPr>
              <p:cNvPr id="11" name="Rectangle 12">
                <a:extLst>
                  <a:ext uri="{FF2B5EF4-FFF2-40B4-BE49-F238E27FC236}">
                    <a16:creationId xmlns:a16="http://schemas.microsoft.com/office/drawing/2014/main" id="{201D264A-6AF6-1CDB-4950-FC82C16BB403}"/>
                  </a:ext>
                </a:extLst>
              </p:cNvPr>
              <p:cNvSpPr>
                <a:spLocks noChangeArrowheads="1"/>
              </p:cNvSpPr>
              <p:nvPr/>
            </p:nvSpPr>
            <p:spPr bwMode="auto">
              <a:xfrm>
                <a:off x="291219" y="7274365"/>
                <a:ext cx="6048622" cy="55399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The products of Global Technologies reserve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Global Technologies does not convey any license under its patent rights nor the rights of others.</a:t>
                </a:r>
                <a:endParaRPr lang="en-US" altLang="ko-KR" sz="600" dirty="0">
                  <a:latin typeface="Arial" panose="020B0604020202020204" pitchFamily="34" charset="0"/>
                  <a:cs typeface="Arial" panose="020B0604020202020204" pitchFamily="34" charset="0"/>
                </a:endParaRPr>
              </a:p>
            </p:txBody>
          </p:sp>
          <p:sp>
            <p:nvSpPr>
              <p:cNvPr id="12" name="Rectangle 15">
                <a:extLst>
                  <a:ext uri="{FF2B5EF4-FFF2-40B4-BE49-F238E27FC236}">
                    <a16:creationId xmlns:a16="http://schemas.microsoft.com/office/drawing/2014/main" id="{704F35AC-A487-7546-1D39-F10B838E7C60}"/>
                  </a:ext>
                </a:extLst>
              </p:cNvPr>
              <p:cNvSpPr>
                <a:spLocks noChangeArrowheads="1"/>
              </p:cNvSpPr>
              <p:nvPr/>
            </p:nvSpPr>
            <p:spPr bwMode="auto">
              <a:xfrm>
                <a:off x="291219" y="7866937"/>
                <a:ext cx="6048622" cy="147732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Global Technologies owns the rights to a number of patents, trademarks, copyrights, trade secrets, and other intellectual property.  Global Technologies reserves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Buyer is responsible for its products and applications using Global Technologies products, including compliance with all laws, regulations and safety requirements or standards, regardless of any support or applications information provided by Global Technologies. “Typical” parameters which may be provided in Global Technologies data sheets and/or specifications can and do vary in different applications and actual performance may vary over time. All operating parameters, including “Typical” must be validated for each customer application by customer’s technical experts. Global Technologies does not convey any license under its patent rights nor the rights of others. Global Technologies products are not designed, intended, or authorized for use as a critical component in life support systems or any FDA Class 3 medical devices or medical devices with a same or similar classification in a foreign jurisdiction or any devices intended for implantation in the human body. Should Buyer purchase or use Global Technologies products for any such unintended or unauthorized application, Buyer shall indemnify and hold Global Technologies and its officers, employees, subsidiaries, affiliates, and distributors harmless against all claims, costs, damages, and expenses, and reasonable attorney fees arising out of, directly or indirectly, any claim of personal injury or death associated with such unintended or unauthorized use, even if such claim alleges that Global Technologies was negligent regarding the design or manufacture of the part. Global Technologies is an Equal Opportunity/Affirmative Action Employer. This literature is subject to all applicable copyright laws and is not for resale in any manner.</a:t>
                </a:r>
                <a:endParaRPr lang="en-US" altLang="ko-KR" sz="600" dirty="0">
                  <a:latin typeface="Arial" panose="020B0604020202020204" pitchFamily="34" charset="0"/>
                  <a:cs typeface="Arial" panose="020B0604020202020204" pitchFamily="34" charset="0"/>
                </a:endParaRPr>
              </a:p>
            </p:txBody>
          </p:sp>
        </p:grpSp>
        <p:pic>
          <p:nvPicPr>
            <p:cNvPr id="8" name="그림 1">
              <a:extLst>
                <a:ext uri="{FF2B5EF4-FFF2-40B4-BE49-F238E27FC236}">
                  <a16:creationId xmlns:a16="http://schemas.microsoft.com/office/drawing/2014/main" id="{99D8BFCE-6ABA-3771-675E-7278D23840F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3798" y="7299145"/>
              <a:ext cx="100553" cy="146962"/>
            </a:xfrm>
            <a:prstGeom prst="rect">
              <a:avLst/>
            </a:prstGeom>
            <a:noFill/>
            <a:extLst>
              <a:ext uri="{909E8E84-426E-40DD-AFC4-6F175D3DCCD1}">
                <a14:hiddenFill xmlns:a14="http://schemas.microsoft.com/office/drawing/2010/main">
                  <a:solidFill>
                    <a:srgbClr val="FFFFFF"/>
                  </a:solidFill>
                </a14:hiddenFill>
              </a:ext>
            </a:extLst>
          </p:spPr>
        </p:pic>
        <p:pic>
          <p:nvPicPr>
            <p:cNvPr id="10" name="그림 1">
              <a:extLst>
                <a:ext uri="{FF2B5EF4-FFF2-40B4-BE49-F238E27FC236}">
                  <a16:creationId xmlns:a16="http://schemas.microsoft.com/office/drawing/2014/main" id="{C8D5D4AD-C951-8E40-EC01-1A2F6B57C6D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5670" y="7896850"/>
              <a:ext cx="91652" cy="133953"/>
            </a:xfrm>
            <a:prstGeom prst="rect">
              <a:avLst/>
            </a:prstGeom>
            <a:noFill/>
            <a:extLst>
              <a:ext uri="{909E8E84-426E-40DD-AFC4-6F175D3DCCD1}">
                <a14:hiddenFill xmlns:a14="http://schemas.microsoft.com/office/drawing/2010/main">
                  <a:solidFill>
                    <a:srgbClr val="FFFFFF"/>
                  </a:solidFill>
                </a14:hiddenFill>
              </a:ext>
            </a:extLst>
          </p:spPr>
        </p:pic>
      </p:grpSp>
      <p:sp>
        <p:nvSpPr>
          <p:cNvPr id="16" name="object 7">
            <a:extLst>
              <a:ext uri="{FF2B5EF4-FFF2-40B4-BE49-F238E27FC236}">
                <a16:creationId xmlns:a16="http://schemas.microsoft.com/office/drawing/2014/main" id="{C3D957A8-A41B-4D1D-2A10-D63EDA8DD481}"/>
              </a:ext>
            </a:extLst>
          </p:cNvPr>
          <p:cNvSpPr txBox="1"/>
          <p:nvPr/>
        </p:nvSpPr>
        <p:spPr>
          <a:xfrm>
            <a:off x="404813" y="6097478"/>
            <a:ext cx="6048621" cy="302647"/>
          </a:xfrm>
          <a:prstGeom prst="rect">
            <a:avLst/>
          </a:prstGeom>
        </p:spPr>
        <p:txBody>
          <a:bodyPr vert="horz" wrap="square" lIns="0" tIns="0" rIns="0" bIns="0" rtlCol="0" anchor="ctr" anchorCtr="0">
            <a:spAutoFit/>
          </a:bodyPr>
          <a:lstStyle/>
          <a:p>
            <a:pPr marL="11286" marR="4515" defTabSz="895327" fontAlgn="auto">
              <a:spcBef>
                <a:spcPts val="156"/>
              </a:spcBef>
              <a:spcAft>
                <a:spcPts val="0"/>
              </a:spcAft>
            </a:pPr>
            <a:r>
              <a:rPr kumimoji="0" sz="900" spc="-5" dirty="0">
                <a:solidFill>
                  <a:prstClr val="black"/>
                </a:solidFill>
                <a:latin typeface="Arial"/>
                <a:ea typeface="+mn-ea"/>
                <a:cs typeface="Arial"/>
              </a:rPr>
              <a:t>Note: The</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reflow</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peak</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soldering</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temperature</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23" dirty="0">
                <a:solidFill>
                  <a:prstClr val="black"/>
                </a:solidFill>
                <a:latin typeface="Arial"/>
                <a:ea typeface="+mn-ea"/>
                <a:cs typeface="Arial"/>
              </a:rPr>
              <a:t> </a:t>
            </a:r>
            <a:r>
              <a:rPr kumimoji="0" sz="900" spc="-9" dirty="0">
                <a:solidFill>
                  <a:prstClr val="black"/>
                </a:solidFill>
                <a:latin typeface="Arial"/>
                <a:ea typeface="+mn-ea"/>
                <a:cs typeface="Arial"/>
              </a:rPr>
              <a:t>peak</a:t>
            </a:r>
            <a:r>
              <a:rPr kumimoji="0" sz="900" spc="26" dirty="0">
                <a:solidFill>
                  <a:prstClr val="black"/>
                </a:solidFill>
                <a:latin typeface="Arial"/>
                <a:ea typeface="+mn-ea"/>
                <a:cs typeface="Arial"/>
              </a:rPr>
              <a:t> </a:t>
            </a:r>
            <a:r>
              <a:rPr kumimoji="0" sz="900" spc="-5" dirty="0">
                <a:solidFill>
                  <a:prstClr val="black"/>
                </a:solidFill>
                <a:latin typeface="Arial"/>
                <a:ea typeface="+mn-ea"/>
                <a:cs typeface="Arial"/>
              </a:rPr>
              <a:t>260°C</a:t>
            </a:r>
            <a:r>
              <a:rPr kumimoji="0" sz="900" spc="17" dirty="0">
                <a:solidFill>
                  <a:prstClr val="black"/>
                </a:solidFill>
                <a:latin typeface="Arial"/>
                <a:ea typeface="+mn-ea"/>
                <a:cs typeface="Arial"/>
              </a:rPr>
              <a:t> </a:t>
            </a:r>
            <a:r>
              <a:rPr kumimoji="0" sz="900" spc="-5" dirty="0">
                <a:solidFill>
                  <a:prstClr val="black"/>
                </a:solidFill>
                <a:latin typeface="Arial"/>
                <a:ea typeface="+mn-ea"/>
                <a:cs typeface="Arial"/>
              </a:rPr>
              <a:t>and</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it</a:t>
            </a:r>
            <a:r>
              <a:rPr kumimoji="0" sz="900" spc="17"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specified</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based</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IPC/JEDEC</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J-STD- </a:t>
            </a:r>
            <a:r>
              <a:rPr kumimoji="0" sz="900" spc="-231" dirty="0">
                <a:solidFill>
                  <a:prstClr val="black"/>
                </a:solidFill>
                <a:latin typeface="Arial"/>
                <a:ea typeface="+mn-ea"/>
                <a:cs typeface="Arial"/>
              </a:rPr>
              <a:t> </a:t>
            </a:r>
            <a:r>
              <a:rPr kumimoji="0" sz="900" spc="-9" dirty="0">
                <a:solidFill>
                  <a:prstClr val="black"/>
                </a:solidFill>
                <a:latin typeface="Arial"/>
                <a:ea typeface="+mn-ea"/>
                <a:cs typeface="Arial"/>
              </a:rPr>
              <a:t>020</a:t>
            </a:r>
            <a:endParaRPr lang="en-US" sz="900" spc="-9" dirty="0">
              <a:solidFill>
                <a:prstClr val="black"/>
              </a:solidFill>
              <a:latin typeface="Arial"/>
              <a:cs typeface="Arial"/>
            </a:endParaRPr>
          </a:p>
          <a:p>
            <a:pPr marL="11286" marR="4515" defTabSz="895327" fontAlgn="auto">
              <a:spcBef>
                <a:spcPts val="156"/>
              </a:spcBef>
              <a:spcAft>
                <a:spcPts val="0"/>
              </a:spcAft>
            </a:pPr>
            <a:r>
              <a:rPr kumimoji="0" lang="en-US" sz="900" spc="-9" dirty="0">
                <a:solidFill>
                  <a:prstClr val="black"/>
                </a:solidFill>
                <a:latin typeface="Arial"/>
                <a:ea typeface="+mn-ea"/>
                <a:cs typeface="Arial"/>
              </a:rPr>
              <a:t>          </a:t>
            </a:r>
            <a:r>
              <a:rPr kumimoji="0" sz="900" spc="-5" dirty="0">
                <a:solidFill>
                  <a:prstClr val="black"/>
                </a:solidFill>
                <a:latin typeface="Arial"/>
                <a:ea typeface="+mn-ea"/>
                <a:cs typeface="Arial"/>
              </a:rPr>
              <a:t>“Moisture/Reflow</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Sensitivity</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Classification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for</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Non-Hermetic</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Solid</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State</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Surface </a:t>
            </a:r>
            <a:r>
              <a:rPr kumimoji="0" sz="900" spc="-5" dirty="0">
                <a:solidFill>
                  <a:prstClr val="black"/>
                </a:solidFill>
                <a:latin typeface="Arial"/>
                <a:ea typeface="+mn-ea"/>
                <a:cs typeface="Arial"/>
              </a:rPr>
              <a:t>Mount</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Devices”</a:t>
            </a:r>
          </a:p>
        </p:txBody>
      </p:sp>
      <p:sp>
        <p:nvSpPr>
          <p:cNvPr id="4" name="TextBox 3">
            <a:extLst>
              <a:ext uri="{FF2B5EF4-FFF2-40B4-BE49-F238E27FC236}">
                <a16:creationId xmlns:a16="http://schemas.microsoft.com/office/drawing/2014/main" id="{5B31EC9C-8C82-1FDA-35F0-8B1D2612B49A}"/>
              </a:ext>
            </a:extLst>
          </p:cNvPr>
          <p:cNvSpPr txBox="1"/>
          <p:nvPr/>
        </p:nvSpPr>
        <p:spPr>
          <a:xfrm>
            <a:off x="413545" y="774866"/>
            <a:ext cx="6039890"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Recommended Footprint</a:t>
            </a:r>
          </a:p>
        </p:txBody>
      </p:sp>
      <p:sp>
        <p:nvSpPr>
          <p:cNvPr id="5" name="object 84">
            <a:extLst>
              <a:ext uri="{FF2B5EF4-FFF2-40B4-BE49-F238E27FC236}">
                <a16:creationId xmlns:a16="http://schemas.microsoft.com/office/drawing/2014/main" id="{CCF11DA2-E926-9AC6-C5FF-5CDDFB33D73A}"/>
              </a:ext>
            </a:extLst>
          </p:cNvPr>
          <p:cNvSpPr txBox="1"/>
          <p:nvPr/>
        </p:nvSpPr>
        <p:spPr>
          <a:xfrm>
            <a:off x="2420390" y="4962675"/>
            <a:ext cx="201721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17. Recommended Footprint</a:t>
            </a:r>
          </a:p>
        </p:txBody>
      </p:sp>
      <p:graphicFrame>
        <p:nvGraphicFramePr>
          <p:cNvPr id="9" name="object 2">
            <a:extLst>
              <a:ext uri="{FF2B5EF4-FFF2-40B4-BE49-F238E27FC236}">
                <a16:creationId xmlns:a16="http://schemas.microsoft.com/office/drawing/2014/main" id="{702E9065-1935-7D52-A841-D6F654F267CF}"/>
              </a:ext>
            </a:extLst>
          </p:cNvPr>
          <p:cNvGraphicFramePr>
            <a:graphicFrameLocks noGrp="1"/>
          </p:cNvGraphicFramePr>
          <p:nvPr>
            <p:extLst>
              <p:ext uri="{D42A27DB-BD31-4B8C-83A1-F6EECF244321}">
                <p14:modId xmlns:p14="http://schemas.microsoft.com/office/powerpoint/2010/main" val="3689734003"/>
              </p:ext>
            </p:extLst>
          </p:nvPr>
        </p:nvGraphicFramePr>
        <p:xfrm>
          <a:off x="4577189" y="1295500"/>
          <a:ext cx="1875998" cy="3204043"/>
        </p:xfrm>
        <a:graphic>
          <a:graphicData uri="http://schemas.openxmlformats.org/drawingml/2006/table">
            <a:tbl>
              <a:tblPr firstRow="1" bandRow="1">
                <a:tableStyleId>{2D5ABB26-0587-4C30-8999-92F81FD0307C}</a:tableStyleId>
              </a:tblPr>
              <a:tblGrid>
                <a:gridCol w="548639">
                  <a:extLst>
                    <a:ext uri="{9D8B030D-6E8A-4147-A177-3AD203B41FA5}">
                      <a16:colId xmlns:a16="http://schemas.microsoft.com/office/drawing/2014/main" val="20000"/>
                    </a:ext>
                  </a:extLst>
                </a:gridCol>
                <a:gridCol w="666132">
                  <a:extLst>
                    <a:ext uri="{9D8B030D-6E8A-4147-A177-3AD203B41FA5}">
                      <a16:colId xmlns:a16="http://schemas.microsoft.com/office/drawing/2014/main" val="20001"/>
                    </a:ext>
                  </a:extLst>
                </a:gridCol>
                <a:gridCol w="661227">
                  <a:extLst>
                    <a:ext uri="{9D8B030D-6E8A-4147-A177-3AD203B41FA5}">
                      <a16:colId xmlns:a16="http://schemas.microsoft.com/office/drawing/2014/main" val="20002"/>
                    </a:ext>
                  </a:extLst>
                </a:gridCol>
              </a:tblGrid>
              <a:tr h="169226">
                <a:tc rowSpan="2">
                  <a:txBody>
                    <a:bodyPr/>
                    <a:lstStyle/>
                    <a:p>
                      <a:pPr marL="63500" algn="ctr">
                        <a:lnSpc>
                          <a:spcPct val="100000"/>
                        </a:lnSpc>
                        <a:spcBef>
                          <a:spcPts val="185"/>
                        </a:spcBef>
                      </a:pPr>
                      <a:r>
                        <a:rPr lang="en-US" sz="900" b="1" spc="-10"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2">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4135"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097993598"/>
                  </a:ext>
                </a:extLst>
              </a:tr>
              <a:tr h="169226">
                <a:tc vMerge="1">
                  <a:txBody>
                    <a:bodyPr/>
                    <a:lstStyle/>
                    <a:p>
                      <a:pPr marL="63500"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Value</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64135" algn="ctr">
                        <a:lnSpc>
                          <a:spcPct val="100000"/>
                        </a:lnSpc>
                        <a:spcBef>
                          <a:spcPts val="185"/>
                        </a:spcBef>
                      </a:pPr>
                      <a:r>
                        <a:rPr lang="en-US" sz="900" b="1" dirty="0">
                          <a:latin typeface="Arial" panose="020B0604020202020204" pitchFamily="34" charset="0"/>
                          <a:cs typeface="Arial" panose="020B0604020202020204" pitchFamily="34" charset="0"/>
                        </a:rPr>
                        <a:t>Margin</a:t>
                      </a:r>
                    </a:p>
                    <a:p>
                      <a:pPr marL="64135" algn="ctr">
                        <a:lnSpc>
                          <a:spcPct val="100000"/>
                        </a:lnSpc>
                        <a:spcBef>
                          <a:spcPts val="185"/>
                        </a:spcBef>
                      </a:pPr>
                      <a:r>
                        <a:rPr lang="en-US" sz="900" b="1" dirty="0">
                          <a:latin typeface="Arial" panose="020B0604020202020204" pitchFamily="34" charset="0"/>
                          <a:cs typeface="Arial" panose="020B0604020202020204" pitchFamily="34" charset="0"/>
                        </a:rPr>
                        <a:t>(Typ+)</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X</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0.5</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indent="-63500"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Y</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C</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0.5</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0.5</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1.8</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1.8</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X3</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Y3</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1.6</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3.4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3.4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G</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169964">
                <a:tc>
                  <a:txBody>
                    <a:bodyPr/>
                    <a:lstStyle/>
                    <a:p>
                      <a:pPr marL="63500" algn="ctr">
                        <a:lnSpc>
                          <a:spcPct val="100000"/>
                        </a:lnSpc>
                        <a:spcBef>
                          <a:spcPts val="190"/>
                        </a:spcBef>
                      </a:pPr>
                      <a:r>
                        <a:rPr sz="900" spc="-10" dirty="0">
                          <a:latin typeface="Arial" panose="020B0604020202020204" pitchFamily="34" charset="0"/>
                          <a:cs typeface="Arial" panose="020B0604020202020204" pitchFamily="34" charset="0"/>
                        </a:rPr>
                        <a:t>G1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0.3</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5"/>
                  </a:ext>
                </a:extLst>
              </a:tr>
              <a:tr h="169964">
                <a:tc>
                  <a:txBody>
                    <a:bodyPr/>
                    <a:lstStyle/>
                    <a:p>
                      <a:pPr marL="63500" algn="ctr">
                        <a:lnSpc>
                          <a:spcPct val="100000"/>
                        </a:lnSpc>
                        <a:spcBef>
                          <a:spcPts val="190"/>
                        </a:spcBef>
                      </a:pPr>
                      <a:r>
                        <a:rPr sz="900" spc="-10" dirty="0">
                          <a:latin typeface="Arial" panose="020B0604020202020204" pitchFamily="34" charset="0"/>
                          <a:cs typeface="Arial" panose="020B0604020202020204" pitchFamily="34" charset="0"/>
                        </a:rPr>
                        <a:t>G2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6"/>
                  </a:ext>
                </a:extLst>
              </a:tr>
              <a:tr h="169964">
                <a:tc>
                  <a:txBody>
                    <a:bodyPr/>
                    <a:lstStyle/>
                    <a:p>
                      <a:pPr marL="63500" algn="ctr">
                        <a:lnSpc>
                          <a:spcPct val="100000"/>
                        </a:lnSpc>
                        <a:spcBef>
                          <a:spcPts val="190"/>
                        </a:spcBef>
                      </a:pPr>
                      <a:r>
                        <a:rPr sz="900" spc="-10" dirty="0">
                          <a:latin typeface="Arial" panose="020B0604020202020204" pitchFamily="34" charset="0"/>
                          <a:cs typeface="Arial" panose="020B0604020202020204" pitchFamily="34" charset="0"/>
                        </a:rPr>
                        <a:t>G3</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7"/>
                  </a:ext>
                </a:extLst>
              </a:tr>
              <a:tr h="169964">
                <a:tc>
                  <a:txBody>
                    <a:bodyPr/>
                    <a:lstStyle/>
                    <a:p>
                      <a:pPr marL="63500" algn="ctr">
                        <a:lnSpc>
                          <a:spcPct val="100000"/>
                        </a:lnSpc>
                        <a:spcBef>
                          <a:spcPts val="190"/>
                        </a:spcBef>
                      </a:pPr>
                      <a:r>
                        <a:rPr sz="900" spc="-15" dirty="0">
                          <a:latin typeface="Arial" panose="020B0604020202020204" pitchFamily="34" charset="0"/>
                          <a:cs typeface="Arial" panose="020B0604020202020204" pitchFamily="34" charset="0"/>
                        </a:rPr>
                        <a:t>G4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8"/>
                  </a:ext>
                </a:extLst>
              </a:tr>
            </a:tbl>
          </a:graphicData>
        </a:graphic>
      </p:graphicFrame>
      <p:grpSp>
        <p:nvGrpSpPr>
          <p:cNvPr id="43" name="그룹 42">
            <a:extLst>
              <a:ext uri="{FF2B5EF4-FFF2-40B4-BE49-F238E27FC236}">
                <a16:creationId xmlns:a16="http://schemas.microsoft.com/office/drawing/2014/main" id="{EDC1BE9C-278C-BE75-55F6-F3F84C1B49CB}"/>
              </a:ext>
            </a:extLst>
          </p:cNvPr>
          <p:cNvGrpSpPr/>
          <p:nvPr/>
        </p:nvGrpSpPr>
        <p:grpSpPr>
          <a:xfrm>
            <a:off x="413545" y="1321176"/>
            <a:ext cx="4099680" cy="3336424"/>
            <a:chOff x="413545" y="1321176"/>
            <a:chExt cx="4099680" cy="3336424"/>
          </a:xfrm>
        </p:grpSpPr>
        <p:grpSp>
          <p:nvGrpSpPr>
            <p:cNvPr id="15" name="그룹 14">
              <a:extLst>
                <a:ext uri="{FF2B5EF4-FFF2-40B4-BE49-F238E27FC236}">
                  <a16:creationId xmlns:a16="http://schemas.microsoft.com/office/drawing/2014/main" id="{861D8206-6FE4-0857-0DE6-EB5BDA749F8F}"/>
                </a:ext>
              </a:extLst>
            </p:cNvPr>
            <p:cNvGrpSpPr/>
            <p:nvPr/>
          </p:nvGrpSpPr>
          <p:grpSpPr>
            <a:xfrm>
              <a:off x="413545" y="1321176"/>
              <a:ext cx="4099680" cy="3336424"/>
              <a:chOff x="391389" y="1213424"/>
              <a:chExt cx="4099680" cy="3336424"/>
            </a:xfrm>
          </p:grpSpPr>
          <p:pic>
            <p:nvPicPr>
              <p:cNvPr id="37" name="그림 36">
                <a:extLst>
                  <a:ext uri="{FF2B5EF4-FFF2-40B4-BE49-F238E27FC236}">
                    <a16:creationId xmlns:a16="http://schemas.microsoft.com/office/drawing/2014/main" id="{8F29225A-8FE1-7FAF-0CEE-483BD4B6E71D}"/>
                  </a:ext>
                </a:extLst>
              </p:cNvPr>
              <p:cNvPicPr>
                <a:picLocks noChangeAspect="1"/>
              </p:cNvPicPr>
              <p:nvPr/>
            </p:nvPicPr>
            <p:blipFill>
              <a:blip r:embed="rId3"/>
              <a:stretch>
                <a:fillRect/>
              </a:stretch>
            </p:blipFill>
            <p:spPr>
              <a:xfrm>
                <a:off x="391389" y="1213424"/>
                <a:ext cx="4099680" cy="3336424"/>
              </a:xfrm>
              <a:prstGeom prst="rect">
                <a:avLst/>
              </a:prstGeom>
            </p:spPr>
          </p:pic>
          <p:pic>
            <p:nvPicPr>
              <p:cNvPr id="38" name="그림 37">
                <a:extLst>
                  <a:ext uri="{FF2B5EF4-FFF2-40B4-BE49-F238E27FC236}">
                    <a16:creationId xmlns:a16="http://schemas.microsoft.com/office/drawing/2014/main" id="{22358404-BB3E-E1A8-932F-37BD12E8BE59}"/>
                  </a:ext>
                </a:extLst>
              </p:cNvPr>
              <p:cNvPicPr>
                <a:picLocks noChangeAspect="1"/>
              </p:cNvPicPr>
              <p:nvPr/>
            </p:nvPicPr>
            <p:blipFill>
              <a:blip r:embed="rId4"/>
              <a:stretch>
                <a:fillRect/>
              </a:stretch>
            </p:blipFill>
            <p:spPr>
              <a:xfrm>
                <a:off x="1595664" y="2121237"/>
                <a:ext cx="1425563" cy="1493973"/>
              </a:xfrm>
              <a:prstGeom prst="rect">
                <a:avLst/>
              </a:prstGeom>
            </p:spPr>
          </p:pic>
        </p:grpSp>
        <p:grpSp>
          <p:nvGrpSpPr>
            <p:cNvPr id="17" name="그룹 16">
              <a:extLst>
                <a:ext uri="{FF2B5EF4-FFF2-40B4-BE49-F238E27FC236}">
                  <a16:creationId xmlns:a16="http://schemas.microsoft.com/office/drawing/2014/main" id="{8B145B3B-9EF0-E8D0-D705-5A9AF6CC4292}"/>
                </a:ext>
              </a:extLst>
            </p:cNvPr>
            <p:cNvGrpSpPr/>
            <p:nvPr/>
          </p:nvGrpSpPr>
          <p:grpSpPr>
            <a:xfrm>
              <a:off x="1490663" y="2286001"/>
              <a:ext cx="1462087" cy="1385887"/>
              <a:chOff x="1243842" y="4325498"/>
              <a:chExt cx="1308858" cy="1237043"/>
            </a:xfrm>
          </p:grpSpPr>
          <p:grpSp>
            <p:nvGrpSpPr>
              <p:cNvPr id="20" name="그룹 19">
                <a:extLst>
                  <a:ext uri="{FF2B5EF4-FFF2-40B4-BE49-F238E27FC236}">
                    <a16:creationId xmlns:a16="http://schemas.microsoft.com/office/drawing/2014/main" id="{21593A2A-95B2-FB41-3748-DEC4AE11C031}"/>
                  </a:ext>
                </a:extLst>
              </p:cNvPr>
              <p:cNvGrpSpPr/>
              <p:nvPr/>
            </p:nvGrpSpPr>
            <p:grpSpPr>
              <a:xfrm>
                <a:off x="1243842" y="4325498"/>
                <a:ext cx="1308858" cy="1237043"/>
                <a:chOff x="1320042" y="3820066"/>
                <a:chExt cx="1308858" cy="1237043"/>
              </a:xfrm>
            </p:grpSpPr>
            <p:grpSp>
              <p:nvGrpSpPr>
                <p:cNvPr id="25" name="그룹 24">
                  <a:extLst>
                    <a:ext uri="{FF2B5EF4-FFF2-40B4-BE49-F238E27FC236}">
                      <a16:creationId xmlns:a16="http://schemas.microsoft.com/office/drawing/2014/main" id="{FD7793CF-F480-B719-EA61-182B48A99050}"/>
                    </a:ext>
                  </a:extLst>
                </p:cNvPr>
                <p:cNvGrpSpPr/>
                <p:nvPr/>
              </p:nvGrpSpPr>
              <p:grpSpPr>
                <a:xfrm>
                  <a:off x="1320042" y="3820066"/>
                  <a:ext cx="1308858" cy="1237043"/>
                  <a:chOff x="1777242" y="3077349"/>
                  <a:chExt cx="1308858" cy="1237043"/>
                </a:xfrm>
              </p:grpSpPr>
              <p:sp>
                <p:nvSpPr>
                  <p:cNvPr id="34" name="직사각형 33">
                    <a:extLst>
                      <a:ext uri="{FF2B5EF4-FFF2-40B4-BE49-F238E27FC236}">
                        <a16:creationId xmlns:a16="http://schemas.microsoft.com/office/drawing/2014/main" id="{D0A28F9E-6DCF-14CF-B160-A03C47193EEA}"/>
                      </a:ext>
                    </a:extLst>
                  </p:cNvPr>
                  <p:cNvSpPr/>
                  <p:nvPr/>
                </p:nvSpPr>
                <p:spPr>
                  <a:xfrm>
                    <a:off x="1885950" y="3077349"/>
                    <a:ext cx="1200150" cy="1226343"/>
                  </a:xfrm>
                  <a:prstGeom prst="rect">
                    <a:avLst/>
                  </a:prstGeom>
                  <a:noFill/>
                  <a:ln w="6350">
                    <a:solidFill>
                      <a:srgbClr val="2E518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35" name="그림 34">
                    <a:extLst>
                      <a:ext uri="{FF2B5EF4-FFF2-40B4-BE49-F238E27FC236}">
                        <a16:creationId xmlns:a16="http://schemas.microsoft.com/office/drawing/2014/main" id="{A119418E-FC8A-7282-C44D-1043A4D92BC5}"/>
                      </a:ext>
                    </a:extLst>
                  </p:cNvPr>
                  <p:cNvPicPr>
                    <a:picLocks noChangeAspect="1"/>
                  </p:cNvPicPr>
                  <p:nvPr/>
                </p:nvPicPr>
                <p:blipFill>
                  <a:blip r:embed="rId4"/>
                  <a:stretch>
                    <a:fillRect/>
                  </a:stretch>
                </p:blipFill>
                <p:spPr>
                  <a:xfrm>
                    <a:off x="1777242" y="4063186"/>
                    <a:ext cx="296827" cy="251206"/>
                  </a:xfrm>
                  <a:prstGeom prst="rect">
                    <a:avLst/>
                  </a:prstGeom>
                </p:spPr>
              </p:pic>
              <p:cxnSp>
                <p:nvCxnSpPr>
                  <p:cNvPr id="36" name="직선 연결선 35">
                    <a:extLst>
                      <a:ext uri="{FF2B5EF4-FFF2-40B4-BE49-F238E27FC236}">
                        <a16:creationId xmlns:a16="http://schemas.microsoft.com/office/drawing/2014/main" id="{AE096F34-B2CE-B3C9-105F-1F1820B5B1FF}"/>
                      </a:ext>
                    </a:extLst>
                  </p:cNvPr>
                  <p:cNvCxnSpPr/>
                  <p:nvPr/>
                </p:nvCxnSpPr>
                <p:spPr>
                  <a:xfrm>
                    <a:off x="1885950" y="4063186"/>
                    <a:ext cx="188119" cy="240506"/>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6" name="직선 화살표 연결선 25">
                  <a:extLst>
                    <a:ext uri="{FF2B5EF4-FFF2-40B4-BE49-F238E27FC236}">
                      <a16:creationId xmlns:a16="http://schemas.microsoft.com/office/drawing/2014/main" id="{1AEBF095-B47F-EF6B-3606-40846BBD6258}"/>
                    </a:ext>
                  </a:extLst>
                </p:cNvPr>
                <p:cNvCxnSpPr>
                  <a:cxnSpLocks/>
                </p:cNvCxnSpPr>
                <p:nvPr/>
              </p:nvCxnSpPr>
              <p:spPr>
                <a:xfrm>
                  <a:off x="1443038" y="4052847"/>
                  <a:ext cx="1185862" cy="0"/>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cxnSp>
              <p:nvCxnSpPr>
                <p:cNvPr id="27" name="직선 화살표 연결선 26">
                  <a:extLst>
                    <a:ext uri="{FF2B5EF4-FFF2-40B4-BE49-F238E27FC236}">
                      <a16:creationId xmlns:a16="http://schemas.microsoft.com/office/drawing/2014/main" id="{1F07DF72-A36C-4BD7-F019-4592BCCDE6DF}"/>
                    </a:ext>
                  </a:extLst>
                </p:cNvPr>
                <p:cNvCxnSpPr>
                  <a:cxnSpLocks/>
                </p:cNvCxnSpPr>
                <p:nvPr/>
              </p:nvCxnSpPr>
              <p:spPr>
                <a:xfrm flipV="1">
                  <a:off x="2336624" y="3821117"/>
                  <a:ext cx="0" cy="1225292"/>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cxnSp>
              <p:nvCxnSpPr>
                <p:cNvPr id="28" name="직선 연결선 27">
                  <a:extLst>
                    <a:ext uri="{FF2B5EF4-FFF2-40B4-BE49-F238E27FC236}">
                      <a16:creationId xmlns:a16="http://schemas.microsoft.com/office/drawing/2014/main" id="{7F8F7C51-C8AB-4DA1-B794-A7838941C99A}"/>
                    </a:ext>
                  </a:extLst>
                </p:cNvPr>
                <p:cNvCxnSpPr>
                  <a:cxnSpLocks/>
                </p:cNvCxnSpPr>
                <p:nvPr/>
              </p:nvCxnSpPr>
              <p:spPr>
                <a:xfrm>
                  <a:off x="1866900" y="4427173"/>
                  <a:ext cx="375356" cy="0"/>
                </a:xfrm>
                <a:prstGeom prst="line">
                  <a:avLst/>
                </a:prstGeom>
              </p:spPr>
              <p:style>
                <a:lnRef idx="1">
                  <a:schemeClr val="dk1"/>
                </a:lnRef>
                <a:fillRef idx="0">
                  <a:schemeClr val="dk1"/>
                </a:fillRef>
                <a:effectRef idx="0">
                  <a:schemeClr val="dk1"/>
                </a:effectRef>
                <a:fontRef idx="minor">
                  <a:schemeClr val="tx1"/>
                </a:fontRef>
              </p:style>
            </p:cxnSp>
            <p:cxnSp>
              <p:nvCxnSpPr>
                <p:cNvPr id="29" name="직선 연결선 28">
                  <a:extLst>
                    <a:ext uri="{FF2B5EF4-FFF2-40B4-BE49-F238E27FC236}">
                      <a16:creationId xmlns:a16="http://schemas.microsoft.com/office/drawing/2014/main" id="{2CF90FDF-BEB9-142F-B894-B536A4BD373B}"/>
                    </a:ext>
                  </a:extLst>
                </p:cNvPr>
                <p:cNvCxnSpPr>
                  <a:cxnSpLocks/>
                </p:cNvCxnSpPr>
                <p:nvPr/>
              </p:nvCxnSpPr>
              <p:spPr>
                <a:xfrm>
                  <a:off x="2051447" y="4243388"/>
                  <a:ext cx="0" cy="379187"/>
                </a:xfrm>
                <a:prstGeom prst="line">
                  <a:avLst/>
                </a:prstGeom>
              </p:spPr>
              <p:style>
                <a:lnRef idx="1">
                  <a:schemeClr val="dk1"/>
                </a:lnRef>
                <a:fillRef idx="0">
                  <a:schemeClr val="dk1"/>
                </a:fillRef>
                <a:effectRef idx="0">
                  <a:schemeClr val="dk1"/>
                </a:effectRef>
                <a:fontRef idx="minor">
                  <a:schemeClr val="tx1"/>
                </a:fontRef>
              </p:style>
            </p:cxnSp>
            <p:cxnSp>
              <p:nvCxnSpPr>
                <p:cNvPr id="30" name="직선 연결선 29">
                  <a:extLst>
                    <a:ext uri="{FF2B5EF4-FFF2-40B4-BE49-F238E27FC236}">
                      <a16:creationId xmlns:a16="http://schemas.microsoft.com/office/drawing/2014/main" id="{7EB086AC-FB8A-844F-37CA-28B9CA784D0F}"/>
                    </a:ext>
                  </a:extLst>
                </p:cNvPr>
                <p:cNvCxnSpPr>
                  <a:cxnSpLocks/>
                </p:cNvCxnSpPr>
                <p:nvPr/>
              </p:nvCxnSpPr>
              <p:spPr>
                <a:xfrm>
                  <a:off x="1436688" y="4799553"/>
                  <a:ext cx="173831" cy="0"/>
                </a:xfrm>
                <a:prstGeom prst="line">
                  <a:avLst/>
                </a:prstGeom>
              </p:spPr>
              <p:style>
                <a:lnRef idx="1">
                  <a:schemeClr val="dk1"/>
                </a:lnRef>
                <a:fillRef idx="0">
                  <a:schemeClr val="dk1"/>
                </a:fillRef>
                <a:effectRef idx="0">
                  <a:schemeClr val="dk1"/>
                </a:effectRef>
                <a:fontRef idx="minor">
                  <a:schemeClr val="tx1"/>
                </a:fontRef>
              </p:style>
            </p:cxnSp>
            <p:cxnSp>
              <p:nvCxnSpPr>
                <p:cNvPr id="31" name="직선 연결선 30">
                  <a:extLst>
                    <a:ext uri="{FF2B5EF4-FFF2-40B4-BE49-F238E27FC236}">
                      <a16:creationId xmlns:a16="http://schemas.microsoft.com/office/drawing/2014/main" id="{6312F6F2-2001-8F31-27A4-687CF65FC964}"/>
                    </a:ext>
                  </a:extLst>
                </p:cNvPr>
                <p:cNvCxnSpPr>
                  <a:cxnSpLocks/>
                </p:cNvCxnSpPr>
                <p:nvPr/>
              </p:nvCxnSpPr>
              <p:spPr>
                <a:xfrm flipH="1">
                  <a:off x="1619250" y="4799553"/>
                  <a:ext cx="1588" cy="232822"/>
                </a:xfrm>
                <a:prstGeom prst="line">
                  <a:avLst/>
                </a:prstGeom>
              </p:spPr>
              <p:style>
                <a:lnRef idx="1">
                  <a:schemeClr val="dk1"/>
                </a:lnRef>
                <a:fillRef idx="0">
                  <a:schemeClr val="dk1"/>
                </a:fillRef>
                <a:effectRef idx="0">
                  <a:schemeClr val="dk1"/>
                </a:effectRef>
                <a:fontRef idx="minor">
                  <a:schemeClr val="tx1"/>
                </a:fontRef>
              </p:style>
            </p:cxnSp>
            <p:cxnSp>
              <p:nvCxnSpPr>
                <p:cNvPr id="32" name="직선 화살표 연결선 31">
                  <a:extLst>
                    <a:ext uri="{FF2B5EF4-FFF2-40B4-BE49-F238E27FC236}">
                      <a16:creationId xmlns:a16="http://schemas.microsoft.com/office/drawing/2014/main" id="{67C607FD-A224-F518-2601-77CEFA9A57E4}"/>
                    </a:ext>
                  </a:extLst>
                </p:cNvPr>
                <p:cNvCxnSpPr>
                  <a:cxnSpLocks/>
                </p:cNvCxnSpPr>
                <p:nvPr/>
              </p:nvCxnSpPr>
              <p:spPr>
                <a:xfrm>
                  <a:off x="1616869" y="4899877"/>
                  <a:ext cx="1012031" cy="0"/>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cxnSp>
              <p:nvCxnSpPr>
                <p:cNvPr id="33" name="직선 화살표 연결선 32">
                  <a:extLst>
                    <a:ext uri="{FF2B5EF4-FFF2-40B4-BE49-F238E27FC236}">
                      <a16:creationId xmlns:a16="http://schemas.microsoft.com/office/drawing/2014/main" id="{909841EE-0BAB-051F-4F33-1C7F09D313C4}"/>
                    </a:ext>
                  </a:extLst>
                </p:cNvPr>
                <p:cNvCxnSpPr>
                  <a:cxnSpLocks/>
                </p:cNvCxnSpPr>
                <p:nvPr/>
              </p:nvCxnSpPr>
              <p:spPr>
                <a:xfrm flipV="1">
                  <a:off x="1560336" y="3821117"/>
                  <a:ext cx="0" cy="978436"/>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grpSp>
          <p:sp>
            <p:nvSpPr>
              <p:cNvPr id="21" name="TextBox 20">
                <a:extLst>
                  <a:ext uri="{FF2B5EF4-FFF2-40B4-BE49-F238E27FC236}">
                    <a16:creationId xmlns:a16="http://schemas.microsoft.com/office/drawing/2014/main" id="{21CC4A99-EC97-F28B-B273-1178DACB9DCC}"/>
                  </a:ext>
                </a:extLst>
              </p:cNvPr>
              <p:cNvSpPr txBox="1"/>
              <p:nvPr/>
            </p:nvSpPr>
            <p:spPr>
              <a:xfrm>
                <a:off x="1897833" y="4492185"/>
                <a:ext cx="154828" cy="123111"/>
              </a:xfrm>
              <a:prstGeom prst="rect">
                <a:avLst/>
              </a:prstGeom>
              <a:solidFill>
                <a:schemeClr val="bg1"/>
              </a:solidFill>
            </p:spPr>
            <p:txBody>
              <a:bodyPr wrap="square" lIns="0" tIns="0" rIns="0" bIns="0" rtlCol="0">
                <a:spAutoFit/>
              </a:bodyPr>
              <a:lstStyle/>
              <a:p>
                <a:pPr algn="ctr"/>
                <a:r>
                  <a:rPr lang="en-US" altLang="ko-KR" sz="800" dirty="0"/>
                  <a:t>X2</a:t>
                </a:r>
                <a:endParaRPr lang="ko-KR" altLang="en-US" sz="800" dirty="0"/>
              </a:p>
            </p:txBody>
          </p:sp>
          <p:sp>
            <p:nvSpPr>
              <p:cNvPr id="22" name="TextBox 21">
                <a:extLst>
                  <a:ext uri="{FF2B5EF4-FFF2-40B4-BE49-F238E27FC236}">
                    <a16:creationId xmlns:a16="http://schemas.microsoft.com/office/drawing/2014/main" id="{776D95CC-D74A-B3F0-6041-9746AC3060F7}"/>
                  </a:ext>
                </a:extLst>
              </p:cNvPr>
              <p:cNvSpPr txBox="1"/>
              <p:nvPr/>
            </p:nvSpPr>
            <p:spPr>
              <a:xfrm>
                <a:off x="2203124" y="4876857"/>
                <a:ext cx="154828" cy="123111"/>
              </a:xfrm>
              <a:prstGeom prst="rect">
                <a:avLst/>
              </a:prstGeom>
              <a:solidFill>
                <a:schemeClr val="bg1"/>
              </a:solidFill>
            </p:spPr>
            <p:txBody>
              <a:bodyPr wrap="square" lIns="0" tIns="0" rIns="0" bIns="0" rtlCol="0">
                <a:spAutoFit/>
              </a:bodyPr>
              <a:lstStyle/>
              <a:p>
                <a:pPr algn="ctr"/>
                <a:r>
                  <a:rPr lang="en-US" altLang="ko-KR" sz="800" dirty="0"/>
                  <a:t>Y2</a:t>
                </a:r>
                <a:endParaRPr lang="ko-KR" altLang="en-US" sz="800" dirty="0"/>
              </a:p>
            </p:txBody>
          </p:sp>
          <p:sp>
            <p:nvSpPr>
              <p:cNvPr id="23" name="TextBox 22">
                <a:extLst>
                  <a:ext uri="{FF2B5EF4-FFF2-40B4-BE49-F238E27FC236}">
                    <a16:creationId xmlns:a16="http://schemas.microsoft.com/office/drawing/2014/main" id="{BD230EB6-186D-E7FE-1BBA-C2BAD2AD7731}"/>
                  </a:ext>
                </a:extLst>
              </p:cNvPr>
              <p:cNvSpPr txBox="1"/>
              <p:nvPr/>
            </p:nvSpPr>
            <p:spPr>
              <a:xfrm>
                <a:off x="1959769" y="5346185"/>
                <a:ext cx="154828" cy="123111"/>
              </a:xfrm>
              <a:prstGeom prst="rect">
                <a:avLst/>
              </a:prstGeom>
              <a:solidFill>
                <a:schemeClr val="bg1"/>
              </a:solidFill>
            </p:spPr>
            <p:txBody>
              <a:bodyPr wrap="square" lIns="0" tIns="0" rIns="0" bIns="0" rtlCol="0">
                <a:spAutoFit/>
              </a:bodyPr>
              <a:lstStyle/>
              <a:p>
                <a:pPr algn="ctr"/>
                <a:r>
                  <a:rPr lang="en-US" altLang="ko-KR" sz="800" dirty="0"/>
                  <a:t>X3</a:t>
                </a:r>
                <a:endParaRPr lang="ko-KR" altLang="en-US" sz="800" dirty="0"/>
              </a:p>
            </p:txBody>
          </p:sp>
          <p:sp>
            <p:nvSpPr>
              <p:cNvPr id="24" name="TextBox 23">
                <a:extLst>
                  <a:ext uri="{FF2B5EF4-FFF2-40B4-BE49-F238E27FC236}">
                    <a16:creationId xmlns:a16="http://schemas.microsoft.com/office/drawing/2014/main" id="{535F9D70-B12A-4AA2-584B-5B41B7834A3E}"/>
                  </a:ext>
                </a:extLst>
              </p:cNvPr>
              <p:cNvSpPr txBox="1"/>
              <p:nvPr/>
            </p:nvSpPr>
            <p:spPr>
              <a:xfrm>
                <a:off x="1415870" y="4790876"/>
                <a:ext cx="154828" cy="123111"/>
              </a:xfrm>
              <a:prstGeom prst="rect">
                <a:avLst/>
              </a:prstGeom>
              <a:solidFill>
                <a:schemeClr val="bg1"/>
              </a:solidFill>
            </p:spPr>
            <p:txBody>
              <a:bodyPr wrap="square" lIns="0" tIns="0" rIns="0" bIns="0" rtlCol="0">
                <a:spAutoFit/>
              </a:bodyPr>
              <a:lstStyle/>
              <a:p>
                <a:pPr algn="ctr"/>
                <a:r>
                  <a:rPr lang="en-US" altLang="ko-KR" sz="800" dirty="0"/>
                  <a:t>Y3</a:t>
                </a:r>
                <a:endParaRPr lang="ko-KR" altLang="en-US" sz="800" dirty="0"/>
              </a:p>
            </p:txBody>
          </p:sp>
        </p:grpSp>
        <p:cxnSp>
          <p:nvCxnSpPr>
            <p:cNvPr id="19" name="직선 화살표 연결선 18">
              <a:extLst>
                <a:ext uri="{FF2B5EF4-FFF2-40B4-BE49-F238E27FC236}">
                  <a16:creationId xmlns:a16="http://schemas.microsoft.com/office/drawing/2014/main" id="{2B3045D5-2112-ABC6-BC78-242C5324E251}"/>
                </a:ext>
              </a:extLst>
            </p:cNvPr>
            <p:cNvCxnSpPr>
              <a:cxnSpLocks/>
            </p:cNvCxnSpPr>
            <p:nvPr/>
          </p:nvCxnSpPr>
          <p:spPr>
            <a:xfrm flipV="1">
              <a:off x="1476375" y="3515805"/>
              <a:ext cx="224356" cy="103695"/>
            </a:xfrm>
            <a:prstGeom prst="straightConnector1">
              <a:avLst/>
            </a:prstGeom>
            <a:ln>
              <a:headEnd w="med" len="sm"/>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970544529"/>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문서" ma:contentTypeID="0x010100AFC4A675C1E113449D0248043CD1C0F7" ma:contentTypeVersion="4" ma:contentTypeDescription="새 문서를 만듭니다." ma:contentTypeScope="" ma:versionID="b5bb315d749e6b00b177ef1d11898eef">
  <xsd:schema xmlns:xsd="http://www.w3.org/2001/XMLSchema" xmlns:xs="http://www.w3.org/2001/XMLSchema" xmlns:p="http://schemas.microsoft.com/office/2006/metadata/properties" xmlns:ns3="b68af7c0-9cef-4e12-8243-523fceba86ee" targetNamespace="http://schemas.microsoft.com/office/2006/metadata/properties" ma:root="true" ma:fieldsID="3390cc5023201d4da9fc1987b8c9f5b3" ns3:_="">
    <xsd:import namespace="b68af7c0-9cef-4e12-8243-523fceba86ee"/>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8af7c0-9cef-4e12-8243-523fceba86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4F76A09-908A-4E45-A9CC-081CB8515A48}">
  <ds:schemaRefs>
    <ds:schemaRef ds:uri="http://schemas.microsoft.com/sharepoint/v3/contenttype/forms"/>
  </ds:schemaRefs>
</ds:datastoreItem>
</file>

<file path=customXml/itemProps2.xml><?xml version="1.0" encoding="utf-8"?>
<ds:datastoreItem xmlns:ds="http://schemas.openxmlformats.org/officeDocument/2006/customXml" ds:itemID="{198F8765-65A5-4E5A-8F42-35C584A4DA0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8af7c0-9cef-4e12-8243-523fceba86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F6F863B-59A5-4DCE-B63F-FE618623F17F}">
  <ds:schemaRefs>
    <ds:schemaRef ds:uri="http://purl.org/dc/terms/"/>
    <ds:schemaRef ds:uri="http://purl.org/dc/elements/1.1/"/>
    <ds:schemaRef ds:uri="http://schemas.microsoft.com/office/2006/documentManagement/types"/>
    <ds:schemaRef ds:uri="b68af7c0-9cef-4e12-8243-523fceba86ee"/>
    <ds:schemaRef ds:uri="http://www.w3.org/XML/1998/namespace"/>
    <ds:schemaRef ds:uri="http://schemas.microsoft.com/office/infopath/2007/PartnerControls"/>
    <ds:schemaRef ds:uri="http://purl.org/dc/dcmitype/"/>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Office Theme</Template>
  <TotalTime>58630</TotalTime>
  <Words>10972</Words>
  <Application>Microsoft Office PowerPoint</Application>
  <PresentationFormat>A4 용지(210x297mm)</PresentationFormat>
  <Paragraphs>3382</Paragraphs>
  <Slides>39</Slides>
  <Notes>2</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39</vt:i4>
      </vt:variant>
    </vt:vector>
  </HeadingPairs>
  <TitlesOfParts>
    <vt:vector size="47" baseType="lpstr">
      <vt:lpstr>Microsoft GothicNeo</vt:lpstr>
      <vt:lpstr>굴림</vt:lpstr>
      <vt:lpstr>맑은 고딕</vt:lpstr>
      <vt:lpstr>Aptos Narrow</vt:lpstr>
      <vt:lpstr>Arial</vt:lpstr>
      <vt:lpstr>Calibri</vt:lpstr>
      <vt:lpstr>Wingdings</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엄윤섭</dc:creator>
  <cp:lastModifiedBy>엄 윤섭</cp:lastModifiedBy>
  <cp:revision>1993</cp:revision>
  <cp:lastPrinted>2026-01-12T04:57:16Z</cp:lastPrinted>
  <dcterms:created xsi:type="dcterms:W3CDTF">2020-06-17T04:27:48Z</dcterms:created>
  <dcterms:modified xsi:type="dcterms:W3CDTF">2026-01-13T07:31:05Z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0x010100AFC4A675C1E113449D0248043CD1C0F7</vt:lpwstr>
  </property>
</Properties>
</file>