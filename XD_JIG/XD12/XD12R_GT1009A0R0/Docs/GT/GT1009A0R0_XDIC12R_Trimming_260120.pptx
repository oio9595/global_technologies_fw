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548" r:id="rId3"/>
    <p:sldId id="549" r:id="rId4"/>
    <p:sldId id="537" r:id="rId5"/>
    <p:sldId id="538" r:id="rId6"/>
    <p:sldId id="561" r:id="rId7"/>
    <p:sldId id="560" r:id="rId8"/>
    <p:sldId id="562" r:id="rId9"/>
    <p:sldId id="563" r:id="rId10"/>
    <p:sldId id="550" r:id="rId11"/>
    <p:sldId id="535" r:id="rId12"/>
    <p:sldId id="552" r:id="rId13"/>
    <p:sldId id="553" r:id="rId14"/>
    <p:sldId id="547" r:id="rId15"/>
    <p:sldId id="551" r:id="rId16"/>
  </p:sldIdLst>
  <p:sldSz cx="12192000" cy="6858000"/>
  <p:notesSz cx="9144000" cy="6858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85E55BAA-E778-4D9E-8E7B-161A8380F078}">
          <p14:sldIdLst>
            <p14:sldId id="256"/>
          </p14:sldIdLst>
        </p14:section>
        <p14:section name="제목 없는 구역" id="{A2D38DCB-7601-4C53-BAA7-A7272C8608C1}">
          <p14:sldIdLst>
            <p14:sldId id="548"/>
            <p14:sldId id="549"/>
            <p14:sldId id="537"/>
            <p14:sldId id="538"/>
            <p14:sldId id="561"/>
            <p14:sldId id="560"/>
            <p14:sldId id="562"/>
            <p14:sldId id="563"/>
            <p14:sldId id="550"/>
            <p14:sldId id="535"/>
            <p14:sldId id="552"/>
            <p14:sldId id="553"/>
            <p14:sldId id="547"/>
            <p14:sldId id="55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58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026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50" d="100"/>
          <a:sy n="150" d="100"/>
        </p:scale>
        <p:origin x="1738" y="8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02790764-53BA-8E8C-48E9-7C02E7B1CB1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87AA493-D2F6-1464-79FF-4F52D23BFC6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000FE8-DA16-4310-A798-C8BB96DEB633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FDDB875-97B2-F75E-165B-DE5D177EE60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74E59C-F8F1-425D-E3F7-86826F96FCE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B3B0E6-E5AA-445E-8217-7070CA1E76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196546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86A34C-D423-4D55-BB20-4205E9FE39FE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29107E-7DB7-4441-B3C2-D345273977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10827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70432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86619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FB664B-F9BB-94DC-204A-EE2662FB4D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B162F3B-0B73-4408-9CF1-78A8FA0722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6F68DF-3C37-24EE-DBCF-DB1872387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FF794F-1F1B-651E-7396-33F8C8F66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F70D92-9DE6-5AAD-8CFE-859D1CB91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2808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BB710D-7E32-A5B9-7BB4-2CC892FA2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D191AE-71B8-78BD-0B35-B10B7CC0C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3657E6-BBFA-2748-1FF4-68D51AA48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CCF92B-17F4-F8F5-5F70-A80153C40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0320BE-7F00-3D1F-0AD5-FF2F3A695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5634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7FC23F-5A5C-3CF4-30AB-8D22205A4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C9CDCF-5643-D716-08C4-39BE6A0BA4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5CC47D-9E20-8DD1-8771-76369CA2D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41C119-A08D-9068-3C50-08B02E4A8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028F5E-E4C4-CD5D-C2F6-1FDFAD36D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6655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7E393E-1D50-75AB-0978-6D238F3DE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134173-0952-7319-8120-51D3CF4344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1B8AA9-E4A4-4745-4498-BC5CDCD847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5499842-7C28-6AFC-7451-1A5B49908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5100BE-4DBB-6F9A-5D73-5DD0F9E6F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A1FD6A5-49A2-7382-02E0-1AC666F4A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222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7FE297-F653-0AF6-1B48-CB63EC007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2A10100-3818-F0B4-7E3E-EE82452AE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E27A6C0-F607-D1D0-8C98-CEC976A6B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852EB52-EFA7-3BEF-383A-2B7A7CDCD5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5F8F23F-681B-BFFA-0F28-A53A8B600B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A049164-C608-8177-801A-92088799B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A278D0-2EBD-0D0C-42CD-08C27583C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E9135B3-52A5-5AAE-AB1D-4985B32A8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9742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ABFC65-20E3-3B61-8F81-85E2E7005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247C8D3-4F28-8328-0F57-616DFACF1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D81D0E3-C3AF-89D4-2CE2-FD193CCE4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7A549B1-0D65-6847-07C7-AD658AE71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2096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974AB00-90CA-017F-3EC8-F74DF3749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51348CE-44D2-32D4-20F1-98AACBE3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8F0B09-4A22-3151-9A61-2D40A589F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6380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1E238F-D74B-C261-7B9A-E9E655948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10A3EC-BB15-0806-64AD-40A6D8232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8AEC65F-924C-A898-C7A8-3CF5C0C6F7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BC6A25B-A837-21EB-98B6-B6D6F5801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295F563-4EE6-335A-154F-3CD11366E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0B38FB2-3ACB-4563-4A3A-545B43C11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354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10EA1C-2571-12BF-77DC-24B486504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13EFDBA-F139-2795-73A8-618D5B57D5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EAF5FC2-CC4D-86DD-8ADA-0569917D22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D9F761-3307-9420-A017-78F991CF1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9DDC650-DEB5-3983-6E86-ABAC9C32B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87D22B-C7A8-7F3B-286A-151B8294A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8637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2935C9-12C8-EC72-B947-9E24C9FD8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A15B020-F24E-DDC2-F4EE-3D8D887188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95C4E3-BFE9-6E4C-5735-1A12BADAE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89EABA-A261-B6E5-3F36-0FECF3657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1C4B01-866F-F2D8-06F6-05C71A5C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4336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B7D5AC3-907A-DA38-DCD8-52F5D3FFAF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C8ACB82-F21D-8939-3324-5000CF24CF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46E191-55F1-281A-3AD4-887CD80F1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8DE24A-E40C-F499-3505-FBC858B2C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E6953D-BA95-B674-35F0-2E0E74E1E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78612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5A2A0E3-0991-436B-8A58-2FA92CE21EA2}"/>
              </a:ext>
            </a:extLst>
          </p:cNvPr>
          <p:cNvSpPr txBox="1">
            <a:spLocks/>
          </p:cNvSpPr>
          <p:nvPr userDrawn="1"/>
        </p:nvSpPr>
        <p:spPr>
          <a:xfrm>
            <a:off x="0" y="6356350"/>
            <a:ext cx="13364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i="0" kern="12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Confidential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CC7E163-C4EE-4C24-9A05-EA212EAC93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483"/>
          <a:stretch/>
        </p:blipFill>
        <p:spPr>
          <a:xfrm>
            <a:off x="10608816" y="6346952"/>
            <a:ext cx="1583184" cy="437288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DFFAC23-0B1C-41E0-BDC8-C2E2644CAB67}"/>
              </a:ext>
            </a:extLst>
          </p:cNvPr>
          <p:cNvCxnSpPr/>
          <p:nvPr userDrawn="1"/>
        </p:nvCxnSpPr>
        <p:spPr>
          <a:xfrm>
            <a:off x="186043" y="505408"/>
            <a:ext cx="11819107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21AE250-F23E-48C1-98E3-71224BD682CB}"/>
              </a:ext>
            </a:extLst>
          </p:cNvPr>
          <p:cNvCxnSpPr>
            <a:cxnSpLocks/>
          </p:cNvCxnSpPr>
          <p:nvPr userDrawn="1"/>
        </p:nvCxnSpPr>
        <p:spPr>
          <a:xfrm>
            <a:off x="186043" y="6354987"/>
            <a:ext cx="11819107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제목 1">
            <a:extLst>
              <a:ext uri="{FF2B5EF4-FFF2-40B4-BE49-F238E27FC236}">
                <a16:creationId xmlns:a16="http://schemas.microsoft.com/office/drawing/2014/main" id="{AF98D79A-9994-43C1-B0E9-541E28F8D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048" y="65314"/>
            <a:ext cx="10515600" cy="440094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D30CA2C5-BAFD-4790-B676-DC65D130A9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7144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D7C3DD-38B7-4D6D-B394-0849C77A12E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1426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382E126-0249-21AB-0480-DD7AE8275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A48B8F-2992-95D0-79EA-98C1264BFD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84EF20-9980-6892-1783-0DB74A8932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D2FC31-4F4E-6C10-4362-56E7400780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BA987D-6292-E4E5-153F-97CC2859D8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0449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F43756-78A1-9234-0287-2118415252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536950"/>
          </a:xfrm>
        </p:spPr>
        <p:txBody>
          <a:bodyPr>
            <a:normAutofit/>
          </a:bodyPr>
          <a:lstStyle/>
          <a:p>
            <a:r>
              <a:rPr lang="en-US" altLang="ko-KR" dirty="0"/>
              <a:t>XDIC12R</a:t>
            </a:r>
            <a:br>
              <a:rPr lang="en-US" altLang="ko-KR" dirty="0"/>
            </a:br>
            <a:r>
              <a:rPr lang="en-US" altLang="ko-KR" dirty="0"/>
              <a:t>Trimming Sequence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sz="4000" dirty="0"/>
              <a:t>(GT1009A0R0)</a:t>
            </a:r>
            <a:endParaRPr lang="ko-KR" altLang="en-US" sz="4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704201A-E197-AB9D-AC9D-4583B45BE2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59313"/>
            <a:ext cx="9144000" cy="1655762"/>
          </a:xfrm>
        </p:spPr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2026. 1.19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4753D4-8B45-76E2-F772-B59AE11A8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85514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7588DDAE-A1CC-CDA8-E64B-BC6B6F9374F7}"/>
              </a:ext>
            </a:extLst>
          </p:cNvPr>
          <p:cNvSpPr txBox="1"/>
          <p:nvPr/>
        </p:nvSpPr>
        <p:spPr>
          <a:xfrm>
            <a:off x="274320" y="506306"/>
            <a:ext cx="2708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Block Diagram</a:t>
            </a:r>
            <a:endParaRPr lang="ko-KR" altLang="en-US" dirty="0"/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878A8905-3DC8-FB5F-8DA7-11DB88E937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DAA07208-BAA6-2C69-EA14-06ABF31151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8412" y="951719"/>
            <a:ext cx="7115175" cy="541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1929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868C8-C34B-6EA0-ACA3-5DB2FBA4C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F13F0EE-4123-888E-C7E8-CFE9DC6D746C}"/>
              </a:ext>
            </a:extLst>
          </p:cNvPr>
          <p:cNvSpPr txBox="1"/>
          <p:nvPr/>
        </p:nvSpPr>
        <p:spPr>
          <a:xfrm>
            <a:off x="274320" y="506306"/>
            <a:ext cx="2177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Serial Interface</a:t>
            </a:r>
            <a:endParaRPr lang="ko-KR" altLang="en-US" dirty="0"/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55D85EE2-CBBC-0D3E-AB39-C41C676402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1C51A37-3064-44A4-5533-7A6E000D7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1240" y="1481192"/>
            <a:ext cx="4069520" cy="104219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0409F7D-9F29-DEDB-4EA1-98080CD57E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1241" y="1178890"/>
            <a:ext cx="3328254" cy="206841"/>
          </a:xfrm>
          <a:prstGeom prst="rect">
            <a:avLst/>
          </a:prstGeom>
        </p:spPr>
      </p:pic>
      <p:pic>
        <p:nvPicPr>
          <p:cNvPr id="8" name="그림 7" descr="텍스트, 번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9270002-6ED4-689F-F75F-3DF9AB0B92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9766" y="2618847"/>
            <a:ext cx="7632467" cy="3701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421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95BEB7DA-0C2B-1736-01E3-FB2FC337B3A5}"/>
              </a:ext>
            </a:extLst>
          </p:cNvPr>
          <p:cNvSpPr txBox="1"/>
          <p:nvPr/>
        </p:nvSpPr>
        <p:spPr>
          <a:xfrm>
            <a:off x="274319" y="512021"/>
            <a:ext cx="5972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Serializer/De-serializer Protocol</a:t>
            </a:r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8DC5B3B-7383-2383-3550-25DF44F93A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4" name="그림 3" descr="텍스트, 스크린샷, 번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E1ED8D0-3452-24D6-A3EA-59C40A834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922" y="1015234"/>
            <a:ext cx="9903143" cy="5330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251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95BEB7DA-0C2B-1736-01E3-FB2FC337B3A5}"/>
              </a:ext>
            </a:extLst>
          </p:cNvPr>
          <p:cNvSpPr txBox="1"/>
          <p:nvPr/>
        </p:nvSpPr>
        <p:spPr>
          <a:xfrm>
            <a:off x="274320" y="512021"/>
            <a:ext cx="5932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LD_DATA Transfer</a:t>
            </a:r>
            <a:endParaRPr lang="ko-KR" altLang="en-US" dirty="0"/>
          </a:p>
        </p:txBody>
      </p:sp>
      <p:sp>
        <p:nvSpPr>
          <p:cNvPr id="38" name="슬라이드 번호 개체 틀 37">
            <a:extLst>
              <a:ext uri="{FF2B5EF4-FFF2-40B4-BE49-F238E27FC236}">
                <a16:creationId xmlns:a16="http://schemas.microsoft.com/office/drawing/2014/main" id="{E91F7C9F-E631-0732-DE07-39038C2566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0" name="그림 9" descr="텍스트, 라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0CD7732-FA7F-1082-BBD5-20C3BB06E7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2322" y="4239038"/>
            <a:ext cx="8848336" cy="197888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174145D-F34F-10C7-350A-1F81D0085F7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8101"/>
          <a:stretch/>
        </p:blipFill>
        <p:spPr>
          <a:xfrm>
            <a:off x="1607062" y="1456104"/>
            <a:ext cx="7146257" cy="1885408"/>
          </a:xfrm>
          <a:prstGeom prst="rect">
            <a:avLst/>
          </a:prstGeom>
        </p:spPr>
      </p:pic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589FA53-2810-B7B1-DEA0-BDC0BE4DDEA6}"/>
              </a:ext>
            </a:extLst>
          </p:cNvPr>
          <p:cNvCxnSpPr>
            <a:cxnSpLocks/>
          </p:cNvCxnSpPr>
          <p:nvPr/>
        </p:nvCxnSpPr>
        <p:spPr>
          <a:xfrm flipH="1">
            <a:off x="1828800" y="1925955"/>
            <a:ext cx="1171575" cy="2451735"/>
          </a:xfrm>
          <a:prstGeom prst="line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16A6AB42-4E57-5A2A-4A71-B31EDF79487B}"/>
              </a:ext>
            </a:extLst>
          </p:cNvPr>
          <p:cNvCxnSpPr>
            <a:cxnSpLocks/>
          </p:cNvCxnSpPr>
          <p:nvPr/>
        </p:nvCxnSpPr>
        <p:spPr>
          <a:xfrm>
            <a:off x="5452110" y="1925955"/>
            <a:ext cx="5178548" cy="2451735"/>
          </a:xfrm>
          <a:prstGeom prst="line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2024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95BEB7DA-0C2B-1736-01E3-FB2FC337B3A5}"/>
              </a:ext>
            </a:extLst>
          </p:cNvPr>
          <p:cNvSpPr txBox="1"/>
          <p:nvPr/>
        </p:nvSpPr>
        <p:spPr>
          <a:xfrm>
            <a:off x="274320" y="514688"/>
            <a:ext cx="9607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Dimming - Type1(LED1+LED2+LED3), Normal mode, Tail (VSYNC </a:t>
            </a:r>
            <a:r>
              <a:rPr lang="en-US" altLang="ko-KR" dirty="0" err="1"/>
              <a:t>cmd</a:t>
            </a:r>
            <a:r>
              <a:rPr lang="en-US" altLang="ko-KR" dirty="0"/>
              <a:t> + SVSYNC)  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F395D64-68B6-7FF0-176E-44052060D1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4325B24-1AF8-31A6-2974-4A7A98831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125" y="1039008"/>
            <a:ext cx="8365749" cy="5253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227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11F19-BE0F-88CE-7095-3FBD03FE6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C9A1134B-AC9A-F5F9-4E2F-33F398E6FC62}"/>
              </a:ext>
            </a:extLst>
          </p:cNvPr>
          <p:cNvSpPr txBox="1"/>
          <p:nvPr/>
        </p:nvSpPr>
        <p:spPr>
          <a:xfrm>
            <a:off x="274320" y="514688"/>
            <a:ext cx="9607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Dimming - Type2(LED1,LED2+LED3), Normal mode, Tail (VSYNC </a:t>
            </a:r>
            <a:r>
              <a:rPr lang="en-US" altLang="ko-KR" dirty="0" err="1"/>
              <a:t>cmd</a:t>
            </a:r>
            <a:r>
              <a:rPr lang="en-US" altLang="ko-KR" dirty="0"/>
              <a:t> + SVSYNC)  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7ACF827-52BD-60DA-18B0-753DAA44E1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46CD0AD-5F04-BF13-5667-1CBCD9A6D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2568" y="987343"/>
            <a:ext cx="8166863" cy="5355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821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99F81-C892-9C5A-D7E6-D011E1398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A108D5C-2B7C-86AA-F7C3-A3730AAB7F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4330D71-8CA3-40B5-4E5D-F935B29395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5837" y="884626"/>
            <a:ext cx="10220325" cy="52792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4144633-932F-C3F9-F741-38AC40157E3F}"/>
              </a:ext>
            </a:extLst>
          </p:cNvPr>
          <p:cNvSpPr txBox="1"/>
          <p:nvPr/>
        </p:nvSpPr>
        <p:spPr>
          <a:xfrm>
            <a:off x="274320" y="506306"/>
            <a:ext cx="3846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Trim Initial</a:t>
            </a:r>
            <a:r>
              <a:rPr lang="ko-KR" altLang="en-US" dirty="0"/>
              <a:t> </a:t>
            </a:r>
            <a:r>
              <a:rPr lang="en-US" altLang="ko-KR" dirty="0"/>
              <a:t>Setting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33677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60C1A-1443-EBFD-D17A-007104280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DC38721-1FFE-D032-E46F-D86A9FD3CD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37CEF0-BE04-9007-2027-3A98B0FE0AF5}"/>
              </a:ext>
            </a:extLst>
          </p:cNvPr>
          <p:cNvSpPr txBox="1"/>
          <p:nvPr/>
        </p:nvSpPr>
        <p:spPr>
          <a:xfrm>
            <a:off x="274320" y="506306"/>
            <a:ext cx="3846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레지스터  </a:t>
            </a:r>
            <a:r>
              <a:rPr lang="en-US" altLang="ko-KR" dirty="0"/>
              <a:t>Write </a:t>
            </a:r>
            <a:r>
              <a:rPr lang="ko-KR" altLang="en-US" dirty="0"/>
              <a:t>시 유의 사항</a:t>
            </a:r>
            <a:r>
              <a:rPr lang="en-US" altLang="ko-KR" dirty="0"/>
              <a:t>!!</a:t>
            </a:r>
            <a:endParaRPr lang="ko-KR" altLang="en-US" dirty="0"/>
          </a:p>
        </p:txBody>
      </p:sp>
      <p:pic>
        <p:nvPicPr>
          <p:cNvPr id="6" name="그림 5" descr="텍스트, 스크린샷, 폰트, 영수증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6931C8B-A38A-B11F-3354-754BE7C69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75638"/>
            <a:ext cx="6249272" cy="204816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FE14B94-4429-0EA2-F358-CD240129AD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293131"/>
            <a:ext cx="5410200" cy="12509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F6DAC9-5C98-17C0-2E13-0D485EC93B31}"/>
              </a:ext>
            </a:extLst>
          </p:cNvPr>
          <p:cNvSpPr txBox="1"/>
          <p:nvPr/>
        </p:nvSpPr>
        <p:spPr>
          <a:xfrm>
            <a:off x="514350" y="4566496"/>
            <a:ext cx="9299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>
                <a:solidFill>
                  <a:srgbClr val="FF0000"/>
                </a:solidFill>
              </a:rPr>
              <a:t>WR_Protect</a:t>
            </a:r>
            <a:r>
              <a:rPr lang="en-US" altLang="ko-KR" b="1" dirty="0">
                <a:solidFill>
                  <a:srgbClr val="FF0000"/>
                </a:solidFill>
              </a:rPr>
              <a:t> </a:t>
            </a:r>
            <a:r>
              <a:rPr lang="ko-KR" altLang="en-US" b="1" dirty="0">
                <a:solidFill>
                  <a:srgbClr val="FF0000"/>
                </a:solidFill>
              </a:rPr>
              <a:t>값이 </a:t>
            </a:r>
            <a:r>
              <a:rPr lang="en-US" altLang="ko-KR" b="1" dirty="0">
                <a:solidFill>
                  <a:srgbClr val="FF0000"/>
                </a:solidFill>
              </a:rPr>
              <a:t>0x555</a:t>
            </a:r>
            <a:r>
              <a:rPr lang="ko-KR" altLang="en-US" b="1" dirty="0">
                <a:solidFill>
                  <a:srgbClr val="FF0000"/>
                </a:solidFill>
              </a:rPr>
              <a:t>인 경우 </a:t>
            </a:r>
            <a:r>
              <a:rPr lang="en-US" altLang="ko-KR" b="1" dirty="0">
                <a:solidFill>
                  <a:srgbClr val="FF0000"/>
                </a:solidFill>
              </a:rPr>
              <a:t>Vref (0x0B, 0x0C, 0x0D</a:t>
            </a:r>
            <a:r>
              <a:rPr lang="ko-KR" altLang="en-US" b="1" dirty="0">
                <a:solidFill>
                  <a:srgbClr val="FF0000"/>
                </a:solidFill>
              </a:rPr>
              <a:t>번지</a:t>
            </a:r>
            <a:r>
              <a:rPr lang="en-US" altLang="ko-KR" b="1" dirty="0">
                <a:solidFill>
                  <a:srgbClr val="FF0000"/>
                </a:solidFill>
              </a:rPr>
              <a:t>)</a:t>
            </a:r>
            <a:r>
              <a:rPr lang="ko-KR" altLang="en-US" b="1" dirty="0">
                <a:solidFill>
                  <a:srgbClr val="FF0000"/>
                </a:solidFill>
              </a:rPr>
              <a:t>에 </a:t>
            </a:r>
            <a:r>
              <a:rPr lang="en-US" altLang="ko-KR" b="1" dirty="0">
                <a:solidFill>
                  <a:srgbClr val="FF0000"/>
                </a:solidFill>
              </a:rPr>
              <a:t>Write</a:t>
            </a:r>
            <a:r>
              <a:rPr lang="ko-KR" altLang="en-US" b="1" dirty="0">
                <a:solidFill>
                  <a:srgbClr val="FF0000"/>
                </a:solidFill>
              </a:rPr>
              <a:t> 못하는 점 유의</a:t>
            </a:r>
            <a:r>
              <a:rPr lang="en-US" altLang="ko-KR" b="1" dirty="0">
                <a:solidFill>
                  <a:srgbClr val="FF0000"/>
                </a:solidFill>
              </a:rPr>
              <a:t>!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123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4B90A-1680-386D-0CBD-F2A32E2AC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667DCAA-308B-2430-64B8-D503B37D88A5}"/>
              </a:ext>
            </a:extLst>
          </p:cNvPr>
          <p:cNvSpPr txBox="1"/>
          <p:nvPr/>
        </p:nvSpPr>
        <p:spPr>
          <a:xfrm>
            <a:off x="274320" y="506306"/>
            <a:ext cx="3846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Trimming Sequence</a:t>
            </a:r>
            <a:endParaRPr lang="ko-KR" altLang="en-US" dirty="0"/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334BF372-9BBA-6ED9-D2BC-2E525BDE1A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10</a:t>
            </a:fld>
            <a:endParaRPr 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E28F537-4ABB-7CF3-CF6D-030937389FAD}"/>
              </a:ext>
            </a:extLst>
          </p:cNvPr>
          <p:cNvGrpSpPr/>
          <p:nvPr/>
        </p:nvGrpSpPr>
        <p:grpSpPr>
          <a:xfrm>
            <a:off x="329565" y="849671"/>
            <a:ext cx="10595610" cy="5502023"/>
            <a:chOff x="329565" y="849671"/>
            <a:chExt cx="11532870" cy="5502023"/>
          </a:xfrm>
        </p:grpSpPr>
        <p:pic>
          <p:nvPicPr>
            <p:cNvPr id="3" name="그림 2" descr="텍스트, 스크린샷, 번호, 평행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62E483F5-D3FF-7963-BE09-CCDB7711BB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9565" y="849671"/>
              <a:ext cx="11532870" cy="5502023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36A1965B-383C-1548-3223-84F85CD1BDFB}"/>
                </a:ext>
              </a:extLst>
            </p:cNvPr>
            <p:cNvSpPr txBox="1"/>
            <p:nvPr/>
          </p:nvSpPr>
          <p:spPr>
            <a:xfrm>
              <a:off x="10386394" y="1559240"/>
              <a:ext cx="135154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>
                  <a:solidFill>
                    <a:srgbClr val="0000FF"/>
                  </a:solidFill>
                </a:rPr>
                <a:t>**signed binary**</a:t>
              </a:r>
              <a:endParaRPr lang="ko-KR" altLang="en-US" sz="1000" b="1" dirty="0">
                <a:solidFill>
                  <a:srgbClr val="0000FF"/>
                </a:solidFill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A860B47-43A0-8F15-62BE-2196D3377AF2}"/>
                </a:ext>
              </a:extLst>
            </p:cNvPr>
            <p:cNvSpPr txBox="1"/>
            <p:nvPr/>
          </p:nvSpPr>
          <p:spPr>
            <a:xfrm>
              <a:off x="10386394" y="2039855"/>
              <a:ext cx="135154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>
                  <a:solidFill>
                    <a:srgbClr val="0000FF"/>
                  </a:solidFill>
                </a:rPr>
                <a:t>**signed binary**</a:t>
              </a:r>
              <a:endParaRPr lang="ko-KR" altLang="en-US" sz="1000" b="1" dirty="0">
                <a:solidFill>
                  <a:srgbClr val="0000FF"/>
                </a:solidFill>
              </a:endParaRP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DA0B8689-7E8F-BEE8-365E-55A0FCC0F0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0496" y="574731"/>
            <a:ext cx="7867400" cy="175673"/>
          </a:xfrm>
          <a:prstGeom prst="rect">
            <a:avLst/>
          </a:prstGeom>
        </p:spPr>
      </p:pic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414ADA60-0A8A-3B3B-BB7E-315ACAF16D5A}"/>
              </a:ext>
            </a:extLst>
          </p:cNvPr>
          <p:cNvCxnSpPr>
            <a:cxnSpLocks/>
          </p:cNvCxnSpPr>
          <p:nvPr/>
        </p:nvCxnSpPr>
        <p:spPr>
          <a:xfrm flipH="1">
            <a:off x="7618343" y="323022"/>
            <a:ext cx="318053" cy="2517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D2276FE-7999-D707-5F6C-B6827A158A12}"/>
              </a:ext>
            </a:extLst>
          </p:cNvPr>
          <p:cNvSpPr txBox="1"/>
          <p:nvPr/>
        </p:nvSpPr>
        <p:spPr>
          <a:xfrm>
            <a:off x="7979467" y="171187"/>
            <a:ext cx="30927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rgbClr val="0000FF"/>
                </a:solidFill>
              </a:rPr>
              <a:t>모든 테스트 및 </a:t>
            </a:r>
            <a:r>
              <a:rPr lang="ko-KR" altLang="en-US" sz="1000" b="1" dirty="0" err="1">
                <a:solidFill>
                  <a:srgbClr val="0000FF"/>
                </a:solidFill>
              </a:rPr>
              <a:t>노멀모드</a:t>
            </a:r>
            <a:r>
              <a:rPr lang="ko-KR" altLang="en-US" sz="1000" b="1" dirty="0">
                <a:solidFill>
                  <a:srgbClr val="0000FF"/>
                </a:solidFill>
              </a:rPr>
              <a:t> 에서 </a:t>
            </a:r>
            <a:r>
              <a:rPr lang="en-US" altLang="ko-KR" sz="1000" b="1" dirty="0">
                <a:solidFill>
                  <a:srgbClr val="0000FF"/>
                </a:solidFill>
              </a:rPr>
              <a:t>0x20 : 3F </a:t>
            </a:r>
            <a:r>
              <a:rPr lang="ko-KR" altLang="en-US" sz="1000" b="1" dirty="0">
                <a:solidFill>
                  <a:srgbClr val="0000FF"/>
                </a:solidFill>
              </a:rPr>
              <a:t>입력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A5AFB446-649C-9E0E-F37E-2F6A1F0117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1925020"/>
              </p:ext>
            </p:extLst>
          </p:nvPr>
        </p:nvGraphicFramePr>
        <p:xfrm>
          <a:off x="10980420" y="875639"/>
          <a:ext cx="928206" cy="53306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8206">
                  <a:extLst>
                    <a:ext uri="{9D8B030D-6E8A-4147-A177-3AD203B41FA5}">
                      <a16:colId xmlns:a16="http://schemas.microsoft.com/office/drawing/2014/main" val="999952988"/>
                    </a:ext>
                  </a:extLst>
                </a:gridCol>
              </a:tblGrid>
              <a:tr h="1513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0x3F 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번지 값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8763085"/>
                  </a:ext>
                </a:extLst>
              </a:tr>
              <a:tr h="1513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0x800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749924"/>
                  </a:ext>
                </a:extLst>
              </a:tr>
              <a:tr h="1513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0x900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29131"/>
                  </a:ext>
                </a:extLst>
              </a:tr>
              <a:tr h="1513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0x900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140851"/>
                  </a:ext>
                </a:extLst>
              </a:tr>
              <a:tr h="4273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0xB00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1325891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0xC00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664181"/>
                  </a:ext>
                </a:extLst>
              </a:tr>
              <a:tr h="1513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0xD00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4523439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0x810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6688234"/>
                  </a:ext>
                </a:extLst>
              </a:tr>
              <a:tr h="15316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0x820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1419065"/>
                  </a:ext>
                </a:extLst>
              </a:tr>
              <a:tr h="154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0x820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76682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24E8536-24E1-AE42-DA5D-4F6F9BFB0BD9}"/>
              </a:ext>
            </a:extLst>
          </p:cNvPr>
          <p:cNvSpPr txBox="1"/>
          <p:nvPr/>
        </p:nvSpPr>
        <p:spPr>
          <a:xfrm>
            <a:off x="3762375" y="2533650"/>
            <a:ext cx="125730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b="1" dirty="0">
                <a:solidFill>
                  <a:srgbClr val="0000FF"/>
                </a:solidFill>
              </a:rPr>
              <a:t>좌측 레지스터 셋팅 후 </a:t>
            </a:r>
            <a:endParaRPr lang="en-US" altLang="ko-KR" sz="800" b="1" dirty="0">
              <a:solidFill>
                <a:srgbClr val="0000FF"/>
              </a:solidFill>
            </a:endParaRPr>
          </a:p>
          <a:p>
            <a:r>
              <a:rPr lang="en-US" altLang="ko-KR" sz="800" b="1" dirty="0">
                <a:solidFill>
                  <a:srgbClr val="0000FF"/>
                </a:solidFill>
              </a:rPr>
              <a:t>8.333ms</a:t>
            </a:r>
            <a:r>
              <a:rPr lang="ko-KR" altLang="en-US" sz="800" b="1" dirty="0">
                <a:solidFill>
                  <a:srgbClr val="0000FF"/>
                </a:solidFill>
              </a:rPr>
              <a:t> 간격으로</a:t>
            </a:r>
            <a:endParaRPr lang="en-US" altLang="ko-KR" sz="800" b="1" dirty="0">
              <a:solidFill>
                <a:srgbClr val="0000FF"/>
              </a:solidFill>
            </a:endParaRPr>
          </a:p>
          <a:p>
            <a:r>
              <a:rPr lang="en-US" altLang="ko-KR" sz="800" b="1" dirty="0" err="1">
                <a:solidFill>
                  <a:srgbClr val="0000FF"/>
                </a:solidFill>
              </a:rPr>
              <a:t>Vsync</a:t>
            </a:r>
            <a:r>
              <a:rPr lang="en-US" altLang="ko-KR" sz="800" b="1" dirty="0">
                <a:solidFill>
                  <a:srgbClr val="0000FF"/>
                </a:solidFill>
              </a:rPr>
              <a:t> Command </a:t>
            </a:r>
          </a:p>
          <a:p>
            <a:r>
              <a:rPr lang="en-US" altLang="ko-KR" sz="800" b="1" dirty="0">
                <a:solidFill>
                  <a:srgbClr val="0000FF"/>
                </a:solidFill>
              </a:rPr>
              <a:t>120</a:t>
            </a:r>
            <a:r>
              <a:rPr lang="ko-KR" altLang="en-US" sz="800" b="1" dirty="0">
                <a:solidFill>
                  <a:srgbClr val="0000FF"/>
                </a:solidFill>
              </a:rPr>
              <a:t>회 전달 후 주파수 측정</a:t>
            </a:r>
          </a:p>
        </p:txBody>
      </p:sp>
    </p:spTree>
    <p:extLst>
      <p:ext uri="{BB962C8B-B14F-4D97-AF65-F5344CB8AC3E}">
        <p14:creationId xmlns:p14="http://schemas.microsoft.com/office/powerpoint/2010/main" val="480297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7588DDAE-A1CC-CDA8-E64B-BC6B6F9374F7}"/>
              </a:ext>
            </a:extLst>
          </p:cNvPr>
          <p:cNvSpPr txBox="1"/>
          <p:nvPr/>
        </p:nvSpPr>
        <p:spPr>
          <a:xfrm>
            <a:off x="274320" y="506306"/>
            <a:ext cx="3846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Trimming Sequence</a:t>
            </a:r>
            <a:endParaRPr lang="ko-KR" altLang="en-US" dirty="0"/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878A8905-3DC8-FB5F-8DA7-11DB88E937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4" name="그림 3" descr="텍스트, 스크린샷, 번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7DB58A8-2F91-D4E5-8678-ADFD287DE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653" y="855326"/>
            <a:ext cx="10132694" cy="549636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006312E-2542-C3C0-F50B-620D5CD5F9C7}"/>
              </a:ext>
            </a:extLst>
          </p:cNvPr>
          <p:cNvSpPr txBox="1"/>
          <p:nvPr/>
        </p:nvSpPr>
        <p:spPr>
          <a:xfrm>
            <a:off x="9942774" y="1441406"/>
            <a:ext cx="135154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solidFill>
                  <a:srgbClr val="0000FF"/>
                </a:solidFill>
              </a:rPr>
              <a:t>**signed binary**</a:t>
            </a:r>
            <a:endParaRPr lang="ko-KR" altLang="en-US" sz="800" b="1" dirty="0">
              <a:solidFill>
                <a:srgbClr val="0000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ECF950-B0D9-179B-90D5-76E2C733DF08}"/>
              </a:ext>
            </a:extLst>
          </p:cNvPr>
          <p:cNvSpPr txBox="1"/>
          <p:nvPr/>
        </p:nvSpPr>
        <p:spPr>
          <a:xfrm>
            <a:off x="9933343" y="1577943"/>
            <a:ext cx="135154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solidFill>
                  <a:srgbClr val="0000FF"/>
                </a:solidFill>
              </a:rPr>
              <a:t>**signed binary**</a:t>
            </a:r>
            <a:endParaRPr lang="ko-KR" altLang="en-US" sz="800" b="1" dirty="0">
              <a:solidFill>
                <a:srgbClr val="0000FF"/>
              </a:solidFill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8FFCC792-08EA-2FFC-DEA3-2DFE247275DF}"/>
              </a:ext>
            </a:extLst>
          </p:cNvPr>
          <p:cNvCxnSpPr/>
          <p:nvPr/>
        </p:nvCxnSpPr>
        <p:spPr>
          <a:xfrm>
            <a:off x="7086986" y="5805234"/>
            <a:ext cx="245097" cy="0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2939007-AD1D-8A34-62F1-56D82EC941E2}"/>
              </a:ext>
            </a:extLst>
          </p:cNvPr>
          <p:cNvSpPr txBox="1"/>
          <p:nvPr/>
        </p:nvSpPr>
        <p:spPr>
          <a:xfrm>
            <a:off x="7109940" y="5549138"/>
            <a:ext cx="4442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rgbClr val="0000FF"/>
                </a:solidFill>
              </a:rPr>
              <a:t>3’d3</a:t>
            </a:r>
            <a:endParaRPr lang="ko-KR" altLang="en-US" sz="1000" b="1" dirty="0">
              <a:solidFill>
                <a:srgbClr val="0000FF"/>
              </a:solidFill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1DF24C4-BA86-F86D-F9C2-8C04047CF99F}"/>
              </a:ext>
            </a:extLst>
          </p:cNvPr>
          <p:cNvCxnSpPr/>
          <p:nvPr/>
        </p:nvCxnSpPr>
        <p:spPr>
          <a:xfrm>
            <a:off x="10561189" y="5806810"/>
            <a:ext cx="245097" cy="0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6266D88-0CEA-A42C-0A12-7D049692B4CE}"/>
              </a:ext>
            </a:extLst>
          </p:cNvPr>
          <p:cNvSpPr txBox="1"/>
          <p:nvPr/>
        </p:nvSpPr>
        <p:spPr>
          <a:xfrm>
            <a:off x="10734744" y="5629212"/>
            <a:ext cx="6056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rgbClr val="0000FF"/>
                </a:solidFill>
              </a:rPr>
              <a:t>0.75V</a:t>
            </a:r>
            <a:endParaRPr lang="ko-KR" altLang="en-US" sz="10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36751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F99BF-765F-0DDA-46D4-F5F03484C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0AF97A06-1F72-4EA3-2D3B-71E0B79BB7E9}"/>
              </a:ext>
            </a:extLst>
          </p:cNvPr>
          <p:cNvSpPr txBox="1"/>
          <p:nvPr/>
        </p:nvSpPr>
        <p:spPr>
          <a:xfrm>
            <a:off x="274320" y="506306"/>
            <a:ext cx="3846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Trimming Sequence</a:t>
            </a:r>
            <a:endParaRPr lang="ko-KR" altLang="en-US" dirty="0"/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5EBDBC35-3190-20CA-C028-7E7314030C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F37546-A29A-9A98-929F-70F27953FE64}"/>
              </a:ext>
            </a:extLst>
          </p:cNvPr>
          <p:cNvSpPr txBox="1"/>
          <p:nvPr/>
        </p:nvSpPr>
        <p:spPr>
          <a:xfrm>
            <a:off x="674370" y="1096824"/>
            <a:ext cx="10709910" cy="195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altLang="ko-KR" sz="1100" dirty="0"/>
              <a:t>When TEST_EN = 1,</a:t>
            </a:r>
          </a:p>
          <a:p>
            <a:pPr marL="628650" lvl="1" indent="-171450">
              <a:buFontTx/>
              <a:buChar char="-"/>
            </a:pPr>
            <a:endParaRPr lang="en-US" altLang="ko-KR" sz="1100" dirty="0"/>
          </a:p>
          <a:p>
            <a:pPr marL="628650" lvl="1" indent="-171450">
              <a:buFontTx/>
              <a:buChar char="-"/>
            </a:pPr>
            <a:r>
              <a:rPr lang="en-US" altLang="ko-KR" sz="1100" dirty="0"/>
              <a:t>trim DACA_OFS using MAX_CURR_VREF1 (0x0B) and TEST_ANA_EN[2:0] = 3’d3.</a:t>
            </a:r>
          </a:p>
          <a:p>
            <a:pPr marL="628650" lvl="1" indent="-171450">
              <a:buFontTx/>
              <a:buChar char="-"/>
            </a:pPr>
            <a:endParaRPr lang="en-US" altLang="ko-KR" sz="1100" dirty="0"/>
          </a:p>
          <a:p>
            <a:pPr marL="628650" lvl="1" indent="-171450">
              <a:buFontTx/>
              <a:buChar char="-"/>
            </a:pPr>
            <a:r>
              <a:rPr lang="en-US" altLang="ko-KR" sz="1100" dirty="0"/>
              <a:t>trim DACB_OFS using MAX_CURR_VREF1 (0x0B) and TEST_ANA_EN[2:0] = 3’d4.</a:t>
            </a:r>
          </a:p>
          <a:p>
            <a:pPr marL="628650" lvl="1" indent="-171450">
              <a:buFontTx/>
              <a:buChar char="-"/>
            </a:pPr>
            <a:endParaRPr lang="en-US" altLang="ko-KR" sz="1100" dirty="0"/>
          </a:p>
          <a:p>
            <a:pPr marL="628650" lvl="1" indent="-171450">
              <a:buFontTx/>
              <a:buChar char="-"/>
            </a:pPr>
            <a:r>
              <a:rPr lang="en-US" altLang="ko-KR" sz="1100" dirty="0"/>
              <a:t>when set MCLK64_O = 1, </a:t>
            </a:r>
            <a:r>
              <a:rPr lang="en-US" altLang="ko-KR" sz="1100" dirty="0" err="1"/>
              <a:t>mclk</a:t>
            </a:r>
            <a:r>
              <a:rPr lang="en-US" altLang="ko-KR" sz="1100" dirty="0"/>
              <a:t>/64 clock out to DDIO.</a:t>
            </a:r>
          </a:p>
          <a:p>
            <a:pPr marL="628650" lvl="1" indent="-171450">
              <a:buFontTx/>
              <a:buChar char="-"/>
            </a:pPr>
            <a:endParaRPr lang="en-US" altLang="ko-KR" sz="1100" dirty="0"/>
          </a:p>
          <a:p>
            <a:pPr marL="628650" lvl="1" indent="-171450">
              <a:buFontTx/>
              <a:buChar char="-"/>
            </a:pPr>
            <a:r>
              <a:rPr lang="en-US" altLang="ko-KR" sz="1100" dirty="0"/>
              <a:t>when set PWMOUT_FULL = 1, </a:t>
            </a:r>
            <a:r>
              <a:rPr lang="en-US" altLang="ko-KR" sz="1100" dirty="0" err="1"/>
              <a:t>PWM_OUT_CHx</a:t>
            </a:r>
            <a:r>
              <a:rPr lang="en-US" altLang="ko-KR" sz="1100" dirty="0"/>
              <a:t> = 1 (@CHx_EN=1) driving a high-active level to analog</a:t>
            </a:r>
          </a:p>
          <a:p>
            <a:pPr marL="628650" lvl="1" indent="-171450">
              <a:buFontTx/>
              <a:buChar char="-"/>
            </a:pPr>
            <a:endParaRPr lang="en-US" altLang="ko-KR" sz="1100" dirty="0"/>
          </a:p>
          <a:p>
            <a:pPr marL="628650" lvl="1" indent="-171450">
              <a:buFontTx/>
              <a:buChar char="-"/>
            </a:pPr>
            <a:r>
              <a:rPr lang="en-US" altLang="ko-KR" sz="1100" dirty="0"/>
              <a:t>when using test equipment, set the EXT_CLKIN = 1 and use an external clock.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445163B-9026-0FB5-0716-D1DA08C2B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580" y="4514850"/>
            <a:ext cx="9300172" cy="439349"/>
          </a:xfrm>
          <a:prstGeom prst="rect">
            <a:avLst/>
          </a:prstGeom>
        </p:spPr>
      </p:pic>
      <p:pic>
        <p:nvPicPr>
          <p:cNvPr id="9" name="그림 8" descr="스크린샷, 라인, 텍스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FF9B149-4397-7AD0-FB37-60E0881BBF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246" y="4973949"/>
            <a:ext cx="8831507" cy="1229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5609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43DD3-2B75-0EE4-FA03-1376D615C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A5DAEB33-894C-944B-8096-43B9B958AA2D}"/>
              </a:ext>
            </a:extLst>
          </p:cNvPr>
          <p:cNvSpPr txBox="1"/>
          <p:nvPr/>
        </p:nvSpPr>
        <p:spPr>
          <a:xfrm>
            <a:off x="274320" y="506306"/>
            <a:ext cx="3846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OTP</a:t>
            </a:r>
            <a:r>
              <a:rPr lang="ko-KR" altLang="en-US" dirty="0"/>
              <a:t> </a:t>
            </a:r>
            <a:r>
              <a:rPr lang="en-US" altLang="ko-KR" dirty="0"/>
              <a:t>Trimming Signal</a:t>
            </a:r>
            <a:endParaRPr lang="ko-KR" altLang="en-US" dirty="0"/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30CF33ED-EC5E-94E7-1F7F-4BDC104BD3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3" name="그림 2" descr="텍스트, 스크린샷, 번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622FB14-50FF-6FF4-542E-9B9EE7773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2360" y="506306"/>
            <a:ext cx="6027360" cy="584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893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95BEB7DA-0C2B-1736-01E3-FB2FC337B3A5}"/>
              </a:ext>
            </a:extLst>
          </p:cNvPr>
          <p:cNvSpPr txBox="1"/>
          <p:nvPr/>
        </p:nvSpPr>
        <p:spPr>
          <a:xfrm>
            <a:off x="291465" y="508435"/>
            <a:ext cx="2417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Register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F395D64-68B6-7FF0-176E-44052060D1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4" name="그림 3" descr="텍스트, 번호, 스크린샷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301C681-2F47-F137-7A27-A039EE59A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197" y="508435"/>
            <a:ext cx="9372506" cy="5841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7105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3A1C8-AD0D-8EFA-BB78-B6827C975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C07072E8-C40F-BC3B-7F99-D5DA54628928}"/>
              </a:ext>
            </a:extLst>
          </p:cNvPr>
          <p:cNvSpPr txBox="1"/>
          <p:nvPr/>
        </p:nvSpPr>
        <p:spPr>
          <a:xfrm>
            <a:off x="291465" y="508435"/>
            <a:ext cx="2417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Register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8D0D147-FC7C-FA2B-82FF-D6C5840399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4" name="그림 3" descr="텍스트, 스크린샷, 번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F4897A9-3DEA-65A3-52B5-4AE6657AA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482" y="508435"/>
            <a:ext cx="8960463" cy="5831658"/>
          </a:xfrm>
          <a:prstGeom prst="rect">
            <a:avLst/>
          </a:prstGeom>
        </p:spPr>
      </p:pic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7413024E-0D8F-FE26-5BBF-B7679E5C5102}"/>
              </a:ext>
            </a:extLst>
          </p:cNvPr>
          <p:cNvCxnSpPr/>
          <p:nvPr/>
        </p:nvCxnSpPr>
        <p:spPr>
          <a:xfrm>
            <a:off x="2752627" y="768285"/>
            <a:ext cx="245097" cy="0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734F114D-A6CA-29F8-AEF3-73CBDEEAA7BE}"/>
              </a:ext>
            </a:extLst>
          </p:cNvPr>
          <p:cNvSpPr/>
          <p:nvPr/>
        </p:nvSpPr>
        <p:spPr>
          <a:xfrm rot="19484801">
            <a:off x="2888558" y="523114"/>
            <a:ext cx="221529" cy="116761"/>
          </a:xfrm>
          <a:prstGeom prst="right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74A8AB-B7D0-F6E6-0A9E-28F66830C198}"/>
              </a:ext>
            </a:extLst>
          </p:cNvPr>
          <p:cNvSpPr txBox="1"/>
          <p:nvPr/>
        </p:nvSpPr>
        <p:spPr>
          <a:xfrm>
            <a:off x="2658359" y="15419"/>
            <a:ext cx="37424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0000FF"/>
                </a:solidFill>
              </a:rPr>
              <a:t>0x890 -&gt; 0x810  VDD Typical 3.3V </a:t>
            </a:r>
            <a:r>
              <a:rPr lang="ko-KR" altLang="en-US" sz="1200" b="1" dirty="0">
                <a:solidFill>
                  <a:srgbClr val="0000FF"/>
                </a:solidFill>
              </a:rPr>
              <a:t>변경으로 인해 </a:t>
            </a:r>
            <a:r>
              <a:rPr lang="en-US" altLang="ko-KR" sz="1200" b="1" dirty="0">
                <a:solidFill>
                  <a:srgbClr val="0000FF"/>
                </a:solidFill>
              </a:rPr>
              <a:t>VDD_SEL   1’b1 -&gt; 1’b0</a:t>
            </a:r>
            <a:r>
              <a:rPr lang="ko-KR" altLang="en-US" sz="1200" b="1" dirty="0">
                <a:solidFill>
                  <a:srgbClr val="0000FF"/>
                </a:solidFill>
              </a:rPr>
              <a:t>로 변경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8DF4F7-F224-CA03-0CA5-8A62C8799B0C}"/>
              </a:ext>
            </a:extLst>
          </p:cNvPr>
          <p:cNvSpPr txBox="1"/>
          <p:nvPr/>
        </p:nvSpPr>
        <p:spPr>
          <a:xfrm>
            <a:off x="8270237" y="3532016"/>
            <a:ext cx="2878318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0000FF"/>
                </a:solidFill>
              </a:rPr>
              <a:t>LDO_CTL Signed</a:t>
            </a:r>
          </a:p>
          <a:p>
            <a:endParaRPr lang="en-US" altLang="ko-KR" sz="1200" b="1" dirty="0">
              <a:solidFill>
                <a:srgbClr val="0000FF"/>
              </a:solidFill>
            </a:endParaRPr>
          </a:p>
          <a:p>
            <a:r>
              <a:rPr lang="en-US" altLang="ko-KR" sz="1200" b="1" dirty="0">
                <a:solidFill>
                  <a:srgbClr val="0000FF"/>
                </a:solidFill>
              </a:rPr>
              <a:t>DACA_OFS / DACB_OFS  Signed bit</a:t>
            </a:r>
          </a:p>
          <a:p>
            <a:r>
              <a:rPr lang="en-US" altLang="ko-KR" sz="1200" b="1" dirty="0">
                <a:solidFill>
                  <a:srgbClr val="0000FF"/>
                </a:solidFill>
              </a:rPr>
              <a:t>MSB [6] </a:t>
            </a:r>
            <a:r>
              <a:rPr lang="ko-KR" altLang="en-US" sz="1200" b="1" dirty="0">
                <a:solidFill>
                  <a:srgbClr val="0000FF"/>
                </a:solidFill>
              </a:rPr>
              <a:t>부호  </a:t>
            </a:r>
            <a:r>
              <a:rPr lang="en-US" altLang="ko-KR" sz="1200" b="1" dirty="0">
                <a:solidFill>
                  <a:srgbClr val="0000FF"/>
                </a:solidFill>
              </a:rPr>
              <a:t>0 : ‘+’  1 : ‘-’</a:t>
            </a:r>
            <a:endParaRPr lang="ko-KR" altLang="en-US" sz="12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5353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10362</TotalTime>
  <Words>333</Words>
  <Application>Microsoft Office PowerPoint</Application>
  <PresentationFormat>와이드스크린</PresentationFormat>
  <Paragraphs>71</Paragraphs>
  <Slides>15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맑은 고딕</vt:lpstr>
      <vt:lpstr>Arial</vt:lpstr>
      <vt:lpstr>Office 테마</vt:lpstr>
      <vt:lpstr>XDIC12R Trimming Sequence  (GT1009A0R0)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 관식</dc:creator>
  <cp:lastModifiedBy>이 준영</cp:lastModifiedBy>
  <cp:revision>48</cp:revision>
  <dcterms:created xsi:type="dcterms:W3CDTF">2024-06-18T04:48:30Z</dcterms:created>
  <dcterms:modified xsi:type="dcterms:W3CDTF">2026-02-05T04:41:35Z</dcterms:modified>
</cp:coreProperties>
</file>