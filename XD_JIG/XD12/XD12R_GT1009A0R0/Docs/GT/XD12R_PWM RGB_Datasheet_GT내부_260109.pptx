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4"/>
  </p:notesMasterIdLst>
  <p:handoutMasterIdLst>
    <p:handoutMasterId r:id="rId45"/>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719" r:id="rId18"/>
    <p:sldId id="722" r:id="rId19"/>
    <p:sldId id="717" r:id="rId20"/>
    <p:sldId id="718" r:id="rId21"/>
    <p:sldId id="432" r:id="rId22"/>
    <p:sldId id="293" r:id="rId23"/>
    <p:sldId id="427" r:id="rId24"/>
    <p:sldId id="330" r:id="rId25"/>
    <p:sldId id="414" r:id="rId26"/>
    <p:sldId id="412" r:id="rId27"/>
    <p:sldId id="407" r:id="rId28"/>
    <p:sldId id="723" r:id="rId29"/>
    <p:sldId id="409" r:id="rId30"/>
    <p:sldId id="422" r:id="rId31"/>
    <p:sldId id="720" r:id="rId32"/>
    <p:sldId id="721" r:id="rId33"/>
    <p:sldId id="415" r:id="rId34"/>
    <p:sldId id="410" r:id="rId35"/>
    <p:sldId id="425" r:id="rId36"/>
    <p:sldId id="426" r:id="rId37"/>
    <p:sldId id="413" r:id="rId38"/>
    <p:sldId id="714" r:id="rId39"/>
    <p:sldId id="715" r:id="rId40"/>
    <p:sldId id="716" r:id="rId41"/>
    <p:sldId id="421" r:id="rId42"/>
    <p:sldId id="348" r:id="rId43"/>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255" userDrawn="1">
          <p15:clr>
            <a:srgbClr val="A4A3A4"/>
          </p15:clr>
        </p15:guide>
        <p15:guide id="14" pos="2659" userDrawn="1">
          <p15:clr>
            <a:srgbClr val="A4A3A4"/>
          </p15:clr>
        </p15:guide>
        <p15:guide id="20" orient="horz" pos="5433" userDrawn="1">
          <p15:clr>
            <a:srgbClr val="A4A3A4"/>
          </p15:clr>
        </p15:guide>
        <p15:guide id="22" orient="horz" pos="1124" userDrawn="1">
          <p15:clr>
            <a:srgbClr val="A4A3A4"/>
          </p15:clr>
        </p15:guide>
        <p15:guide id="24" pos="4065" userDrawn="1">
          <p15:clr>
            <a:srgbClr val="A4A3A4"/>
          </p15:clr>
        </p15:guide>
        <p15:guide id="25" pos="191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5FA65B-5604-BE03-608B-F6122C8A8655}" name="dongil kim" initials="dk" userId="1a02b3e6538b5a48" providerId="Windows Live"/>
  <p188:author id="{C8DF6CCE-C23F-CF43-834D-8616D3F5DBC8}" name="Jaeeun Nam" initials="JE" userId="Jaeeun Nam" providerId="None"/>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D8FF"/>
    <a:srgbClr val="B3FFB3"/>
    <a:srgbClr val="FFD1D1"/>
    <a:srgbClr val="FFC5FF"/>
    <a:srgbClr val="0066FF"/>
    <a:srgbClr val="CCFFFF"/>
    <a:srgbClr val="E6E6E6"/>
    <a:srgbClr val="0000FF"/>
    <a:srgbClr val="FFFFEB"/>
    <a:srgbClr val="EFEF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DD1086-500A-487E-A53A-9F93BE94023E}" v="7" dt="2026-01-09T08:30:48.883"/>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22" autoAdjust="0"/>
    <p:restoredTop sz="95388" autoAdjust="0"/>
  </p:normalViewPr>
  <p:slideViewPr>
    <p:cSldViewPr snapToGrid="0">
      <p:cViewPr>
        <p:scale>
          <a:sx n="200" d="100"/>
          <a:sy n="200" d="100"/>
        </p:scale>
        <p:origin x="2736" y="-2104"/>
      </p:cViewPr>
      <p:guideLst>
        <p:guide pos="255"/>
        <p:guide pos="2659"/>
        <p:guide orient="horz" pos="5433"/>
        <p:guide orient="horz" pos="1124"/>
        <p:guide pos="4065"/>
        <p:guide pos="191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onki cho" userId="021aa35ff3f5dfda" providerId="LiveId" clId="{44DD1086-500A-487E-A53A-9F93BE94023E}"/>
    <pc:docChg chg="undo custSel modSld">
      <pc:chgData name="moonki cho" userId="021aa35ff3f5dfda" providerId="LiveId" clId="{44DD1086-500A-487E-A53A-9F93BE94023E}" dt="2026-01-09T08:48:07.946" v="344" actId="20577"/>
      <pc:docMkLst>
        <pc:docMk/>
      </pc:docMkLst>
      <pc:sldChg chg="modSp mod">
        <pc:chgData name="moonki cho" userId="021aa35ff3f5dfda" providerId="LiveId" clId="{44DD1086-500A-487E-A53A-9F93BE94023E}" dt="2026-01-09T06:44:37.514" v="116" actId="1036"/>
        <pc:sldMkLst>
          <pc:docMk/>
          <pc:sldMk cId="622698608" sldId="717"/>
        </pc:sldMkLst>
        <pc:spChg chg="mod">
          <ac:chgData name="moonki cho" userId="021aa35ff3f5dfda" providerId="LiveId" clId="{44DD1086-500A-487E-A53A-9F93BE94023E}" dt="2026-01-09T06:44:28.996" v="74" actId="1036"/>
          <ac:spMkLst>
            <pc:docMk/>
            <pc:sldMk cId="622698608" sldId="717"/>
            <ac:spMk id="6" creationId="{150857CF-1113-9ACE-F22E-CFC03DC4DC20}"/>
          </ac:spMkLst>
        </pc:spChg>
        <pc:spChg chg="mod">
          <ac:chgData name="moonki cho" userId="021aa35ff3f5dfda" providerId="LiveId" clId="{44DD1086-500A-487E-A53A-9F93BE94023E}" dt="2026-01-09T06:44:28.996" v="74" actId="1036"/>
          <ac:spMkLst>
            <pc:docMk/>
            <pc:sldMk cId="622698608" sldId="717"/>
            <ac:spMk id="7" creationId="{4ABF4214-B15C-07B7-35E6-2BA7EA64BBDC}"/>
          </ac:spMkLst>
        </pc:spChg>
        <pc:spChg chg="mod">
          <ac:chgData name="moonki cho" userId="021aa35ff3f5dfda" providerId="LiveId" clId="{44DD1086-500A-487E-A53A-9F93BE94023E}" dt="2026-01-09T06:44:37.514" v="116" actId="1036"/>
          <ac:spMkLst>
            <pc:docMk/>
            <pc:sldMk cId="622698608" sldId="717"/>
            <ac:spMk id="11" creationId="{969F02CC-5D75-5C8E-DEFE-503942FAA63B}"/>
          </ac:spMkLst>
        </pc:spChg>
        <pc:spChg chg="mod">
          <ac:chgData name="moonki cho" userId="021aa35ff3f5dfda" providerId="LiveId" clId="{44DD1086-500A-487E-A53A-9F93BE94023E}" dt="2026-01-09T06:44:28.996" v="74" actId="1036"/>
          <ac:spMkLst>
            <pc:docMk/>
            <pc:sldMk cId="622698608" sldId="717"/>
            <ac:spMk id="14" creationId="{B1D03DB8-94C5-0FB1-D437-1ABBB619A9DD}"/>
          </ac:spMkLst>
        </pc:spChg>
        <pc:spChg chg="mod">
          <ac:chgData name="moonki cho" userId="021aa35ff3f5dfda" providerId="LiveId" clId="{44DD1086-500A-487E-A53A-9F93BE94023E}" dt="2026-01-09T06:44:28.996" v="74" actId="1036"/>
          <ac:spMkLst>
            <pc:docMk/>
            <pc:sldMk cId="622698608" sldId="717"/>
            <ac:spMk id="15" creationId="{2A3E5386-2F98-10E5-912A-48B03AEE7E7F}"/>
          </ac:spMkLst>
        </pc:spChg>
        <pc:grpChg chg="mod">
          <ac:chgData name="moonki cho" userId="021aa35ff3f5dfda" providerId="LiveId" clId="{44DD1086-500A-487E-A53A-9F93BE94023E}" dt="2026-01-09T06:44:28.996" v="74" actId="1036"/>
          <ac:grpSpMkLst>
            <pc:docMk/>
            <pc:sldMk cId="622698608" sldId="717"/>
            <ac:grpSpMk id="212" creationId="{86B83285-443B-257E-AC01-B159D80F17C2}"/>
          </ac:grpSpMkLst>
        </pc:grpChg>
      </pc:sldChg>
      <pc:sldChg chg="addSp delSp modSp mod">
        <pc:chgData name="moonki cho" userId="021aa35ff3f5dfda" providerId="LiveId" clId="{44DD1086-500A-487E-A53A-9F93BE94023E}" dt="2026-01-09T08:48:07.946" v="344" actId="20577"/>
        <pc:sldMkLst>
          <pc:docMk/>
          <pc:sldMk cId="2398222755" sldId="718"/>
        </pc:sldMkLst>
        <pc:spChg chg="del mod">
          <ac:chgData name="moonki cho" userId="021aa35ff3f5dfda" providerId="LiveId" clId="{44DD1086-500A-487E-A53A-9F93BE94023E}" dt="2026-01-09T08:30:11.803" v="242" actId="478"/>
          <ac:spMkLst>
            <pc:docMk/>
            <pc:sldMk cId="2398222755" sldId="718"/>
            <ac:spMk id="10" creationId="{A6043A99-30DB-8A5D-9FF2-0A52A7A83769}"/>
          </ac:spMkLst>
        </pc:spChg>
        <pc:spChg chg="add mod">
          <ac:chgData name="moonki cho" userId="021aa35ff3f5dfda" providerId="LiveId" clId="{44DD1086-500A-487E-A53A-9F93BE94023E}" dt="2026-01-09T08:30:13.230" v="243"/>
          <ac:spMkLst>
            <pc:docMk/>
            <pc:sldMk cId="2398222755" sldId="718"/>
            <ac:spMk id="11" creationId="{ECDE530E-4B35-5CB9-8B11-D4C9AC9300E9}"/>
          </ac:spMkLst>
        </pc:spChg>
        <pc:spChg chg="del mod">
          <ac:chgData name="moonki cho" userId="021aa35ff3f5dfda" providerId="LiveId" clId="{44DD1086-500A-487E-A53A-9F93BE94023E}" dt="2026-01-09T08:30:11.803" v="242" actId="478"/>
          <ac:spMkLst>
            <pc:docMk/>
            <pc:sldMk cId="2398222755" sldId="718"/>
            <ac:spMk id="14" creationId="{2409BF88-6168-3E1E-271F-95B746E75FC2}"/>
          </ac:spMkLst>
        </pc:spChg>
        <pc:spChg chg="add mod">
          <ac:chgData name="moonki cho" userId="021aa35ff3f5dfda" providerId="LiveId" clId="{44DD1086-500A-487E-A53A-9F93BE94023E}" dt="2026-01-09T08:30:58.110" v="247" actId="1076"/>
          <ac:spMkLst>
            <pc:docMk/>
            <pc:sldMk cId="2398222755" sldId="718"/>
            <ac:spMk id="17" creationId="{D9FF05F8-9EC7-524D-6660-F6A5697CC635}"/>
          </ac:spMkLst>
        </pc:spChg>
        <pc:graphicFrameChg chg="add del mod modGraphic">
          <ac:chgData name="moonki cho" userId="021aa35ff3f5dfda" providerId="LiveId" clId="{44DD1086-500A-487E-A53A-9F93BE94023E}" dt="2026-01-09T08:17:55.926" v="165" actId="478"/>
          <ac:graphicFrameMkLst>
            <pc:docMk/>
            <pc:sldMk cId="2398222755" sldId="718"/>
            <ac:graphicFrameMk id="5" creationId="{99FCC403-45B6-B593-3E05-5B6E854EBFCA}"/>
          </ac:graphicFrameMkLst>
        </pc:graphicFrameChg>
        <pc:graphicFrameChg chg="add del mod modGraphic">
          <ac:chgData name="moonki cho" userId="021aa35ff3f5dfda" providerId="LiveId" clId="{44DD1086-500A-487E-A53A-9F93BE94023E}" dt="2026-01-09T08:30:11.803" v="242" actId="478"/>
          <ac:graphicFrameMkLst>
            <pc:docMk/>
            <pc:sldMk cId="2398222755" sldId="718"/>
            <ac:graphicFrameMk id="9" creationId="{9867CFB7-FFDA-A883-C678-46996F3CF219}"/>
          </ac:graphicFrameMkLst>
        </pc:graphicFrameChg>
        <pc:graphicFrameChg chg="add mod modGraphic">
          <ac:chgData name="moonki cho" userId="021aa35ff3f5dfda" providerId="LiveId" clId="{44DD1086-500A-487E-A53A-9F93BE94023E}" dt="2026-01-09T08:48:07.946" v="344" actId="20577"/>
          <ac:graphicFrameMkLst>
            <pc:docMk/>
            <pc:sldMk cId="2398222755" sldId="718"/>
            <ac:graphicFrameMk id="13" creationId="{973210F2-927B-78FE-9ED6-5E3C63BB0526}"/>
          </ac:graphicFrameMkLst>
        </pc:graphicFrameChg>
        <pc:picChg chg="add del mod">
          <ac:chgData name="moonki cho" userId="021aa35ff3f5dfda" providerId="LiveId" clId="{44DD1086-500A-487E-A53A-9F93BE94023E}" dt="2026-01-09T08:17:35.405" v="160" actId="478"/>
          <ac:picMkLst>
            <pc:docMk/>
            <pc:sldMk cId="2398222755" sldId="718"/>
            <ac:picMk id="4" creationId="{9C2B9193-7B63-32FE-7159-A6292F391C2D}"/>
          </ac:picMkLst>
        </pc:picChg>
        <pc:picChg chg="add del mod">
          <ac:chgData name="moonki cho" userId="021aa35ff3f5dfda" providerId="LiveId" clId="{44DD1086-500A-487E-A53A-9F93BE94023E}" dt="2026-01-09T08:30:11.803" v="242" actId="478"/>
          <ac:picMkLst>
            <pc:docMk/>
            <pc:sldMk cId="2398222755" sldId="718"/>
            <ac:picMk id="7" creationId="{7867917E-80C2-04A3-244C-61730A3B5DBE}"/>
          </ac:picMkLst>
        </pc:picChg>
        <pc:picChg chg="add mod">
          <ac:chgData name="moonki cho" userId="021aa35ff3f5dfda" providerId="LiveId" clId="{44DD1086-500A-487E-A53A-9F93BE94023E}" dt="2026-01-09T08:30:54.245" v="246" actId="1076"/>
          <ac:picMkLst>
            <pc:docMk/>
            <pc:sldMk cId="2398222755" sldId="718"/>
            <ac:picMk id="12" creationId="{5E235F77-3F91-FB91-5E1C-01F86FFBAB44}"/>
          </ac:picMkLst>
        </pc:picChg>
        <pc:picChg chg="del">
          <ac:chgData name="moonki cho" userId="021aa35ff3f5dfda" providerId="LiveId" clId="{44DD1086-500A-487E-A53A-9F93BE94023E}" dt="2026-01-09T08:05:26.402" v="117" actId="478"/>
          <ac:picMkLst>
            <pc:docMk/>
            <pc:sldMk cId="2398222755" sldId="718"/>
            <ac:picMk id="15" creationId="{AF49D75D-7AD6-CFAD-B704-40DB9D13A921}"/>
          </ac:picMkLst>
        </pc:picChg>
        <pc:picChg chg="del">
          <ac:chgData name="moonki cho" userId="021aa35ff3f5dfda" providerId="LiveId" clId="{44DD1086-500A-487E-A53A-9F93BE94023E}" dt="2026-01-09T08:12:43.269" v="123" actId="478"/>
          <ac:picMkLst>
            <pc:docMk/>
            <pc:sldMk cId="2398222755" sldId="718"/>
            <ac:picMk id="16" creationId="{5981ABB0-438F-A7E5-87DC-646D13AFD20D}"/>
          </ac:picMkLst>
        </pc:picChg>
      </pc:sldChg>
      <pc:sldChg chg="addSp delSp modSp mod">
        <pc:chgData name="moonki cho" userId="021aa35ff3f5dfda" providerId="LiveId" clId="{44DD1086-500A-487E-A53A-9F93BE94023E}" dt="2026-01-09T06:39:34.659" v="28" actId="1076"/>
        <pc:sldMkLst>
          <pc:docMk/>
          <pc:sldMk cId="129560603" sldId="719"/>
        </pc:sldMkLst>
        <pc:spChg chg="mod">
          <ac:chgData name="moonki cho" userId="021aa35ff3f5dfda" providerId="LiveId" clId="{44DD1086-500A-487E-A53A-9F93BE94023E}" dt="2026-01-09T06:38:40.096" v="24" actId="1036"/>
          <ac:spMkLst>
            <pc:docMk/>
            <pc:sldMk cId="129560603" sldId="719"/>
            <ac:spMk id="78" creationId="{C2E686CE-C8C6-2E83-E944-F5AE0DA123FE}"/>
          </ac:spMkLst>
        </pc:spChg>
        <pc:spChg chg="mod">
          <ac:chgData name="moonki cho" userId="021aa35ff3f5dfda" providerId="LiveId" clId="{44DD1086-500A-487E-A53A-9F93BE94023E}" dt="2026-01-09T06:38:40.096" v="24" actId="1036"/>
          <ac:spMkLst>
            <pc:docMk/>
            <pc:sldMk cId="129560603" sldId="719"/>
            <ac:spMk id="79" creationId="{C02A0D91-1FDE-C9AA-144E-D2A80D723FD3}"/>
          </ac:spMkLst>
        </pc:spChg>
        <pc:spChg chg="mod">
          <ac:chgData name="moonki cho" userId="021aa35ff3f5dfda" providerId="LiveId" clId="{44DD1086-500A-487E-A53A-9F93BE94023E}" dt="2026-01-09T06:38:40.096" v="24" actId="1036"/>
          <ac:spMkLst>
            <pc:docMk/>
            <pc:sldMk cId="129560603" sldId="719"/>
            <ac:spMk id="80" creationId="{BE28349B-0EB8-29E4-BFD1-92DF2E0E46A3}"/>
          </ac:spMkLst>
        </pc:spChg>
        <pc:graphicFrameChg chg="add mod">
          <ac:chgData name="moonki cho" userId="021aa35ff3f5dfda" providerId="LiveId" clId="{44DD1086-500A-487E-A53A-9F93BE94023E}" dt="2026-01-09T06:39:34.659" v="28" actId="1076"/>
          <ac:graphicFrameMkLst>
            <pc:docMk/>
            <pc:sldMk cId="129560603" sldId="719"/>
            <ac:graphicFrameMk id="81" creationId="{96929D06-B311-E7D7-2866-4B464DF8747D}"/>
          </ac:graphicFrameMkLst>
        </pc:graphicFrameChg>
        <pc:picChg chg="del">
          <ac:chgData name="moonki cho" userId="021aa35ff3f5dfda" providerId="LiveId" clId="{44DD1086-500A-487E-A53A-9F93BE94023E}" dt="2026-01-09T06:38:44.458" v="25" actId="478"/>
          <ac:picMkLst>
            <pc:docMk/>
            <pc:sldMk cId="129560603" sldId="719"/>
            <ac:picMk id="56" creationId="{BCBBD504-6A07-157F-FAC0-C3AE7306C76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6400" cy="496888"/>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9688" y="0"/>
            <a:ext cx="2946400" cy="496888"/>
          </a:xfrm>
          <a:prstGeom prst="rect">
            <a:avLst/>
          </a:prstGeom>
        </p:spPr>
        <p:txBody>
          <a:bodyPr vert="horz" lIns="91431" tIns="45715" rIns="91431" bIns="45715" rtlCol="0"/>
          <a:lstStyle>
            <a:lvl1pPr algn="r">
              <a:defRPr sz="1200"/>
            </a:lvl1pPr>
          </a:lstStyle>
          <a:p>
            <a:fld id="{2281637F-B6E0-4E7F-AD60-C289DCB0986F}" type="datetimeFigureOut">
              <a:rPr lang="ko-KR" altLang="en-US" smtClean="0"/>
              <a:t>2026-01-09</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9750"/>
            <a:ext cx="2946400" cy="496888"/>
          </a:xfrm>
          <a:prstGeom prst="rect">
            <a:avLst/>
          </a:prstGeom>
        </p:spPr>
        <p:txBody>
          <a:bodyPr vert="horz" lIns="91431" tIns="45715" rIns="91431" bIns="45715"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9688" y="9429750"/>
            <a:ext cx="2946400" cy="496888"/>
          </a:xfrm>
          <a:prstGeom prst="rect">
            <a:avLst/>
          </a:prstGeom>
        </p:spPr>
        <p:txBody>
          <a:bodyPr vert="horz" lIns="91431" tIns="45715" rIns="91431" bIns="45715"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056"/>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p:cNvSpPr>
            <a:spLocks noGrp="1"/>
          </p:cNvSpPr>
          <p:nvPr>
            <p:ph type="dt" idx="1"/>
          </p:nvPr>
        </p:nvSpPr>
        <p:spPr>
          <a:xfrm>
            <a:off x="3850444" y="0"/>
            <a:ext cx="2945659" cy="498056"/>
          </a:xfrm>
          <a:prstGeom prst="rect">
            <a:avLst/>
          </a:prstGeom>
        </p:spPr>
        <p:txBody>
          <a:bodyPr vert="horz" lIns="91431" tIns="45715" rIns="91431" bIns="45715" rtlCol="0"/>
          <a:lstStyle>
            <a:lvl1pPr algn="r">
              <a:defRPr sz="1200"/>
            </a:lvl1pPr>
          </a:lstStyle>
          <a:p>
            <a:fld id="{1905B5A4-DDD3-42F4-9B43-01BA73DC80EA}" type="datetimeFigureOut">
              <a:rPr lang="ko-KR" altLang="en-US" smtClean="0"/>
              <a:t>2026-01-09</a:t>
            </a:fld>
            <a:endParaRPr lang="ko-KR" altLang="en-US" dirty="0"/>
          </a:p>
        </p:txBody>
      </p:sp>
      <p:sp>
        <p:nvSpPr>
          <p:cNvPr id="4" name="슬라이드 이미지 개체 틀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31" tIns="45715" rIns="91431" bIns="45715" rtlCol="0" anchor="ctr"/>
          <a:lstStyle/>
          <a:p>
            <a:endParaRPr lang="ko-KR" altLang="en-US" dirty="0"/>
          </a:p>
        </p:txBody>
      </p:sp>
      <p:sp>
        <p:nvSpPr>
          <p:cNvPr id="5" name="슬라이드 노트 개체 틀 4"/>
          <p:cNvSpPr>
            <a:spLocks noGrp="1"/>
          </p:cNvSpPr>
          <p:nvPr>
            <p:ph type="body" sz="quarter" idx="3"/>
          </p:nvPr>
        </p:nvSpPr>
        <p:spPr>
          <a:xfrm>
            <a:off x="679768" y="4777195"/>
            <a:ext cx="5438140" cy="3908614"/>
          </a:xfrm>
          <a:prstGeom prst="rect">
            <a:avLst/>
          </a:prstGeom>
        </p:spPr>
        <p:txBody>
          <a:bodyPr vert="horz" lIns="91431" tIns="45715" rIns="91431" bIns="45715"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8584"/>
            <a:ext cx="2945659" cy="498055"/>
          </a:xfrm>
          <a:prstGeom prst="rect">
            <a:avLst/>
          </a:prstGeom>
        </p:spPr>
        <p:txBody>
          <a:bodyPr vert="horz" lIns="91431" tIns="45715" rIns="91431" bIns="45715"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428584"/>
            <a:ext cx="2945659" cy="498055"/>
          </a:xfrm>
          <a:prstGeom prst="rect">
            <a:avLst/>
          </a:prstGeom>
        </p:spPr>
        <p:txBody>
          <a:bodyPr vert="horz" lIns="91431" tIns="45715" rIns="91431" bIns="45715"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36</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37</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XD12R</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2026-01-09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2026-01-09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2026-01-09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2026-01-09</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2026-01-09</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2026-01-09</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2026-01-09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2026-01-09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2026-01-09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2026-01-09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31. Dec. 2025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2.png"/><Relationship Id="rId5" Type="http://schemas.openxmlformats.org/officeDocument/2006/relationships/image" Target="../media/image31.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224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XD12R</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0938"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3758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03285" y="3377530"/>
            <a:ext cx="3676234" cy="4308872"/>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XD12R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LED driver for RGB time-sequential mini-LED Backlight display systems in AM (Active Matrix) direct driving methodology.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Unlike conventional RGB backlight systems that require independent Red, Green, and Blue LED strings, The XD12R enables full-color RGB backlighting through high-speed time-sequential driving, where RGB colors are generated by temporal multiplexing within a single LED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 system cost.</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40mA output current and 40V maximum output voltage, and can drive up to three LEDs per channel, including RGB emission through time-division control.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and flicker-free RGB time-sequential operation, the device features optimized sub-frame timing control and precise current regulation, effectively suppressing color break-up and flicker artifacts caused by rapid color switching.</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functions include LED open/short detection and thermal shutdown. In addition, a Feedback control for adjusting a VLED power is included and improving power efficiency during RGB operation.</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XD12R is designed to operate as a companion device to the XC24R controller. Multiple XD12R devices can be daisy-chained and controlled via a serial interface from a single XC24R, enabling scalable, high-channel-count RGB Mini-LED backlight systems for large-area displays.</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421856" y="8006696"/>
            <a:ext cx="1470444"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8024774"/>
            <a:ext cx="3946113" cy="846386"/>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Mini-LED Backlight for Premium TV and Monitor.</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Automotive Center Information Display (CID) RGB Backlight.</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7347589"/>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RGB Mini-LED Backlight for Premium TV and Monitor</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Single-Layer RGB BLU using Time-Sequential Driving</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High-Brightness Local Dimming Backlight Systems</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Cost-Optimized RGB Mini-LED Backlight for 4K / 8K Displays</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Automotive Center Information Display (CID) RGB Backlight</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RGB Backlight for Automotive (Cluster, Center Information, Entertainment) Display</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Transparent and Semi-Transparent RGB Backlight Systems</a:t>
            </a:r>
          </a:p>
          <a:p>
            <a:pPr marL="108000" marR="137795" indent="108000">
              <a:lnSpc>
                <a:spcPct val="150000"/>
              </a:lnSpc>
              <a:spcBef>
                <a:spcPts val="38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p>
          <a:p>
            <a:pPr marL="108000" marR="137795" indent="108000">
              <a:lnSpc>
                <a:spcPct val="150000"/>
              </a:lnSpc>
              <a:spcBef>
                <a:spcPts val="38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Support dimming method : Type-1 (RGB, 12CH), Type-2 (R/GB, 6CH), Type-3 (GB, 12CH)</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spc="-20" dirty="0">
                <a:latin typeface="Arial" panose="020B0604020202020204" pitchFamily="34" charset="0"/>
                <a:ea typeface="Arial" panose="020B0604020202020204" pitchFamily="34" charset="0"/>
                <a:cs typeface="굴림" panose="020B0600000101010101" pitchFamily="50" charset="-127"/>
              </a:rPr>
              <a:t>40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(4/8/12/16/20/24/28/32/36/</a:t>
            </a:r>
            <a:r>
              <a:rPr lang="en-US" altLang="ko-KR" sz="1000" dirty="0">
                <a:latin typeface="Arial" panose="020B0604020202020204" pitchFamily="34" charset="0"/>
                <a:ea typeface="Arial" panose="020B0604020202020204" pitchFamily="34" charset="0"/>
                <a:cs typeface="굴림" panose="020B0600000101010101" pitchFamily="50" charset="-127"/>
              </a:rPr>
              <a:t>40</a:t>
            </a:r>
            <a:r>
              <a:rPr lang="en-US" altLang="ko-KR" sz="1000" dirty="0">
                <a:effectLst/>
                <a:latin typeface="Arial" panose="020B0604020202020204" pitchFamily="34" charset="0"/>
                <a:ea typeface="Arial" panose="020B0604020202020204" pitchFamily="34" charset="0"/>
                <a:cs typeface="굴림" panose="020B0600000101010101" pitchFamily="50" charset="-127"/>
              </a:rPr>
              <a:t>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max current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12-bit or 14-bit PWM brightness control</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Interface Parity Function</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SPREAD function for EMI rejection. </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and OPEN detection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latin typeface="Arial" panose="020B0604020202020204" pitchFamily="34" charset="0"/>
                <a:ea typeface="Arial" panose="020B0604020202020204" pitchFamily="34" charset="0"/>
                <a:cs typeface="굴림" panose="020B0600000101010101" pitchFamily="50" charset="-127"/>
              </a:rPr>
              <a:t>Over-Temperature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130</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Yu Mincho Light" panose="02020300000000000000" pitchFamily="18" charset="-128"/>
                <a:cs typeface="Arial" panose="020B0604020202020204" pitchFamily="34" charset="0"/>
              </a:rPr>
              <a:t>Configurable Over/Under-Voltage of internal LDO</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3.0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 </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(JEDEC JS-001-2017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39417"/>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5" name="그림 4">
            <a:extLst>
              <a:ext uri="{FF2B5EF4-FFF2-40B4-BE49-F238E27FC236}">
                <a16:creationId xmlns:a16="http://schemas.microsoft.com/office/drawing/2014/main" id="{C0410CC8-F2AF-C5B3-6A04-F1855DBE5396}"/>
              </a:ext>
            </a:extLst>
          </p:cNvPr>
          <p:cNvPicPr>
            <a:picLocks noChangeAspect="1"/>
          </p:cNvPicPr>
          <p:nvPr/>
        </p:nvPicPr>
        <p:blipFill>
          <a:blip r:embed="rId2"/>
          <a:stretch>
            <a:fillRect/>
          </a:stretch>
        </p:blipFill>
        <p:spPr>
          <a:xfrm>
            <a:off x="190501" y="5978208"/>
            <a:ext cx="6375400" cy="2383520"/>
          </a:xfrm>
          <a:prstGeom prst="rect">
            <a:avLst/>
          </a:prstGeom>
        </p:spPr>
      </p:pic>
      <p:pic>
        <p:nvPicPr>
          <p:cNvPr id="2" name="그림 1">
            <a:extLst>
              <a:ext uri="{FF2B5EF4-FFF2-40B4-BE49-F238E27FC236}">
                <a16:creationId xmlns:a16="http://schemas.microsoft.com/office/drawing/2014/main" id="{1BF91625-B889-D155-1E7C-8BC2B6D667A7}"/>
              </a:ext>
            </a:extLst>
          </p:cNvPr>
          <p:cNvPicPr>
            <a:picLocks noChangeAspect="1"/>
          </p:cNvPicPr>
          <p:nvPr/>
        </p:nvPicPr>
        <p:blipFill>
          <a:blip r:embed="rId3"/>
          <a:stretch>
            <a:fillRect/>
          </a:stretch>
        </p:blipFill>
        <p:spPr>
          <a:xfrm>
            <a:off x="1374569" y="1144561"/>
            <a:ext cx="4108862" cy="3783526"/>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2629901829"/>
              </p:ext>
            </p:extLst>
          </p:nvPr>
        </p:nvGraphicFramePr>
        <p:xfrm>
          <a:off x="404813" y="4557545"/>
          <a:ext cx="6042618" cy="4283121"/>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60447">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506561">
                <a:tc>
                  <a:txBody>
                    <a:bodyPr/>
                    <a:lstStyle/>
                    <a:p>
                      <a:pPr algn="ctr" fontAlgn="ct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O3</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O4</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O7</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O8</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O11</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O12</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506561">
                <a:tc>
                  <a:txBody>
                    <a:bodyPr/>
                    <a:lstStyle/>
                    <a:p>
                      <a:pPr algn="ctr" fontAlgn="ct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r h="28695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18188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93109" y="3916900"/>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91" name="그룹 90">
            <a:extLst>
              <a:ext uri="{FF2B5EF4-FFF2-40B4-BE49-F238E27FC236}">
                <a16:creationId xmlns:a16="http://schemas.microsoft.com/office/drawing/2014/main" id="{E4092F61-0D32-82BF-0AEB-858C24BB3AD8}"/>
              </a:ext>
            </a:extLst>
          </p:cNvPr>
          <p:cNvGrpSpPr/>
          <p:nvPr/>
        </p:nvGrpSpPr>
        <p:grpSpPr>
          <a:xfrm>
            <a:off x="2171806" y="1309289"/>
            <a:ext cx="2434199" cy="2467950"/>
            <a:chOff x="2171806" y="1309289"/>
            <a:chExt cx="2434199" cy="2467950"/>
          </a:xfrm>
        </p:grpSpPr>
        <p:sp>
          <p:nvSpPr>
            <p:cNvPr id="4" name="직사각형 3">
              <a:extLst>
                <a:ext uri="{FF2B5EF4-FFF2-40B4-BE49-F238E27FC236}">
                  <a16:creationId xmlns:a16="http://schemas.microsoft.com/office/drawing/2014/main" id="{10BEFC6D-2279-90DD-5D1C-DDD376E75550}"/>
                </a:ext>
              </a:extLst>
            </p:cNvPr>
            <p:cNvSpPr/>
            <p:nvPr/>
          </p:nvSpPr>
          <p:spPr>
            <a:xfrm rot="5400000">
              <a:off x="2155660" y="132593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rot="5400000">
              <a:off x="4356202"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rot="5400000">
              <a:off x="4356202"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rot="5400000">
              <a:off x="4356202"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rot="5400000">
              <a:off x="4356202"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a:off x="2760341" y="218966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155950" y="2587398"/>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500821" y="17887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505554" y="205405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2505554" y="262165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3985164" y="331422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3723966" y="3317402"/>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3471851" y="331574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2896894" y="3328632"/>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95356" y="164068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886669" y="164440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3175554" y="163795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3746653" y="164446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4066935" y="176739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4066935" y="204555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4070791" y="261266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59981" y="289760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3443662" y="163880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3991514" y="164358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4070791" y="233047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3179429" y="332105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2633269" y="332476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2505554" y="233802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2499306" y="292233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9" name="직사각형 38">
              <a:extLst>
                <a:ext uri="{FF2B5EF4-FFF2-40B4-BE49-F238E27FC236}">
                  <a16:creationId xmlns:a16="http://schemas.microsoft.com/office/drawing/2014/main" id="{FA051048-6E56-1C06-FA00-88E848077C4D}"/>
                </a:ext>
              </a:extLst>
            </p:cNvPr>
            <p:cNvSpPr/>
            <p:nvPr/>
          </p:nvSpPr>
          <p:spPr>
            <a:xfrm rot="5400000">
              <a:off x="2232514"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rot="5400000">
              <a:off x="2232514"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rot="5400000">
              <a:off x="2232514"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rot="5400000">
              <a:off x="2232514"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7" name="사각형: 잘린 한쪽 모서리 46">
              <a:extLst>
                <a:ext uri="{FF2B5EF4-FFF2-40B4-BE49-F238E27FC236}">
                  <a16:creationId xmlns:a16="http://schemas.microsoft.com/office/drawing/2014/main" id="{BCD106BC-541B-5315-F1D4-4DF46DE22057}"/>
                </a:ext>
              </a:extLst>
            </p:cNvPr>
            <p:cNvSpPr/>
            <p:nvPr/>
          </p:nvSpPr>
          <p:spPr>
            <a:xfrm>
              <a:off x="2172769" y="1723703"/>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213198" y="170198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5" name="사각형: 잘린 한쪽 모서리 44">
              <a:extLst>
                <a:ext uri="{FF2B5EF4-FFF2-40B4-BE49-F238E27FC236}">
                  <a16:creationId xmlns:a16="http://schemas.microsoft.com/office/drawing/2014/main" id="{D77BD9FB-05F1-DC04-B60E-6173FDA0DB97}"/>
                </a:ext>
              </a:extLst>
            </p:cNvPr>
            <p:cNvSpPr/>
            <p:nvPr/>
          </p:nvSpPr>
          <p:spPr>
            <a:xfrm rot="10800000" flipH="1">
              <a:off x="2171806" y="3169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2213199" y="314412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62093A6-89CE-FC42-EA15-EC74914A138F}"/>
                </a:ext>
              </a:extLst>
            </p:cNvPr>
            <p:cNvSpPr/>
            <p:nvPr/>
          </p:nvSpPr>
          <p:spPr>
            <a:xfrm>
              <a:off x="2868198"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158155"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48112"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38069"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559894" y="3469636"/>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02033" y="3469638"/>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61" name="직사각형 60">
              <a:extLst>
                <a:ext uri="{FF2B5EF4-FFF2-40B4-BE49-F238E27FC236}">
                  <a16:creationId xmlns:a16="http://schemas.microsoft.com/office/drawing/2014/main" id="{C6513BF3-3B8D-1A5B-8878-3E81D2C5241E}"/>
                </a:ext>
              </a:extLst>
            </p:cNvPr>
            <p:cNvSpPr/>
            <p:nvPr/>
          </p:nvSpPr>
          <p:spPr>
            <a:xfrm>
              <a:off x="3714806"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424849"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134892"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2844935"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사각형: 잘린 한쪽 모서리 68">
              <a:extLst>
                <a:ext uri="{FF2B5EF4-FFF2-40B4-BE49-F238E27FC236}">
                  <a16:creationId xmlns:a16="http://schemas.microsoft.com/office/drawing/2014/main" id="{47BF5BD8-3BA4-5976-3128-182D9136BD46}"/>
                </a:ext>
              </a:extLst>
            </p:cNvPr>
            <p:cNvSpPr/>
            <p:nvPr/>
          </p:nvSpPr>
          <p:spPr>
            <a:xfrm rot="5400000">
              <a:off x="3944568" y="1369428"/>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3986415" y="134956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7" name="사각형: 잘린 한쪽 모서리 66">
              <a:extLst>
                <a:ext uri="{FF2B5EF4-FFF2-40B4-BE49-F238E27FC236}">
                  <a16:creationId xmlns:a16="http://schemas.microsoft.com/office/drawing/2014/main" id="{66327C7A-2876-6B74-AFD1-FCA8E35994B3}"/>
                </a:ext>
              </a:extLst>
            </p:cNvPr>
            <p:cNvSpPr/>
            <p:nvPr/>
          </p:nvSpPr>
          <p:spPr>
            <a:xfrm rot="16200000" flipH="1">
              <a:off x="2497831" y="136894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2544276" y="134956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사각형: 잘린 한쪽 모서리 71">
              <a:extLst>
                <a:ext uri="{FF2B5EF4-FFF2-40B4-BE49-F238E27FC236}">
                  <a16:creationId xmlns:a16="http://schemas.microsoft.com/office/drawing/2014/main" id="{344D9631-1509-6F9F-7501-BD3CA9C18B20}"/>
                </a:ext>
              </a:extLst>
            </p:cNvPr>
            <p:cNvSpPr/>
            <p:nvPr/>
          </p:nvSpPr>
          <p:spPr>
            <a:xfrm rot="10800000" flipV="1">
              <a:off x="4294445" y="171978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4343266" y="170198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5" name="사각형: 잘린 한쪽 모서리 74">
              <a:extLst>
                <a:ext uri="{FF2B5EF4-FFF2-40B4-BE49-F238E27FC236}">
                  <a16:creationId xmlns:a16="http://schemas.microsoft.com/office/drawing/2014/main" id="{D02F29FC-05DF-7B55-A3F7-5FA06294CC4C}"/>
                </a:ext>
              </a:extLst>
            </p:cNvPr>
            <p:cNvSpPr/>
            <p:nvPr/>
          </p:nvSpPr>
          <p:spPr>
            <a:xfrm flipH="1" flipV="1">
              <a:off x="4297917" y="317326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340885" y="314412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D8539796-98D7-4CFC-6D78-EEE30F169D38}"/>
                </a:ext>
              </a:extLst>
            </p:cNvPr>
            <p:cNvSpPr txBox="1"/>
            <p:nvPr/>
          </p:nvSpPr>
          <p:spPr>
            <a:xfrm>
              <a:off x="4048501" y="3213795"/>
              <a:ext cx="201978"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SVO</a:t>
              </a:r>
            </a:p>
          </p:txBody>
        </p:sp>
        <p:sp>
          <p:nvSpPr>
            <p:cNvPr id="78" name="TextBox 77">
              <a:extLst>
                <a:ext uri="{FF2B5EF4-FFF2-40B4-BE49-F238E27FC236}">
                  <a16:creationId xmlns:a16="http://schemas.microsoft.com/office/drawing/2014/main" id="{A3F06153-51CF-A070-1E79-384524A9E328}"/>
                </a:ext>
              </a:extLst>
            </p:cNvPr>
            <p:cNvSpPr txBox="1"/>
            <p:nvPr/>
          </p:nvSpPr>
          <p:spPr>
            <a:xfrm>
              <a:off x="2493111" y="3216065"/>
              <a:ext cx="149080"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SVI</a:t>
              </a:r>
            </a:p>
          </p:txBody>
        </p:sp>
        <p:sp>
          <p:nvSpPr>
            <p:cNvPr id="13" name="TextBox 12">
              <a:extLst>
                <a:ext uri="{FF2B5EF4-FFF2-40B4-BE49-F238E27FC236}">
                  <a16:creationId xmlns:a16="http://schemas.microsoft.com/office/drawing/2014/main" id="{C8C626C8-F415-6D40-6B19-73F26E2D5682}"/>
                </a:ext>
              </a:extLst>
            </p:cNvPr>
            <p:cNvSpPr txBox="1"/>
            <p:nvPr/>
          </p:nvSpPr>
          <p:spPr>
            <a:xfrm>
              <a:off x="2212632" y="1991841"/>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TextBox 79">
              <a:extLst>
                <a:ext uri="{FF2B5EF4-FFF2-40B4-BE49-F238E27FC236}">
                  <a16:creationId xmlns:a16="http://schemas.microsoft.com/office/drawing/2014/main" id="{CE764032-847F-60B3-3F90-98F5DFDD8555}"/>
                </a:ext>
              </a:extLst>
            </p:cNvPr>
            <p:cNvSpPr txBox="1"/>
            <p:nvPr/>
          </p:nvSpPr>
          <p:spPr>
            <a:xfrm>
              <a:off x="2207171" y="228072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TextBox 80">
              <a:extLst>
                <a:ext uri="{FF2B5EF4-FFF2-40B4-BE49-F238E27FC236}">
                  <a16:creationId xmlns:a16="http://schemas.microsoft.com/office/drawing/2014/main" id="{02059E8C-0320-A828-BF47-4CAD7779277B}"/>
                </a:ext>
              </a:extLst>
            </p:cNvPr>
            <p:cNvSpPr txBox="1"/>
            <p:nvPr/>
          </p:nvSpPr>
          <p:spPr>
            <a:xfrm>
              <a:off x="2207171" y="2564517"/>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2" name="TextBox 81">
              <a:extLst>
                <a:ext uri="{FF2B5EF4-FFF2-40B4-BE49-F238E27FC236}">
                  <a16:creationId xmlns:a16="http://schemas.microsoft.com/office/drawing/2014/main" id="{82AD2074-3EAD-5A1A-9DE8-B5520815FC83}"/>
                </a:ext>
              </a:extLst>
            </p:cNvPr>
            <p:cNvSpPr txBox="1"/>
            <p:nvPr/>
          </p:nvSpPr>
          <p:spPr>
            <a:xfrm>
              <a:off x="2207171" y="2858880"/>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9C852FBD-27C3-9A2F-569B-C7BBE5939F08}"/>
                </a:ext>
              </a:extLst>
            </p:cNvPr>
            <p:cNvSpPr txBox="1"/>
            <p:nvPr/>
          </p:nvSpPr>
          <p:spPr>
            <a:xfrm>
              <a:off x="4343266" y="1991841"/>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860FC2FA-762C-1F87-32D3-3A94DD0BF6E8}"/>
                </a:ext>
              </a:extLst>
            </p:cNvPr>
            <p:cNvSpPr txBox="1"/>
            <p:nvPr/>
          </p:nvSpPr>
          <p:spPr>
            <a:xfrm>
              <a:off x="4343266" y="2286173"/>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F78BB64B-D32D-2ED6-4564-962FE1030A22}"/>
                </a:ext>
              </a:extLst>
            </p:cNvPr>
            <p:cNvSpPr txBox="1"/>
            <p:nvPr/>
          </p:nvSpPr>
          <p:spPr>
            <a:xfrm>
              <a:off x="4343266" y="256439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7" name="TextBox 86">
              <a:extLst>
                <a:ext uri="{FF2B5EF4-FFF2-40B4-BE49-F238E27FC236}">
                  <a16:creationId xmlns:a16="http://schemas.microsoft.com/office/drawing/2014/main" id="{5F141AA0-E529-C2FF-53F7-0A977948EDA2}"/>
                </a:ext>
              </a:extLst>
            </p:cNvPr>
            <p:cNvSpPr txBox="1"/>
            <p:nvPr/>
          </p:nvSpPr>
          <p:spPr>
            <a:xfrm>
              <a:off x="4343266" y="2858880"/>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1337175843"/>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Test pin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45399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11" name="표 10">
            <a:extLst>
              <a:ext uri="{FF2B5EF4-FFF2-40B4-BE49-F238E27FC236}">
                <a16:creationId xmlns:a16="http://schemas.microsoft.com/office/drawing/2014/main" id="{32A16C21-C35C-B179-A30F-4E17D60E9CA8}"/>
              </a:ext>
            </a:extLst>
          </p:cNvPr>
          <p:cNvGraphicFramePr>
            <a:graphicFrameLocks noGrp="1"/>
          </p:cNvGraphicFramePr>
          <p:nvPr>
            <p:extLst>
              <p:ext uri="{D42A27DB-BD31-4B8C-83A1-F6EECF244321}">
                <p14:modId xmlns:p14="http://schemas.microsoft.com/office/powerpoint/2010/main" val="3400537106"/>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SVI is Schmit trigger</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57" name="그림 56">
            <a:extLst>
              <a:ext uri="{FF2B5EF4-FFF2-40B4-BE49-F238E27FC236}">
                <a16:creationId xmlns:a16="http://schemas.microsoft.com/office/drawing/2014/main" id="{D84355CA-83EC-9C13-79FB-75FECA5DCF90}"/>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58" name="그룹 57">
            <a:extLst>
              <a:ext uri="{FF2B5EF4-FFF2-40B4-BE49-F238E27FC236}">
                <a16:creationId xmlns:a16="http://schemas.microsoft.com/office/drawing/2014/main" id="{FF0D4A74-2A10-5F0C-F306-67DA01245C4F}"/>
              </a:ext>
            </a:extLst>
          </p:cNvPr>
          <p:cNvGrpSpPr/>
          <p:nvPr/>
        </p:nvGrpSpPr>
        <p:grpSpPr>
          <a:xfrm>
            <a:off x="2807104" y="4142420"/>
            <a:ext cx="1038538" cy="974255"/>
            <a:chOff x="2687819" y="3003631"/>
            <a:chExt cx="1094210" cy="1114062"/>
          </a:xfrm>
        </p:grpSpPr>
        <p:pic>
          <p:nvPicPr>
            <p:cNvPr id="59" name="그림 58">
              <a:extLst>
                <a:ext uri="{FF2B5EF4-FFF2-40B4-BE49-F238E27FC236}">
                  <a16:creationId xmlns:a16="http://schemas.microsoft.com/office/drawing/2014/main" id="{BBF3BF13-E6F5-3CFF-E1B6-C731C6EADD5A}"/>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60" name="TextBox 152">
              <a:extLst>
                <a:ext uri="{FF2B5EF4-FFF2-40B4-BE49-F238E27FC236}">
                  <a16:creationId xmlns:a16="http://schemas.microsoft.com/office/drawing/2014/main" id="{4B145E2B-9427-84E7-D956-78FB850120D2}"/>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61" name="그림 60">
            <a:extLst>
              <a:ext uri="{FF2B5EF4-FFF2-40B4-BE49-F238E27FC236}">
                <a16:creationId xmlns:a16="http://schemas.microsoft.com/office/drawing/2014/main" id="{F1202854-1F25-A9ED-4617-0D3076FA93B7}"/>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21" name="그림 20">
            <a:extLst>
              <a:ext uri="{FF2B5EF4-FFF2-40B4-BE49-F238E27FC236}">
                <a16:creationId xmlns:a16="http://schemas.microsoft.com/office/drawing/2014/main" id="{E2C7D601-97ED-F802-912D-C26BAC693557}"/>
              </a:ext>
            </a:extLst>
          </p:cNvPr>
          <p:cNvPicPr>
            <a:picLocks noChangeAspect="1"/>
          </p:cNvPicPr>
          <p:nvPr/>
        </p:nvPicPr>
        <p:blipFill>
          <a:blip r:embed="rId4"/>
          <a:stretch>
            <a:fillRect/>
          </a:stretch>
        </p:blipFill>
        <p:spPr>
          <a:xfrm>
            <a:off x="2662634" y="5585787"/>
            <a:ext cx="1270240" cy="673883"/>
          </a:xfrm>
          <a:prstGeom prst="rect">
            <a:avLst/>
          </a:prstGeom>
        </p:spPr>
      </p:pic>
      <p:pic>
        <p:nvPicPr>
          <p:cNvPr id="23" name="그림 22">
            <a:extLst>
              <a:ext uri="{FF2B5EF4-FFF2-40B4-BE49-F238E27FC236}">
                <a16:creationId xmlns:a16="http://schemas.microsoft.com/office/drawing/2014/main" id="{8ACAA5E5-2D18-0E75-EF1F-E7D70EB07D43}"/>
              </a:ext>
            </a:extLst>
          </p:cNvPr>
          <p:cNvPicPr>
            <a:picLocks noChangeAspect="1"/>
          </p:cNvPicPr>
          <p:nvPr/>
        </p:nvPicPr>
        <p:blipFill>
          <a:blip r:embed="rId5"/>
          <a:stretch>
            <a:fillRect/>
          </a:stretch>
        </p:blipFill>
        <p:spPr>
          <a:xfrm>
            <a:off x="2798095" y="6723949"/>
            <a:ext cx="1376363" cy="665982"/>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314178204"/>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1" name="object 11">
            <a:extLst>
              <a:ext uri="{FF2B5EF4-FFF2-40B4-BE49-F238E27FC236}">
                <a16:creationId xmlns:a16="http://schemas.microsoft.com/office/drawing/2014/main" id="{55B9BB63-ABDA-30DF-1ADD-245600E5B92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16">
            <a:extLst>
              <a:ext uri="{FF2B5EF4-FFF2-40B4-BE49-F238E27FC236}">
                <a16:creationId xmlns:a16="http://schemas.microsoft.com/office/drawing/2014/main" id="{43E2CD28-93DE-03DD-CB17-DC087DC8E39F}"/>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 = 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 40mA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sp>
        <p:nvSpPr>
          <p:cNvPr id="2" name="TextBox 1">
            <a:extLst>
              <a:ext uri="{FF2B5EF4-FFF2-40B4-BE49-F238E27FC236}">
                <a16:creationId xmlns:a16="http://schemas.microsoft.com/office/drawing/2014/main" id="{35171D58-FBAA-278F-0693-FF3701305F6C}"/>
              </a:ext>
            </a:extLst>
          </p:cNvPr>
          <p:cNvSpPr txBox="1"/>
          <p:nvPr/>
        </p:nvSpPr>
        <p:spPr>
          <a:xfrm>
            <a:off x="400853" y="6950863"/>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Ratings</a:t>
            </a:r>
          </a:p>
        </p:txBody>
      </p:sp>
      <p:sp>
        <p:nvSpPr>
          <p:cNvPr id="6" name="object 11">
            <a:extLst>
              <a:ext uri="{FF2B5EF4-FFF2-40B4-BE49-F238E27FC236}">
                <a16:creationId xmlns:a16="http://schemas.microsoft.com/office/drawing/2014/main" id="{8D0E866E-8EFE-F4EE-2C3C-B4E8D0E5AC8F}"/>
              </a:ext>
            </a:extLst>
          </p:cNvPr>
          <p:cNvSpPr txBox="1"/>
          <p:nvPr/>
        </p:nvSpPr>
        <p:spPr>
          <a:xfrm>
            <a:off x="2554451" y="8626005"/>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2" name="표 11">
            <a:extLst>
              <a:ext uri="{FF2B5EF4-FFF2-40B4-BE49-F238E27FC236}">
                <a16:creationId xmlns:a16="http://schemas.microsoft.com/office/drawing/2014/main" id="{FB8DEE20-B587-D217-4F4F-5CA097B677A9}"/>
              </a:ext>
            </a:extLst>
          </p:cNvPr>
          <p:cNvGraphicFramePr>
            <a:graphicFrameLocks noGrp="1"/>
          </p:cNvGraphicFramePr>
          <p:nvPr>
            <p:extLst>
              <p:ext uri="{D42A27DB-BD31-4B8C-83A1-F6EECF244321}">
                <p14:modId xmlns:p14="http://schemas.microsoft.com/office/powerpoint/2010/main" val="22191625"/>
              </p:ext>
            </p:extLst>
          </p:nvPr>
        </p:nvGraphicFramePr>
        <p:xfrm>
          <a:off x="400853" y="7264937"/>
          <a:ext cx="6048621" cy="112256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3964604988"/>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133600" y="6254750"/>
            <a:ext cx="3773277" cy="777436"/>
            <a:chOff x="1920695" y="7478240"/>
            <a:chExt cx="3333652" cy="718717"/>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7" name="TextBox 6">
            <a:extLst>
              <a:ext uri="{FF2B5EF4-FFF2-40B4-BE49-F238E27FC236}">
                <a16:creationId xmlns:a16="http://schemas.microsoft.com/office/drawing/2014/main" id="{27E8CB22-5C14-6BD9-34DA-1ECD33A81E0B}"/>
              </a:ext>
            </a:extLst>
          </p:cNvPr>
          <p:cNvSpPr txBox="1"/>
          <p:nvPr/>
        </p:nvSpPr>
        <p:spPr>
          <a:xfrm>
            <a:off x="404813" y="7421974"/>
            <a:ext cx="5888038" cy="8951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pPr algn="just"/>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XC.</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2223659499"/>
              </p:ext>
            </p:extLst>
          </p:nvPr>
        </p:nvGraphicFramePr>
        <p:xfrm>
          <a:off x="411753" y="1136650"/>
          <a:ext cx="6041678" cy="6249092"/>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900" b="0" spc="-5" dirty="0">
                          <a:solidFill>
                            <a:schemeClr val="tx1"/>
                          </a:solidFill>
                          <a:latin typeface="Arial"/>
                          <a:cs typeface="Arial"/>
                        </a:rPr>
                        <a:t>0.18V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4mA,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0.21V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95" baseline="-18518" dirty="0">
                          <a:solidFill>
                            <a:schemeClr val="tx1"/>
                          </a:solidFill>
                          <a:latin typeface="Arial"/>
                          <a:cs typeface="Arial"/>
                        </a:rPr>
                        <a:t> </a:t>
                      </a:r>
                      <a:r>
                        <a:rPr lang="it-IT" altLang="ko-KR" sz="900" b="0" dirty="0">
                          <a:solidFill>
                            <a:schemeClr val="tx1"/>
                          </a:solidFill>
                          <a:latin typeface="Arial"/>
                          <a:cs typeface="Arial"/>
                        </a:rPr>
                        <a:t>8mA</a:t>
                      </a:r>
                    </a:p>
                    <a:p>
                      <a:pPr marL="54610">
                        <a:lnSpc>
                          <a:spcPct val="100000"/>
                        </a:lnSpc>
                      </a:pPr>
                      <a:r>
                        <a:rPr lang="it-IT" altLang="ko-KR" sz="900" b="0" spc="-5" dirty="0">
                          <a:solidFill>
                            <a:schemeClr val="tx1"/>
                          </a:solidFill>
                          <a:latin typeface="Arial"/>
                          <a:cs typeface="Arial"/>
                        </a:rPr>
                        <a:t>0.24V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12mA,</a:t>
                      </a:r>
                      <a:r>
                        <a:rPr lang="it-IT" altLang="ko-KR" sz="900" b="0" spc="-40" dirty="0">
                          <a:solidFill>
                            <a:schemeClr val="tx1"/>
                          </a:solidFill>
                          <a:latin typeface="Arial"/>
                          <a:cs typeface="Arial"/>
                        </a:rPr>
                        <a:t> 0.27V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16mA</a:t>
                      </a:r>
                    </a:p>
                    <a:p>
                      <a:pPr marL="54610">
                        <a:lnSpc>
                          <a:spcPct val="100000"/>
                        </a:lnSpc>
                      </a:pPr>
                      <a:r>
                        <a:rPr lang="it-IT" altLang="ko-KR" sz="900" b="0" spc="-5" dirty="0">
                          <a:solidFill>
                            <a:schemeClr val="tx1"/>
                          </a:solidFill>
                          <a:latin typeface="Arial"/>
                          <a:cs typeface="Arial"/>
                        </a:rPr>
                        <a:t>0.32V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0.38V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233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3b’000=3V,</a:t>
                      </a:r>
                      <a:r>
                        <a:rPr sz="900" spc="16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4</a:t>
                      </a:r>
                      <a:r>
                        <a:rPr sz="900" dirty="0">
                          <a:solidFill>
                            <a:schemeClr val="tx1"/>
                          </a:solidFill>
                          <a:latin typeface="Arial"/>
                          <a:cs typeface="Arial"/>
                        </a:rPr>
                        <a:t>V</a:t>
                      </a:r>
                    </a:p>
                    <a:p>
                      <a:pPr marL="275590">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6</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8</a:t>
                      </a:r>
                      <a:r>
                        <a:rPr sz="900" dirty="0">
                          <a:solidFill>
                            <a:schemeClr val="tx1"/>
                          </a:solidFill>
                          <a:latin typeface="Arial"/>
                          <a:cs typeface="Arial"/>
                        </a:rPr>
                        <a:t>V</a:t>
                      </a:r>
                    </a:p>
                    <a:p>
                      <a:pPr marL="275590">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12</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16</a:t>
                      </a:r>
                      <a:r>
                        <a:rPr sz="900" spc="-5" dirty="0">
                          <a:solidFill>
                            <a:schemeClr val="tx1"/>
                          </a:solidFill>
                          <a:latin typeface="Arial"/>
                          <a:cs typeface="Arial"/>
                        </a:rPr>
                        <a:t>V</a:t>
                      </a:r>
                      <a:endParaRPr sz="900" dirty="0">
                        <a:solidFill>
                          <a:schemeClr val="tx1"/>
                        </a:solidFill>
                        <a:latin typeface="Arial"/>
                        <a:cs typeface="Arial"/>
                      </a:endParaRPr>
                    </a:p>
                    <a:p>
                      <a:pPr marL="275590">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24</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3b’111=3</a:t>
                      </a:r>
                      <a:r>
                        <a:rPr lang="en-US" sz="900" dirty="0">
                          <a:solidFill>
                            <a:schemeClr val="tx1"/>
                          </a:solidFill>
                          <a:latin typeface="Arial"/>
                          <a:cs typeface="Arial"/>
                        </a:rPr>
                        <a:t>5</a:t>
                      </a:r>
                      <a:r>
                        <a:rPr sz="900" dirty="0">
                          <a:solidFill>
                            <a:schemeClr val="tx1"/>
                          </a:solidFill>
                          <a:latin typeface="Arial"/>
                          <a:cs typeface="Arial"/>
                        </a:rPr>
                        <a:t>V</a:t>
                      </a: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3’b010 = 12mA, 3’b011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3’b100 = 24mA, 3’b101 = 32mA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35</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0.50V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0.60V,  3’b011 = 0.70V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altLang="ko-KR" sz="900" dirty="0">
                          <a:solidFill>
                            <a:schemeClr val="tx1"/>
                          </a:solidFill>
                          <a:latin typeface="Arial" panose="020B0604020202020204" pitchFamily="34" charset="0"/>
                          <a:cs typeface="Arial" panose="020B0604020202020204" pitchFamily="34" charset="0"/>
                        </a:rPr>
                        <a:t>Default OFS_TEMP [3:0] = 0x8</a:t>
                      </a: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173</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7501868"/>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2610288843"/>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XD12R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4505" y="50771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82625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292341"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XD12R </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dirty="0">
                  <a:solidFill>
                    <a:schemeClr val="tx1"/>
                  </a:solidFill>
                  <a:latin typeface="Arial" panose="020B0604020202020204" pitchFamily="34" charset="0"/>
                  <a:cs typeface="Arial" panose="020B0604020202020204" pitchFamily="34" charset="0"/>
                </a:rPr>
                <a:t>XD12R  setup for dimming</a:t>
              </a:r>
              <a:endParaRPr lang="ko-KR" altLang="en-US" sz="8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DCF4DE-CFB3-5366-D892-071ABF42F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228E66B-49BF-A516-78A2-5D69EA4D91D2}"/>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18 as possible in below.</a:t>
            </a:r>
          </a:p>
        </p:txBody>
      </p:sp>
      <p:sp>
        <p:nvSpPr>
          <p:cNvPr id="2" name="TextBox 1">
            <a:extLst>
              <a:ext uri="{FF2B5EF4-FFF2-40B4-BE49-F238E27FC236}">
                <a16:creationId xmlns:a16="http://schemas.microsoft.com/office/drawing/2014/main" id="{FF18CDC6-F1E4-6F3B-CC74-4E610E1B6E19}"/>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XD12R</a:t>
            </a:r>
            <a:r>
              <a:rPr kumimoji="0" lang="ko-KR" altLang="en-US"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single 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1853815E-6839-9E21-F2FA-7EE2B7613B3D}"/>
              </a:ext>
            </a:extLst>
          </p:cNvPr>
          <p:cNvSpPr txBox="1"/>
          <p:nvPr/>
        </p:nvSpPr>
        <p:spPr>
          <a:xfrm>
            <a:off x="553680" y="2427418"/>
            <a:ext cx="5937812" cy="1453539"/>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single 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0.17mm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pic>
        <p:nvPicPr>
          <p:cNvPr id="11" name="그림 10">
            <a:extLst>
              <a:ext uri="{FF2B5EF4-FFF2-40B4-BE49-F238E27FC236}">
                <a16:creationId xmlns:a16="http://schemas.microsoft.com/office/drawing/2014/main" id="{85086F1E-DCE9-99C7-8468-0093E84D2193}"/>
              </a:ext>
            </a:extLst>
          </p:cNvPr>
          <p:cNvPicPr>
            <a:picLocks noChangeAspect="1"/>
          </p:cNvPicPr>
          <p:nvPr/>
        </p:nvPicPr>
        <p:blipFill>
          <a:blip r:embed="rId2"/>
          <a:stretch>
            <a:fillRect/>
          </a:stretch>
        </p:blipFill>
        <p:spPr>
          <a:xfrm>
            <a:off x="562831" y="4183291"/>
            <a:ext cx="5881624" cy="2219559"/>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can be controlled with several commands through a XC24R controller or directly by a Micom. </a:t>
            </a:r>
          </a:p>
          <a:p>
            <a:pPr algn="just"/>
            <a:r>
              <a:rPr lang="en-US" altLang="ko-KR" sz="1000" dirty="0">
                <a:latin typeface="Arial" panose="020B0604020202020204" pitchFamily="34" charset="0"/>
                <a:cs typeface="Arial" panose="020B0604020202020204" pitchFamily="34" charset="0"/>
              </a:rPr>
              <a:t>The access protocol and frame format are as follows and if several XD12R is connected in daisy, the commands should be repeated successively as many as the XD12R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2015319" y="5070075"/>
            <a:ext cx="291105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534874"/>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36" name="그룹 35">
            <a:extLst>
              <a:ext uri="{FF2B5EF4-FFF2-40B4-BE49-F238E27FC236}">
                <a16:creationId xmlns:a16="http://schemas.microsoft.com/office/drawing/2014/main" id="{E0904E6D-4CF6-A0AD-47E9-FC75A62F07DE}"/>
              </a:ext>
            </a:extLst>
          </p:cNvPr>
          <p:cNvGrpSpPr/>
          <p:nvPr/>
        </p:nvGrpSpPr>
        <p:grpSpPr>
          <a:xfrm>
            <a:off x="238088" y="6657762"/>
            <a:ext cx="6245917" cy="2582404"/>
            <a:chOff x="2976563" y="2832662"/>
            <a:chExt cx="6245917" cy="2582404"/>
          </a:xfrm>
        </p:grpSpPr>
        <p:grpSp>
          <p:nvGrpSpPr>
            <p:cNvPr id="37" name="그룹 36">
              <a:extLst>
                <a:ext uri="{FF2B5EF4-FFF2-40B4-BE49-F238E27FC236}">
                  <a16:creationId xmlns:a16="http://schemas.microsoft.com/office/drawing/2014/main" id="{B8C6F0F3-CA28-C49C-C089-2CA8D6D71CFC}"/>
                </a:ext>
              </a:extLst>
            </p:cNvPr>
            <p:cNvGrpSpPr/>
            <p:nvPr/>
          </p:nvGrpSpPr>
          <p:grpSpPr>
            <a:xfrm>
              <a:off x="2976563" y="2832662"/>
              <a:ext cx="6245917" cy="2582404"/>
              <a:chOff x="2976563" y="2832662"/>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2"/>
              <a:stretch>
                <a:fillRect/>
              </a:stretch>
            </p:blipFill>
            <p:spPr>
              <a:xfrm>
                <a:off x="3030480" y="2832662"/>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3597506" y="4637088"/>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84D4B7F5-9EC6-B8F6-FE07-BAEF6E495E56}"/>
                  </a:ext>
                </a:extLst>
              </p:cNvPr>
              <p:cNvGrpSpPr/>
              <p:nvPr/>
            </p:nvGrpSpPr>
            <p:grpSpPr>
              <a:xfrm>
                <a:off x="3877597" y="4599160"/>
                <a:ext cx="260886" cy="169277"/>
                <a:chOff x="2366536" y="4364341"/>
                <a:chExt cx="242374"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2366536" y="4364341"/>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 name="그룹 46">
                <a:extLst>
                  <a:ext uri="{FF2B5EF4-FFF2-40B4-BE49-F238E27FC236}">
                    <a16:creationId xmlns:a16="http://schemas.microsoft.com/office/drawing/2014/main" id="{175EC060-98F9-49E0-509C-7840B372A676}"/>
                  </a:ext>
                </a:extLst>
              </p:cNvPr>
              <p:cNvGrpSpPr/>
              <p:nvPr/>
            </p:nvGrpSpPr>
            <p:grpSpPr>
              <a:xfrm>
                <a:off x="5333396" y="4601034"/>
                <a:ext cx="260886" cy="169277"/>
                <a:chOff x="2368127" y="4366470"/>
                <a:chExt cx="242374"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368127"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 name="그룹 47">
                <a:extLst>
                  <a:ext uri="{FF2B5EF4-FFF2-40B4-BE49-F238E27FC236}">
                    <a16:creationId xmlns:a16="http://schemas.microsoft.com/office/drawing/2014/main" id="{C504E94B-8DB1-083C-70BD-821C64B08FC2}"/>
                  </a:ext>
                </a:extLst>
              </p:cNvPr>
              <p:cNvGrpSpPr/>
              <p:nvPr/>
            </p:nvGrpSpPr>
            <p:grpSpPr>
              <a:xfrm>
                <a:off x="5708109" y="4599572"/>
                <a:ext cx="260886" cy="169277"/>
                <a:chOff x="2369602" y="4366470"/>
                <a:chExt cx="242374"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C6C325BF-500A-D9F8-4AF2-D90FE75FBB47}"/>
                  </a:ext>
                </a:extLst>
              </p:cNvPr>
              <p:cNvGrpSpPr/>
              <p:nvPr/>
            </p:nvGrpSpPr>
            <p:grpSpPr>
              <a:xfrm>
                <a:off x="6407956" y="4599572"/>
                <a:ext cx="260886" cy="169277"/>
                <a:chOff x="2369602" y="4366470"/>
                <a:chExt cx="242374"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3503085" y="4599572"/>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4659234" y="4599443"/>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3"/>
          <a:stretch>
            <a:fillRect/>
          </a:stretch>
        </p:blipFill>
        <p:spPr>
          <a:xfrm>
            <a:off x="495300" y="2245434"/>
            <a:ext cx="5911073" cy="2754488"/>
          </a:xfrm>
          <a:prstGeom prst="rect">
            <a:avLst/>
          </a:prstGeom>
        </p:spPr>
      </p:pic>
      <p:pic>
        <p:nvPicPr>
          <p:cNvPr id="5" name="그림 4">
            <a:extLst>
              <a:ext uri="{FF2B5EF4-FFF2-40B4-BE49-F238E27FC236}">
                <a16:creationId xmlns:a16="http://schemas.microsoft.com/office/drawing/2014/main" id="{88B5AA3B-B2BE-680A-F405-06257B222258}"/>
              </a:ext>
            </a:extLst>
          </p:cNvPr>
          <p:cNvPicPr>
            <a:picLocks noChangeAspect="1"/>
          </p:cNvPicPr>
          <p:nvPr/>
        </p:nvPicPr>
        <p:blipFill>
          <a:blip r:embed="rId4"/>
          <a:stretch>
            <a:fillRect/>
          </a:stretch>
        </p:blipFill>
        <p:spPr>
          <a:xfrm>
            <a:off x="2969634" y="7951044"/>
            <a:ext cx="3379353" cy="425745"/>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04440"/>
            <a:ext cx="955711" cy="184666"/>
          </a:xfrm>
          <a:prstGeom prst="rect">
            <a:avLst/>
          </a:prstGeom>
          <a:noFill/>
        </p:spPr>
        <p:txBody>
          <a:bodyPr wrap="none" rtlCol="0">
            <a:spAutoFit/>
          </a:bodyPr>
          <a:lstStyle/>
          <a:p>
            <a:r>
              <a:rPr lang="en-US" altLang="ko-KR" sz="600" dirty="0"/>
              <a:t>LD_TYP=01,PWM_RES=1</a:t>
            </a:r>
            <a:endParaRPr lang="ko-KR" altLang="en-US" sz="600" dirty="0"/>
          </a:p>
        </p:txBody>
      </p:sp>
      <p:grpSp>
        <p:nvGrpSpPr>
          <p:cNvPr id="10" name="그룹 9">
            <a:extLst>
              <a:ext uri="{FF2B5EF4-FFF2-40B4-BE49-F238E27FC236}">
                <a16:creationId xmlns:a16="http://schemas.microsoft.com/office/drawing/2014/main" id="{7FC9B547-85C5-2FEC-3656-A2D7CB857E83}"/>
              </a:ext>
            </a:extLst>
          </p:cNvPr>
          <p:cNvGrpSpPr/>
          <p:nvPr/>
        </p:nvGrpSpPr>
        <p:grpSpPr>
          <a:xfrm>
            <a:off x="1346199" y="5796164"/>
            <a:ext cx="3865267" cy="829415"/>
            <a:chOff x="1346199" y="5796164"/>
            <a:chExt cx="3865267" cy="829415"/>
          </a:xfrm>
        </p:grpSpPr>
        <p:pic>
          <p:nvPicPr>
            <p:cNvPr id="6" name="그림 5">
              <a:extLst>
                <a:ext uri="{FF2B5EF4-FFF2-40B4-BE49-F238E27FC236}">
                  <a16:creationId xmlns:a16="http://schemas.microsoft.com/office/drawing/2014/main" id="{CFD5CC27-98F1-4EF6-DFBE-9ED94EAC7DA0}"/>
                </a:ext>
              </a:extLst>
            </p:cNvPr>
            <p:cNvPicPr>
              <a:picLocks noChangeAspect="1"/>
            </p:cNvPicPr>
            <p:nvPr/>
          </p:nvPicPr>
          <p:blipFill>
            <a:blip r:embed="rId5"/>
            <a:stretch>
              <a:fillRect/>
            </a:stretch>
          </p:blipFill>
          <p:spPr>
            <a:xfrm>
              <a:off x="1346199" y="5796164"/>
              <a:ext cx="3865267" cy="829415"/>
            </a:xfrm>
            <a:prstGeom prst="rect">
              <a:avLst/>
            </a:prstGeom>
          </p:spPr>
        </p:pic>
        <p:sp>
          <p:nvSpPr>
            <p:cNvPr id="7" name="TextBox 6">
              <a:extLst>
                <a:ext uri="{FF2B5EF4-FFF2-40B4-BE49-F238E27FC236}">
                  <a16:creationId xmlns:a16="http://schemas.microsoft.com/office/drawing/2014/main" id="{CD831342-4F10-E99B-91E2-727BBD971028}"/>
                </a:ext>
              </a:extLst>
            </p:cNvPr>
            <p:cNvSpPr txBox="1"/>
            <p:nvPr/>
          </p:nvSpPr>
          <p:spPr>
            <a:xfrm>
              <a:off x="1549400" y="6070600"/>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dirty="0">
                  <a:latin typeface="Arial" panose="020B0604020202020204" pitchFamily="34" charset="0"/>
                  <a:cs typeface="Arial" panose="020B0604020202020204" pitchFamily="34" charset="0"/>
                </a:rPr>
                <a:t>XC24R</a:t>
              </a:r>
            </a:p>
            <a:p>
              <a:pPr algn="ctr"/>
              <a:r>
                <a:rPr lang="en-US" altLang="ko-KR" sz="700" b="1" dirty="0">
                  <a:latin typeface="Arial" panose="020B0604020202020204" pitchFamily="34" charset="0"/>
                  <a:cs typeface="Arial" panose="020B0604020202020204" pitchFamily="34" charset="0"/>
                </a:rPr>
                <a:t>or</a:t>
              </a:r>
            </a:p>
            <a:p>
              <a:pPr algn="ctr"/>
              <a:r>
                <a:rPr lang="en-US" altLang="ko-KR" sz="700" b="1" dirty="0">
                  <a:latin typeface="Arial" panose="020B0604020202020204" pitchFamily="34" charset="0"/>
                  <a:cs typeface="Arial" panose="020B0604020202020204" pitchFamily="34" charset="0"/>
                </a:rPr>
                <a:t>MCU</a:t>
              </a:r>
              <a:endParaRPr lang="ko-KR" altLang="en-US" sz="700"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27" name="TextBox 26">
            <a:extLst>
              <a:ext uri="{FF2B5EF4-FFF2-40B4-BE49-F238E27FC236}">
                <a16:creationId xmlns:a16="http://schemas.microsoft.com/office/drawing/2014/main" id="{EC4EB98B-9AD1-3C74-EDD4-668FEA5F57EA}"/>
              </a:ext>
            </a:extLst>
          </p:cNvPr>
          <p:cNvSpPr txBox="1"/>
          <p:nvPr/>
        </p:nvSpPr>
        <p:spPr>
          <a:xfrm>
            <a:off x="2750354" y="4431180"/>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SUB-FRAME(svsync) </a:t>
            </a:r>
            <a:r>
              <a:rPr lang="en-US" altLang="ko-KR" sz="1000" b="0" i="0" dirty="0">
                <a:solidFill>
                  <a:srgbClr val="000000"/>
                </a:solidFill>
                <a:effectLst/>
                <a:latin typeface="Arial" panose="020B0604020202020204" pitchFamily="34" charset="0"/>
                <a:cs typeface="Arial" panose="020B0604020202020204" pitchFamily="34" charset="0"/>
              </a:rPr>
              <a:t>as shown in the Table 6.</a:t>
            </a:r>
            <a:endParaRPr lang="en-US" altLang="ko-KR" sz="1000"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B1741DE8-4988-2A5B-D396-15D9314EDF97}"/>
              </a:ext>
            </a:extLst>
          </p:cNvPr>
          <p:cNvSpPr txBox="1"/>
          <p:nvPr/>
        </p:nvSpPr>
        <p:spPr>
          <a:xfrm>
            <a:off x="4743627" y="2080643"/>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31" name="직사각형 30">
            <a:extLst>
              <a:ext uri="{FF2B5EF4-FFF2-40B4-BE49-F238E27FC236}">
                <a16:creationId xmlns:a16="http://schemas.microsoft.com/office/drawing/2014/main" id="{521FA51C-743C-2E95-B8B8-B7BF5BABAB4C}"/>
              </a:ext>
            </a:extLst>
          </p:cNvPr>
          <p:cNvSpPr/>
          <p:nvPr/>
        </p:nvSpPr>
        <p:spPr>
          <a:xfrm>
            <a:off x="4689103" y="2142059"/>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32" name="직사각형 31">
            <a:extLst>
              <a:ext uri="{FF2B5EF4-FFF2-40B4-BE49-F238E27FC236}">
                <a16:creationId xmlns:a16="http://schemas.microsoft.com/office/drawing/2014/main" id="{AA271FD9-B1E1-A297-4469-3BABB8CA947B}"/>
              </a:ext>
            </a:extLst>
          </p:cNvPr>
          <p:cNvSpPr/>
          <p:nvPr/>
        </p:nvSpPr>
        <p:spPr>
          <a:xfrm>
            <a:off x="5413316" y="2142059"/>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33" name="TextBox 32">
            <a:extLst>
              <a:ext uri="{FF2B5EF4-FFF2-40B4-BE49-F238E27FC236}">
                <a16:creationId xmlns:a16="http://schemas.microsoft.com/office/drawing/2014/main" id="{3620F059-6CBA-93F4-979B-3BB964E28E95}"/>
              </a:ext>
            </a:extLst>
          </p:cNvPr>
          <p:cNvSpPr txBox="1"/>
          <p:nvPr/>
        </p:nvSpPr>
        <p:spPr>
          <a:xfrm>
            <a:off x="5461589" y="2080643"/>
            <a:ext cx="559769" cy="230832"/>
          </a:xfrm>
          <a:prstGeom prst="rect">
            <a:avLst/>
          </a:prstGeom>
          <a:noFill/>
        </p:spPr>
        <p:txBody>
          <a:bodyPr wrap="none" rtlCol="0">
            <a:spAutoFit/>
          </a:bodyPr>
          <a:lstStyle/>
          <a:p>
            <a:r>
              <a:rPr lang="en-US" altLang="ko-KR" sz="900" dirty="0"/>
              <a:t>svsync#</a:t>
            </a:r>
            <a:endParaRPr lang="ko-KR" altLang="en-US" sz="900" dirty="0"/>
          </a:p>
        </p:txBody>
      </p:sp>
      <p:sp>
        <p:nvSpPr>
          <p:cNvPr id="4" name="직사각형 3">
            <a:extLst>
              <a:ext uri="{FF2B5EF4-FFF2-40B4-BE49-F238E27FC236}">
                <a16:creationId xmlns:a16="http://schemas.microsoft.com/office/drawing/2014/main" id="{061104FD-AD21-5CA5-7E04-0675F32B9840}"/>
              </a:ext>
            </a:extLst>
          </p:cNvPr>
          <p:cNvSpPr/>
          <p:nvPr/>
        </p:nvSpPr>
        <p:spPr>
          <a:xfrm>
            <a:off x="6072158" y="2145739"/>
            <a:ext cx="108000" cy="108000"/>
          </a:xfrm>
          <a:prstGeom prst="rect">
            <a:avLst/>
          </a:prstGeom>
          <a:solidFill>
            <a:srgbClr val="FFC5FF"/>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5" name="TextBox 4">
            <a:extLst>
              <a:ext uri="{FF2B5EF4-FFF2-40B4-BE49-F238E27FC236}">
                <a16:creationId xmlns:a16="http://schemas.microsoft.com/office/drawing/2014/main" id="{69981FEB-C62F-4D7C-CB57-D1355462018F}"/>
              </a:ext>
            </a:extLst>
          </p:cNvPr>
          <p:cNvSpPr txBox="1"/>
          <p:nvPr/>
        </p:nvSpPr>
        <p:spPr>
          <a:xfrm>
            <a:off x="6120431" y="2084323"/>
            <a:ext cx="559769" cy="230832"/>
          </a:xfrm>
          <a:prstGeom prst="rect">
            <a:avLst/>
          </a:prstGeom>
          <a:noFill/>
        </p:spPr>
        <p:txBody>
          <a:bodyPr wrap="square" rtlCol="0">
            <a:spAutoFit/>
          </a:bodyPr>
          <a:lstStyle/>
          <a:p>
            <a:r>
              <a:rPr lang="en-US" altLang="ko-KR" sz="900" dirty="0"/>
              <a:t>Step#</a:t>
            </a:r>
            <a:endParaRPr lang="ko-KR" altLang="en-US" sz="900" dirty="0"/>
          </a:p>
        </p:txBody>
      </p:sp>
      <p:pic>
        <p:nvPicPr>
          <p:cNvPr id="6" name="그림 5">
            <a:extLst>
              <a:ext uri="{FF2B5EF4-FFF2-40B4-BE49-F238E27FC236}">
                <a16:creationId xmlns:a16="http://schemas.microsoft.com/office/drawing/2014/main" id="{6376089D-CFCD-EEEC-41DF-DFFF4E0DD288}"/>
              </a:ext>
            </a:extLst>
          </p:cNvPr>
          <p:cNvPicPr>
            <a:picLocks noChangeAspect="1"/>
          </p:cNvPicPr>
          <p:nvPr/>
        </p:nvPicPr>
        <p:blipFill>
          <a:blip r:embed="rId2"/>
          <a:stretch>
            <a:fillRect/>
          </a:stretch>
        </p:blipFill>
        <p:spPr>
          <a:xfrm>
            <a:off x="407554" y="2318836"/>
            <a:ext cx="6083937" cy="1897628"/>
          </a:xfrm>
          <a:prstGeom prst="rect">
            <a:avLst/>
          </a:prstGeom>
        </p:spPr>
      </p:pic>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1B687F81-B146-35DB-6BA7-D8B717CD9C51}"/>
              </a:ext>
            </a:extLst>
          </p:cNvPr>
          <p:cNvGrpSpPr/>
          <p:nvPr/>
        </p:nvGrpSpPr>
        <p:grpSpPr>
          <a:xfrm>
            <a:off x="2096062" y="4285915"/>
            <a:ext cx="3005479" cy="2104030"/>
            <a:chOff x="0" y="0"/>
            <a:chExt cx="3273732" cy="2421071"/>
          </a:xfrm>
        </p:grpSpPr>
        <p:sp>
          <p:nvSpPr>
            <p:cNvPr id="5" name="직사각형 4">
              <a:extLst>
                <a:ext uri="{FF2B5EF4-FFF2-40B4-BE49-F238E27FC236}">
                  <a16:creationId xmlns:a16="http://schemas.microsoft.com/office/drawing/2014/main" id="{094F65D6-D262-E9EB-8061-B6128F1ACB29}"/>
                </a:ext>
              </a:extLst>
            </p:cNvPr>
            <p:cNvSpPr/>
            <p:nvPr/>
          </p:nvSpPr>
          <p:spPr>
            <a:xfrm>
              <a:off x="1539605" y="1610767"/>
              <a:ext cx="1539307" cy="608510"/>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C2C2B1A3-AE03-E64C-4020-732A0FDB2328}"/>
                </a:ext>
              </a:extLst>
            </p:cNvPr>
            <p:cNvCxnSpPr/>
            <p:nvPr/>
          </p:nvCxnSpPr>
          <p:spPr>
            <a:xfrm flipH="1">
              <a:off x="758599" y="1139515"/>
              <a:ext cx="0" cy="145255"/>
            </a:xfrm>
            <a:prstGeom prst="line">
              <a:avLst/>
            </a:prstGeom>
            <a:noFill/>
            <a:ln w="6350" cap="flat" cmpd="sng" algn="ctr">
              <a:solidFill>
                <a:sysClr val="windowText" lastClr="000000"/>
              </a:solidFill>
              <a:prstDash val="solid"/>
              <a:miter lim="800000"/>
            </a:ln>
            <a:effectLst/>
          </p:spPr>
        </p:cxnSp>
        <p:sp>
          <p:nvSpPr>
            <p:cNvPr id="7" name="이등변 삼각형 6">
              <a:extLst>
                <a:ext uri="{FF2B5EF4-FFF2-40B4-BE49-F238E27FC236}">
                  <a16:creationId xmlns:a16="http://schemas.microsoft.com/office/drawing/2014/main" id="{68D1D64B-28FF-F3FE-4757-ADCBA6331749}"/>
                </a:ext>
              </a:extLst>
            </p:cNvPr>
            <p:cNvSpPr/>
            <p:nvPr/>
          </p:nvSpPr>
          <p:spPr>
            <a:xfrm rot="10800000">
              <a:off x="1609147" y="1113305"/>
              <a:ext cx="180199" cy="108941"/>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DB6159F8-094C-230B-1FB7-CC0D976D9B5B}"/>
                </a:ext>
              </a:extLst>
            </p:cNvPr>
            <p:cNvCxnSpPr/>
            <p:nvPr/>
          </p:nvCxnSpPr>
          <p:spPr>
            <a:xfrm>
              <a:off x="1602485" y="1231020"/>
              <a:ext cx="195252" cy="0"/>
            </a:xfrm>
            <a:prstGeom prst="line">
              <a:avLst/>
            </a:prstGeom>
            <a:noFill/>
            <a:ln w="19050" cap="flat" cmpd="sng" algn="ctr">
              <a:solidFill>
                <a:sysClr val="windowText" lastClr="000000"/>
              </a:solidFill>
              <a:prstDash val="solid"/>
              <a:miter lim="800000"/>
            </a:ln>
            <a:effectLst/>
          </p:spPr>
        </p:cxnSp>
        <p:sp>
          <p:nvSpPr>
            <p:cNvPr id="9" name="이등변 삼각형 8">
              <a:extLst>
                <a:ext uri="{FF2B5EF4-FFF2-40B4-BE49-F238E27FC236}">
                  <a16:creationId xmlns:a16="http://schemas.microsoft.com/office/drawing/2014/main" id="{0B444736-3F51-BC40-9A25-59DE10013566}"/>
                </a:ext>
              </a:extLst>
            </p:cNvPr>
            <p:cNvSpPr/>
            <p:nvPr/>
          </p:nvSpPr>
          <p:spPr>
            <a:xfrm rot="10800000">
              <a:off x="1816203" y="1111097"/>
              <a:ext cx="180199" cy="108941"/>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01FD643B-45E6-3E09-2F6F-390D676E9A35}"/>
                </a:ext>
              </a:extLst>
            </p:cNvPr>
            <p:cNvCxnSpPr/>
            <p:nvPr/>
          </p:nvCxnSpPr>
          <p:spPr>
            <a:xfrm>
              <a:off x="1816589" y="1231019"/>
              <a:ext cx="195252" cy="0"/>
            </a:xfrm>
            <a:prstGeom prst="line">
              <a:avLst/>
            </a:prstGeom>
            <a:noFill/>
            <a:ln w="19050" cap="flat" cmpd="sng" algn="ctr">
              <a:solidFill>
                <a:sysClr val="windowText" lastClr="000000"/>
              </a:solidFill>
              <a:prstDash val="solid"/>
              <a:miter lim="800000"/>
            </a:ln>
            <a:effectLst/>
          </p:spPr>
        </p:cxnSp>
        <p:sp>
          <p:nvSpPr>
            <p:cNvPr id="11" name="이등변 삼각형 10">
              <a:extLst>
                <a:ext uri="{FF2B5EF4-FFF2-40B4-BE49-F238E27FC236}">
                  <a16:creationId xmlns:a16="http://schemas.microsoft.com/office/drawing/2014/main" id="{1A57B49D-5265-10FC-9B1C-ECE85F00D8AF}"/>
                </a:ext>
              </a:extLst>
            </p:cNvPr>
            <p:cNvSpPr/>
            <p:nvPr/>
          </p:nvSpPr>
          <p:spPr>
            <a:xfrm rot="10800000">
              <a:off x="2027796" y="1109267"/>
              <a:ext cx="180199" cy="108942"/>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2C3A7CC7-BB14-FD17-D619-BB0B02B33C3E}"/>
                </a:ext>
              </a:extLst>
            </p:cNvPr>
            <p:cNvCxnSpPr/>
            <p:nvPr/>
          </p:nvCxnSpPr>
          <p:spPr>
            <a:xfrm>
              <a:off x="2032724" y="1229566"/>
              <a:ext cx="195252"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D4ADB17A-BE4C-D5EE-9E1C-D3D3E5BBA0C7}"/>
                </a:ext>
              </a:extLst>
            </p:cNvPr>
            <p:cNvCxnSpPr/>
            <p:nvPr/>
          </p:nvCxnSpPr>
          <p:spPr>
            <a:xfrm>
              <a:off x="939843" y="974219"/>
              <a:ext cx="1982189" cy="0"/>
            </a:xfrm>
            <a:prstGeom prst="line">
              <a:avLst/>
            </a:prstGeom>
            <a:noFill/>
            <a:ln w="1270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CE93D9AB-AD90-DF8E-3E54-48D485F6A629}"/>
                </a:ext>
              </a:extLst>
            </p:cNvPr>
            <p:cNvCxnSpPr/>
            <p:nvPr/>
          </p:nvCxnSpPr>
          <p:spPr>
            <a:xfrm>
              <a:off x="134318" y="311071"/>
              <a:ext cx="1009114" cy="0"/>
            </a:xfrm>
            <a:prstGeom prst="line">
              <a:avLst/>
            </a:prstGeom>
            <a:noFill/>
            <a:ln w="1270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32066DAA-09ED-47EA-B09C-9709A80434FA}"/>
                </a:ext>
              </a:extLst>
            </p:cNvPr>
            <p:cNvCxnSpPr/>
            <p:nvPr/>
          </p:nvCxnSpPr>
          <p:spPr>
            <a:xfrm>
              <a:off x="613818" y="1061686"/>
              <a:ext cx="288318"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D305987A-B9B1-41ED-2D49-F5D4B87264DA}"/>
                </a:ext>
              </a:extLst>
            </p:cNvPr>
            <p:cNvCxnSpPr/>
            <p:nvPr/>
          </p:nvCxnSpPr>
          <p:spPr>
            <a:xfrm>
              <a:off x="684654" y="1128484"/>
              <a:ext cx="144159"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C7FE31FC-34E6-CCB3-697B-76C43EB683DF}"/>
                </a:ext>
              </a:extLst>
            </p:cNvPr>
            <p:cNvCxnSpPr/>
            <p:nvPr/>
          </p:nvCxnSpPr>
          <p:spPr>
            <a:xfrm rot="5400000" flipH="1" flipV="1">
              <a:off x="658144" y="1011696"/>
              <a:ext cx="72628"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7F92F8DC-CA6F-F2FF-57AE-58185CE82448}"/>
                </a:ext>
              </a:extLst>
            </p:cNvPr>
            <p:cNvCxnSpPr/>
            <p:nvPr/>
          </p:nvCxnSpPr>
          <p:spPr>
            <a:xfrm rot="5400000">
              <a:off x="778927" y="1009867"/>
              <a:ext cx="72628"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4B0DBDB4-71F9-5259-AF53-B70FC276CBA9}"/>
                </a:ext>
              </a:extLst>
            </p:cNvPr>
            <p:cNvCxnSpPr/>
            <p:nvPr/>
          </p:nvCxnSpPr>
          <p:spPr>
            <a:xfrm>
              <a:off x="799465" y="974808"/>
              <a:ext cx="144159"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D539D821-18D8-C38A-9804-19FC12236D1B}"/>
                </a:ext>
              </a:extLst>
            </p:cNvPr>
            <p:cNvCxnSpPr/>
            <p:nvPr/>
          </p:nvCxnSpPr>
          <p:spPr>
            <a:xfrm>
              <a:off x="561532" y="977553"/>
              <a:ext cx="144159"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C96A525-D41A-8445-9CCF-F7149E092D52}"/>
                </a:ext>
              </a:extLst>
            </p:cNvPr>
            <p:cNvCxnSpPr/>
            <p:nvPr/>
          </p:nvCxnSpPr>
          <p:spPr>
            <a:xfrm>
              <a:off x="833590" y="742672"/>
              <a:ext cx="288318"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281F958F-BF76-F6B7-0D6F-5A52E4B84663}"/>
                </a:ext>
              </a:extLst>
            </p:cNvPr>
            <p:cNvCxnSpPr/>
            <p:nvPr/>
          </p:nvCxnSpPr>
          <p:spPr>
            <a:xfrm>
              <a:off x="904426" y="809470"/>
              <a:ext cx="144159"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F15ABA8E-7535-7BB9-F01F-341043C843ED}"/>
                </a:ext>
              </a:extLst>
            </p:cNvPr>
            <p:cNvCxnSpPr/>
            <p:nvPr/>
          </p:nvCxnSpPr>
          <p:spPr>
            <a:xfrm rot="5400000" flipH="1" flipV="1">
              <a:off x="877916" y="692682"/>
              <a:ext cx="72628"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EE5AB1BF-6B0F-E8F1-766F-7F1906B415A7}"/>
                </a:ext>
              </a:extLst>
            </p:cNvPr>
            <p:cNvCxnSpPr/>
            <p:nvPr/>
          </p:nvCxnSpPr>
          <p:spPr>
            <a:xfrm rot="5400000">
              <a:off x="998699" y="690853"/>
              <a:ext cx="72628"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397F6068-20D2-115C-D20B-883F03631858}"/>
                </a:ext>
              </a:extLst>
            </p:cNvPr>
            <p:cNvCxnSpPr/>
            <p:nvPr/>
          </p:nvCxnSpPr>
          <p:spPr>
            <a:xfrm>
              <a:off x="1019237" y="655794"/>
              <a:ext cx="144159" cy="0"/>
            </a:xfrm>
            <a:prstGeom prst="line">
              <a:avLst/>
            </a:prstGeom>
            <a:noFill/>
            <a:ln w="1905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20D697C5-4683-E6CF-E4DF-D984F88E63D5}"/>
                </a:ext>
              </a:extLst>
            </p:cNvPr>
            <p:cNvCxnSpPr/>
            <p:nvPr/>
          </p:nvCxnSpPr>
          <p:spPr>
            <a:xfrm>
              <a:off x="781304" y="658539"/>
              <a:ext cx="144159" cy="0"/>
            </a:xfrm>
            <a:prstGeom prst="line">
              <a:avLst/>
            </a:prstGeom>
            <a:noFill/>
            <a:ln w="1905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4F25B94D-32D9-E55A-E648-00C976EAB9BE}"/>
                </a:ext>
              </a:extLst>
            </p:cNvPr>
            <p:cNvCxnSpPr/>
            <p:nvPr/>
          </p:nvCxnSpPr>
          <p:spPr>
            <a:xfrm>
              <a:off x="1058808" y="397696"/>
              <a:ext cx="288318" cy="0"/>
            </a:xfrm>
            <a:prstGeom prst="line">
              <a:avLst/>
            </a:prstGeom>
            <a:noFill/>
            <a:ln w="1905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164F478D-F732-5BFD-6501-789782BDAADB}"/>
                </a:ext>
              </a:extLst>
            </p:cNvPr>
            <p:cNvCxnSpPr/>
            <p:nvPr/>
          </p:nvCxnSpPr>
          <p:spPr>
            <a:xfrm>
              <a:off x="1129644" y="464494"/>
              <a:ext cx="144159" cy="0"/>
            </a:xfrm>
            <a:prstGeom prst="line">
              <a:avLst/>
            </a:prstGeom>
            <a:noFill/>
            <a:ln w="1905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4F5A938D-E299-C287-BBD6-3BB329E85626}"/>
                </a:ext>
              </a:extLst>
            </p:cNvPr>
            <p:cNvCxnSpPr/>
            <p:nvPr/>
          </p:nvCxnSpPr>
          <p:spPr>
            <a:xfrm rot="5400000" flipH="1" flipV="1">
              <a:off x="1103134" y="347706"/>
              <a:ext cx="72628" cy="0"/>
            </a:xfrm>
            <a:prstGeom prst="line">
              <a:avLst/>
            </a:prstGeom>
            <a:noFill/>
            <a:ln w="1905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581EC124-695E-784A-135A-F6F37C3E3394}"/>
                </a:ext>
              </a:extLst>
            </p:cNvPr>
            <p:cNvCxnSpPr/>
            <p:nvPr/>
          </p:nvCxnSpPr>
          <p:spPr>
            <a:xfrm rot="5400000">
              <a:off x="1223917" y="345877"/>
              <a:ext cx="72628" cy="0"/>
            </a:xfrm>
            <a:prstGeom prst="line">
              <a:avLst/>
            </a:prstGeom>
            <a:noFill/>
            <a:ln w="1905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7E920350-8EDA-C909-2FCE-82EE3401E9B0}"/>
                </a:ext>
              </a:extLst>
            </p:cNvPr>
            <p:cNvCxnSpPr/>
            <p:nvPr/>
          </p:nvCxnSpPr>
          <p:spPr>
            <a:xfrm>
              <a:off x="1244455" y="310818"/>
              <a:ext cx="144159" cy="0"/>
            </a:xfrm>
            <a:prstGeom prst="line">
              <a:avLst/>
            </a:prstGeom>
            <a:noFill/>
            <a:ln w="1905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D4D16681-0BC2-DBD8-808B-69AB994C023C}"/>
                </a:ext>
              </a:extLst>
            </p:cNvPr>
            <p:cNvCxnSpPr/>
            <p:nvPr/>
          </p:nvCxnSpPr>
          <p:spPr>
            <a:xfrm>
              <a:off x="1006522" y="313563"/>
              <a:ext cx="144159" cy="0"/>
            </a:xfrm>
            <a:prstGeom prst="line">
              <a:avLst/>
            </a:prstGeom>
            <a:noFill/>
            <a:ln w="1905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F445684F-4B3D-EF9E-42F8-30C29936E0ED}"/>
                </a:ext>
              </a:extLst>
            </p:cNvPr>
            <p:cNvCxnSpPr/>
            <p:nvPr/>
          </p:nvCxnSpPr>
          <p:spPr>
            <a:xfrm flipH="1" flipV="1">
              <a:off x="1701539" y="1237377"/>
              <a:ext cx="0" cy="145255"/>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231612B1-C9B5-457E-9031-D92A174D5A17}"/>
                </a:ext>
              </a:extLst>
            </p:cNvPr>
            <p:cNvCxnSpPr/>
            <p:nvPr/>
          </p:nvCxnSpPr>
          <p:spPr>
            <a:xfrm flipH="1" flipV="1">
              <a:off x="1911037" y="1240121"/>
              <a:ext cx="0" cy="363139"/>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10A9B90C-D469-4836-A6AC-5350414F6793}"/>
                </a:ext>
              </a:extLst>
            </p:cNvPr>
            <p:cNvCxnSpPr/>
            <p:nvPr/>
          </p:nvCxnSpPr>
          <p:spPr>
            <a:xfrm flipH="1" flipV="1">
              <a:off x="2122635" y="1233715"/>
              <a:ext cx="0" cy="145255"/>
            </a:xfrm>
            <a:prstGeom prst="line">
              <a:avLst/>
            </a:prstGeom>
            <a:noFill/>
            <a:ln w="1270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9FED52FC-A752-F33F-DB36-2F825B74C0CA}"/>
                </a:ext>
              </a:extLst>
            </p:cNvPr>
            <p:cNvCxnSpPr/>
            <p:nvPr/>
          </p:nvCxnSpPr>
          <p:spPr>
            <a:xfrm flipH="1" flipV="1">
              <a:off x="1703073" y="306819"/>
              <a:ext cx="0" cy="804043"/>
            </a:xfrm>
            <a:prstGeom prst="line">
              <a:avLst/>
            </a:prstGeom>
            <a:noFill/>
            <a:ln w="1270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2E64F0B5-4CF4-CA32-B6BF-0FE875504B73}"/>
                </a:ext>
              </a:extLst>
            </p:cNvPr>
            <p:cNvCxnSpPr/>
            <p:nvPr/>
          </p:nvCxnSpPr>
          <p:spPr>
            <a:xfrm flipH="1" flipV="1">
              <a:off x="1913762" y="638934"/>
              <a:ext cx="0" cy="472080"/>
            </a:xfrm>
            <a:prstGeom prst="line">
              <a:avLst/>
            </a:prstGeom>
            <a:noFill/>
            <a:ln w="12700" cap="flat" cmpd="sng" algn="ctr">
              <a:solidFill>
                <a:sysClr val="windowText" lastClr="000000"/>
              </a:solidFill>
              <a:prstDash val="solid"/>
              <a:miter lim="800000"/>
            </a:ln>
            <a:effectLst/>
          </p:spPr>
        </p:cxnSp>
        <p:cxnSp>
          <p:nvCxnSpPr>
            <p:cNvPr id="38" name="직선 연결선 37">
              <a:extLst>
                <a:ext uri="{FF2B5EF4-FFF2-40B4-BE49-F238E27FC236}">
                  <a16:creationId xmlns:a16="http://schemas.microsoft.com/office/drawing/2014/main" id="{521475F1-EEF9-1A85-076A-0050F2394881}"/>
                </a:ext>
              </a:extLst>
            </p:cNvPr>
            <p:cNvCxnSpPr/>
            <p:nvPr/>
          </p:nvCxnSpPr>
          <p:spPr>
            <a:xfrm flipV="1">
              <a:off x="2116278" y="961081"/>
              <a:ext cx="0" cy="140924"/>
            </a:xfrm>
            <a:prstGeom prst="line">
              <a:avLst/>
            </a:prstGeom>
            <a:noFill/>
            <a:ln w="12700" cap="flat" cmpd="sng" algn="ctr">
              <a:solidFill>
                <a:sysClr val="windowText" lastClr="000000"/>
              </a:solidFill>
              <a:prstDash val="solid"/>
              <a:miter lim="800000"/>
            </a:ln>
            <a:effectLst/>
          </p:spPr>
        </p:cxnSp>
        <p:cxnSp>
          <p:nvCxnSpPr>
            <p:cNvPr id="39" name="직선 연결선 38">
              <a:extLst>
                <a:ext uri="{FF2B5EF4-FFF2-40B4-BE49-F238E27FC236}">
                  <a16:creationId xmlns:a16="http://schemas.microsoft.com/office/drawing/2014/main" id="{7634D114-8EC5-1AAB-B8FE-53DEDA38FF77}"/>
                </a:ext>
              </a:extLst>
            </p:cNvPr>
            <p:cNvCxnSpPr/>
            <p:nvPr/>
          </p:nvCxnSpPr>
          <p:spPr>
            <a:xfrm>
              <a:off x="1156318" y="654220"/>
              <a:ext cx="1549711" cy="0"/>
            </a:xfrm>
            <a:prstGeom prst="line">
              <a:avLst/>
            </a:prstGeom>
            <a:noFill/>
            <a:ln w="12700" cap="flat" cmpd="sng" algn="ctr">
              <a:solidFill>
                <a:sysClr val="windowText" lastClr="000000"/>
              </a:solidFill>
              <a:prstDash val="solid"/>
              <a:miter lim="800000"/>
            </a:ln>
            <a:effectLst/>
          </p:spPr>
        </p:cxnSp>
        <p:cxnSp>
          <p:nvCxnSpPr>
            <p:cNvPr id="40" name="직선 연결선 39">
              <a:extLst>
                <a:ext uri="{FF2B5EF4-FFF2-40B4-BE49-F238E27FC236}">
                  <a16:creationId xmlns:a16="http://schemas.microsoft.com/office/drawing/2014/main" id="{715FCE9B-EB35-75F4-BDA4-C3826B31CA6F}"/>
                </a:ext>
              </a:extLst>
            </p:cNvPr>
            <p:cNvCxnSpPr/>
            <p:nvPr/>
          </p:nvCxnSpPr>
          <p:spPr>
            <a:xfrm>
              <a:off x="1372117" y="306765"/>
              <a:ext cx="1117234" cy="0"/>
            </a:xfrm>
            <a:prstGeom prst="line">
              <a:avLst/>
            </a:prstGeom>
            <a:noFill/>
            <a:ln w="12700" cap="flat" cmpd="sng" algn="ctr">
              <a:solidFill>
                <a:sysClr val="windowText" lastClr="000000"/>
              </a:solidFill>
              <a:prstDash val="solid"/>
              <a:miter lim="800000"/>
            </a:ln>
            <a:effectLst/>
          </p:spPr>
        </p:cxnSp>
        <p:cxnSp>
          <p:nvCxnSpPr>
            <p:cNvPr id="41" name="직선 연결선 40">
              <a:extLst>
                <a:ext uri="{FF2B5EF4-FFF2-40B4-BE49-F238E27FC236}">
                  <a16:creationId xmlns:a16="http://schemas.microsoft.com/office/drawing/2014/main" id="{CF66C762-5FDE-3E35-300E-720C4FEF89D0}"/>
                </a:ext>
              </a:extLst>
            </p:cNvPr>
            <p:cNvCxnSpPr/>
            <p:nvPr/>
          </p:nvCxnSpPr>
          <p:spPr>
            <a:xfrm>
              <a:off x="164286" y="977230"/>
              <a:ext cx="396438" cy="0"/>
            </a:xfrm>
            <a:prstGeom prst="line">
              <a:avLst/>
            </a:prstGeom>
            <a:noFill/>
            <a:ln w="12700" cap="flat" cmpd="sng" algn="ctr">
              <a:solidFill>
                <a:sysClr val="windowText" lastClr="000000"/>
              </a:solidFill>
              <a:prstDash val="solid"/>
              <a:miter lim="800000"/>
            </a:ln>
            <a:effectLst/>
          </p:spPr>
        </p:cxnSp>
        <p:cxnSp>
          <p:nvCxnSpPr>
            <p:cNvPr id="42" name="직선 연결선 41">
              <a:extLst>
                <a:ext uri="{FF2B5EF4-FFF2-40B4-BE49-F238E27FC236}">
                  <a16:creationId xmlns:a16="http://schemas.microsoft.com/office/drawing/2014/main" id="{BF1A8409-617E-5AAB-2B18-289FFB13F470}"/>
                </a:ext>
              </a:extLst>
            </p:cNvPr>
            <p:cNvCxnSpPr/>
            <p:nvPr/>
          </p:nvCxnSpPr>
          <p:spPr>
            <a:xfrm>
              <a:off x="139767" y="657609"/>
              <a:ext cx="720796" cy="0"/>
            </a:xfrm>
            <a:prstGeom prst="line">
              <a:avLst/>
            </a:prstGeom>
            <a:noFill/>
            <a:ln w="12700" cap="flat" cmpd="sng" algn="ctr">
              <a:solidFill>
                <a:sysClr val="windowText" lastClr="000000"/>
              </a:solidFill>
              <a:prstDash val="solid"/>
              <a:miter lim="800000"/>
            </a:ln>
            <a:effectLst/>
          </p:spPr>
        </p:cxnSp>
        <p:cxnSp>
          <p:nvCxnSpPr>
            <p:cNvPr id="43" name="직선 연결선 42">
              <a:extLst>
                <a:ext uri="{FF2B5EF4-FFF2-40B4-BE49-F238E27FC236}">
                  <a16:creationId xmlns:a16="http://schemas.microsoft.com/office/drawing/2014/main" id="{85DC98F8-E200-E366-45CA-A86D7DAD8701}"/>
                </a:ext>
              </a:extLst>
            </p:cNvPr>
            <p:cNvCxnSpPr/>
            <p:nvPr/>
          </p:nvCxnSpPr>
          <p:spPr>
            <a:xfrm>
              <a:off x="1694231" y="1379209"/>
              <a:ext cx="432478" cy="0"/>
            </a:xfrm>
            <a:prstGeom prst="line">
              <a:avLst/>
            </a:prstGeom>
            <a:noFill/>
            <a:ln w="12700" cap="flat" cmpd="sng" algn="ctr">
              <a:solidFill>
                <a:sysClr val="windowText" lastClr="000000"/>
              </a:solidFill>
              <a:prstDash val="solid"/>
              <a:miter lim="800000"/>
            </a:ln>
            <a:effectLst/>
          </p:spPr>
        </p:cxnSp>
        <p:cxnSp>
          <p:nvCxnSpPr>
            <p:cNvPr id="44" name="직선 연결선 43">
              <a:extLst>
                <a:ext uri="{FF2B5EF4-FFF2-40B4-BE49-F238E27FC236}">
                  <a16:creationId xmlns:a16="http://schemas.microsoft.com/office/drawing/2014/main" id="{187D7C34-9C19-99A9-4BDE-6424C8ED1F0A}"/>
                </a:ext>
              </a:extLst>
            </p:cNvPr>
            <p:cNvCxnSpPr/>
            <p:nvPr/>
          </p:nvCxnSpPr>
          <p:spPr>
            <a:xfrm flipH="1">
              <a:off x="970196" y="803689"/>
              <a:ext cx="0" cy="708120"/>
            </a:xfrm>
            <a:prstGeom prst="line">
              <a:avLst/>
            </a:prstGeom>
            <a:noFill/>
            <a:ln w="6350" cap="flat" cmpd="sng" algn="ctr">
              <a:solidFill>
                <a:sysClr val="windowText" lastClr="000000"/>
              </a:solidFill>
              <a:prstDash val="solid"/>
              <a:miter lim="800000"/>
            </a:ln>
            <a:effectLst/>
          </p:spPr>
        </p:cxnSp>
        <p:cxnSp>
          <p:nvCxnSpPr>
            <p:cNvPr id="45" name="직선 연결선 44">
              <a:extLst>
                <a:ext uri="{FF2B5EF4-FFF2-40B4-BE49-F238E27FC236}">
                  <a16:creationId xmlns:a16="http://schemas.microsoft.com/office/drawing/2014/main" id="{058B3919-97EE-6605-3B68-7AEDDD3C5049}"/>
                </a:ext>
              </a:extLst>
            </p:cNvPr>
            <p:cNvCxnSpPr/>
            <p:nvPr/>
          </p:nvCxnSpPr>
          <p:spPr>
            <a:xfrm flipH="1">
              <a:off x="1204497" y="472442"/>
              <a:ext cx="0" cy="1270985"/>
            </a:xfrm>
            <a:prstGeom prst="line">
              <a:avLst/>
            </a:prstGeom>
            <a:noFill/>
            <a:ln w="6350" cap="flat" cmpd="sng" algn="ctr">
              <a:solidFill>
                <a:sysClr val="windowText" lastClr="000000"/>
              </a:solidFill>
              <a:prstDash val="solid"/>
              <a:miter lim="800000"/>
            </a:ln>
            <a:effectLst/>
          </p:spPr>
        </p:cxnSp>
        <p:cxnSp>
          <p:nvCxnSpPr>
            <p:cNvPr id="46" name="직선 연결선 45">
              <a:extLst>
                <a:ext uri="{FF2B5EF4-FFF2-40B4-BE49-F238E27FC236}">
                  <a16:creationId xmlns:a16="http://schemas.microsoft.com/office/drawing/2014/main" id="{2088DF5D-F478-3A55-0E10-256DB08DFE98}"/>
                </a:ext>
              </a:extLst>
            </p:cNvPr>
            <p:cNvCxnSpPr/>
            <p:nvPr/>
          </p:nvCxnSpPr>
          <p:spPr>
            <a:xfrm>
              <a:off x="200091" y="1743451"/>
              <a:ext cx="1009114" cy="0"/>
            </a:xfrm>
            <a:prstGeom prst="line">
              <a:avLst/>
            </a:prstGeom>
            <a:noFill/>
            <a:ln w="6350" cap="flat" cmpd="sng" algn="ctr">
              <a:solidFill>
                <a:sysClr val="windowText" lastClr="000000"/>
              </a:solidFill>
              <a:prstDash val="solid"/>
              <a:miter lim="800000"/>
            </a:ln>
            <a:effectLst/>
          </p:spPr>
        </p:cxnSp>
        <p:cxnSp>
          <p:nvCxnSpPr>
            <p:cNvPr id="47" name="직선 연결선 46">
              <a:extLst>
                <a:ext uri="{FF2B5EF4-FFF2-40B4-BE49-F238E27FC236}">
                  <a16:creationId xmlns:a16="http://schemas.microsoft.com/office/drawing/2014/main" id="{A7584350-A235-5900-DC9F-8201A6835162}"/>
                </a:ext>
              </a:extLst>
            </p:cNvPr>
            <p:cNvCxnSpPr/>
            <p:nvPr/>
          </p:nvCxnSpPr>
          <p:spPr>
            <a:xfrm>
              <a:off x="189193" y="1512860"/>
              <a:ext cx="792876" cy="0"/>
            </a:xfrm>
            <a:prstGeom prst="line">
              <a:avLst/>
            </a:prstGeom>
            <a:noFill/>
            <a:ln w="6350" cap="flat" cmpd="sng" algn="ctr">
              <a:solidFill>
                <a:sysClr val="windowText" lastClr="000000"/>
              </a:solidFill>
              <a:prstDash val="solid"/>
              <a:miter lim="800000"/>
            </a:ln>
            <a:effectLst/>
          </p:spPr>
        </p:cxnSp>
        <p:cxnSp>
          <p:nvCxnSpPr>
            <p:cNvPr id="48" name="직선 연결선 47">
              <a:extLst>
                <a:ext uri="{FF2B5EF4-FFF2-40B4-BE49-F238E27FC236}">
                  <a16:creationId xmlns:a16="http://schemas.microsoft.com/office/drawing/2014/main" id="{80DBFD00-A0EF-42A3-3152-C52942E2E74D}"/>
                </a:ext>
              </a:extLst>
            </p:cNvPr>
            <p:cNvCxnSpPr/>
            <p:nvPr/>
          </p:nvCxnSpPr>
          <p:spPr>
            <a:xfrm>
              <a:off x="169214" y="1286840"/>
              <a:ext cx="594657" cy="0"/>
            </a:xfrm>
            <a:prstGeom prst="line">
              <a:avLst/>
            </a:prstGeom>
            <a:noFill/>
            <a:ln w="6350" cap="flat" cmpd="sng" algn="ctr">
              <a:solidFill>
                <a:sysClr val="windowText" lastClr="000000"/>
              </a:solidFill>
              <a:prstDash val="solid"/>
              <a:miter lim="800000"/>
            </a:ln>
            <a:effectLst/>
          </p:spPr>
        </p:cxnSp>
        <p:sp>
          <p:nvSpPr>
            <p:cNvPr id="49" name="TextBox 28">
              <a:extLst>
                <a:ext uri="{FF2B5EF4-FFF2-40B4-BE49-F238E27FC236}">
                  <a16:creationId xmlns:a16="http://schemas.microsoft.com/office/drawing/2014/main" id="{4A66B44B-838E-D888-153C-7216582F8E71}"/>
                </a:ext>
              </a:extLst>
            </p:cNvPr>
            <p:cNvSpPr txBox="1"/>
            <p:nvPr/>
          </p:nvSpPr>
          <p:spPr>
            <a:xfrm>
              <a:off x="204632" y="1140776"/>
              <a:ext cx="304202" cy="14210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0" name="TextBox 29">
              <a:extLst>
                <a:ext uri="{FF2B5EF4-FFF2-40B4-BE49-F238E27FC236}">
                  <a16:creationId xmlns:a16="http://schemas.microsoft.com/office/drawing/2014/main" id="{AA3DEBA3-98F9-BAC7-5F71-2A2BD531973D}"/>
                </a:ext>
              </a:extLst>
            </p:cNvPr>
            <p:cNvSpPr txBox="1"/>
            <p:nvPr/>
          </p:nvSpPr>
          <p:spPr>
            <a:xfrm>
              <a:off x="207356" y="1367708"/>
              <a:ext cx="304202" cy="14210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1" name="TextBox 30">
              <a:extLst>
                <a:ext uri="{FF2B5EF4-FFF2-40B4-BE49-F238E27FC236}">
                  <a16:creationId xmlns:a16="http://schemas.microsoft.com/office/drawing/2014/main" id="{E1BB1E2E-D6F6-0B7C-6BDF-C95FF5B08455}"/>
                </a:ext>
              </a:extLst>
            </p:cNvPr>
            <p:cNvSpPr txBox="1"/>
            <p:nvPr/>
          </p:nvSpPr>
          <p:spPr>
            <a:xfrm>
              <a:off x="219161" y="1594640"/>
              <a:ext cx="304202" cy="14210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2" name="TextBox 31">
              <a:extLst>
                <a:ext uri="{FF2B5EF4-FFF2-40B4-BE49-F238E27FC236}">
                  <a16:creationId xmlns:a16="http://schemas.microsoft.com/office/drawing/2014/main" id="{8158743B-BF17-CF63-486A-D59AD874D618}"/>
                </a:ext>
              </a:extLst>
            </p:cNvPr>
            <p:cNvSpPr txBox="1"/>
            <p:nvPr/>
          </p:nvSpPr>
          <p:spPr>
            <a:xfrm>
              <a:off x="166490" y="155265"/>
              <a:ext cx="303945" cy="14210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3" name="TextBox 32">
              <a:extLst>
                <a:ext uri="{FF2B5EF4-FFF2-40B4-BE49-F238E27FC236}">
                  <a16:creationId xmlns:a16="http://schemas.microsoft.com/office/drawing/2014/main" id="{ECCF26D0-6B34-9536-346F-84603C6BBBFE}"/>
                </a:ext>
              </a:extLst>
            </p:cNvPr>
            <p:cNvSpPr txBox="1"/>
            <p:nvPr/>
          </p:nvSpPr>
          <p:spPr>
            <a:xfrm>
              <a:off x="169214" y="492007"/>
              <a:ext cx="303945" cy="14210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TextBox 33">
              <a:extLst>
                <a:ext uri="{FF2B5EF4-FFF2-40B4-BE49-F238E27FC236}">
                  <a16:creationId xmlns:a16="http://schemas.microsoft.com/office/drawing/2014/main" id="{E158FF9F-A7AF-9438-46B5-83598D6E01EE}"/>
                </a:ext>
              </a:extLst>
            </p:cNvPr>
            <p:cNvSpPr txBox="1"/>
            <p:nvPr/>
          </p:nvSpPr>
          <p:spPr>
            <a:xfrm>
              <a:off x="181019" y="815018"/>
              <a:ext cx="303945" cy="14210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5" name="TextBox 34">
              <a:extLst>
                <a:ext uri="{FF2B5EF4-FFF2-40B4-BE49-F238E27FC236}">
                  <a16:creationId xmlns:a16="http://schemas.microsoft.com/office/drawing/2014/main" id="{078C3BA9-7639-205E-7FE7-2F574F72418D}"/>
                </a:ext>
              </a:extLst>
            </p:cNvPr>
            <p:cNvSpPr txBox="1"/>
            <p:nvPr/>
          </p:nvSpPr>
          <p:spPr>
            <a:xfrm>
              <a:off x="1817499" y="1640393"/>
              <a:ext cx="194627" cy="14210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57" name="직선 연결선 56">
              <a:extLst>
                <a:ext uri="{FF2B5EF4-FFF2-40B4-BE49-F238E27FC236}">
                  <a16:creationId xmlns:a16="http://schemas.microsoft.com/office/drawing/2014/main" id="{BB9EFD2D-58D9-A172-7E3E-88E7C4594DBE}"/>
                </a:ext>
              </a:extLst>
            </p:cNvPr>
            <p:cNvCxnSpPr/>
            <p:nvPr/>
          </p:nvCxnSpPr>
          <p:spPr>
            <a:xfrm>
              <a:off x="2399836" y="1224615"/>
              <a:ext cx="195252" cy="0"/>
            </a:xfrm>
            <a:prstGeom prst="line">
              <a:avLst/>
            </a:prstGeom>
            <a:noFill/>
            <a:ln w="19050" cap="flat" cmpd="sng" algn="ctr">
              <a:solidFill>
                <a:sysClr val="windowText" lastClr="000000"/>
              </a:solidFill>
              <a:prstDash val="solid"/>
              <a:miter lim="800000"/>
            </a:ln>
            <a:effectLst/>
          </p:spPr>
        </p:cxnSp>
        <p:cxnSp>
          <p:nvCxnSpPr>
            <p:cNvPr id="59" name="직선 연결선 58">
              <a:extLst>
                <a:ext uri="{FF2B5EF4-FFF2-40B4-BE49-F238E27FC236}">
                  <a16:creationId xmlns:a16="http://schemas.microsoft.com/office/drawing/2014/main" id="{2BBEFEE3-6AB2-1FF9-C856-2B6CB04D4882}"/>
                </a:ext>
              </a:extLst>
            </p:cNvPr>
            <p:cNvCxnSpPr/>
            <p:nvPr/>
          </p:nvCxnSpPr>
          <p:spPr>
            <a:xfrm>
              <a:off x="2613940" y="1224614"/>
              <a:ext cx="195252" cy="0"/>
            </a:xfrm>
            <a:prstGeom prst="line">
              <a:avLst/>
            </a:prstGeom>
            <a:noFill/>
            <a:ln w="19050" cap="flat" cmpd="sng" algn="ctr">
              <a:solidFill>
                <a:sysClr val="windowText" lastClr="000000"/>
              </a:solidFill>
              <a:prstDash val="solid"/>
              <a:miter lim="800000"/>
            </a:ln>
            <a:effectLst/>
          </p:spPr>
        </p:cxnSp>
        <p:cxnSp>
          <p:nvCxnSpPr>
            <p:cNvPr id="61" name="직선 연결선 60">
              <a:extLst>
                <a:ext uri="{FF2B5EF4-FFF2-40B4-BE49-F238E27FC236}">
                  <a16:creationId xmlns:a16="http://schemas.microsoft.com/office/drawing/2014/main" id="{C07CEA54-66C1-D8E7-0512-1B9A94DE5BDF}"/>
                </a:ext>
              </a:extLst>
            </p:cNvPr>
            <p:cNvCxnSpPr/>
            <p:nvPr/>
          </p:nvCxnSpPr>
          <p:spPr>
            <a:xfrm>
              <a:off x="2830075" y="1220685"/>
              <a:ext cx="195252" cy="0"/>
            </a:xfrm>
            <a:prstGeom prst="line">
              <a:avLst/>
            </a:prstGeom>
            <a:noFill/>
            <a:ln w="19050" cap="flat" cmpd="sng" algn="ctr">
              <a:solidFill>
                <a:sysClr val="windowText" lastClr="000000"/>
              </a:solidFill>
              <a:prstDash val="solid"/>
              <a:miter lim="800000"/>
            </a:ln>
            <a:effectLst/>
          </p:spPr>
        </p:cxnSp>
        <p:cxnSp>
          <p:nvCxnSpPr>
            <p:cNvPr id="62" name="직선 연결선 61">
              <a:extLst>
                <a:ext uri="{FF2B5EF4-FFF2-40B4-BE49-F238E27FC236}">
                  <a16:creationId xmlns:a16="http://schemas.microsoft.com/office/drawing/2014/main" id="{89EBFF8E-0EDE-55C6-56B3-5B109B45E0D8}"/>
                </a:ext>
              </a:extLst>
            </p:cNvPr>
            <p:cNvCxnSpPr/>
            <p:nvPr/>
          </p:nvCxnSpPr>
          <p:spPr>
            <a:xfrm flipH="1" flipV="1">
              <a:off x="2498890" y="1230971"/>
              <a:ext cx="0" cy="145255"/>
            </a:xfrm>
            <a:prstGeom prst="line">
              <a:avLst/>
            </a:prstGeom>
            <a:noFill/>
            <a:ln w="12700" cap="flat" cmpd="sng" algn="ctr">
              <a:solidFill>
                <a:sysClr val="windowText" lastClr="000000"/>
              </a:solidFill>
              <a:prstDash val="solid"/>
              <a:miter lim="800000"/>
            </a:ln>
            <a:effectLst/>
          </p:spPr>
        </p:cxnSp>
        <p:cxnSp>
          <p:nvCxnSpPr>
            <p:cNvPr id="63" name="직선 연결선 62">
              <a:extLst>
                <a:ext uri="{FF2B5EF4-FFF2-40B4-BE49-F238E27FC236}">
                  <a16:creationId xmlns:a16="http://schemas.microsoft.com/office/drawing/2014/main" id="{C76E3A60-2181-C2D9-8436-304A609686D2}"/>
                </a:ext>
              </a:extLst>
            </p:cNvPr>
            <p:cNvCxnSpPr/>
            <p:nvPr/>
          </p:nvCxnSpPr>
          <p:spPr>
            <a:xfrm flipH="1" flipV="1">
              <a:off x="2708389" y="1233716"/>
              <a:ext cx="0" cy="363139"/>
            </a:xfrm>
            <a:prstGeom prst="line">
              <a:avLst/>
            </a:prstGeom>
            <a:noFill/>
            <a:ln w="12700" cap="flat" cmpd="sng" algn="ctr">
              <a:solidFill>
                <a:sysClr val="windowText" lastClr="000000"/>
              </a:solidFill>
              <a:prstDash val="solid"/>
              <a:miter lim="800000"/>
            </a:ln>
            <a:effectLst/>
          </p:spPr>
        </p:cxnSp>
        <p:cxnSp>
          <p:nvCxnSpPr>
            <p:cNvPr id="64" name="직선 연결선 63">
              <a:extLst>
                <a:ext uri="{FF2B5EF4-FFF2-40B4-BE49-F238E27FC236}">
                  <a16:creationId xmlns:a16="http://schemas.microsoft.com/office/drawing/2014/main" id="{F2A6AD13-83FA-18A2-93F6-9246F8EFA4AD}"/>
                </a:ext>
              </a:extLst>
            </p:cNvPr>
            <p:cNvCxnSpPr/>
            <p:nvPr/>
          </p:nvCxnSpPr>
          <p:spPr>
            <a:xfrm flipH="1" flipV="1">
              <a:off x="2919986" y="1227310"/>
              <a:ext cx="0" cy="145255"/>
            </a:xfrm>
            <a:prstGeom prst="line">
              <a:avLst/>
            </a:prstGeom>
            <a:noFill/>
            <a:ln w="12700" cap="flat" cmpd="sng" algn="ctr">
              <a:solidFill>
                <a:sysClr val="windowText" lastClr="000000"/>
              </a:solidFill>
              <a:prstDash val="solid"/>
              <a:miter lim="800000"/>
            </a:ln>
            <a:effectLst/>
          </p:spPr>
        </p:cxnSp>
        <p:cxnSp>
          <p:nvCxnSpPr>
            <p:cNvPr id="65" name="직선 연결선 64">
              <a:extLst>
                <a:ext uri="{FF2B5EF4-FFF2-40B4-BE49-F238E27FC236}">
                  <a16:creationId xmlns:a16="http://schemas.microsoft.com/office/drawing/2014/main" id="{00D27F0B-A2AC-13E7-724B-C46F9E1056F5}"/>
                </a:ext>
              </a:extLst>
            </p:cNvPr>
            <p:cNvCxnSpPr/>
            <p:nvPr/>
          </p:nvCxnSpPr>
          <p:spPr>
            <a:xfrm flipH="1" flipV="1">
              <a:off x="2497699" y="305098"/>
              <a:ext cx="0" cy="806788"/>
            </a:xfrm>
            <a:prstGeom prst="line">
              <a:avLst/>
            </a:prstGeom>
            <a:noFill/>
            <a:ln w="12700" cap="flat" cmpd="sng" algn="ctr">
              <a:solidFill>
                <a:sysClr val="windowText" lastClr="000000"/>
              </a:solidFill>
              <a:prstDash val="solid"/>
              <a:miter lim="800000"/>
            </a:ln>
            <a:effectLst/>
          </p:spPr>
        </p:cxnSp>
        <p:cxnSp>
          <p:nvCxnSpPr>
            <p:cNvPr id="66" name="직선 연결선 65">
              <a:extLst>
                <a:ext uri="{FF2B5EF4-FFF2-40B4-BE49-F238E27FC236}">
                  <a16:creationId xmlns:a16="http://schemas.microsoft.com/office/drawing/2014/main" id="{1F515B87-B52B-C1E4-5139-55839B15E447}"/>
                </a:ext>
              </a:extLst>
            </p:cNvPr>
            <p:cNvCxnSpPr/>
            <p:nvPr/>
          </p:nvCxnSpPr>
          <p:spPr>
            <a:xfrm flipH="1" flipV="1">
              <a:off x="2711114" y="647009"/>
              <a:ext cx="0" cy="472080"/>
            </a:xfrm>
            <a:prstGeom prst="line">
              <a:avLst/>
            </a:prstGeom>
            <a:noFill/>
            <a:ln w="12700" cap="flat" cmpd="sng" algn="ctr">
              <a:solidFill>
                <a:sysClr val="windowText" lastClr="000000"/>
              </a:solidFill>
              <a:prstDash val="solid"/>
              <a:miter lim="800000"/>
            </a:ln>
            <a:effectLst/>
          </p:spPr>
        </p:cxnSp>
        <p:cxnSp>
          <p:nvCxnSpPr>
            <p:cNvPr id="67" name="직선 연결선 66">
              <a:extLst>
                <a:ext uri="{FF2B5EF4-FFF2-40B4-BE49-F238E27FC236}">
                  <a16:creationId xmlns:a16="http://schemas.microsoft.com/office/drawing/2014/main" id="{ED64E28D-9488-F067-9813-9B9BC6CA3359}"/>
                </a:ext>
              </a:extLst>
            </p:cNvPr>
            <p:cNvCxnSpPr/>
            <p:nvPr/>
          </p:nvCxnSpPr>
          <p:spPr>
            <a:xfrm>
              <a:off x="2491583" y="1372804"/>
              <a:ext cx="432478" cy="0"/>
            </a:xfrm>
            <a:prstGeom prst="line">
              <a:avLst/>
            </a:prstGeom>
            <a:noFill/>
            <a:ln w="12700" cap="flat" cmpd="sng" algn="ctr">
              <a:solidFill>
                <a:sysClr val="windowText" lastClr="000000"/>
              </a:solidFill>
              <a:prstDash val="solid"/>
              <a:miter lim="800000"/>
            </a:ln>
            <a:effectLst/>
          </p:spPr>
        </p:cxnSp>
        <p:sp>
          <p:nvSpPr>
            <p:cNvPr id="68" name="TextBox 42">
              <a:extLst>
                <a:ext uri="{FF2B5EF4-FFF2-40B4-BE49-F238E27FC236}">
                  <a16:creationId xmlns:a16="http://schemas.microsoft.com/office/drawing/2014/main" id="{431DF3E6-4BB1-2BAD-BC48-40F085544EFD}"/>
                </a:ext>
              </a:extLst>
            </p:cNvPr>
            <p:cNvSpPr txBox="1"/>
            <p:nvPr/>
          </p:nvSpPr>
          <p:spPr>
            <a:xfrm>
              <a:off x="2573984" y="1633987"/>
              <a:ext cx="311711" cy="14210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9" name="타원 68">
              <a:extLst>
                <a:ext uri="{FF2B5EF4-FFF2-40B4-BE49-F238E27FC236}">
                  <a16:creationId xmlns:a16="http://schemas.microsoft.com/office/drawing/2014/main" id="{935205AC-85E4-2B14-98B5-39AAB616A8E5}"/>
                </a:ext>
              </a:extLst>
            </p:cNvPr>
            <p:cNvSpPr/>
            <p:nvPr/>
          </p:nvSpPr>
          <p:spPr>
            <a:xfrm>
              <a:off x="2084493" y="942779"/>
              <a:ext cx="72080" cy="72628"/>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타원 69">
              <a:extLst>
                <a:ext uri="{FF2B5EF4-FFF2-40B4-BE49-F238E27FC236}">
                  <a16:creationId xmlns:a16="http://schemas.microsoft.com/office/drawing/2014/main" id="{0D8255C3-355A-D8EC-4DF2-0D9F25ED57B6}"/>
                </a:ext>
              </a:extLst>
            </p:cNvPr>
            <p:cNvSpPr/>
            <p:nvPr/>
          </p:nvSpPr>
          <p:spPr>
            <a:xfrm>
              <a:off x="1878344" y="625257"/>
              <a:ext cx="72080" cy="72628"/>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1" name="타원 70">
              <a:extLst>
                <a:ext uri="{FF2B5EF4-FFF2-40B4-BE49-F238E27FC236}">
                  <a16:creationId xmlns:a16="http://schemas.microsoft.com/office/drawing/2014/main" id="{BCEB7344-068B-487D-E023-A6E80910CE06}"/>
                </a:ext>
              </a:extLst>
            </p:cNvPr>
            <p:cNvSpPr/>
            <p:nvPr/>
          </p:nvSpPr>
          <p:spPr>
            <a:xfrm>
              <a:off x="1667655" y="266557"/>
              <a:ext cx="72080" cy="72628"/>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2" name="타원 71">
              <a:extLst>
                <a:ext uri="{FF2B5EF4-FFF2-40B4-BE49-F238E27FC236}">
                  <a16:creationId xmlns:a16="http://schemas.microsoft.com/office/drawing/2014/main" id="{24075E9A-6338-226C-117A-C066C52BAC45}"/>
                </a:ext>
              </a:extLst>
            </p:cNvPr>
            <p:cNvSpPr/>
            <p:nvPr/>
          </p:nvSpPr>
          <p:spPr>
            <a:xfrm>
              <a:off x="1873803" y="1348148"/>
              <a:ext cx="72080" cy="72628"/>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3" name="타원 72">
              <a:extLst>
                <a:ext uri="{FF2B5EF4-FFF2-40B4-BE49-F238E27FC236}">
                  <a16:creationId xmlns:a16="http://schemas.microsoft.com/office/drawing/2014/main" id="{0BD02FF9-AFAB-BFAE-BA80-A4F39F12AA3D}"/>
                </a:ext>
              </a:extLst>
            </p:cNvPr>
            <p:cNvSpPr/>
            <p:nvPr/>
          </p:nvSpPr>
          <p:spPr>
            <a:xfrm>
              <a:off x="2675696" y="1350893"/>
              <a:ext cx="72080" cy="72628"/>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4" name="직선 연결선 73">
              <a:extLst>
                <a:ext uri="{FF2B5EF4-FFF2-40B4-BE49-F238E27FC236}">
                  <a16:creationId xmlns:a16="http://schemas.microsoft.com/office/drawing/2014/main" id="{A555CFD1-39FC-D698-23F2-7D086A5FEA92}"/>
                </a:ext>
              </a:extLst>
            </p:cNvPr>
            <p:cNvCxnSpPr/>
            <p:nvPr/>
          </p:nvCxnSpPr>
          <p:spPr>
            <a:xfrm flipV="1">
              <a:off x="2913629" y="977551"/>
              <a:ext cx="0" cy="140924"/>
            </a:xfrm>
            <a:prstGeom prst="line">
              <a:avLst/>
            </a:prstGeom>
            <a:noFill/>
            <a:ln w="12700" cap="flat" cmpd="sng" algn="ctr">
              <a:solidFill>
                <a:sysClr val="windowText" lastClr="000000"/>
              </a:solidFill>
              <a:prstDash val="solid"/>
              <a:miter lim="800000"/>
            </a:ln>
            <a:effectLst/>
          </p:spPr>
        </p:cxnSp>
        <p:sp>
          <p:nvSpPr>
            <p:cNvPr id="75" name="TextBox 3">
              <a:extLst>
                <a:ext uri="{FF2B5EF4-FFF2-40B4-BE49-F238E27FC236}">
                  <a16:creationId xmlns:a16="http://schemas.microsoft.com/office/drawing/2014/main" id="{BD2BA0CB-1D43-106B-ECF8-38CE215BD957}"/>
                </a:ext>
              </a:extLst>
            </p:cNvPr>
            <p:cNvSpPr txBox="1"/>
            <p:nvPr/>
          </p:nvSpPr>
          <p:spPr>
            <a:xfrm>
              <a:off x="1417006" y="58419"/>
              <a:ext cx="673839" cy="172227"/>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01</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6" name="직사각형 75">
              <a:extLst>
                <a:ext uri="{FF2B5EF4-FFF2-40B4-BE49-F238E27FC236}">
                  <a16:creationId xmlns:a16="http://schemas.microsoft.com/office/drawing/2014/main" id="{3A6DDA93-DE3F-4181-9C65-01221A9BC5EB}"/>
                </a:ext>
              </a:extLst>
            </p:cNvPr>
            <p:cNvSpPr/>
            <p:nvPr/>
          </p:nvSpPr>
          <p:spPr>
            <a:xfrm>
              <a:off x="0" y="0"/>
              <a:ext cx="3273732" cy="2421071"/>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7" name="TextBox 262">
              <a:extLst>
                <a:ext uri="{FF2B5EF4-FFF2-40B4-BE49-F238E27FC236}">
                  <a16:creationId xmlns:a16="http://schemas.microsoft.com/office/drawing/2014/main" id="{8CA05F9B-ABDE-4395-A055-9B6F08FB4F8C}"/>
                </a:ext>
              </a:extLst>
            </p:cNvPr>
            <p:cNvSpPr txBox="1"/>
            <p:nvPr/>
          </p:nvSpPr>
          <p:spPr>
            <a:xfrm>
              <a:off x="2155854" y="1904895"/>
              <a:ext cx="387630" cy="177076"/>
            </a:xfrm>
            <a:prstGeom prst="rect">
              <a:avLst/>
            </a:prstGeom>
            <a:solidFill>
              <a:sysClr val="window" lastClr="FFFFFF"/>
            </a:solidFill>
            <a:ln>
              <a:noFill/>
            </a:ln>
            <a:effectLst/>
          </p:spPr>
          <p:txBody>
            <a:bodyPr wrap="none" lIns="0" tIns="0" rIns="0" bIns="0" rtlCol="0" anchor="ctr" anchorCtr="0">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grpSp>
      <p:cxnSp>
        <p:nvCxnSpPr>
          <p:cNvPr id="2" name="직선 연결선 1">
            <a:extLst>
              <a:ext uri="{FF2B5EF4-FFF2-40B4-BE49-F238E27FC236}">
                <a16:creationId xmlns:a16="http://schemas.microsoft.com/office/drawing/2014/main" id="{649A77B1-12FC-E25F-E078-A19C3B7CD20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A75925-4668-55E6-EACB-FA7F9BC2108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BCC06B23-F551-F495-6384-FAFB84AE4DCF}"/>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47" name="TextBox 146">
            <a:extLst>
              <a:ext uri="{FF2B5EF4-FFF2-40B4-BE49-F238E27FC236}">
                <a16:creationId xmlns:a16="http://schemas.microsoft.com/office/drawing/2014/main" id="{33AC622E-F69F-9E5A-620E-7F66A5BCF37E}"/>
              </a:ext>
            </a:extLst>
          </p:cNvPr>
          <p:cNvSpPr txBox="1"/>
          <p:nvPr/>
        </p:nvSpPr>
        <p:spPr>
          <a:xfrm>
            <a:off x="407554" y="2019707"/>
            <a:ext cx="6047999" cy="615553"/>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3-Type RGB dimming methods. The TYPE-1 can dim #3 LED (RGB) on 1-ch. Each RGB dimming and VREF1/2/3 can be separated by SVI interval. PWM dimming is generated in the SVI low section. Because XCR can independently adjust SVI interval, #3 LED PWM dimming time and VREF1/2/3 active time can be independently adjusted.</a:t>
            </a:r>
          </a:p>
        </p:txBody>
      </p:sp>
      <p:sp>
        <p:nvSpPr>
          <p:cNvPr id="148" name="TextBox 147">
            <a:extLst>
              <a:ext uri="{FF2B5EF4-FFF2-40B4-BE49-F238E27FC236}">
                <a16:creationId xmlns:a16="http://schemas.microsoft.com/office/drawing/2014/main" id="{382EF4DC-6D0B-90DF-1B20-6B6EF4F841D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214" name="TextBox 213">
            <a:extLst>
              <a:ext uri="{FF2B5EF4-FFF2-40B4-BE49-F238E27FC236}">
                <a16:creationId xmlns:a16="http://schemas.microsoft.com/office/drawing/2014/main" id="{CD7E7CA0-8943-0AA4-82A4-7E2C85DF074A}"/>
              </a:ext>
            </a:extLst>
          </p:cNvPr>
          <p:cNvSpPr txBox="1"/>
          <p:nvPr/>
        </p:nvSpPr>
        <p:spPr>
          <a:xfrm>
            <a:off x="399458" y="1711955"/>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TYPE-1 (RGB, 12CH)</a:t>
            </a:r>
          </a:p>
        </p:txBody>
      </p:sp>
      <p:sp>
        <p:nvSpPr>
          <p:cNvPr id="222" name="TextBox 221">
            <a:extLst>
              <a:ext uri="{FF2B5EF4-FFF2-40B4-BE49-F238E27FC236}">
                <a16:creationId xmlns:a16="http://schemas.microsoft.com/office/drawing/2014/main" id="{8CAD28A4-17F2-6C85-2F83-09AA438EBA4A}"/>
              </a:ext>
            </a:extLst>
          </p:cNvPr>
          <p:cNvSpPr txBox="1"/>
          <p:nvPr/>
        </p:nvSpPr>
        <p:spPr>
          <a:xfrm>
            <a:off x="1760509" y="8624888"/>
            <a:ext cx="36285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PWM Dimming sequence @ LD_TYP = 01, LD_DIR = 1</a:t>
            </a:r>
          </a:p>
        </p:txBody>
      </p:sp>
      <p:sp>
        <p:nvSpPr>
          <p:cNvPr id="78" name="이등변 삼각형 77">
            <a:extLst>
              <a:ext uri="{FF2B5EF4-FFF2-40B4-BE49-F238E27FC236}">
                <a16:creationId xmlns:a16="http://schemas.microsoft.com/office/drawing/2014/main" id="{C2E686CE-C8C6-2E83-E944-F5AE0DA123FE}"/>
              </a:ext>
            </a:extLst>
          </p:cNvPr>
          <p:cNvSpPr/>
          <p:nvPr/>
        </p:nvSpPr>
        <p:spPr>
          <a:xfrm rot="10800000">
            <a:off x="4303604" y="5239757"/>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이등변 삼각형 78">
            <a:extLst>
              <a:ext uri="{FF2B5EF4-FFF2-40B4-BE49-F238E27FC236}">
                <a16:creationId xmlns:a16="http://schemas.microsoft.com/office/drawing/2014/main" id="{C02A0D91-1FDE-C9AA-144E-D2A80D723FD3}"/>
              </a:ext>
            </a:extLst>
          </p:cNvPr>
          <p:cNvSpPr/>
          <p:nvPr/>
        </p:nvSpPr>
        <p:spPr>
          <a:xfrm rot="10800000">
            <a:off x="4502160" y="523975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BE28349B-0EB8-29E4-BFD1-92DF2E0E46A3}"/>
              </a:ext>
            </a:extLst>
          </p:cNvPr>
          <p:cNvSpPr/>
          <p:nvPr/>
        </p:nvSpPr>
        <p:spPr>
          <a:xfrm rot="10800000">
            <a:off x="4681665" y="523975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pic>
        <p:nvPicPr>
          <p:cNvPr id="58" name="그림 57">
            <a:extLst>
              <a:ext uri="{FF2B5EF4-FFF2-40B4-BE49-F238E27FC236}">
                <a16:creationId xmlns:a16="http://schemas.microsoft.com/office/drawing/2014/main" id="{3DF125AF-AD54-C58D-1C29-D74E7C2026CC}"/>
              </a:ext>
            </a:extLst>
          </p:cNvPr>
          <p:cNvPicPr>
            <a:picLocks noChangeAspect="1"/>
          </p:cNvPicPr>
          <p:nvPr/>
        </p:nvPicPr>
        <p:blipFill>
          <a:blip r:embed="rId2"/>
          <a:stretch>
            <a:fillRect/>
          </a:stretch>
        </p:blipFill>
        <p:spPr>
          <a:xfrm>
            <a:off x="245529" y="6490960"/>
            <a:ext cx="5882567" cy="1974743"/>
          </a:xfrm>
          <a:prstGeom prst="rect">
            <a:avLst/>
          </a:prstGeom>
        </p:spPr>
      </p:pic>
      <p:sp>
        <p:nvSpPr>
          <p:cNvPr id="60" name="TextBox 59">
            <a:extLst>
              <a:ext uri="{FF2B5EF4-FFF2-40B4-BE49-F238E27FC236}">
                <a16:creationId xmlns:a16="http://schemas.microsoft.com/office/drawing/2014/main" id="{9317544B-A0BD-4AE7-048C-6FA173FAF862}"/>
              </a:ext>
            </a:extLst>
          </p:cNvPr>
          <p:cNvSpPr txBox="1"/>
          <p:nvPr/>
        </p:nvSpPr>
        <p:spPr>
          <a:xfrm>
            <a:off x="2183574" y="3855714"/>
            <a:ext cx="2507097"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XD12R driving type for LED backlight</a:t>
            </a:r>
          </a:p>
        </p:txBody>
      </p:sp>
      <p:graphicFrame>
        <p:nvGraphicFramePr>
          <p:cNvPr id="81" name="표 80">
            <a:extLst>
              <a:ext uri="{FF2B5EF4-FFF2-40B4-BE49-F238E27FC236}">
                <a16:creationId xmlns:a16="http://schemas.microsoft.com/office/drawing/2014/main" id="{96929D06-B311-E7D7-2866-4B464DF8747D}"/>
              </a:ext>
            </a:extLst>
          </p:cNvPr>
          <p:cNvGraphicFramePr>
            <a:graphicFrameLocks noGrp="1"/>
          </p:cNvGraphicFramePr>
          <p:nvPr>
            <p:extLst>
              <p:ext uri="{D42A27DB-BD31-4B8C-83A1-F6EECF244321}">
                <p14:modId xmlns:p14="http://schemas.microsoft.com/office/powerpoint/2010/main" val="2091312191"/>
              </p:ext>
            </p:extLst>
          </p:nvPr>
        </p:nvGraphicFramePr>
        <p:xfrm>
          <a:off x="469992" y="2894297"/>
          <a:ext cx="5915025" cy="871410"/>
        </p:xfrm>
        <a:graphic>
          <a:graphicData uri="http://schemas.openxmlformats.org/drawingml/2006/table">
            <a:tbl>
              <a:tblPr/>
              <a:tblGrid>
                <a:gridCol w="739378">
                  <a:extLst>
                    <a:ext uri="{9D8B030D-6E8A-4147-A177-3AD203B41FA5}">
                      <a16:colId xmlns:a16="http://schemas.microsoft.com/office/drawing/2014/main" val="3132292547"/>
                    </a:ext>
                  </a:extLst>
                </a:gridCol>
                <a:gridCol w="1077380">
                  <a:extLst>
                    <a:ext uri="{9D8B030D-6E8A-4147-A177-3AD203B41FA5}">
                      <a16:colId xmlns:a16="http://schemas.microsoft.com/office/drawing/2014/main" val="3807878096"/>
                    </a:ext>
                  </a:extLst>
                </a:gridCol>
                <a:gridCol w="876691">
                  <a:extLst>
                    <a:ext uri="{9D8B030D-6E8A-4147-A177-3AD203B41FA5}">
                      <a16:colId xmlns:a16="http://schemas.microsoft.com/office/drawing/2014/main" val="4273884663"/>
                    </a:ext>
                  </a:extLst>
                </a:gridCol>
                <a:gridCol w="897816">
                  <a:extLst>
                    <a:ext uri="{9D8B030D-6E8A-4147-A177-3AD203B41FA5}">
                      <a16:colId xmlns:a16="http://schemas.microsoft.com/office/drawing/2014/main" val="123275701"/>
                    </a:ext>
                  </a:extLst>
                </a:gridCol>
                <a:gridCol w="950629">
                  <a:extLst>
                    <a:ext uri="{9D8B030D-6E8A-4147-A177-3AD203B41FA5}">
                      <a16:colId xmlns:a16="http://schemas.microsoft.com/office/drawing/2014/main" val="677468209"/>
                    </a:ext>
                  </a:extLst>
                </a:gridCol>
                <a:gridCol w="1373131">
                  <a:extLst>
                    <a:ext uri="{9D8B030D-6E8A-4147-A177-3AD203B41FA5}">
                      <a16:colId xmlns:a16="http://schemas.microsoft.com/office/drawing/2014/main" val="2073487403"/>
                    </a:ext>
                  </a:extLst>
                </a:gridCol>
              </a:tblGrid>
              <a:tr h="353845">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LD_TYPE</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LED Type</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ch. per pixel</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pixel per IC</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Full-time driving</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Time sequential driving</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655256"/>
                  </a:ext>
                </a:extLst>
              </a:tr>
              <a:tr h="174282">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FF0000"/>
                          </a:solidFill>
                          <a:effectLst/>
                          <a:latin typeface="맑은 고딕" panose="020B0503020000020004" pitchFamily="50" charset="-127"/>
                          <a:ea typeface="맑은 고딕" panose="020B0503020000020004" pitchFamily="50" charset="-127"/>
                        </a:rPr>
                        <a:t>R</a:t>
                      </a:r>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   </a:t>
                      </a:r>
                      <a:r>
                        <a:rPr lang="en-US" sz="800" b="0" i="0" u="none" strike="noStrike">
                          <a:solidFill>
                            <a:srgbClr val="000000"/>
                          </a:solidFill>
                          <a:effectLst/>
                          <a:latin typeface="맑은 고딕" panose="020B0503020000020004" pitchFamily="50" charset="-127"/>
                          <a:ea typeface="맑은 고딕" panose="020B0503020000020004" pitchFamily="50" charset="-127"/>
                        </a:rPr>
                        <a:t>/  </a:t>
                      </a:r>
                      <a:r>
                        <a:rPr lang="en-US" sz="800" b="0" i="0" u="none" strike="noStrike">
                          <a:solidFill>
                            <a:srgbClr val="0070C0"/>
                          </a:solidFill>
                          <a:effectLst/>
                          <a:latin typeface="맑은 고딕" panose="020B0503020000020004" pitchFamily="50" charset="-127"/>
                          <a:ea typeface="맑은 고딕" panose="020B0503020000020004" pitchFamily="50" charset="-127"/>
                        </a:rPr>
                        <a:t> B</a:t>
                      </a:r>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LED1/LED2/LED3</a:t>
                      </a:r>
                    </a:p>
                  </a:txBody>
                  <a:tcPr marL="5281" marR="5281" marT="5281" marB="0" anchor="b">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8523999"/>
                  </a:ext>
                </a:extLst>
              </a:tr>
              <a:tr h="169001">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a:solidFill>
                            <a:srgbClr val="FF0000"/>
                          </a:solidFill>
                          <a:effectLst/>
                          <a:latin typeface="맑은 고딕" panose="020B0503020000020004" pitchFamily="50" charset="-127"/>
                          <a:ea typeface="맑은 고딕" panose="020B0503020000020004" pitchFamily="50" charset="-127"/>
                        </a:rPr>
                        <a:t>R</a:t>
                      </a:r>
                      <a:r>
                        <a:rPr lang="en-US" sz="800" b="0" i="0" u="none" strike="noStrike">
                          <a:solidFill>
                            <a:srgbClr val="000000"/>
                          </a:solidFill>
                          <a:effectLst/>
                          <a:latin typeface="맑은 고딕" panose="020B0503020000020004" pitchFamily="50" charset="-127"/>
                          <a:ea typeface="맑은 고딕" panose="020B0503020000020004" pitchFamily="50" charset="-127"/>
                        </a:rPr>
                        <a:t>-</a:t>
                      </a:r>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6</a:t>
                      </a: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LED1</a:t>
                      </a: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LED2/LED3</a:t>
                      </a:r>
                    </a:p>
                  </a:txBody>
                  <a:tcPr marL="5281" marR="5281" marT="5281" marB="0" anchor="b">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1238169"/>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3</a:t>
                      </a:r>
                    </a:p>
                  </a:txBody>
                  <a:tcPr marL="5281" marR="5281" marT="5281"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LED3/LED3</a:t>
                      </a:r>
                    </a:p>
                  </a:txBody>
                  <a:tcPr marL="5281" marR="5281" marT="5281" marB="0" anchor="b">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820793"/>
                  </a:ext>
                </a:extLst>
              </a:tr>
            </a:tbl>
          </a:graphicData>
        </a:graphic>
      </p:graphicFrame>
    </p:spTree>
    <p:extLst>
      <p:ext uri="{BB962C8B-B14F-4D97-AF65-F5344CB8AC3E}">
        <p14:creationId xmlns:p14="http://schemas.microsoft.com/office/powerpoint/2010/main" val="129560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TYPE-2 (R/GB, 6CH) </a:t>
            </a:r>
          </a:p>
        </p:txBody>
      </p:sp>
      <p:grpSp>
        <p:nvGrpSpPr>
          <p:cNvPr id="78" name="그룹 77">
            <a:extLst>
              <a:ext uri="{FF2B5EF4-FFF2-40B4-BE49-F238E27FC236}">
                <a16:creationId xmlns:a16="http://schemas.microsoft.com/office/drawing/2014/main" id="{A9F6B3ED-510E-A5DF-112F-F1BCBCE9E5AE}"/>
              </a:ext>
            </a:extLst>
          </p:cNvPr>
          <p:cNvGrpSpPr/>
          <p:nvPr/>
        </p:nvGrpSpPr>
        <p:grpSpPr>
          <a:xfrm>
            <a:off x="1784182" y="2500361"/>
            <a:ext cx="3006000" cy="2106000"/>
            <a:chOff x="0" y="0"/>
            <a:chExt cx="3279780" cy="2421071"/>
          </a:xfrm>
        </p:grpSpPr>
        <p:sp>
          <p:nvSpPr>
            <p:cNvPr id="79" name="직사각형 78">
              <a:extLst>
                <a:ext uri="{FF2B5EF4-FFF2-40B4-BE49-F238E27FC236}">
                  <a16:creationId xmlns:a16="http://schemas.microsoft.com/office/drawing/2014/main" id="{92C82B35-4C09-1A43-15DD-04F036EE0A5F}"/>
                </a:ext>
              </a:extLst>
            </p:cNvPr>
            <p:cNvSpPr/>
            <p:nvPr/>
          </p:nvSpPr>
          <p:spPr>
            <a:xfrm>
              <a:off x="1544369" y="1611970"/>
              <a:ext cx="1541594" cy="608523"/>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p:nvPr/>
          </p:nvCxnSpPr>
          <p:spPr>
            <a:xfrm flipH="1">
              <a:off x="762204" y="1140708"/>
              <a:ext cx="0" cy="145258"/>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1607319" y="1232216"/>
              <a:ext cx="195542"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1821765" y="1232215"/>
              <a:ext cx="195542"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2038222" y="1228286"/>
              <a:ext cx="195541"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p:nvPr/>
          </p:nvCxnSpPr>
          <p:spPr>
            <a:xfrm>
              <a:off x="938811" y="975408"/>
              <a:ext cx="1985134"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32447" y="309771"/>
              <a:ext cx="2382160"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617207" y="1062878"/>
              <a:ext cx="288747"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688149" y="1129678"/>
              <a:ext cx="144374"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661652" y="1012887"/>
              <a:ext cx="72629"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782615" y="1011058"/>
              <a:ext cx="72629"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803129" y="975998"/>
              <a:ext cx="144373"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564843" y="978743"/>
              <a:ext cx="144373"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837305" y="743857"/>
              <a:ext cx="288747"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908247" y="810657"/>
              <a:ext cx="144374"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881750" y="693866"/>
              <a:ext cx="72629"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1002713" y="692037"/>
              <a:ext cx="72629"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1023228" y="656977"/>
              <a:ext cx="144373"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784941" y="659722"/>
              <a:ext cx="144373"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1708990" y="1238572"/>
              <a:ext cx="0" cy="363146"/>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1916353" y="1241317"/>
              <a:ext cx="0" cy="145258"/>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2128265" y="1234910"/>
              <a:ext cx="0" cy="145258"/>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1708080" y="307995"/>
              <a:ext cx="0" cy="804060"/>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1919082" y="640117"/>
              <a:ext cx="0" cy="472090"/>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2121899" y="962270"/>
              <a:ext cx="0" cy="14092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1155620" y="655402"/>
              <a:ext cx="1552014"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p:nvPr/>
          </p:nvCxnSpPr>
          <p:spPr>
            <a:xfrm>
              <a:off x="167007" y="975944"/>
              <a:ext cx="397027"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42452" y="658792"/>
              <a:ext cx="721867"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1915058" y="1380408"/>
              <a:ext cx="216560"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p:nvPr/>
          </p:nvCxnSpPr>
          <p:spPr>
            <a:xfrm flipH="1">
              <a:off x="974115" y="804876"/>
              <a:ext cx="0" cy="708135"/>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p:nvPr/>
          </p:nvCxnSpPr>
          <p:spPr>
            <a:xfrm>
              <a:off x="191951" y="1514061"/>
              <a:ext cx="794053"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p:nvPr/>
          </p:nvCxnSpPr>
          <p:spPr>
            <a:xfrm>
              <a:off x="171942" y="1288037"/>
              <a:ext cx="595540"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207413" y="1141969"/>
              <a:ext cx="304654" cy="142103"/>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210141" y="1368906"/>
              <a:ext cx="304654" cy="142103"/>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169214" y="156438"/>
              <a:ext cx="304396" cy="142103"/>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171942" y="493187"/>
              <a:ext cx="304396" cy="142103"/>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183765" y="816205"/>
              <a:ext cx="304396" cy="142103"/>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1640778" y="1641597"/>
              <a:ext cx="194916" cy="142103"/>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2405856" y="1225811"/>
              <a:ext cx="195542"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2620301" y="1225810"/>
              <a:ext cx="195542"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2836758" y="1221880"/>
              <a:ext cx="195541"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2507526" y="1236742"/>
              <a:ext cx="0" cy="363146"/>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2714889" y="1234911"/>
              <a:ext cx="0" cy="145258"/>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2931706" y="1228505"/>
              <a:ext cx="0" cy="145258"/>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2506340" y="308750"/>
              <a:ext cx="0" cy="806805"/>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2717618" y="650670"/>
              <a:ext cx="0" cy="472090"/>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2722691" y="1374002"/>
              <a:ext cx="216560"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1920901" y="1639767"/>
              <a:ext cx="312174" cy="142103"/>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2090067" y="943969"/>
              <a:ext cx="72187" cy="72629"/>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1883612" y="626440"/>
              <a:ext cx="72187" cy="72629"/>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1672610" y="267732"/>
              <a:ext cx="72187" cy="72629"/>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1988203" y="1349346"/>
              <a:ext cx="72187" cy="72629"/>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2795837" y="1347515"/>
              <a:ext cx="72187" cy="72629"/>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2925340" y="968836"/>
              <a:ext cx="0" cy="14092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2835852" y="1384068"/>
              <a:ext cx="0" cy="217888"/>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2029130" y="1382237"/>
              <a:ext cx="0" cy="217888"/>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2407481" y="1644341"/>
              <a:ext cx="194916" cy="142103"/>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2687605" y="1642512"/>
              <a:ext cx="312174" cy="142103"/>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3" name="TextBox 90">
              <a:extLst>
                <a:ext uri="{FF2B5EF4-FFF2-40B4-BE49-F238E27FC236}">
                  <a16:creationId xmlns:a16="http://schemas.microsoft.com/office/drawing/2014/main" id="{2270C4EF-DD10-B7E3-432E-34D7CEE14684}"/>
                </a:ext>
              </a:extLst>
            </p:cNvPr>
            <p:cNvSpPr txBox="1"/>
            <p:nvPr/>
          </p:nvSpPr>
          <p:spPr>
            <a:xfrm>
              <a:off x="1407945" y="68739"/>
              <a:ext cx="673839" cy="172227"/>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10</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0" y="0"/>
              <a:ext cx="3279780" cy="2421071"/>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2186243" y="1929686"/>
              <a:ext cx="353045" cy="156518"/>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gr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Type-2 supports dimming 1# LED (RED) on even channels and 2# LED (GREEN/BLUE) on odd channels. RED dimming can be generated within 1-frame, regardless of SVI.</a:t>
            </a:r>
          </a:p>
        </p:txBody>
      </p:sp>
      <p:sp>
        <p:nvSpPr>
          <p:cNvPr id="18" name="TextBox 17">
            <a:extLst>
              <a:ext uri="{FF2B5EF4-FFF2-40B4-BE49-F238E27FC236}">
                <a16:creationId xmlns:a16="http://schemas.microsoft.com/office/drawing/2014/main" id="{55CEA467-6652-6C41-7DCC-B5ADB45F165A}"/>
              </a:ext>
            </a:extLst>
          </p:cNvPr>
          <p:cNvSpPr txBox="1"/>
          <p:nvPr/>
        </p:nvSpPr>
        <p:spPr>
          <a:xfrm>
            <a:off x="1652362" y="7884397"/>
            <a:ext cx="36285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PWM Dimming sequence @ LD_TYP = 10, LD_DIR = 1</a:t>
            </a: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265031" y="3461069"/>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463587" y="346107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643092" y="3461069"/>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05858" y="3456834"/>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04414" y="3456835"/>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383919" y="3456834"/>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pic>
        <p:nvPicPr>
          <p:cNvPr id="152" name="그림 151">
            <a:extLst>
              <a:ext uri="{FF2B5EF4-FFF2-40B4-BE49-F238E27FC236}">
                <a16:creationId xmlns:a16="http://schemas.microsoft.com/office/drawing/2014/main" id="{A5A46ED6-51E1-6A88-108C-B1BBB4260C80}"/>
              </a:ext>
            </a:extLst>
          </p:cNvPr>
          <p:cNvPicPr>
            <a:picLocks noChangeAspect="1"/>
          </p:cNvPicPr>
          <p:nvPr/>
        </p:nvPicPr>
        <p:blipFill>
          <a:blip r:embed="rId2"/>
          <a:stretch>
            <a:fillRect/>
          </a:stretch>
        </p:blipFill>
        <p:spPr>
          <a:xfrm>
            <a:off x="250825" y="4953000"/>
            <a:ext cx="6000750" cy="2660389"/>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TYPE-3 (GB, 12CH)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Type-3 supports dimming 2# LED (GREEN/BLUE). </a:t>
            </a:r>
          </a:p>
          <a:p>
            <a:pPr algn="just"/>
            <a:r>
              <a:rPr lang="en-US" altLang="ko-KR" sz="1000" dirty="0">
                <a:latin typeface="Arial" panose="020B0604020202020204" pitchFamily="34" charset="0"/>
                <a:cs typeface="Arial" panose="020B0604020202020204" pitchFamily="34" charset="0"/>
              </a:rPr>
              <a:t>Because RED dimming is not supported, only 2# GATE (GATE2/GATE3) signals are used.</a:t>
            </a:r>
          </a:p>
        </p:txBody>
      </p:sp>
      <p:grpSp>
        <p:nvGrpSpPr>
          <p:cNvPr id="212" name="그룹 211">
            <a:extLst>
              <a:ext uri="{FF2B5EF4-FFF2-40B4-BE49-F238E27FC236}">
                <a16:creationId xmlns:a16="http://schemas.microsoft.com/office/drawing/2014/main" id="{86B83285-443B-257E-AC01-B159D80F17C2}"/>
              </a:ext>
            </a:extLst>
          </p:cNvPr>
          <p:cNvGrpSpPr/>
          <p:nvPr/>
        </p:nvGrpSpPr>
        <p:grpSpPr>
          <a:xfrm>
            <a:off x="1893554" y="2732457"/>
            <a:ext cx="3265487" cy="2387600"/>
            <a:chOff x="5976938" y="3529013"/>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7515225" y="5122863"/>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p:nvPr/>
          </p:nvCxnSpPr>
          <p:spPr>
            <a:xfrm flipH="1">
              <a:off x="6735763" y="4657725"/>
              <a:ext cx="0" cy="144463"/>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7675563" y="4748213"/>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7893050" y="4745038"/>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p:nvPr/>
          </p:nvCxnSpPr>
          <p:spPr>
            <a:xfrm>
              <a:off x="6919913" y="4492625"/>
              <a:ext cx="1866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6591300" y="4581525"/>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6661150" y="4646613"/>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6635750" y="4532313"/>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6756400" y="4530725"/>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6777038" y="4495800"/>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6540500" y="4498975"/>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6810375" y="4267200"/>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6881813" y="4332288"/>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6856413" y="4217988"/>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6977063" y="4216400"/>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6996113" y="4181475"/>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6757988" y="4184650"/>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7772400" y="475773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7983538" y="475138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7775575" y="4164013"/>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p:nvPr/>
          </p:nvCxnSpPr>
          <p:spPr>
            <a:xfrm flipV="1">
              <a:off x="7977188" y="4481513"/>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7127875" y="4179888"/>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6148388" y="4495800"/>
              <a:ext cx="43021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p:nvPr/>
          </p:nvCxnSpPr>
          <p:spPr>
            <a:xfrm>
              <a:off x="6118225" y="4183063"/>
              <a:ext cx="7207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7770813" y="4894263"/>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p:nvPr/>
          </p:nvCxnSpPr>
          <p:spPr>
            <a:xfrm flipH="1">
              <a:off x="6946900" y="4327525"/>
              <a:ext cx="0" cy="70167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p:nvPr/>
          </p:nvCxnSpPr>
          <p:spPr>
            <a:xfrm>
              <a:off x="6167438" y="5027613"/>
              <a:ext cx="79216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p:nvPr/>
          </p:nvCxnSpPr>
          <p:spPr>
            <a:xfrm>
              <a:off x="6148388" y="4803775"/>
              <a:ext cx="59372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6183313" y="4659313"/>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GATE3</a:t>
              </a:r>
              <a:endParaRPr lang="ko-KR" altLang="en-US" sz="900" i="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6186488" y="4883150"/>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6148388" y="4019550"/>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VLED2</a:t>
              </a:r>
              <a:endParaRPr lang="ko-KR" altLang="en-US" sz="900" i="0" dirty="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8470900" y="4741863"/>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8688388" y="4738688"/>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8567738" y="475138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8783638" y="474503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8569325" y="4175125"/>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8574088" y="4887913"/>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7799388" y="5151438"/>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7945438" y="4464050"/>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7740650" y="4151313"/>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7843838" y="4864100"/>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8647113" y="4862513"/>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8774113" y="4491038"/>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8688388" y="4897438"/>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7883525" y="4895850"/>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8597900" y="5154613"/>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199" name="TextBox 333">
              <a:extLst>
                <a:ext uri="{FF2B5EF4-FFF2-40B4-BE49-F238E27FC236}">
                  <a16:creationId xmlns:a16="http://schemas.microsoft.com/office/drawing/2014/main" id="{9E021A76-AF64-4607-8547-DB0A704CDB98}"/>
                </a:ext>
              </a:extLst>
            </p:cNvPr>
            <p:cNvSpPr txBox="1"/>
            <p:nvPr/>
          </p:nvSpPr>
          <p:spPr>
            <a:xfrm>
              <a:off x="7378700" y="3600450"/>
              <a:ext cx="671513" cy="171450"/>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100" b="0" i="0">
                  <a:solidFill>
                    <a:schemeClr val="tx1"/>
                  </a:solidFill>
                </a:rPr>
                <a:t>ld_type</a:t>
              </a:r>
              <a:r>
                <a:rPr lang="en-US" altLang="ko-KR" sz="1100" b="0" i="0" baseline="0">
                  <a:solidFill>
                    <a:schemeClr val="tx1"/>
                  </a:solidFill>
                </a:rPr>
                <a:t> = 11</a:t>
              </a:r>
              <a:endParaRPr lang="ko-KR" altLang="en-US" sz="1100" b="0" i="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5976938" y="3529013"/>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8153400" y="5437188"/>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dirty="0">
                  <a:solidFill>
                    <a:schemeClr val="tx1"/>
                  </a:solidFill>
                </a:rPr>
                <a:t>XD12R</a:t>
              </a:r>
              <a:endParaRPr lang="ko-KR" altLang="en-US" sz="1000" b="1" i="0" dirty="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7666038" y="4354513"/>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7899400" y="4349750"/>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8466138" y="4346575"/>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8697913" y="4341813"/>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grpSp>
      <p:sp>
        <p:nvSpPr>
          <p:cNvPr id="13" name="TextBox 12">
            <a:extLst>
              <a:ext uri="{FF2B5EF4-FFF2-40B4-BE49-F238E27FC236}">
                <a16:creationId xmlns:a16="http://schemas.microsoft.com/office/drawing/2014/main" id="{484A6925-DF40-47E3-FADA-AE51C86971AD}"/>
              </a:ext>
            </a:extLst>
          </p:cNvPr>
          <p:cNvSpPr txBox="1"/>
          <p:nvPr/>
        </p:nvSpPr>
        <p:spPr>
          <a:xfrm>
            <a:off x="1866523" y="7612541"/>
            <a:ext cx="36285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PWM Dimming sequence @ LD_TYP = 11, LD_DIR = 0</a:t>
            </a:r>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84794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84924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840096"/>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12147" y="384560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075323" y="3543670"/>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a:t>
            </a:r>
            <a:r>
              <a:rPr lang="en-US" altLang="ko-KR" sz="900" dirty="0"/>
              <a:t>3</a:t>
            </a:r>
            <a:endParaRPr lang="ko-KR" altLang="en-US" sz="900" i="0" dirty="0">
              <a:solidFill>
                <a:schemeClr val="tx1"/>
              </a:solidFill>
            </a:endParaRPr>
          </a:p>
        </p:txBody>
      </p:sp>
      <p:pic>
        <p:nvPicPr>
          <p:cNvPr id="5" name="그림 4">
            <a:extLst>
              <a:ext uri="{FF2B5EF4-FFF2-40B4-BE49-F238E27FC236}">
                <a16:creationId xmlns:a16="http://schemas.microsoft.com/office/drawing/2014/main" id="{514E12F1-7F46-A369-4231-FC4215B655D9}"/>
              </a:ext>
            </a:extLst>
          </p:cNvPr>
          <p:cNvPicPr>
            <a:picLocks noChangeAspect="1"/>
          </p:cNvPicPr>
          <p:nvPr/>
        </p:nvPicPr>
        <p:blipFill>
          <a:blip r:embed="rId2"/>
          <a:stretch>
            <a:fillRect/>
          </a:stretch>
        </p:blipFill>
        <p:spPr>
          <a:xfrm>
            <a:off x="146894" y="5572494"/>
            <a:ext cx="6250720" cy="1845999"/>
          </a:xfrm>
          <a:prstGeom prst="rect">
            <a:avLst/>
          </a:prstGeom>
        </p:spPr>
      </p:pic>
    </p:spTree>
    <p:extLst>
      <p:ext uri="{BB962C8B-B14F-4D97-AF65-F5344CB8AC3E}">
        <p14:creationId xmlns:p14="http://schemas.microsoft.com/office/powerpoint/2010/main" val="622698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3458FFB0-B6F0-2FD8-80EC-7FADADDF99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DB9F162-70BE-F551-51CA-40B5A616747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071F-5694-778B-2A03-691360296A1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2F68EC2E-6D6A-88F3-F654-3B39993E2D58}"/>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PARITY</a:t>
            </a:r>
          </a:p>
        </p:txBody>
      </p:sp>
      <p:sp>
        <p:nvSpPr>
          <p:cNvPr id="11" name="TextBox 10">
            <a:extLst>
              <a:ext uri="{FF2B5EF4-FFF2-40B4-BE49-F238E27FC236}">
                <a16:creationId xmlns:a16="http://schemas.microsoft.com/office/drawing/2014/main" id="{ECDE530E-4B35-5CB9-8B11-D4C9AC9300E9}"/>
              </a:ext>
            </a:extLst>
          </p:cNvPr>
          <p:cNvSpPr txBox="1"/>
          <p:nvPr/>
        </p:nvSpPr>
        <p:spPr>
          <a:xfrm>
            <a:off x="490104" y="1594666"/>
            <a:ext cx="6047999" cy="153888"/>
          </a:xfrm>
          <a:prstGeom prst="rect">
            <a:avLst/>
          </a:prstGeom>
          <a:noFill/>
        </p:spPr>
        <p:txBody>
          <a:bodyPr wrap="square" lIns="0" tIns="0" rIns="36000" bIns="0" rtlCol="0">
            <a:spAutoFit/>
          </a:bodyPr>
          <a:lstStyle/>
          <a:p>
            <a:r>
              <a:rPr lang="en-US" altLang="ko-KR" sz="1000" dirty="0"/>
              <a:t>The XDR12 supports parity function for interface communication with XCR.</a:t>
            </a:r>
            <a:endParaRPr lang="ko-KR" altLang="en-US" sz="1000" dirty="0"/>
          </a:p>
        </p:txBody>
      </p:sp>
      <p:pic>
        <p:nvPicPr>
          <p:cNvPr id="12" name="그림 11">
            <a:extLst>
              <a:ext uri="{FF2B5EF4-FFF2-40B4-BE49-F238E27FC236}">
                <a16:creationId xmlns:a16="http://schemas.microsoft.com/office/drawing/2014/main" id="{5E235F77-3F91-FB91-5E1C-01F86FFBAB44}"/>
              </a:ext>
            </a:extLst>
          </p:cNvPr>
          <p:cNvPicPr>
            <a:picLocks noChangeAspect="1"/>
          </p:cNvPicPr>
          <p:nvPr/>
        </p:nvPicPr>
        <p:blipFill>
          <a:blip r:embed="rId2"/>
          <a:stretch>
            <a:fillRect/>
          </a:stretch>
        </p:blipFill>
        <p:spPr>
          <a:xfrm>
            <a:off x="490104" y="3286751"/>
            <a:ext cx="5772150" cy="1905106"/>
          </a:xfrm>
          <a:prstGeom prst="rect">
            <a:avLst/>
          </a:prstGeom>
        </p:spPr>
      </p:pic>
      <p:graphicFrame>
        <p:nvGraphicFramePr>
          <p:cNvPr id="13" name="표 12">
            <a:extLst>
              <a:ext uri="{FF2B5EF4-FFF2-40B4-BE49-F238E27FC236}">
                <a16:creationId xmlns:a16="http://schemas.microsoft.com/office/drawing/2014/main" id="{973210F2-927B-78FE-9ED6-5E3C63BB0526}"/>
              </a:ext>
            </a:extLst>
          </p:cNvPr>
          <p:cNvGraphicFramePr>
            <a:graphicFrameLocks noGrp="1"/>
          </p:cNvGraphicFramePr>
          <p:nvPr>
            <p:extLst>
              <p:ext uri="{D42A27DB-BD31-4B8C-83A1-F6EECF244321}">
                <p14:modId xmlns:p14="http://schemas.microsoft.com/office/powerpoint/2010/main" val="2835225128"/>
              </p:ext>
            </p:extLst>
          </p:nvPr>
        </p:nvGraphicFramePr>
        <p:xfrm>
          <a:off x="540904" y="1897436"/>
          <a:ext cx="5170486" cy="998189"/>
        </p:xfrm>
        <a:graphic>
          <a:graphicData uri="http://schemas.openxmlformats.org/drawingml/2006/table">
            <a:tbl>
              <a:tblPr/>
              <a:tblGrid>
                <a:gridCol w="837472">
                  <a:extLst>
                    <a:ext uri="{9D8B030D-6E8A-4147-A177-3AD203B41FA5}">
                      <a16:colId xmlns:a16="http://schemas.microsoft.com/office/drawing/2014/main" val="1029587374"/>
                    </a:ext>
                  </a:extLst>
                </a:gridCol>
                <a:gridCol w="4333014">
                  <a:extLst>
                    <a:ext uri="{9D8B030D-6E8A-4147-A177-3AD203B41FA5}">
                      <a16:colId xmlns:a16="http://schemas.microsoft.com/office/drawing/2014/main" val="3325282042"/>
                    </a:ext>
                  </a:extLst>
                </a:gridCol>
              </a:tblGrid>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TYPE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EVEN PARITY</a:t>
                      </a:r>
                      <a:br>
                        <a:rPr lang="en-US" sz="700" b="0" i="0" u="none" strike="noStrike" dirty="0">
                          <a:solidFill>
                            <a:srgbClr val="000000"/>
                          </a:solidFill>
                          <a:effectLst/>
                          <a:latin typeface="맑은 고딕" panose="020B0503020000020004" pitchFamily="50" charset="-127"/>
                          <a:ea typeface="맑은 고딕" panose="020B0503020000020004" pitchFamily="50" charset="-127"/>
                        </a:rPr>
                      </a:b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number of 1s in the data bits is odd, the parity bit is set to 1.</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9266691"/>
                  </a:ext>
                </a:extLst>
              </a:tr>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Supporting all commands except LD transfer 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878742"/>
                  </a:ext>
                </a:extLst>
              </a:tr>
              <a:tr h="264621">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RANGE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All area of protocol.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16695"/>
                  </a:ext>
                </a:extLst>
              </a:tr>
              <a:tr h="231124">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FAIL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parity does not match, the command is not executed (daisy transmission is stopped).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332959"/>
                  </a:ext>
                </a:extLst>
              </a:tr>
            </a:tbl>
          </a:graphicData>
        </a:graphic>
      </p:graphicFrame>
      <p:sp>
        <p:nvSpPr>
          <p:cNvPr id="17" name="TextBox 16">
            <a:extLst>
              <a:ext uri="{FF2B5EF4-FFF2-40B4-BE49-F238E27FC236}">
                <a16:creationId xmlns:a16="http://schemas.microsoft.com/office/drawing/2014/main" id="{D9FF05F8-9EC7-524D-6660-F6A5697CC635}"/>
              </a:ext>
            </a:extLst>
          </p:cNvPr>
          <p:cNvSpPr txBox="1"/>
          <p:nvPr/>
        </p:nvSpPr>
        <p:spPr>
          <a:xfrm>
            <a:off x="1778829" y="5379783"/>
            <a:ext cx="2962349"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9. Serial communication protocol @ PC_EN = 1</a:t>
            </a:r>
          </a:p>
        </p:txBody>
      </p:sp>
    </p:spTree>
    <p:extLst>
      <p:ext uri="{BB962C8B-B14F-4D97-AF65-F5344CB8AC3E}">
        <p14:creationId xmlns:p14="http://schemas.microsoft.com/office/powerpoint/2010/main" val="239822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10.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11.  PWM 14-bit</a:t>
            </a:r>
          </a:p>
        </p:txBody>
      </p:sp>
      <p:pic>
        <p:nvPicPr>
          <p:cNvPr id="8" name="그림 7">
            <a:extLst>
              <a:ext uri="{FF2B5EF4-FFF2-40B4-BE49-F238E27FC236}">
                <a16:creationId xmlns:a16="http://schemas.microsoft.com/office/drawing/2014/main" id="{EF5DD001-9635-C2C1-6CFC-0D5188F70627}"/>
              </a:ext>
            </a:extLst>
          </p:cNvPr>
          <p:cNvPicPr>
            <a:picLocks noChangeAspect="1"/>
          </p:cNvPicPr>
          <p:nvPr/>
        </p:nvPicPr>
        <p:blipFill>
          <a:blip r:embed="rId2"/>
          <a:stretch>
            <a:fillRect/>
          </a:stretch>
        </p:blipFill>
        <p:spPr>
          <a:xfrm rot="5400000">
            <a:off x="1716223" y="4277873"/>
            <a:ext cx="6858000" cy="1848934"/>
          </a:xfrm>
          <a:prstGeom prst="rect">
            <a:avLst/>
          </a:prstGeom>
        </p:spPr>
      </p:pic>
      <p:pic>
        <p:nvPicPr>
          <p:cNvPr id="14" name="그림 13">
            <a:extLst>
              <a:ext uri="{FF2B5EF4-FFF2-40B4-BE49-F238E27FC236}">
                <a16:creationId xmlns:a16="http://schemas.microsoft.com/office/drawing/2014/main" id="{179F80DD-381B-B8BD-AF81-FC28C7344953}"/>
              </a:ext>
            </a:extLst>
          </p:cNvPr>
          <p:cNvPicPr>
            <a:picLocks noChangeAspect="1"/>
          </p:cNvPicPr>
          <p:nvPr/>
        </p:nvPicPr>
        <p:blipFill>
          <a:blip r:embed="rId3"/>
          <a:stretch>
            <a:fillRect/>
          </a:stretch>
        </p:blipFill>
        <p:spPr>
          <a:xfrm rot="5400000">
            <a:off x="-1458118" y="4150518"/>
            <a:ext cx="6858000" cy="2125663"/>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245361962"/>
              </p:ext>
            </p:extLst>
          </p:nvPr>
        </p:nvGraphicFramePr>
        <p:xfrm>
          <a:off x="404812" y="2194460"/>
          <a:ext cx="6048622" cy="370074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98646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XD12R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XD12R will receive the ID-Gen command from the XC24R controller, then the ID value is automatically generated. The ID value is needed for proper reading, so, the ID-Gen command must be firstly executed by the XC24R controller before executing any commands.  If all XD12R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939199090"/>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1477403951"/>
              </p:ext>
            </p:extLst>
          </p:nvPr>
        </p:nvGraphicFramePr>
        <p:xfrm>
          <a:off x="396248" y="1676168"/>
          <a:ext cx="6053219" cy="5284757"/>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parity check.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parity check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parity check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959455"/>
                  </a:ext>
                </a:extLst>
              </a:tr>
              <a:tr h="3028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to use VREF3.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used VREF2 and VREF3.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not used VREF3 ( VREF2 = VREF3 )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LD_TYPE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150000"/>
                        </a:lnSpc>
                        <a:buFont typeface="Arial" panose="020B0604020202020204" pitchFamily="34" charset="0"/>
                        <a:buNone/>
                      </a:pPr>
                      <a:r>
                        <a:rPr lang="en-US" altLang="ko-KR" sz="900" b="0" dirty="0">
                          <a:solidFill>
                            <a:schemeClr val="tx1"/>
                          </a:solidFill>
                          <a:latin typeface="Arial" panose="020B0604020202020204" pitchFamily="34" charset="0"/>
                          <a:ea typeface="+mn-ea"/>
                          <a:cs typeface="Arial" panose="020B0604020202020204" pitchFamily="34" charset="0"/>
                        </a:rPr>
                        <a:t>These bits determine the </a:t>
                      </a:r>
                      <a:r>
                        <a:rPr lang="en-US" altLang="ko-KR" sz="900" dirty="0">
                          <a:latin typeface="Arial" panose="020B0604020202020204" pitchFamily="34" charset="0"/>
                          <a:cs typeface="Arial" panose="020B0604020202020204" pitchFamily="34" charset="0"/>
                        </a:rPr>
                        <a:t>RGB PWM Dimming (LED1/2/3 PWM Dimming)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a:t>
                      </a:r>
                      <a:r>
                        <a:rPr lang="en-US" altLang="ko-KR" sz="900" dirty="0">
                          <a:latin typeface="Arial" panose="020B0604020202020204" pitchFamily="34" charset="0"/>
                          <a:cs typeface="Arial" panose="020B0604020202020204" pitchFamily="34" charset="0"/>
                        </a:rPr>
                        <a:t>Type-1 (RGB, 12CH)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Type-2 (R/GB, 6CH)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   </a:t>
                      </a:r>
                      <a:r>
                        <a:rPr lang="en-US" altLang="ko-KR" sz="900" dirty="0">
                          <a:latin typeface="Arial" panose="020B0604020202020204" pitchFamily="34" charset="0"/>
                          <a:cs typeface="Arial" panose="020B0604020202020204" pitchFamily="34" charset="0"/>
                        </a:rPr>
                        <a:t>Type-3 (MONO, 12CH)</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136682275"/>
              </p:ext>
            </p:extLst>
          </p:nvPr>
        </p:nvGraphicFramePr>
        <p:xfrm>
          <a:off x="401292" y="1108857"/>
          <a:ext cx="6051895" cy="47928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347853">
                  <a:extLst>
                    <a:ext uri="{9D8B030D-6E8A-4147-A177-3AD203B41FA5}">
                      <a16:colId xmlns:a16="http://schemas.microsoft.com/office/drawing/2014/main" val="2079070694"/>
                    </a:ext>
                  </a:extLst>
                </a:gridCol>
                <a:gridCol w="335430">
                  <a:extLst>
                    <a:ext uri="{9D8B030D-6E8A-4147-A177-3AD203B41FA5}">
                      <a16:colId xmlns:a16="http://schemas.microsoft.com/office/drawing/2014/main" val="4213315911"/>
                    </a:ext>
                  </a:extLst>
                </a:gridCol>
                <a:gridCol w="242805">
                  <a:extLst>
                    <a:ext uri="{9D8B030D-6E8A-4147-A177-3AD203B41FA5}">
                      <a16:colId xmlns:a16="http://schemas.microsoft.com/office/drawing/2014/main" val="2769999950"/>
                    </a:ext>
                  </a:extLst>
                </a:gridCol>
                <a:gridCol w="273313">
                  <a:extLst>
                    <a:ext uri="{9D8B030D-6E8A-4147-A177-3AD203B41FA5}">
                      <a16:colId xmlns:a16="http://schemas.microsoft.com/office/drawing/2014/main" val="135637185"/>
                    </a:ext>
                  </a:extLst>
                </a:gridCol>
                <a:gridCol w="375806">
                  <a:extLst>
                    <a:ext uri="{9D8B030D-6E8A-4147-A177-3AD203B41FA5}">
                      <a16:colId xmlns:a16="http://schemas.microsoft.com/office/drawing/2014/main" val="3038050475"/>
                    </a:ext>
                  </a:extLst>
                </a:gridCol>
                <a:gridCol w="565261">
                  <a:extLst>
                    <a:ext uri="{9D8B030D-6E8A-4147-A177-3AD203B41FA5}">
                      <a16:colId xmlns:a16="http://schemas.microsoft.com/office/drawing/2014/main" val="1979433044"/>
                    </a:ext>
                  </a:extLst>
                </a:gridCol>
                <a:gridCol w="658436">
                  <a:extLst>
                    <a:ext uri="{9D8B030D-6E8A-4147-A177-3AD203B41FA5}">
                      <a16:colId xmlns:a16="http://schemas.microsoft.com/office/drawing/2014/main" val="4270661649"/>
                    </a:ext>
                  </a:extLst>
                </a:gridCol>
                <a:gridCol w="543521">
                  <a:extLst>
                    <a:ext uri="{9D8B030D-6E8A-4147-A177-3AD203B41FA5}">
                      <a16:colId xmlns:a16="http://schemas.microsoft.com/office/drawing/2014/main" val="3027041370"/>
                    </a:ext>
                  </a:extLst>
                </a:gridCol>
                <a:gridCol w="313689">
                  <a:extLst>
                    <a:ext uri="{9D8B030D-6E8A-4147-A177-3AD203B41FA5}">
                      <a16:colId xmlns:a16="http://schemas.microsoft.com/office/drawing/2014/main" val="2852526216"/>
                    </a:ext>
                  </a:extLst>
                </a:gridCol>
                <a:gridCol w="349299">
                  <a:extLst>
                    <a:ext uri="{9D8B030D-6E8A-4147-A177-3AD203B41FA5}">
                      <a16:colId xmlns:a16="http://schemas.microsoft.com/office/drawing/2014/main" val="103420222"/>
                    </a:ext>
                  </a:extLst>
                </a:gridCol>
                <a:gridCol w="424053">
                  <a:extLst>
                    <a:ext uri="{9D8B030D-6E8A-4147-A177-3AD203B41FA5}">
                      <a16:colId xmlns:a16="http://schemas.microsoft.com/office/drawing/2014/main" val="1470405609"/>
                    </a:ext>
                  </a:extLst>
                </a:gridCol>
                <a:gridCol w="5210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PC_EN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ko-KR" sz="700" b="0" dirty="0">
                          <a:solidFill>
                            <a:schemeClr val="tx1"/>
                          </a:solidFill>
                          <a:latin typeface="Arial" panose="020B0604020202020204" pitchFamily="34" charset="0"/>
                          <a:cs typeface="Arial" panose="020B0604020202020204" pitchFamily="34" charset="0"/>
                        </a:rPr>
                        <a:t>VREFMODE</a:t>
                      </a:r>
                      <a:endParaRPr sz="700"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SYNCMODE</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LD_TYPE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spTree>
    <p:extLst>
      <p:ext uri="{BB962C8B-B14F-4D97-AF65-F5344CB8AC3E}">
        <p14:creationId xmlns:p14="http://schemas.microsoft.com/office/powerpoint/2010/main" val="1571062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957202422"/>
              </p:ext>
            </p:extLst>
          </p:nvPr>
        </p:nvGraphicFramePr>
        <p:xfrm>
          <a:off x="408435" y="2733660"/>
          <a:ext cx="6053732" cy="254772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8 below.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FPWM_DIV1[8:0]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RED LED ( LED1 )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GREEN LED ( LED2 )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BLUE LED ( LED3 )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91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(0x02)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SVYNC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 #1 SVSYNC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 #2 SVSYNC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62 : #63 SVSYNC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63 : #64 SVSYNC </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2580227"/>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SVSYNC NUMBER / 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428599149"/>
              </p:ext>
            </p:extLst>
          </p:nvPr>
        </p:nvGraphicFramePr>
        <p:xfrm>
          <a:off x="389761" y="7216513"/>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6496059"/>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1925012971"/>
              </p:ext>
            </p:extLst>
          </p:nvPr>
        </p:nvGraphicFramePr>
        <p:xfrm>
          <a:off x="394817" y="1109669"/>
          <a:ext cx="6058369" cy="47928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PWMCLK_DIV1[8]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SV_NO[5:0]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241881453"/>
              </p:ext>
            </p:extLst>
          </p:nvPr>
        </p:nvGraphicFramePr>
        <p:xfrm>
          <a:off x="394817" y="6761574"/>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1CF1FEF-DEA2-3BC4-997F-A9F301EC0E4E}"/>
              </a:ext>
            </a:extLst>
          </p:cNvPr>
          <p:cNvSpPr txBox="1"/>
          <p:nvPr/>
        </p:nvSpPr>
        <p:spPr>
          <a:xfrm>
            <a:off x="2848330" y="6259935"/>
            <a:ext cx="163506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8.  FPWM Configuration</a:t>
            </a:r>
          </a:p>
        </p:txBody>
      </p:sp>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336127038"/>
              </p:ext>
            </p:extLst>
          </p:nvPr>
        </p:nvGraphicFramePr>
        <p:xfrm>
          <a:off x="1920179" y="8203260"/>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8853" y="8215576"/>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12536" y="8676669"/>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8993" y="8576899"/>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20179" y="849457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6536" y="8490597"/>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5426" y="8845995"/>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17" name="표 16">
            <a:extLst>
              <a:ext uri="{FF2B5EF4-FFF2-40B4-BE49-F238E27FC236}">
                <a16:creationId xmlns:a16="http://schemas.microsoft.com/office/drawing/2014/main" id="{DB5508D1-C0F6-E985-D7DF-C94C5ECD1886}"/>
              </a:ext>
            </a:extLst>
          </p:cNvPr>
          <p:cNvGraphicFramePr>
            <a:graphicFrameLocks noGrp="1"/>
          </p:cNvGraphicFramePr>
          <p:nvPr>
            <p:extLst>
              <p:ext uri="{D42A27DB-BD31-4B8C-83A1-F6EECF244321}">
                <p14:modId xmlns:p14="http://schemas.microsoft.com/office/powerpoint/2010/main" val="1477905612"/>
              </p:ext>
            </p:extLst>
          </p:nvPr>
        </p:nvGraphicFramePr>
        <p:xfrm>
          <a:off x="1078978" y="5374847"/>
          <a:ext cx="5133800" cy="789600"/>
        </p:xfrm>
        <a:graphic>
          <a:graphicData uri="http://schemas.openxmlformats.org/drawingml/2006/table">
            <a:tbl>
              <a:tblPr firstRow="1" bandRow="1">
                <a:tableStyleId>{5C22544A-7EE6-4342-B048-85BDC9FD1C3A}</a:tableStyleId>
              </a:tblPr>
              <a:tblGrid>
                <a:gridCol w="550125">
                  <a:extLst>
                    <a:ext uri="{9D8B030D-6E8A-4147-A177-3AD203B41FA5}">
                      <a16:colId xmlns:a16="http://schemas.microsoft.com/office/drawing/2014/main" val="2861869108"/>
                    </a:ext>
                  </a:extLst>
                </a:gridCol>
                <a:gridCol w="918425">
                  <a:extLst>
                    <a:ext uri="{9D8B030D-6E8A-4147-A177-3AD203B41FA5}">
                      <a16:colId xmlns:a16="http://schemas.microsoft.com/office/drawing/2014/main" val="3471461862"/>
                    </a:ext>
                  </a:extLst>
                </a:gridCol>
                <a:gridCol w="407250">
                  <a:extLst>
                    <a:ext uri="{9D8B030D-6E8A-4147-A177-3AD203B41FA5}">
                      <a16:colId xmlns:a16="http://schemas.microsoft.com/office/drawing/2014/main" val="4138367841"/>
                    </a:ext>
                  </a:extLst>
                </a:gridCol>
                <a:gridCol w="407250">
                  <a:extLst>
                    <a:ext uri="{9D8B030D-6E8A-4147-A177-3AD203B41FA5}">
                      <a16:colId xmlns:a16="http://schemas.microsoft.com/office/drawing/2014/main" val="3589866634"/>
                    </a:ext>
                  </a:extLst>
                </a:gridCol>
                <a:gridCol w="407250">
                  <a:extLst>
                    <a:ext uri="{9D8B030D-6E8A-4147-A177-3AD203B41FA5}">
                      <a16:colId xmlns:a16="http://schemas.microsoft.com/office/drawing/2014/main" val="1804904378"/>
                    </a:ext>
                  </a:extLst>
                </a:gridCol>
                <a:gridCol w="407250">
                  <a:extLst>
                    <a:ext uri="{9D8B030D-6E8A-4147-A177-3AD203B41FA5}">
                      <a16:colId xmlns:a16="http://schemas.microsoft.com/office/drawing/2014/main" val="3109171518"/>
                    </a:ext>
                  </a:extLst>
                </a:gridCol>
                <a:gridCol w="407250">
                  <a:extLst>
                    <a:ext uri="{9D8B030D-6E8A-4147-A177-3AD203B41FA5}">
                      <a16:colId xmlns:a16="http://schemas.microsoft.com/office/drawing/2014/main" val="203027085"/>
                    </a:ext>
                  </a:extLst>
                </a:gridCol>
                <a:gridCol w="407250">
                  <a:extLst>
                    <a:ext uri="{9D8B030D-6E8A-4147-A177-3AD203B41FA5}">
                      <a16:colId xmlns:a16="http://schemas.microsoft.com/office/drawing/2014/main" val="1213780966"/>
                    </a:ext>
                  </a:extLst>
                </a:gridCol>
                <a:gridCol w="407250">
                  <a:extLst>
                    <a:ext uri="{9D8B030D-6E8A-4147-A177-3AD203B41FA5}">
                      <a16:colId xmlns:a16="http://schemas.microsoft.com/office/drawing/2014/main" val="4000803811"/>
                    </a:ext>
                  </a:extLst>
                </a:gridCol>
                <a:gridCol w="407250">
                  <a:extLst>
                    <a:ext uri="{9D8B030D-6E8A-4147-A177-3AD203B41FA5}">
                      <a16:colId xmlns:a16="http://schemas.microsoft.com/office/drawing/2014/main" val="2931672937"/>
                    </a:ext>
                  </a:extLst>
                </a:gridCol>
                <a:gridCol w="407250">
                  <a:extLst>
                    <a:ext uri="{9D8B030D-6E8A-4147-A177-3AD203B41FA5}">
                      <a16:colId xmlns:a16="http://schemas.microsoft.com/office/drawing/2014/main" val="85150885"/>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50Hz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800Hz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960Hz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FLLCNT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786,869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655,724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393,434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327,862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278,683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245,897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163,931</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392,762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327,302</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9502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FLLCNT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787,013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655,844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393,507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327,922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278,734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245,942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163,961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393,338</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327,782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graphicFrame>
        <p:nvGraphicFramePr>
          <p:cNvPr id="25" name="표 24">
            <a:extLst>
              <a:ext uri="{FF2B5EF4-FFF2-40B4-BE49-F238E27FC236}">
                <a16:creationId xmlns:a16="http://schemas.microsoft.com/office/drawing/2014/main" id="{54C3364E-020E-DF31-1671-C40EF62F47B7}"/>
              </a:ext>
            </a:extLst>
          </p:cNvPr>
          <p:cNvGraphicFramePr>
            <a:graphicFrameLocks noGrp="1"/>
          </p:cNvGraphicFramePr>
          <p:nvPr>
            <p:extLst>
              <p:ext uri="{D42A27DB-BD31-4B8C-83A1-F6EECF244321}">
                <p14:modId xmlns:p14="http://schemas.microsoft.com/office/powerpoint/2010/main" val="3347143721"/>
              </p:ext>
            </p:extLst>
          </p:nvPr>
        </p:nvGraphicFramePr>
        <p:xfrm>
          <a:off x="397025" y="1760887"/>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6" name="표 25">
            <a:extLst>
              <a:ext uri="{FF2B5EF4-FFF2-40B4-BE49-F238E27FC236}">
                <a16:creationId xmlns:a16="http://schemas.microsoft.com/office/drawing/2014/main" id="{9EFDFB5E-0937-65D7-B57F-EF77CD7C6B44}"/>
              </a:ext>
            </a:extLst>
          </p:cNvPr>
          <p:cNvGraphicFramePr>
            <a:graphicFrameLocks noGrp="1"/>
          </p:cNvGraphicFramePr>
          <p:nvPr>
            <p:extLst>
              <p:ext uri="{D42A27DB-BD31-4B8C-83A1-F6EECF244321}">
                <p14:modId xmlns:p14="http://schemas.microsoft.com/office/powerpoint/2010/main" val="579066760"/>
              </p:ext>
            </p:extLst>
          </p:nvPr>
        </p:nvGraphicFramePr>
        <p:xfrm>
          <a:off x="403798" y="2279696"/>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297052404"/>
              </p:ext>
            </p:extLst>
          </p:nvPr>
        </p:nvGraphicFramePr>
        <p:xfrm>
          <a:off x="406838" y="1556231"/>
          <a:ext cx="6046597" cy="375783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O_SLEW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slew control for PWM drivers.</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FB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FB1, FB2, FB3 : vled1, vled2, vled3 different from each other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FB1, (FB2 || FB3) : vled2 and vled3 using a same </a:t>
                      </a:r>
                      <a:r>
                        <a:rPr lang="en-US" altLang="ko-KR" sz="900" b="0" dirty="0" err="1">
                          <a:solidFill>
                            <a:schemeClr val="tx1"/>
                          </a:solidFill>
                          <a:latin typeface="Arial" panose="020B0604020202020204" pitchFamily="34" charset="0"/>
                          <a:ea typeface="+mn-ea"/>
                          <a:cs typeface="Arial" panose="020B0604020202020204" pitchFamily="34" charset="0"/>
                        </a:rPr>
                        <a:t>vled</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2095016374"/>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343789">
                  <a:extLst>
                    <a:ext uri="{9D8B030D-6E8A-4147-A177-3AD203B41FA5}">
                      <a16:colId xmlns:a16="http://schemas.microsoft.com/office/drawing/2014/main" val="2769999950"/>
                    </a:ext>
                  </a:extLst>
                </a:gridCol>
                <a:gridCol w="431601">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461126">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O_SLEW[1:0]</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graphicFrame>
        <p:nvGraphicFramePr>
          <p:cNvPr id="4" name="표 3">
            <a:extLst>
              <a:ext uri="{FF2B5EF4-FFF2-40B4-BE49-F238E27FC236}">
                <a16:creationId xmlns:a16="http://schemas.microsoft.com/office/drawing/2014/main" id="{D3CB8E13-BD92-4CE4-DB78-18803788DC04}"/>
              </a:ext>
            </a:extLst>
          </p:cNvPr>
          <p:cNvGraphicFramePr>
            <a:graphicFrameLocks noGrp="1"/>
          </p:cNvGraphicFramePr>
          <p:nvPr>
            <p:extLst>
              <p:ext uri="{D42A27DB-BD31-4B8C-83A1-F6EECF244321}">
                <p14:modId xmlns:p14="http://schemas.microsoft.com/office/powerpoint/2010/main" val="839670549"/>
              </p:ext>
            </p:extLst>
          </p:nvPr>
        </p:nvGraphicFramePr>
        <p:xfrm>
          <a:off x="395972" y="6444737"/>
          <a:ext cx="6046597" cy="266700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197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&lt;  0.90V         3’b101 : &lt;  1.05V        3’b110 : &lt;  1.20V        3b’111 : &lt; 1.35V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FB1_LEVEL : FB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FB2_LEVEL : FB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FB3_LEVEL : FB_LEVEL for LED3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&gt;  3.5V           3b’001 : &gt;  4.5V          3b’010 : &gt;  6.5V          3b’011 : &gt; 9.0V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&gt; 13.5V          3b’101 : &gt; 17.5V         3b’110 : &gt; 26.0V         3b’111 : &gt; 32.0V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SHORT1_LEVEL : SHORT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SHORT2_LEVEL : SHORT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SHORT3_LEVEL : SHORT_LEVEL for LED3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5" name="표 4">
            <a:extLst>
              <a:ext uri="{FF2B5EF4-FFF2-40B4-BE49-F238E27FC236}">
                <a16:creationId xmlns:a16="http://schemas.microsoft.com/office/drawing/2014/main" id="{45708631-8E6C-7BEB-F02D-1EF4BC5ECA70}"/>
              </a:ext>
            </a:extLst>
          </p:cNvPr>
          <p:cNvGraphicFramePr>
            <a:graphicFrameLocks noGrp="1"/>
          </p:cNvGraphicFramePr>
          <p:nvPr>
            <p:extLst>
              <p:ext uri="{D42A27DB-BD31-4B8C-83A1-F6EECF244321}">
                <p14:modId xmlns:p14="http://schemas.microsoft.com/office/powerpoint/2010/main" val="4157769211"/>
              </p:ext>
            </p:extLst>
          </p:nvPr>
        </p:nvGraphicFramePr>
        <p:xfrm>
          <a:off x="404813" y="5514009"/>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405B7C2-D563-4513-E1EB-601268D12B0E}"/>
              </a:ext>
            </a:extLst>
          </p:cNvPr>
          <p:cNvSpPr txBox="1"/>
          <p:nvPr/>
        </p:nvSpPr>
        <p:spPr>
          <a:xfrm>
            <a:off x="404702" y="5249012"/>
            <a:ext cx="605398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a:t>
            </a:r>
            <a:r>
              <a:rPr lang="en-US" altLang="ko-KR" sz="1100" b="1" dirty="0">
                <a:latin typeface="Arial" panose="020B0604020202020204" pitchFamily="34" charset="0"/>
                <a:cs typeface="Arial" panose="020B0604020202020204" pitchFamily="34" charset="0"/>
              </a:rPr>
              <a:t>LEVEL</a:t>
            </a:r>
          </a:p>
        </p:txBody>
      </p:sp>
      <p:graphicFrame>
        <p:nvGraphicFramePr>
          <p:cNvPr id="7" name="표 6">
            <a:extLst>
              <a:ext uri="{FF2B5EF4-FFF2-40B4-BE49-F238E27FC236}">
                <a16:creationId xmlns:a16="http://schemas.microsoft.com/office/drawing/2014/main" id="{6639C1F7-E3EB-6286-0633-E51D6EF973E7}"/>
              </a:ext>
            </a:extLst>
          </p:cNvPr>
          <p:cNvGraphicFramePr>
            <a:graphicFrameLocks noGrp="1"/>
          </p:cNvGraphicFramePr>
          <p:nvPr>
            <p:extLst>
              <p:ext uri="{D42A27DB-BD31-4B8C-83A1-F6EECF244321}">
                <p14:modId xmlns:p14="http://schemas.microsoft.com/office/powerpoint/2010/main" val="1603035916"/>
              </p:ext>
            </p:extLst>
          </p:nvPr>
        </p:nvGraphicFramePr>
        <p:xfrm>
          <a:off x="404813" y="5961049"/>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x</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020182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605679939"/>
              </p:ext>
            </p:extLst>
          </p:nvPr>
        </p:nvGraphicFramePr>
        <p:xfrm>
          <a:off x="386687" y="7299713"/>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491585"/>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3939567698"/>
              </p:ext>
            </p:extLst>
          </p:nvPr>
        </p:nvGraphicFramePr>
        <p:xfrm>
          <a:off x="403137" y="6756222"/>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4117753152"/>
              </p:ext>
            </p:extLst>
          </p:nvPr>
        </p:nvGraphicFramePr>
        <p:xfrm>
          <a:off x="403137" y="1668334"/>
          <a:ext cx="6047025" cy="4572817"/>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TIMEOUT_ERR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TIMEOUT_ERR bit indicates no readout case within the count time set in 0x19.</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718010376"/>
              </p:ext>
            </p:extLst>
          </p:nvPr>
        </p:nvGraphicFramePr>
        <p:xfrm>
          <a:off x="404564" y="1109616"/>
          <a:ext cx="6048450" cy="47928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4210221373"/>
              </p:ext>
            </p:extLst>
          </p:nvPr>
        </p:nvGraphicFramePr>
        <p:xfrm>
          <a:off x="401035" y="2625858"/>
          <a:ext cx="6052400" cy="173883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MAX_CURR_VREF1/2/3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MAX_CURR_VREF1 : MAX_CURR_VREF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MAX_CURR_VREF2 : MAX_CURR_VREF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MAX_CURR_VREF3 : MAX_CURR_VREF for LED3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1783912449"/>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MAX_CURR_VREF1[11:0]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4" name="표 3">
            <a:extLst>
              <a:ext uri="{FF2B5EF4-FFF2-40B4-BE49-F238E27FC236}">
                <a16:creationId xmlns:a16="http://schemas.microsoft.com/office/drawing/2014/main" id="{96ABD091-2D29-51CF-7CDC-CEE8FBA2C7D0}"/>
              </a:ext>
            </a:extLst>
          </p:cNvPr>
          <p:cNvGraphicFramePr>
            <a:graphicFrameLocks noGrp="1"/>
          </p:cNvGraphicFramePr>
          <p:nvPr>
            <p:extLst>
              <p:ext uri="{D42A27DB-BD31-4B8C-83A1-F6EECF244321}">
                <p14:modId xmlns:p14="http://schemas.microsoft.com/office/powerpoint/2010/main" val="1801070095"/>
              </p:ext>
            </p:extLst>
          </p:nvPr>
        </p:nvGraphicFramePr>
        <p:xfrm>
          <a:off x="415467" y="154617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MAX_CURR_VREF2[11:0]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C6700ED-C82D-EDC2-43C1-7C68860C512C}"/>
              </a:ext>
            </a:extLst>
          </p:cNvPr>
          <p:cNvGraphicFramePr>
            <a:graphicFrameLocks noGrp="1"/>
          </p:cNvGraphicFramePr>
          <p:nvPr>
            <p:extLst>
              <p:ext uri="{D42A27DB-BD31-4B8C-83A1-F6EECF244321}">
                <p14:modId xmlns:p14="http://schemas.microsoft.com/office/powerpoint/2010/main" val="3375538301"/>
              </p:ext>
            </p:extLst>
          </p:nvPr>
        </p:nvGraphicFramePr>
        <p:xfrm>
          <a:off x="415467" y="1999567"/>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MAX_CURR_VREF3[11:0]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0A0E28D5-A8BE-3313-6E1E-880FD4AA20EE}"/>
              </a:ext>
            </a:extLst>
          </p:cNvPr>
          <p:cNvSpPr txBox="1"/>
          <p:nvPr/>
        </p:nvSpPr>
        <p:spPr>
          <a:xfrm>
            <a:off x="404813" y="4907280"/>
            <a:ext cx="600918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a:t>
            </a:r>
          </a:p>
        </p:txBody>
      </p:sp>
      <p:graphicFrame>
        <p:nvGraphicFramePr>
          <p:cNvPr id="15" name="표 14">
            <a:extLst>
              <a:ext uri="{FF2B5EF4-FFF2-40B4-BE49-F238E27FC236}">
                <a16:creationId xmlns:a16="http://schemas.microsoft.com/office/drawing/2014/main" id="{21C86FD6-3222-ACED-7A3E-6B28C856AE77}"/>
              </a:ext>
            </a:extLst>
          </p:cNvPr>
          <p:cNvGraphicFramePr>
            <a:graphicFrameLocks noGrp="1"/>
          </p:cNvGraphicFramePr>
          <p:nvPr>
            <p:extLst>
              <p:ext uri="{D42A27DB-BD31-4B8C-83A1-F6EECF244321}">
                <p14:modId xmlns:p14="http://schemas.microsoft.com/office/powerpoint/2010/main" val="4080265346"/>
              </p:ext>
            </p:extLst>
          </p:nvPr>
        </p:nvGraphicFramePr>
        <p:xfrm>
          <a:off x="423594" y="516666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2" name="표 21">
            <a:extLst>
              <a:ext uri="{FF2B5EF4-FFF2-40B4-BE49-F238E27FC236}">
                <a16:creationId xmlns:a16="http://schemas.microsoft.com/office/drawing/2014/main" id="{53FB613B-0FE6-EE64-7FFC-2726DEC85E17}"/>
              </a:ext>
            </a:extLst>
          </p:cNvPr>
          <p:cNvGraphicFramePr>
            <a:graphicFrameLocks noGrp="1"/>
          </p:cNvGraphicFramePr>
          <p:nvPr>
            <p:extLst>
              <p:ext uri="{D42A27DB-BD31-4B8C-83A1-F6EECF244321}">
                <p14:modId xmlns:p14="http://schemas.microsoft.com/office/powerpoint/2010/main" val="418948513"/>
              </p:ext>
            </p:extLst>
          </p:nvPr>
        </p:nvGraphicFramePr>
        <p:xfrm>
          <a:off x="423594" y="5664053"/>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5" name="표 24">
            <a:extLst>
              <a:ext uri="{FF2B5EF4-FFF2-40B4-BE49-F238E27FC236}">
                <a16:creationId xmlns:a16="http://schemas.microsoft.com/office/drawing/2014/main" id="{0DA5D23D-D890-6078-09B1-AF63C6ADE71E}"/>
              </a:ext>
            </a:extLst>
          </p:cNvPr>
          <p:cNvGraphicFramePr>
            <a:graphicFrameLocks noGrp="1"/>
          </p:cNvGraphicFramePr>
          <p:nvPr>
            <p:extLst>
              <p:ext uri="{D42A27DB-BD31-4B8C-83A1-F6EECF244321}">
                <p14:modId xmlns:p14="http://schemas.microsoft.com/office/powerpoint/2010/main" val="3907180836"/>
              </p:ext>
            </p:extLst>
          </p:nvPr>
        </p:nvGraphicFramePr>
        <p:xfrm>
          <a:off x="423594" y="6178437"/>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7" name="표 26">
            <a:extLst>
              <a:ext uri="{FF2B5EF4-FFF2-40B4-BE49-F238E27FC236}">
                <a16:creationId xmlns:a16="http://schemas.microsoft.com/office/drawing/2014/main" id="{90B0DAF9-0D65-B66E-7737-81956F129A1E}"/>
              </a:ext>
            </a:extLst>
          </p:cNvPr>
          <p:cNvGraphicFramePr>
            <a:graphicFrameLocks noGrp="1"/>
          </p:cNvGraphicFramePr>
          <p:nvPr>
            <p:extLst>
              <p:ext uri="{D42A27DB-BD31-4B8C-83A1-F6EECF244321}">
                <p14:modId xmlns:p14="http://schemas.microsoft.com/office/powerpoint/2010/main" val="2351635227"/>
              </p:ext>
            </p:extLst>
          </p:nvPr>
        </p:nvGraphicFramePr>
        <p:xfrm>
          <a:off x="423594" y="669282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9" name="표 28">
            <a:extLst>
              <a:ext uri="{FF2B5EF4-FFF2-40B4-BE49-F238E27FC236}">
                <a16:creationId xmlns:a16="http://schemas.microsoft.com/office/drawing/2014/main" id="{0E0D5B39-D9E2-46CA-5AC9-BF1F96A21F60}"/>
              </a:ext>
            </a:extLst>
          </p:cNvPr>
          <p:cNvGraphicFramePr>
            <a:graphicFrameLocks noGrp="1"/>
          </p:cNvGraphicFramePr>
          <p:nvPr>
            <p:extLst>
              <p:ext uri="{D42A27DB-BD31-4B8C-83A1-F6EECF244321}">
                <p14:modId xmlns:p14="http://schemas.microsoft.com/office/powerpoint/2010/main" val="2123986580"/>
              </p:ext>
            </p:extLst>
          </p:nvPr>
        </p:nvGraphicFramePr>
        <p:xfrm>
          <a:off x="423594" y="7190208"/>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31" name="표 30">
            <a:extLst>
              <a:ext uri="{FF2B5EF4-FFF2-40B4-BE49-F238E27FC236}">
                <a16:creationId xmlns:a16="http://schemas.microsoft.com/office/drawing/2014/main" id="{1B5D6C45-FFEF-1F59-B817-7BCAD4D43654}"/>
              </a:ext>
            </a:extLst>
          </p:cNvPr>
          <p:cNvGraphicFramePr>
            <a:graphicFrameLocks noGrp="1"/>
          </p:cNvGraphicFramePr>
          <p:nvPr>
            <p:extLst>
              <p:ext uri="{D42A27DB-BD31-4B8C-83A1-F6EECF244321}">
                <p14:modId xmlns:p14="http://schemas.microsoft.com/office/powerpoint/2010/main" val="2945841863"/>
              </p:ext>
            </p:extLst>
          </p:nvPr>
        </p:nvGraphicFramePr>
        <p:xfrm>
          <a:off x="423594" y="7704592"/>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33" name="표 32">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493928181"/>
              </p:ext>
            </p:extLst>
          </p:nvPr>
        </p:nvGraphicFramePr>
        <p:xfrm>
          <a:off x="404813" y="8218976"/>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err="1">
                          <a:solidFill>
                            <a:schemeClr val="tx1"/>
                          </a:solidFill>
                          <a:latin typeface="Arial" panose="020B0604020202020204" pitchFamily="34" charset="0"/>
                          <a:ea typeface="+mn-ea"/>
                          <a:cs typeface="Arial" panose="020B0604020202020204" pitchFamily="34" charset="0"/>
                        </a:rPr>
                        <a:t>DELAY_CHx</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74568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219899054"/>
              </p:ext>
            </p:extLst>
          </p:nvPr>
        </p:nvGraphicFramePr>
        <p:xfrm>
          <a:off x="400554" y="152262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 (unit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 (unit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1314161565"/>
              </p:ext>
            </p:extLst>
          </p:nvPr>
        </p:nvGraphicFramePr>
        <p:xfrm>
          <a:off x="400554" y="100633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3614074"/>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2917636702"/>
              </p:ext>
            </p:extLst>
          </p:nvPr>
        </p:nvGraphicFramePr>
        <p:xfrm>
          <a:off x="399387" y="4397052"/>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and the first bit of (n+1)</a:t>
                      </a:r>
                      <a:r>
                        <a:rPr lang="en-US" altLang="ko-KR" sz="900" b="0" baseline="30000" dirty="0" err="1">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incoming from the XC. The setting value should be larger than the 1-bit serial data length time at which the XCR is sending to the daisied XD12R s. So, the proper value depends on the serial baudrate of the XCR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XCR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2836082422"/>
              </p:ext>
            </p:extLst>
          </p:nvPr>
        </p:nvGraphicFramePr>
        <p:xfrm>
          <a:off x="404813" y="3876413"/>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348067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1333564403"/>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700566060"/>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only valid</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under</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a:t>
                      </a:r>
                      <a:r>
                        <a:rPr lang="en-US" altLang="ko-KR" sz="900" b="0" dirty="0" err="1">
                          <a:solidFill>
                            <a:schemeClr val="tx1"/>
                          </a:solidFill>
                          <a:latin typeface="Arial" panose="020B0604020202020204" pitchFamily="34" charset="0"/>
                          <a:ea typeface="+mn-ea"/>
                          <a:cs typeface="Arial" panose="020B0604020202020204" pitchFamily="34" charset="0"/>
                        </a:rPr>
                        <a:t>syncmode</a:t>
                      </a:r>
                      <a:r>
                        <a:rPr lang="en-US" altLang="ko-KR" sz="900" b="0" dirty="0">
                          <a:solidFill>
                            <a:schemeClr val="tx1"/>
                          </a:solidFill>
                          <a:latin typeface="Arial" panose="020B0604020202020204" pitchFamily="34" charset="0"/>
                          <a:ea typeface="+mn-ea"/>
                          <a:cs typeface="Arial" panose="020B0604020202020204" pitchFamily="34" charset="0"/>
                        </a:rPr>
                        <a:t> = 1). Refer the picture below.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pic>
        <p:nvPicPr>
          <p:cNvPr id="43" name="그림 42">
            <a:extLst>
              <a:ext uri="{FF2B5EF4-FFF2-40B4-BE49-F238E27FC236}">
                <a16:creationId xmlns:a16="http://schemas.microsoft.com/office/drawing/2014/main" id="{2B1C1483-DC87-1C6B-8A14-CC9A927D7235}"/>
              </a:ext>
            </a:extLst>
          </p:cNvPr>
          <p:cNvPicPr>
            <a:picLocks noChangeAspect="1"/>
          </p:cNvPicPr>
          <p:nvPr/>
        </p:nvPicPr>
        <p:blipFill>
          <a:blip r:embed="rId2"/>
          <a:stretch>
            <a:fillRect/>
          </a:stretch>
        </p:blipFill>
        <p:spPr>
          <a:xfrm>
            <a:off x="316569" y="2195872"/>
            <a:ext cx="6046695" cy="877885"/>
          </a:xfrm>
          <a:prstGeom prst="rect">
            <a:avLst/>
          </a:prstGeom>
        </p:spPr>
      </p:pic>
      <p:sp>
        <p:nvSpPr>
          <p:cNvPr id="44" name="TextBox 43">
            <a:extLst>
              <a:ext uri="{FF2B5EF4-FFF2-40B4-BE49-F238E27FC236}">
                <a16:creationId xmlns:a16="http://schemas.microsoft.com/office/drawing/2014/main" id="{19602BED-C8B2-1F88-3D7A-109D6FB697B5}"/>
              </a:ext>
            </a:extLst>
          </p:cNvPr>
          <p:cNvSpPr txBox="1"/>
          <p:nvPr/>
        </p:nvSpPr>
        <p:spPr>
          <a:xfrm>
            <a:off x="404813" y="345617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76336407"/>
              </p:ext>
            </p:extLst>
          </p:nvPr>
        </p:nvGraphicFramePr>
        <p:xfrm>
          <a:off x="404813" y="3712173"/>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1658117645"/>
              </p:ext>
            </p:extLst>
          </p:nvPr>
        </p:nvGraphicFramePr>
        <p:xfrm>
          <a:off x="417695" y="4065773"/>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1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 determines internal SVSYNC rising / falling position.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363930"/>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RSTCNT</a:t>
            </a:r>
          </a:p>
        </p:txBody>
      </p:sp>
      <p:graphicFrame>
        <p:nvGraphicFramePr>
          <p:cNvPr id="4" name="표 3">
            <a:extLst>
              <a:ext uri="{FF2B5EF4-FFF2-40B4-BE49-F238E27FC236}">
                <a16:creationId xmlns:a16="http://schemas.microsoft.com/office/drawing/2014/main" id="{7F3B34E6-1C8B-528A-478F-C1A45C921525}"/>
              </a:ext>
            </a:extLst>
          </p:cNvPr>
          <p:cNvGraphicFramePr>
            <a:graphicFrameLocks noGrp="1"/>
          </p:cNvGraphicFramePr>
          <p:nvPr>
            <p:extLst>
              <p:ext uri="{D42A27DB-BD31-4B8C-83A1-F6EECF244321}">
                <p14:modId xmlns:p14="http://schemas.microsoft.com/office/powerpoint/2010/main" val="606930469"/>
              </p:ext>
            </p:extLst>
          </p:nvPr>
        </p:nvGraphicFramePr>
        <p:xfrm>
          <a:off x="404813" y="5619929"/>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RSTCNT[10:0]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920706360"/>
              </p:ext>
            </p:extLst>
          </p:nvPr>
        </p:nvGraphicFramePr>
        <p:xfrm>
          <a:off x="417695" y="6093062"/>
          <a:ext cx="6046695" cy="64802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is counted by a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/64 from a last svsync, reset at every </a:t>
                      </a:r>
                      <a:r>
                        <a:rPr lang="en-US" altLang="ko-KR" sz="900" b="0" dirty="0" err="1">
                          <a:solidFill>
                            <a:schemeClr val="tx1"/>
                          </a:solidFill>
                          <a:latin typeface="Arial" panose="020B0604020202020204" pitchFamily="34" charset="0"/>
                          <a:ea typeface="+mn-ea"/>
                          <a:cs typeface="Arial" panose="020B0604020202020204" pitchFamily="34" charset="0"/>
                        </a:rPr>
                        <a:t>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208613"/>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2012943670"/>
              </p:ext>
            </p:extLst>
          </p:nvPr>
        </p:nvGraphicFramePr>
        <p:xfrm>
          <a:off x="404813" y="7464612"/>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a:r>
                        <a:rPr lang="en-US" sz="700" dirty="0">
                          <a:latin typeface="Arial" panose="020B0604020202020204" pitchFamily="34" charset="0"/>
                          <a:cs typeface="Arial" panose="020B0604020202020204" pitchFamily="34" charset="0"/>
                        </a:rPr>
                        <a:t>TIMEOUT[9:0]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876711041"/>
              </p:ext>
            </p:extLst>
          </p:nvPr>
        </p:nvGraphicFramePr>
        <p:xfrm>
          <a:off x="404813" y="7937745"/>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2135025107"/>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FLLCNT is counted by a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/64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XD12R  and set to 1 just before the vsync is not asserted if the vsync will be not supplied any more to the XD12R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704924327"/>
              </p:ext>
            </p:extLst>
          </p:nvPr>
        </p:nvGraphicFramePr>
        <p:xfrm>
          <a:off x="404813" y="1553077"/>
          <a:ext cx="6048379" cy="387840"/>
        </p:xfrm>
        <a:graphic>
          <a:graphicData uri="http://schemas.openxmlformats.org/drawingml/2006/table">
            <a:tbl>
              <a:tblPr firstRow="1" bandRow="1">
                <a:tableStyleId>{5C22544A-7EE6-4342-B048-85BDC9FD1C3A}</a:tableStyleId>
              </a:tblPr>
              <a:tblGrid>
                <a:gridCol w="296942">
                  <a:extLst>
                    <a:ext uri="{9D8B030D-6E8A-4147-A177-3AD203B41FA5}">
                      <a16:colId xmlns:a16="http://schemas.microsoft.com/office/drawing/2014/main" val="657570846"/>
                    </a:ext>
                  </a:extLst>
                </a:gridCol>
                <a:gridCol w="347491">
                  <a:extLst>
                    <a:ext uri="{9D8B030D-6E8A-4147-A177-3AD203B41FA5}">
                      <a16:colId xmlns:a16="http://schemas.microsoft.com/office/drawing/2014/main" val="3259894497"/>
                    </a:ext>
                  </a:extLst>
                </a:gridCol>
                <a:gridCol w="466020">
                  <a:extLst>
                    <a:ext uri="{9D8B030D-6E8A-4147-A177-3AD203B41FA5}">
                      <a16:colId xmlns:a16="http://schemas.microsoft.com/office/drawing/2014/main" val="4170535043"/>
                    </a:ext>
                  </a:extLst>
                </a:gridCol>
                <a:gridCol w="427835">
                  <a:extLst>
                    <a:ext uri="{9D8B030D-6E8A-4147-A177-3AD203B41FA5}">
                      <a16:colId xmlns:a16="http://schemas.microsoft.com/office/drawing/2014/main" val="2079070694"/>
                    </a:ext>
                  </a:extLst>
                </a:gridCol>
                <a:gridCol w="450416">
                  <a:extLst>
                    <a:ext uri="{9D8B030D-6E8A-4147-A177-3AD203B41FA5}">
                      <a16:colId xmlns:a16="http://schemas.microsoft.com/office/drawing/2014/main" val="4213315911"/>
                    </a:ext>
                  </a:extLst>
                </a:gridCol>
                <a:gridCol w="452837">
                  <a:extLst>
                    <a:ext uri="{9D8B030D-6E8A-4147-A177-3AD203B41FA5}">
                      <a16:colId xmlns:a16="http://schemas.microsoft.com/office/drawing/2014/main" val="2769999950"/>
                    </a:ext>
                  </a:extLst>
                </a:gridCol>
                <a:gridCol w="478250">
                  <a:extLst>
                    <a:ext uri="{9D8B030D-6E8A-4147-A177-3AD203B41FA5}">
                      <a16:colId xmlns:a16="http://schemas.microsoft.com/office/drawing/2014/main" val="135637185"/>
                    </a:ext>
                  </a:extLst>
                </a:gridCol>
                <a:gridCol w="394532">
                  <a:extLst>
                    <a:ext uri="{9D8B030D-6E8A-4147-A177-3AD203B41FA5}">
                      <a16:colId xmlns:a16="http://schemas.microsoft.com/office/drawing/2014/main" val="3038050475"/>
                    </a:ext>
                  </a:extLst>
                </a:gridCol>
                <a:gridCol w="394532">
                  <a:extLst>
                    <a:ext uri="{9D8B030D-6E8A-4147-A177-3AD203B41FA5}">
                      <a16:colId xmlns:a16="http://schemas.microsoft.com/office/drawing/2014/main" val="1979433044"/>
                    </a:ext>
                  </a:extLst>
                </a:gridCol>
                <a:gridCol w="394532">
                  <a:extLst>
                    <a:ext uri="{9D8B030D-6E8A-4147-A177-3AD203B41FA5}">
                      <a16:colId xmlns:a16="http://schemas.microsoft.com/office/drawing/2014/main" val="4270661649"/>
                    </a:ext>
                  </a:extLst>
                </a:gridCol>
                <a:gridCol w="394532">
                  <a:extLst>
                    <a:ext uri="{9D8B030D-6E8A-4147-A177-3AD203B41FA5}">
                      <a16:colId xmlns:a16="http://schemas.microsoft.com/office/drawing/2014/main" val="3027041370"/>
                    </a:ext>
                  </a:extLst>
                </a:gridCol>
                <a:gridCol w="394532">
                  <a:extLst>
                    <a:ext uri="{9D8B030D-6E8A-4147-A177-3AD203B41FA5}">
                      <a16:colId xmlns:a16="http://schemas.microsoft.com/office/drawing/2014/main" val="2852526216"/>
                    </a:ext>
                  </a:extLst>
                </a:gridCol>
                <a:gridCol w="397067">
                  <a:extLst>
                    <a:ext uri="{9D8B030D-6E8A-4147-A177-3AD203B41FA5}">
                      <a16:colId xmlns:a16="http://schemas.microsoft.com/office/drawing/2014/main" val="103420222"/>
                    </a:ext>
                  </a:extLst>
                </a:gridCol>
                <a:gridCol w="394532">
                  <a:extLst>
                    <a:ext uri="{9D8B030D-6E8A-4147-A177-3AD203B41FA5}">
                      <a16:colId xmlns:a16="http://schemas.microsoft.com/office/drawing/2014/main" val="1470405609"/>
                    </a:ext>
                  </a:extLst>
                </a:gridCol>
                <a:gridCol w="364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FLL_RANGE[1:0]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FLLCNT[20:12]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3672764367"/>
              </p:ext>
            </p:extLst>
          </p:nvPr>
        </p:nvGraphicFramePr>
        <p:xfrm>
          <a:off x="404812" y="1096476"/>
          <a:ext cx="6048376"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842922">
                  <a:extLst>
                    <a:ext uri="{9D8B030D-6E8A-4147-A177-3AD203B41FA5}">
                      <a16:colId xmlns:a16="http://schemas.microsoft.com/office/drawing/2014/main" val="2079070694"/>
                    </a:ext>
                  </a:extLst>
                </a:gridCol>
                <a:gridCol w="384274">
                  <a:extLst>
                    <a:ext uri="{9D8B030D-6E8A-4147-A177-3AD203B41FA5}">
                      <a16:colId xmlns:a16="http://schemas.microsoft.com/office/drawing/2014/main" val="4213315911"/>
                    </a:ext>
                  </a:extLst>
                </a:gridCol>
                <a:gridCol w="376548">
                  <a:extLst>
                    <a:ext uri="{9D8B030D-6E8A-4147-A177-3AD203B41FA5}">
                      <a16:colId xmlns:a16="http://schemas.microsoft.com/office/drawing/2014/main" val="2769999950"/>
                    </a:ext>
                  </a:extLst>
                </a:gridCol>
                <a:gridCol w="426431">
                  <a:extLst>
                    <a:ext uri="{9D8B030D-6E8A-4147-A177-3AD203B41FA5}">
                      <a16:colId xmlns:a16="http://schemas.microsoft.com/office/drawing/2014/main" val="135637185"/>
                    </a:ext>
                  </a:extLst>
                </a:gridCol>
                <a:gridCol w="361860">
                  <a:extLst>
                    <a:ext uri="{9D8B030D-6E8A-4147-A177-3AD203B41FA5}">
                      <a16:colId xmlns:a16="http://schemas.microsoft.com/office/drawing/2014/main" val="3038050475"/>
                    </a:ext>
                  </a:extLst>
                </a:gridCol>
                <a:gridCol w="374252">
                  <a:extLst>
                    <a:ext uri="{9D8B030D-6E8A-4147-A177-3AD203B41FA5}">
                      <a16:colId xmlns:a16="http://schemas.microsoft.com/office/drawing/2014/main" val="1979433044"/>
                    </a:ext>
                  </a:extLst>
                </a:gridCol>
                <a:gridCol w="369295">
                  <a:extLst>
                    <a:ext uri="{9D8B030D-6E8A-4147-A177-3AD203B41FA5}">
                      <a16:colId xmlns:a16="http://schemas.microsoft.com/office/drawing/2014/main" val="4270661649"/>
                    </a:ext>
                  </a:extLst>
                </a:gridCol>
                <a:gridCol w="376730">
                  <a:extLst>
                    <a:ext uri="{9D8B030D-6E8A-4147-A177-3AD203B41FA5}">
                      <a16:colId xmlns:a16="http://schemas.microsoft.com/office/drawing/2014/main" val="3027041370"/>
                    </a:ext>
                  </a:extLst>
                </a:gridCol>
                <a:gridCol w="366816">
                  <a:extLst>
                    <a:ext uri="{9D8B030D-6E8A-4147-A177-3AD203B41FA5}">
                      <a16:colId xmlns:a16="http://schemas.microsoft.com/office/drawing/2014/main" val="2852526216"/>
                    </a:ext>
                  </a:extLst>
                </a:gridCol>
                <a:gridCol w="351948">
                  <a:extLst>
                    <a:ext uri="{9D8B030D-6E8A-4147-A177-3AD203B41FA5}">
                      <a16:colId xmlns:a16="http://schemas.microsoft.com/office/drawing/2014/main" val="103420222"/>
                    </a:ext>
                  </a:extLst>
                </a:gridCol>
                <a:gridCol w="351947">
                  <a:extLst>
                    <a:ext uri="{9D8B030D-6E8A-4147-A177-3AD203B41FA5}">
                      <a16:colId xmlns:a16="http://schemas.microsoft.com/office/drawing/2014/main" val="1470405609"/>
                    </a:ext>
                  </a:extLst>
                </a:gridCol>
                <a:gridCol w="3639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3178785592"/>
              </p:ext>
            </p:extLst>
          </p:nvPr>
        </p:nvGraphicFramePr>
        <p:xfrm>
          <a:off x="404812" y="5720961"/>
          <a:ext cx="6034799" cy="128650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Other values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3674817292"/>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WR_PROTECT[9:0]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630109372"/>
              </p:ext>
            </p:extLst>
          </p:nvPr>
        </p:nvGraphicFramePr>
        <p:xfrm>
          <a:off x="414077" y="1550702"/>
          <a:ext cx="6057234" cy="377590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2125243365"/>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BBKN_TH[5:0]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BBKN_EN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3159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183870982"/>
              </p:ext>
            </p:extLst>
          </p:nvPr>
        </p:nvGraphicFramePr>
        <p:xfrm>
          <a:off x="392113" y="5963608"/>
          <a:ext cx="6057234" cy="31552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CHOP_DRV_EN is determinant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CHOP_OSCLDO_EN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CHOP_OSCLDO_EN is determinant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CHOP_OSC_EN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CHOP_OSC_EN determinant OSC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CHOP_IREF_EN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CHOP_IREF_EN determinant IREF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CHOP_DAC_EN determinant DAC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CHOP_BGR_EN determinant BGR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2429498749"/>
              </p:ext>
            </p:extLst>
          </p:nvPr>
        </p:nvGraphicFramePr>
        <p:xfrm>
          <a:off x="404984" y="5577568"/>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619125">
                  <a:extLst>
                    <a:ext uri="{9D8B030D-6E8A-4147-A177-3AD203B41FA5}">
                      <a16:colId xmlns:a16="http://schemas.microsoft.com/office/drawing/2014/main" val="3027041370"/>
                    </a:ext>
                  </a:extLst>
                </a:gridCol>
                <a:gridCol w="4762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CHOP_DRV_EN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CHOP_OSCLDO_EN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CHOP_IREF_EN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825092"/>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627651604"/>
              </p:ext>
            </p:extLst>
          </p:nvPr>
        </p:nvGraphicFramePr>
        <p:xfrm>
          <a:off x="386686" y="1618527"/>
          <a:ext cx="6057230" cy="173691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3447499426"/>
              </p:ext>
            </p:extLst>
          </p:nvPr>
        </p:nvGraphicFramePr>
        <p:xfrm>
          <a:off x="404812" y="1090806"/>
          <a:ext cx="6048365" cy="47928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401278">
                  <a:extLst>
                    <a:ext uri="{9D8B030D-6E8A-4147-A177-3AD203B41FA5}">
                      <a16:colId xmlns:a16="http://schemas.microsoft.com/office/drawing/2014/main" val="135637185"/>
                    </a:ext>
                  </a:extLst>
                </a:gridCol>
                <a:gridCol w="401278">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6145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4294135543"/>
              </p:ext>
            </p:extLst>
          </p:nvPr>
        </p:nvGraphicFramePr>
        <p:xfrm>
          <a:off x="395952" y="4753889"/>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2294458813"/>
              </p:ext>
            </p:extLst>
          </p:nvPr>
        </p:nvGraphicFramePr>
        <p:xfrm>
          <a:off x="395955" y="3880174"/>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2472364881"/>
              </p:ext>
            </p:extLst>
          </p:nvPr>
        </p:nvGraphicFramePr>
        <p:xfrm>
          <a:off x="395955" y="4323131"/>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027320"/>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2551898504"/>
              </p:ext>
            </p:extLst>
          </p:nvPr>
        </p:nvGraphicFramePr>
        <p:xfrm>
          <a:off x="395955" y="6721695"/>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SPRD_SPD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4244132292"/>
              </p:ext>
            </p:extLst>
          </p:nvPr>
        </p:nvGraphicFramePr>
        <p:xfrm>
          <a:off x="395955" y="6293034"/>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414867">
                  <a:extLst>
                    <a:ext uri="{9D8B030D-6E8A-4147-A177-3AD203B41FA5}">
                      <a16:colId xmlns:a16="http://schemas.microsoft.com/office/drawing/2014/main" val="4213315911"/>
                    </a:ext>
                  </a:extLst>
                </a:gridCol>
                <a:gridCol w="364067">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SPRD_GAIN[3:0]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2770439329"/>
              </p:ext>
            </p:extLst>
          </p:nvPr>
        </p:nvGraphicFramePr>
        <p:xfrm>
          <a:off x="395875" y="1734018"/>
          <a:ext cx="6063640" cy="340124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1603387654"/>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463550">
                  <a:extLst>
                    <a:ext uri="{9D8B030D-6E8A-4147-A177-3AD203B41FA5}">
                      <a16:colId xmlns:a16="http://schemas.microsoft.com/office/drawing/2014/main" val="2769999950"/>
                    </a:ext>
                  </a:extLst>
                </a:gridCol>
                <a:gridCol w="362975">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2053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273050">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380864"/>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570208614"/>
              </p:ext>
            </p:extLst>
          </p:nvPr>
        </p:nvGraphicFramePr>
        <p:xfrm>
          <a:off x="413751" y="6847159"/>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584073"/>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305037"/>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008468"/>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3767175951"/>
              </p:ext>
            </p:extLst>
          </p:nvPr>
        </p:nvGraphicFramePr>
        <p:xfrm>
          <a:off x="408467" y="8275084"/>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316919675"/>
              </p:ext>
            </p:extLst>
          </p:nvPr>
        </p:nvGraphicFramePr>
        <p:xfrm>
          <a:off x="404815" y="6099298"/>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942217728"/>
              </p:ext>
            </p:extLst>
          </p:nvPr>
        </p:nvGraphicFramePr>
        <p:xfrm>
          <a:off x="404815" y="5652394"/>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2713885924"/>
              </p:ext>
            </p:extLst>
          </p:nvPr>
        </p:nvGraphicFramePr>
        <p:xfrm>
          <a:off x="408467" y="7570225"/>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42135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 / LDO_OSC_CTL / LOD_CTL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1348578482"/>
              </p:ext>
            </p:extLst>
          </p:nvPr>
        </p:nvGraphicFramePr>
        <p:xfrm>
          <a:off x="399057" y="3686127"/>
          <a:ext cx="6054130" cy="47928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OSC_RCTL[3:0]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OFFSET / IREF_CTL / BGR_CTL</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3421376632"/>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DACA_OFS[6:0]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graphicFrame>
        <p:nvGraphicFramePr>
          <p:cNvPr id="5" name="표 4">
            <a:extLst>
              <a:ext uri="{FF2B5EF4-FFF2-40B4-BE49-F238E27FC236}">
                <a16:creationId xmlns:a16="http://schemas.microsoft.com/office/drawing/2014/main" id="{DCDEB022-41A8-B7A5-2F6D-6B7BE8017AE6}"/>
              </a:ext>
            </a:extLst>
          </p:cNvPr>
          <p:cNvGraphicFramePr>
            <a:graphicFrameLocks noGrp="1"/>
          </p:cNvGraphicFramePr>
          <p:nvPr>
            <p:extLst>
              <p:ext uri="{D42A27DB-BD31-4B8C-83A1-F6EECF244321}">
                <p14:modId xmlns:p14="http://schemas.microsoft.com/office/powerpoint/2010/main" val="2983284502"/>
              </p:ext>
            </p:extLst>
          </p:nvPr>
        </p:nvGraphicFramePr>
        <p:xfrm>
          <a:off x="407377" y="2878992"/>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F0312C83-859C-0031-8589-EE9378A2D76F}"/>
              </a:ext>
            </a:extLst>
          </p:cNvPr>
          <p:cNvGraphicFramePr>
            <a:graphicFrameLocks noGrp="1"/>
          </p:cNvGraphicFramePr>
          <p:nvPr>
            <p:extLst>
              <p:ext uri="{D42A27DB-BD31-4B8C-83A1-F6EECF244321}">
                <p14:modId xmlns:p14="http://schemas.microsoft.com/office/powerpoint/2010/main" val="3282676122"/>
              </p:ext>
            </p:extLst>
          </p:nvPr>
        </p:nvGraphicFramePr>
        <p:xfrm>
          <a:off x="403619" y="4234513"/>
          <a:ext cx="6049567"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396844">
                  <a:extLst>
                    <a:ext uri="{9D8B030D-6E8A-4147-A177-3AD203B41FA5}">
                      <a16:colId xmlns:a16="http://schemas.microsoft.com/office/drawing/2014/main" val="2079070694"/>
                    </a:ext>
                  </a:extLst>
                </a:gridCol>
                <a:gridCol w="419200">
                  <a:extLst>
                    <a:ext uri="{9D8B030D-6E8A-4147-A177-3AD203B41FA5}">
                      <a16:colId xmlns:a16="http://schemas.microsoft.com/office/drawing/2014/main" val="4213315911"/>
                    </a:ext>
                  </a:extLst>
                </a:gridCol>
                <a:gridCol w="413611">
                  <a:extLst>
                    <a:ext uri="{9D8B030D-6E8A-4147-A177-3AD203B41FA5}">
                      <a16:colId xmlns:a16="http://schemas.microsoft.com/office/drawing/2014/main" val="2769999950"/>
                    </a:ext>
                  </a:extLst>
                </a:gridCol>
                <a:gridCol w="408022">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LDO_DAC_CTL[3:0]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259773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1810971518"/>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3698336576"/>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1140736945"/>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861907550"/>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799959792"/>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260263506"/>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062240666"/>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2536425212"/>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1022368405"/>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3495992096"/>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2099657067"/>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1755617589"/>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1349578046"/>
              </p:ext>
            </p:extLst>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269861347"/>
              </p:ext>
            </p:extLst>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1033736475"/>
              </p:ext>
            </p:extLst>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2915244592"/>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136746327"/>
              </p:ext>
            </p:extLst>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3182512136"/>
              </p:ext>
            </p:extLst>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1472267095"/>
              </p:ext>
            </p:extLst>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2699462966"/>
              </p:ext>
            </p:extLst>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3909562581"/>
              </p:ext>
            </p:extLst>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617428199"/>
              </p:ext>
            </p:extLst>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2543376988"/>
              </p:ext>
            </p:extLst>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783349435"/>
              </p:ext>
            </p:extLst>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0B926796-826C-8FB6-4304-EFB8BE484653}"/>
              </a:ext>
            </a:extLst>
          </p:cNvPr>
          <p:cNvGrpSpPr/>
          <p:nvPr/>
        </p:nvGrpSpPr>
        <p:grpSpPr>
          <a:xfrm>
            <a:off x="2976684" y="2012056"/>
            <a:ext cx="997628" cy="989567"/>
            <a:chOff x="3030961" y="1951322"/>
            <a:chExt cx="997628" cy="989567"/>
          </a:xfrm>
        </p:grpSpPr>
        <p:sp>
          <p:nvSpPr>
            <p:cNvPr id="4483" name="직사각형 4482">
              <a:extLst>
                <a:ext uri="{FF2B5EF4-FFF2-40B4-BE49-F238E27FC236}">
                  <a16:creationId xmlns:a16="http://schemas.microsoft.com/office/drawing/2014/main" id="{DF49E695-762E-CE84-7A16-54E986048318}"/>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484" name="object 19">
              <a:extLst>
                <a:ext uri="{FF2B5EF4-FFF2-40B4-BE49-F238E27FC236}">
                  <a16:creationId xmlns:a16="http://schemas.microsoft.com/office/drawing/2014/main" id="{7C196ADE-2E63-D7E1-85C6-8DEB225C3CFE}"/>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dirty="0">
                  <a:solidFill>
                    <a:schemeClr val="bg1"/>
                  </a:solidFill>
                  <a:latin typeface="Arial" panose="020B0604020202020204" pitchFamily="34" charset="0"/>
                  <a:cs typeface="Arial" panose="020B0604020202020204" pitchFamily="34" charset="0"/>
                </a:rPr>
                <a:t>XXXXX</a:t>
              </a:r>
              <a:endParaRPr sz="1600" b="1" dirty="0">
                <a:solidFill>
                  <a:schemeClr val="bg1"/>
                </a:solidFill>
                <a:latin typeface="Arial" panose="020B0604020202020204" pitchFamily="34" charset="0"/>
                <a:cs typeface="Arial" panose="020B0604020202020204" pitchFamily="34" charset="0"/>
              </a:endParaRPr>
            </a:p>
          </p:txBody>
        </p:sp>
        <p:sp>
          <p:nvSpPr>
            <p:cNvPr id="4485" name="object 19">
              <a:extLst>
                <a:ext uri="{FF2B5EF4-FFF2-40B4-BE49-F238E27FC236}">
                  <a16:creationId xmlns:a16="http://schemas.microsoft.com/office/drawing/2014/main" id="{5775165B-85C9-715D-A91D-51B00135E9A4}"/>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err="1">
                  <a:solidFill>
                    <a:schemeClr val="bg1"/>
                  </a:solidFill>
                  <a:latin typeface="Arial" panose="020B0604020202020204" pitchFamily="34" charset="0"/>
                  <a:cs typeface="Arial" panose="020B0604020202020204" pitchFamily="34" charset="0"/>
                </a:rPr>
                <a:t>abc</a:t>
              </a:r>
              <a:endParaRPr sz="1000" b="1" dirty="0">
                <a:solidFill>
                  <a:schemeClr val="bg1"/>
                </a:solidFill>
                <a:latin typeface="Arial" panose="020B0604020202020204" pitchFamily="34" charset="0"/>
                <a:cs typeface="Arial" panose="020B0604020202020204" pitchFamily="34" charset="0"/>
              </a:endParaRPr>
            </a:p>
          </p:txBody>
        </p:sp>
        <p:sp>
          <p:nvSpPr>
            <p:cNvPr id="4486" name="object 19">
              <a:extLst>
                <a:ext uri="{FF2B5EF4-FFF2-40B4-BE49-F238E27FC236}">
                  <a16:creationId xmlns:a16="http://schemas.microsoft.com/office/drawing/2014/main" id="{686801C9-6A0A-47E4-F4EC-9B97C4B29728}"/>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a:solidFill>
                    <a:schemeClr val="bg1"/>
                  </a:solidFill>
                  <a:latin typeface="Arial" panose="020B0604020202020204" pitchFamily="34" charset="0"/>
                  <a:cs typeface="Arial" panose="020B0604020202020204" pitchFamily="34" charset="0"/>
                </a:rPr>
                <a:t>YWCD@</a:t>
              </a:r>
              <a:endParaRPr sz="1000" b="1" dirty="0">
                <a:solidFill>
                  <a:schemeClr val="bg1"/>
                </a:solidFill>
                <a:latin typeface="Arial" panose="020B0604020202020204" pitchFamily="34" charset="0"/>
                <a:cs typeface="Arial" panose="020B0604020202020204" pitchFamily="34" charset="0"/>
              </a:endParaRPr>
            </a:p>
          </p:txBody>
        </p:sp>
      </p:grpSp>
      <p:sp>
        <p:nvSpPr>
          <p:cNvPr id="7" name="object 24">
            <a:extLst>
              <a:ext uri="{FF2B5EF4-FFF2-40B4-BE49-F238E27FC236}">
                <a16:creationId xmlns:a16="http://schemas.microsoft.com/office/drawing/2014/main" id="{0BBA2FDD-E2A2-0EC2-D3F2-D59E72D37CA2}"/>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Example code :2025. 07. 07</a:t>
            </a:r>
          </a:p>
          <a:p>
            <a:pPr lvl="4">
              <a:spcBef>
                <a:spcPts val="100"/>
              </a:spcBef>
            </a:pPr>
            <a:r>
              <a:rPr lang="en-US" sz="800" dirty="0">
                <a:latin typeface="Arial" panose="020B0604020202020204" pitchFamily="34" charset="0"/>
                <a:ea typeface="맑은 고딕" panose="020B0503020000020004" pitchFamily="50" charset="-127"/>
                <a:cs typeface="Arial" panose="020B0604020202020204" pitchFamily="34" charset="0"/>
              </a:rPr>
              <a:t>                             wafer Lot </a:t>
            </a:r>
            <a:r>
              <a:rPr lang="ko-KR" altLang="en-US" sz="800" dirty="0">
                <a:latin typeface="Arial" panose="020B0604020202020204" pitchFamily="34" charset="0"/>
                <a:ea typeface="맑은 고딕" panose="020B0503020000020004" pitchFamily="50" charset="-127"/>
                <a:cs typeface="Arial" panose="020B0604020202020204" pitchFamily="34" charset="0"/>
              </a:rPr>
              <a:t> </a:t>
            </a:r>
            <a:r>
              <a:rPr lang="en-US" altLang="ko-KR" sz="800" dirty="0">
                <a:latin typeface="Arial" panose="020B0604020202020204" pitchFamily="34" charset="0"/>
                <a:ea typeface="맑은 고딕" panose="020B0503020000020004" pitchFamily="50" charset="-127"/>
                <a:cs typeface="Arial" panose="020B0604020202020204" pitchFamily="34" charset="0"/>
              </a:rPr>
              <a:t>#1-5</a:t>
            </a:r>
            <a:endParaRPr lang="en-US" sz="800" dirty="0">
              <a:latin typeface="Arial" panose="020B0604020202020204" pitchFamily="34" charset="0"/>
              <a:ea typeface="맑은 고딕" panose="020B0503020000020004" pitchFamily="50" charset="-127"/>
              <a:cs typeface="Arial" panose="020B0604020202020204" pitchFamily="34" charset="0"/>
            </a:endParaRPr>
          </a:p>
        </p:txBody>
      </p:sp>
      <p:sp>
        <p:nvSpPr>
          <p:cNvPr id="18" name="object 18">
            <a:extLst>
              <a:ext uri="{FF2B5EF4-FFF2-40B4-BE49-F238E27FC236}">
                <a16:creationId xmlns:a16="http://schemas.microsoft.com/office/drawing/2014/main" id="{E07664D1-C1ED-69C4-640B-B5BBFE6DABF4}"/>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pic>
        <p:nvPicPr>
          <p:cNvPr id="19" name="object 22">
            <a:extLst>
              <a:ext uri="{FF2B5EF4-FFF2-40B4-BE49-F238E27FC236}">
                <a16:creationId xmlns:a16="http://schemas.microsoft.com/office/drawing/2014/main" id="{CC01A5A4-136B-50B7-E8A0-FBC4C94CE803}"/>
              </a:ext>
            </a:extLst>
          </p:cNvPr>
          <p:cNvPicPr/>
          <p:nvPr/>
        </p:nvPicPr>
        <p:blipFill>
          <a:blip r:embed="rId2" cstate="print"/>
          <a:stretch>
            <a:fillRect/>
          </a:stretch>
        </p:blipFill>
        <p:spPr>
          <a:xfrm>
            <a:off x="1132848" y="3240016"/>
            <a:ext cx="112794" cy="114265"/>
          </a:xfrm>
          <a:prstGeom prst="rect">
            <a:avLst/>
          </a:prstGeom>
        </p:spPr>
      </p:pic>
      <p:sp>
        <p:nvSpPr>
          <p:cNvPr id="20" name="직사각형 19">
            <a:extLst>
              <a:ext uri="{FF2B5EF4-FFF2-40B4-BE49-F238E27FC236}">
                <a16:creationId xmlns:a16="http://schemas.microsoft.com/office/drawing/2014/main" id="{601ACE50-EB3E-5A0B-FC6F-398F47549F8D}"/>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21" name="TextBox 4533">
            <a:extLst>
              <a:ext uri="{FF2B5EF4-FFF2-40B4-BE49-F238E27FC236}">
                <a16:creationId xmlns:a16="http://schemas.microsoft.com/office/drawing/2014/main" id="{B5F6F448-6570-362D-9F87-64B8791D4A24}"/>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JSICAT marking &gt;</a:t>
            </a:r>
            <a:endParaRPr lang="ko-KR" altLang="en-US" sz="1200" b="1" dirty="0">
              <a:latin typeface="Arial" panose="020B0604020202020204" pitchFamily="34" charset="0"/>
              <a:cs typeface="Arial" panose="020B0604020202020204" pitchFamily="34" charset="0"/>
            </a:endParaRPr>
          </a:p>
        </p:txBody>
      </p:sp>
      <p:sp>
        <p:nvSpPr>
          <p:cNvPr id="22" name="object 24">
            <a:extLst>
              <a:ext uri="{FF2B5EF4-FFF2-40B4-BE49-F238E27FC236}">
                <a16:creationId xmlns:a16="http://schemas.microsoft.com/office/drawing/2014/main" id="{BD1FCA71-29AA-7FFC-5E78-EA09D080E9B3}"/>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Fix. Code </a:t>
            </a:r>
            <a:r>
              <a:rPr sz="1200" b="1" dirty="0">
                <a:latin typeface="Arial" panose="020B0604020202020204" pitchFamily="34" charset="0"/>
                <a:cs typeface="Arial" panose="020B0604020202020204" pitchFamily="34" charset="0"/>
              </a:rPr>
              <a:t>IC</a:t>
            </a:r>
            <a:r>
              <a:rPr sz="1200" b="1" spc="-20" dirty="0">
                <a:latin typeface="Arial" panose="020B0604020202020204" pitchFamily="34" charset="0"/>
                <a:cs typeface="Arial" panose="020B0604020202020204" pitchFamily="34" charset="0"/>
              </a:rPr>
              <a:t> </a:t>
            </a:r>
            <a:r>
              <a:rPr sz="1200" b="1" dirty="0">
                <a:latin typeface="Arial" panose="020B0604020202020204" pitchFamily="34" charset="0"/>
                <a:cs typeface="Arial" panose="020B0604020202020204" pitchFamily="34" charset="0"/>
              </a:rPr>
              <a:t>Part</a:t>
            </a:r>
            <a:r>
              <a:rPr sz="1200" b="1" spc="-25" dirty="0">
                <a:latin typeface="Arial" panose="020B0604020202020204" pitchFamily="34" charset="0"/>
                <a:cs typeface="Arial" panose="020B0604020202020204" pitchFamily="34" charset="0"/>
              </a:rPr>
              <a:t> </a:t>
            </a:r>
            <a:r>
              <a:rPr sz="1200" b="1" spc="-20" dirty="0">
                <a:latin typeface="Arial" panose="020B0604020202020204" pitchFamily="34" charset="0"/>
                <a:cs typeface="Arial" panose="020B0604020202020204" pitchFamily="34" charset="0"/>
              </a:rPr>
              <a:t>Name</a:t>
            </a:r>
            <a:r>
              <a:rPr lang="en-US" sz="1200" b="1" spc="-2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XD12R</a:t>
            </a:r>
          </a:p>
          <a:p>
            <a:pPr marL="228600" indent="-228600">
              <a:lnSpc>
                <a:spcPct val="100000"/>
              </a:lnSpc>
              <a:spcBef>
                <a:spcPts val="100"/>
              </a:spcBef>
              <a:buAutoNum type="arabicParenBoth"/>
            </a:pPr>
            <a:endParaRPr lang="en-US" sz="1200" b="1" dirty="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B70A2B5A-7D84-C460-3DCF-975EFAC058F9}"/>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sp>
        <p:nvSpPr>
          <p:cNvPr id="38" name="object 129">
            <a:extLst>
              <a:ext uri="{FF2B5EF4-FFF2-40B4-BE49-F238E27FC236}">
                <a16:creationId xmlns:a16="http://schemas.microsoft.com/office/drawing/2014/main" id="{436C4AE4-77E5-A72B-BE05-F384812CCB0C}"/>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41" name="TextBox 24">
            <a:extLst>
              <a:ext uri="{FF2B5EF4-FFF2-40B4-BE49-F238E27FC236}">
                <a16:creationId xmlns:a16="http://schemas.microsoft.com/office/drawing/2014/main" id="{4B95F45A-B22A-09DF-4B6F-4017A7DF7EA9}"/>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SEMTECH marking &gt;</a:t>
            </a:r>
            <a:endParaRPr lang="ko-KR" altLang="en-US" sz="1200" b="1" dirty="0">
              <a:latin typeface="Arial" panose="020B0604020202020204" pitchFamily="34" charset="0"/>
              <a:cs typeface="Arial" panose="020B0604020202020204" pitchFamily="34" charset="0"/>
            </a:endParaRPr>
          </a:p>
        </p:txBody>
      </p:sp>
      <p:pic>
        <p:nvPicPr>
          <p:cNvPr id="42" name="table">
            <a:extLst>
              <a:ext uri="{FF2B5EF4-FFF2-40B4-BE49-F238E27FC236}">
                <a16:creationId xmlns:a16="http://schemas.microsoft.com/office/drawing/2014/main" id="{6FFCDCD8-54E3-BF90-0BD6-358EF908E2B7}"/>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43" name="object 24">
            <a:extLst>
              <a:ext uri="{FF2B5EF4-FFF2-40B4-BE49-F238E27FC236}">
                <a16:creationId xmlns:a16="http://schemas.microsoft.com/office/drawing/2014/main" id="{6AE1A0A4-04E2-9230-C40E-3B5E2810A41D}"/>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Package Drawings </a:t>
            </a:r>
            <a:r>
              <a:rPr sz="1200" b="1" dirty="0">
                <a:latin typeface="Arial" panose="020B0604020202020204" pitchFamily="34" charset="0"/>
                <a:cs typeface="Arial" panose="020B0604020202020204" pitchFamily="34" charset="0"/>
              </a:rPr>
              <a:t>Marking</a:t>
            </a:r>
            <a:r>
              <a:rPr lang="en-US" sz="1200" b="1" spc="-30" dirty="0">
                <a:latin typeface="Arial" panose="020B0604020202020204" pitchFamily="34" charset="0"/>
                <a:cs typeface="Arial" panose="020B0604020202020204" pitchFamily="34" charset="0"/>
              </a:rPr>
              <a:t>s</a:t>
            </a:r>
            <a:endParaRPr sz="1200" b="1" dirty="0">
              <a:latin typeface="Arial" panose="020B0604020202020204" pitchFamily="34" charset="0"/>
              <a:cs typeface="Arial" panose="020B0604020202020204" pitchFamily="34" charset="0"/>
            </a:endParaRPr>
          </a:p>
        </p:txBody>
      </p:sp>
      <p:sp>
        <p:nvSpPr>
          <p:cNvPr id="44" name="object 24">
            <a:extLst>
              <a:ext uri="{FF2B5EF4-FFF2-40B4-BE49-F238E27FC236}">
                <a16:creationId xmlns:a16="http://schemas.microsoft.com/office/drawing/2014/main" id="{708D742D-7B3C-9BDB-615F-D6D4A3EECA5F}"/>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Assembly production Code : </a:t>
            </a:r>
            <a:r>
              <a:rPr lang="en-US" sz="1200" b="1" spc="-20" dirty="0">
                <a:latin typeface="Arial" panose="020B0604020202020204" pitchFamily="34" charset="0"/>
                <a:cs typeface="Arial" panose="020B0604020202020204" pitchFamily="34" charset="0"/>
              </a:rPr>
              <a:t> </a:t>
            </a:r>
            <a:r>
              <a:rPr lang="en-US" altLang="ko-KR" sz="1050" b="1" dirty="0">
                <a:latin typeface="Arial" panose="020B0604020202020204" pitchFamily="34" charset="0"/>
                <a:cs typeface="Arial" panose="020B0604020202020204" pitchFamily="34" charset="0"/>
              </a:rPr>
              <a:t>CBA2J, CBA2S</a:t>
            </a:r>
            <a:endParaRPr sz="1200" b="1" dirty="0">
              <a:latin typeface="Arial" panose="020B0604020202020204" pitchFamily="34" charset="0"/>
              <a:cs typeface="Arial" panose="020B0604020202020204" pitchFamily="34" charset="0"/>
            </a:endParaRPr>
          </a:p>
        </p:txBody>
      </p:sp>
      <p:sp>
        <p:nvSpPr>
          <p:cNvPr id="45" name="object 24">
            <a:extLst>
              <a:ext uri="{FF2B5EF4-FFF2-40B4-BE49-F238E27FC236}">
                <a16:creationId xmlns:a16="http://schemas.microsoft.com/office/drawing/2014/main" id="{AFA2563C-47AB-C72E-660A-4DEA4D6D5A90}"/>
              </a:ext>
            </a:extLst>
          </p:cNvPr>
          <p:cNvSpPr txBox="1"/>
          <p:nvPr/>
        </p:nvSpPr>
        <p:spPr>
          <a:xfrm>
            <a:off x="-1111250" y="7202785"/>
            <a:ext cx="3526853"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sz="800" dirty="0">
                <a:latin typeface="Arial" panose="020B0604020202020204" pitchFamily="34" charset="0"/>
                <a:cs typeface="Arial" panose="020B0604020202020204" pitchFamily="34" charset="0"/>
              </a:rPr>
              <a:t>** Font Type : Arial</a:t>
            </a:r>
          </a:p>
          <a:p>
            <a:pPr lvl="4">
              <a:spcBef>
                <a:spcPts val="100"/>
              </a:spcBef>
            </a:pPr>
            <a:r>
              <a:rPr lang="en-US" sz="800" dirty="0">
                <a:latin typeface="Arial" panose="020B0604020202020204" pitchFamily="34" charset="0"/>
                <a:cs typeface="Arial" panose="020B0604020202020204" pitchFamily="34" charset="0"/>
              </a:rPr>
              <a:t>    Marking text tolerance : </a:t>
            </a:r>
            <a:r>
              <a:rPr lang="en-US" sz="800" dirty="0">
                <a:latin typeface="Arial" panose="020B0604020202020204" pitchFamily="34" charset="0"/>
                <a:ea typeface="맑은 고딕" panose="020B0503020000020004" pitchFamily="50" charset="-127"/>
                <a:cs typeface="Arial" panose="020B0604020202020204" pitchFamily="34" charset="0"/>
              </a:rPr>
              <a:t>±0.05mm</a:t>
            </a:r>
          </a:p>
        </p:txBody>
      </p:sp>
      <p:sp>
        <p:nvSpPr>
          <p:cNvPr id="46" name="object 10">
            <a:extLst>
              <a:ext uri="{FF2B5EF4-FFF2-40B4-BE49-F238E27FC236}">
                <a16:creationId xmlns:a16="http://schemas.microsoft.com/office/drawing/2014/main" id="{887C044C-85F8-8C52-0A5E-E4ED8AFFD953}"/>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Y</a:t>
            </a:r>
            <a:r>
              <a:rPr sz="900" spc="1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Year</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47" name="table">
            <a:extLst>
              <a:ext uri="{FF2B5EF4-FFF2-40B4-BE49-F238E27FC236}">
                <a16:creationId xmlns:a16="http://schemas.microsoft.com/office/drawing/2014/main" id="{CDC11C2F-D4B8-38D6-BBB5-DC63C4CBC7E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48" name="object 11">
            <a:extLst>
              <a:ext uri="{FF2B5EF4-FFF2-40B4-BE49-F238E27FC236}">
                <a16:creationId xmlns:a16="http://schemas.microsoft.com/office/drawing/2014/main" id="{CE1DDC1A-5507-416B-0700-A9E3026F81D3}"/>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dirty="0">
                <a:latin typeface="Arial"/>
                <a:cs typeface="Arial"/>
              </a:rPr>
              <a:t>W</a:t>
            </a:r>
            <a:r>
              <a:rPr sz="900" spc="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Week</a:t>
            </a:r>
            <a:r>
              <a:rPr sz="900" spc="5" dirty="0">
                <a:latin typeface="Arial"/>
                <a:cs typeface="Arial"/>
              </a:rPr>
              <a:t> </a:t>
            </a:r>
            <a:r>
              <a:rPr sz="900" dirty="0">
                <a:latin typeface="Arial"/>
                <a:cs typeface="Arial"/>
              </a:rPr>
              <a:t>code</a:t>
            </a:r>
            <a:r>
              <a:rPr sz="900" spc="295" dirty="0">
                <a:latin typeface="Arial"/>
                <a:cs typeface="Arial"/>
              </a:rPr>
              <a:t> </a:t>
            </a:r>
            <a:r>
              <a:rPr sz="900" dirty="0">
                <a:latin typeface="Arial"/>
                <a:cs typeface="Arial"/>
              </a:rPr>
              <a:t>,</a:t>
            </a:r>
            <a:r>
              <a:rPr sz="900" spc="325" dirty="0">
                <a:latin typeface="Arial"/>
                <a:cs typeface="Arial"/>
              </a:rPr>
              <a:t> </a:t>
            </a:r>
            <a:r>
              <a:rPr sz="900" dirty="0">
                <a:latin typeface="Arial"/>
                <a:cs typeface="Arial"/>
              </a:rPr>
              <a:t>A=W1,</a:t>
            </a:r>
            <a:r>
              <a:rPr sz="900" spc="160" dirty="0">
                <a:latin typeface="Arial"/>
                <a:cs typeface="Arial"/>
              </a:rPr>
              <a:t>  </a:t>
            </a:r>
            <a:r>
              <a:rPr sz="900" spc="-10" dirty="0">
                <a:latin typeface="Arial"/>
                <a:cs typeface="Arial"/>
              </a:rPr>
              <a:t>B=W2,….</a:t>
            </a:r>
            <a:endParaRPr sz="900" dirty="0">
              <a:latin typeface="Arial"/>
              <a:cs typeface="Arial"/>
            </a:endParaRPr>
          </a:p>
        </p:txBody>
      </p:sp>
      <p:pic>
        <p:nvPicPr>
          <p:cNvPr id="49" name="table">
            <a:extLst>
              <a:ext uri="{FF2B5EF4-FFF2-40B4-BE49-F238E27FC236}">
                <a16:creationId xmlns:a16="http://schemas.microsoft.com/office/drawing/2014/main" id="{6E59BFAB-F276-07E2-15AA-0F2C75B08D75}"/>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50" name="object 12">
            <a:extLst>
              <a:ext uri="{FF2B5EF4-FFF2-40B4-BE49-F238E27FC236}">
                <a16:creationId xmlns:a16="http://schemas.microsoft.com/office/drawing/2014/main" id="{9DA46B66-8819-6B3E-A817-84B3DAB1CFAE}"/>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dirty="0">
                <a:latin typeface="Arial"/>
                <a:cs typeface="Arial"/>
              </a:rPr>
              <a:t>C</a:t>
            </a:r>
            <a:r>
              <a:rPr sz="900" spc="2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Wafer lot,</a:t>
            </a:r>
            <a:r>
              <a:rPr sz="900" spc="18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wafer</a:t>
            </a:r>
            <a:r>
              <a:rPr sz="900" spc="25" dirty="0">
                <a:latin typeface="Arial"/>
                <a:cs typeface="Arial"/>
              </a:rPr>
              <a:t> </a:t>
            </a:r>
            <a:r>
              <a:rPr sz="900" dirty="0">
                <a:latin typeface="Arial"/>
                <a:cs typeface="Arial"/>
              </a:rPr>
              <a:t>Lot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character</a:t>
            </a:r>
            <a:r>
              <a:rPr sz="900" spc="15" dirty="0">
                <a:latin typeface="Arial"/>
                <a:cs typeface="Arial"/>
              </a:rPr>
              <a:t> </a:t>
            </a:r>
            <a:r>
              <a:rPr sz="900" dirty="0">
                <a:latin typeface="Arial"/>
                <a:cs typeface="Arial"/>
              </a:rPr>
              <a:t>(Ex:</a:t>
            </a:r>
            <a:r>
              <a:rPr sz="900" spc="6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t>
            </a:r>
            <a:r>
              <a:rPr sz="900" spc="45" dirty="0">
                <a:latin typeface="Arial"/>
                <a:cs typeface="Arial"/>
              </a:rPr>
              <a:t> </a:t>
            </a:r>
            <a:r>
              <a:rPr sz="900" dirty="0">
                <a:latin typeface="Arial"/>
                <a:cs typeface="Arial"/>
              </a:rPr>
              <a:t>C,</a:t>
            </a:r>
            <a:r>
              <a:rPr sz="900" spc="30" dirty="0">
                <a:latin typeface="Arial"/>
                <a:cs typeface="Arial"/>
              </a:rPr>
              <a:t> </a:t>
            </a:r>
            <a:r>
              <a:rPr sz="900" spc="-25" dirty="0">
                <a:latin typeface="Arial"/>
                <a:cs typeface="Arial"/>
              </a:rPr>
              <a:t>…).</a:t>
            </a:r>
            <a:endParaRPr sz="900" dirty="0">
              <a:latin typeface="Arial"/>
              <a:cs typeface="Arial"/>
            </a:endParaRPr>
          </a:p>
          <a:p>
            <a:pPr marL="266700">
              <a:lnSpc>
                <a:spcPct val="100000"/>
              </a:lnSpc>
              <a:spcBef>
                <a:spcPts val="20"/>
              </a:spcBef>
            </a:pPr>
            <a:r>
              <a:rPr sz="900" dirty="0">
                <a:latin typeface="Arial"/>
                <a:cs typeface="Arial"/>
              </a:rPr>
              <a:t>These</a:t>
            </a:r>
            <a:r>
              <a:rPr sz="900" spc="30" dirty="0">
                <a:latin typeface="Arial"/>
                <a:cs typeface="Arial"/>
              </a:rPr>
              <a:t> </a:t>
            </a:r>
            <a:r>
              <a:rPr sz="900" dirty="0">
                <a:latin typeface="Arial"/>
                <a:cs typeface="Arial"/>
              </a:rPr>
              <a:t>character</a:t>
            </a:r>
            <a:r>
              <a:rPr sz="900" spc="50" dirty="0">
                <a:latin typeface="Arial"/>
                <a:cs typeface="Arial"/>
              </a:rPr>
              <a:t> </a:t>
            </a:r>
            <a:r>
              <a:rPr sz="900" dirty="0">
                <a:latin typeface="Arial"/>
                <a:cs typeface="Arial"/>
              </a:rPr>
              <a:t>cycle</a:t>
            </a:r>
            <a:r>
              <a:rPr sz="900" spc="65"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a</a:t>
            </a:r>
            <a:r>
              <a:rPr sz="900" spc="65" dirty="0">
                <a:latin typeface="Arial"/>
                <a:cs typeface="Arial"/>
              </a:rPr>
              <a:t> </a:t>
            </a:r>
            <a:r>
              <a:rPr sz="900" spc="-20" dirty="0">
                <a:latin typeface="Arial"/>
                <a:cs typeface="Arial"/>
              </a:rPr>
              <a:t>week.</a:t>
            </a:r>
            <a:endParaRPr sz="900" dirty="0">
              <a:latin typeface="Arial"/>
              <a:cs typeface="Arial"/>
            </a:endParaRPr>
          </a:p>
        </p:txBody>
      </p:sp>
      <p:pic>
        <p:nvPicPr>
          <p:cNvPr id="51" name="table">
            <a:extLst>
              <a:ext uri="{FF2B5EF4-FFF2-40B4-BE49-F238E27FC236}">
                <a16:creationId xmlns:a16="http://schemas.microsoft.com/office/drawing/2014/main" id="{3C72237E-AA48-8D0D-7AB6-AA30D5A8D0F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52" name="object 13">
            <a:extLst>
              <a:ext uri="{FF2B5EF4-FFF2-40B4-BE49-F238E27FC236}">
                <a16:creationId xmlns:a16="http://schemas.microsoft.com/office/drawing/2014/main" id="{3E105C42-2789-C087-6073-8D9512EF705D}"/>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dirty="0">
                <a:latin typeface="Arial"/>
                <a:cs typeface="Arial"/>
              </a:rPr>
              <a:t>D</a:t>
            </a:r>
            <a:r>
              <a:rPr sz="900" spc="30" dirty="0">
                <a:latin typeface="Arial"/>
                <a:cs typeface="Arial"/>
              </a:rPr>
              <a:t> </a:t>
            </a:r>
            <a:r>
              <a:rPr sz="900" dirty="0">
                <a:latin typeface="Arial"/>
                <a:cs typeface="Arial"/>
              </a:rPr>
              <a:t>→</a:t>
            </a:r>
            <a:r>
              <a:rPr sz="900" spc="30" dirty="0">
                <a:latin typeface="Arial"/>
                <a:cs typeface="Arial"/>
              </a:rPr>
              <a:t> </a:t>
            </a:r>
            <a:r>
              <a:rPr lang="en-US" sz="900" spc="30" dirty="0">
                <a:latin typeface="Arial"/>
                <a:cs typeface="Arial"/>
              </a:rPr>
              <a:t>Traceability Code </a:t>
            </a:r>
            <a:r>
              <a:rPr sz="900" dirty="0">
                <a:latin typeface="Arial"/>
                <a:cs typeface="Arial"/>
              </a:rPr>
              <a:t>Wafer</a:t>
            </a:r>
            <a:r>
              <a:rPr sz="900" spc="5"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NO.</a:t>
            </a:r>
            <a:r>
              <a:rPr sz="900" spc="315" dirty="0">
                <a:latin typeface="Arial"/>
                <a:cs typeface="Arial"/>
              </a:rPr>
              <a:t> </a:t>
            </a:r>
            <a:r>
              <a:rPr sz="900" dirty="0">
                <a:latin typeface="Arial"/>
                <a:cs typeface="Arial"/>
              </a:rPr>
              <a:t>:</a:t>
            </a:r>
            <a:r>
              <a:rPr sz="900" spc="50" dirty="0">
                <a:latin typeface="Arial"/>
                <a:cs typeface="Arial"/>
              </a:rPr>
              <a:t> </a:t>
            </a:r>
            <a:endParaRPr lang="en-US" sz="900" spc="50" dirty="0">
              <a:latin typeface="Arial"/>
              <a:cs typeface="Arial"/>
            </a:endParaRPr>
          </a:p>
          <a:p>
            <a:pPr marL="182563" indent="84138">
              <a:lnSpc>
                <a:spcPct val="100000"/>
              </a:lnSpc>
              <a:spcBef>
                <a:spcPts val="125"/>
              </a:spcBef>
            </a:pPr>
            <a:r>
              <a:rPr sz="900" dirty="0">
                <a:latin typeface="Arial"/>
                <a:cs typeface="Arial"/>
              </a:rPr>
              <a:t>A</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consists</a:t>
            </a:r>
            <a:r>
              <a:rPr sz="900" spc="15" dirty="0">
                <a:latin typeface="Arial"/>
                <a:cs typeface="Arial"/>
              </a:rPr>
              <a:t> </a:t>
            </a:r>
            <a:r>
              <a:rPr sz="900" dirty="0">
                <a:latin typeface="Arial"/>
                <a:cs typeface="Arial"/>
              </a:rPr>
              <a:t>of</a:t>
            </a:r>
            <a:r>
              <a:rPr sz="900" spc="50" dirty="0">
                <a:latin typeface="Arial"/>
                <a:cs typeface="Arial"/>
              </a:rPr>
              <a:t> </a:t>
            </a:r>
            <a:r>
              <a:rPr sz="900" dirty="0">
                <a:latin typeface="Arial"/>
                <a:cs typeface="Arial"/>
              </a:rPr>
              <a:t>three</a:t>
            </a:r>
            <a:r>
              <a:rPr sz="900" spc="45" dirty="0">
                <a:latin typeface="Arial"/>
                <a:cs typeface="Arial"/>
              </a:rPr>
              <a:t> </a:t>
            </a:r>
            <a:r>
              <a:rPr sz="900" dirty="0">
                <a:latin typeface="Arial"/>
                <a:cs typeface="Arial"/>
              </a:rPr>
              <a:t>wafers.</a:t>
            </a:r>
            <a:r>
              <a:rPr sz="900" spc="31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spc="-25" dirty="0">
                <a:latin typeface="Arial"/>
                <a:cs typeface="Arial"/>
              </a:rPr>
              <a:t>Lot</a:t>
            </a:r>
            <a:r>
              <a:rPr lang="en-US" sz="900" spc="-25" dirty="0">
                <a:latin typeface="Arial"/>
                <a:cs typeface="Arial"/>
              </a:rPr>
              <a:t>.</a:t>
            </a:r>
          </a:p>
          <a:p>
            <a:pPr marL="182563" indent="84138">
              <a:lnSpc>
                <a:spcPct val="100000"/>
              </a:lnSpc>
              <a:spcBef>
                <a:spcPts val="125"/>
              </a:spcBef>
            </a:pPr>
            <a:r>
              <a:rPr sz="900" dirty="0">
                <a:latin typeface="Arial"/>
                <a:cs typeface="Arial"/>
              </a:rPr>
              <a:t>Lot</a:t>
            </a:r>
            <a:r>
              <a:rPr sz="900" spc="40" dirty="0">
                <a:latin typeface="Arial"/>
                <a:cs typeface="Arial"/>
              </a:rPr>
              <a:t> </a:t>
            </a:r>
            <a:r>
              <a:rPr sz="900" dirty="0">
                <a:latin typeface="Arial"/>
                <a:cs typeface="Arial"/>
              </a:rPr>
              <a:t>is</a:t>
            </a:r>
            <a:r>
              <a:rPr sz="900" spc="45"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60" dirty="0">
                <a:latin typeface="Arial"/>
                <a:cs typeface="Arial"/>
              </a:rPr>
              <a:t> </a:t>
            </a:r>
            <a:r>
              <a:rPr sz="900" dirty="0">
                <a:latin typeface="Arial"/>
                <a:cs typeface="Arial"/>
              </a:rPr>
              <a:t>a</a:t>
            </a:r>
            <a:r>
              <a:rPr sz="900" spc="45" dirty="0">
                <a:latin typeface="Arial"/>
                <a:cs typeface="Arial"/>
              </a:rPr>
              <a:t> </a:t>
            </a:r>
            <a:r>
              <a:rPr sz="900" dirty="0">
                <a:latin typeface="Arial"/>
                <a:cs typeface="Arial"/>
              </a:rPr>
              <a:t>character</a:t>
            </a:r>
            <a:r>
              <a:rPr sz="900" spc="40" dirty="0">
                <a:latin typeface="Arial"/>
                <a:cs typeface="Arial"/>
              </a:rPr>
              <a:t> </a:t>
            </a:r>
            <a:r>
              <a:rPr sz="900" dirty="0">
                <a:latin typeface="Arial"/>
                <a:cs typeface="Arial"/>
              </a:rPr>
              <a:t>(Ex:</a:t>
            </a:r>
            <a:r>
              <a:rPr sz="900" spc="75" dirty="0">
                <a:latin typeface="Arial"/>
                <a:cs typeface="Arial"/>
              </a:rPr>
              <a:t> </a:t>
            </a:r>
            <a:r>
              <a:rPr sz="900" spc="-10" dirty="0">
                <a:latin typeface="Arial"/>
                <a:cs typeface="Arial"/>
              </a:rPr>
              <a:t>1,2,3,…)</a:t>
            </a:r>
            <a:endParaRPr sz="900" dirty="0">
              <a:latin typeface="Arial"/>
              <a:cs typeface="Arial"/>
            </a:endParaRPr>
          </a:p>
        </p:txBody>
      </p:sp>
      <p:pic>
        <p:nvPicPr>
          <p:cNvPr id="53" name="table">
            <a:extLst>
              <a:ext uri="{FF2B5EF4-FFF2-40B4-BE49-F238E27FC236}">
                <a16:creationId xmlns:a16="http://schemas.microsoft.com/office/drawing/2014/main" id="{3A4D7DF2-9821-813A-CC3B-1A5A9781C24B}"/>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54" name="object 10">
            <a:extLst>
              <a:ext uri="{FF2B5EF4-FFF2-40B4-BE49-F238E27FC236}">
                <a16:creationId xmlns:a16="http://schemas.microsoft.com/office/drawing/2014/main" id="{3F4802A4-CE43-6C2F-E275-0296B4053A4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a:t>
            </a:r>
            <a:r>
              <a:rPr sz="900" spc="15" dirty="0">
                <a:latin typeface="Arial"/>
                <a:cs typeface="Arial"/>
              </a:rPr>
              <a:t> </a:t>
            </a:r>
            <a:r>
              <a:rPr sz="900" dirty="0">
                <a:latin typeface="Arial"/>
                <a:cs typeface="Arial"/>
              </a:rPr>
              <a:t>→</a:t>
            </a:r>
            <a:r>
              <a:rPr sz="900" spc="20" dirty="0">
                <a:latin typeface="Arial"/>
                <a:cs typeface="Arial"/>
              </a:rPr>
              <a:t> </a:t>
            </a:r>
            <a:r>
              <a:rPr lang="en-US" sz="900" spc="20" dirty="0">
                <a:latin typeface="Arial"/>
                <a:cs typeface="Arial"/>
              </a:rPr>
              <a:t>Assembly plant</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55" name="table">
            <a:extLst>
              <a:ext uri="{FF2B5EF4-FFF2-40B4-BE49-F238E27FC236}">
                <a16:creationId xmlns:a16="http://schemas.microsoft.com/office/drawing/2014/main" id="{337FFB37-A1A6-91CA-1444-1B811EB86C12}"/>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56" name="object 19">
            <a:extLst>
              <a:ext uri="{FF2B5EF4-FFF2-40B4-BE49-F238E27FC236}">
                <a16:creationId xmlns:a16="http://schemas.microsoft.com/office/drawing/2014/main" id="{85A9BBA8-9E97-0C84-DB3F-305341E0BBF6}"/>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CBA2J</a:t>
            </a:r>
            <a:endParaRPr sz="2000" b="1" dirty="0">
              <a:latin typeface="Arial" panose="020B0604020202020204" pitchFamily="34" charset="0"/>
              <a:cs typeface="Arial" panose="020B0604020202020204" pitchFamily="34" charset="0"/>
            </a:endParaRPr>
          </a:p>
        </p:txBody>
      </p:sp>
      <p:sp>
        <p:nvSpPr>
          <p:cNvPr id="57" name="object 19">
            <a:extLst>
              <a:ext uri="{FF2B5EF4-FFF2-40B4-BE49-F238E27FC236}">
                <a16:creationId xmlns:a16="http://schemas.microsoft.com/office/drawing/2014/main" id="{3284A6AF-7121-936D-2A80-4626E8F9F5E6}"/>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58" name="object 19">
            <a:extLst>
              <a:ext uri="{FF2B5EF4-FFF2-40B4-BE49-F238E27FC236}">
                <a16:creationId xmlns:a16="http://schemas.microsoft.com/office/drawing/2014/main" id="{5828DA3C-3E72-49CC-B228-6DACDD4F2A6B}"/>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A45AB195-67EF-B230-C453-FDA9193DE3AF}"/>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60" name="object 19">
            <a:extLst>
              <a:ext uri="{FF2B5EF4-FFF2-40B4-BE49-F238E27FC236}">
                <a16:creationId xmlns:a16="http://schemas.microsoft.com/office/drawing/2014/main" id="{A458A3E4-10BA-0BAD-FD2A-E8F6D1C110AA}"/>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CBA2S</a:t>
            </a:r>
            <a:endParaRPr sz="2000" b="1" dirty="0">
              <a:latin typeface="Arial" panose="020B0604020202020204" pitchFamily="34" charset="0"/>
              <a:cs typeface="Arial" panose="020B0604020202020204" pitchFamily="34" charset="0"/>
            </a:endParaRPr>
          </a:p>
        </p:txBody>
      </p:sp>
      <p:sp>
        <p:nvSpPr>
          <p:cNvPr id="61" name="object 19">
            <a:extLst>
              <a:ext uri="{FF2B5EF4-FFF2-40B4-BE49-F238E27FC236}">
                <a16:creationId xmlns:a16="http://schemas.microsoft.com/office/drawing/2014/main" id="{3ECD27CD-7DEF-1BF1-0AA5-24021E20B8FA}"/>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62" name="object 19">
            <a:extLst>
              <a:ext uri="{FF2B5EF4-FFF2-40B4-BE49-F238E27FC236}">
                <a16:creationId xmlns:a16="http://schemas.microsoft.com/office/drawing/2014/main" id="{14C6ED34-A95C-660E-4918-9D9C55787A8B}"/>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pic>
        <p:nvPicPr>
          <p:cNvPr id="63" name="object 22">
            <a:extLst>
              <a:ext uri="{FF2B5EF4-FFF2-40B4-BE49-F238E27FC236}">
                <a16:creationId xmlns:a16="http://schemas.microsoft.com/office/drawing/2014/main" id="{E2965C42-BF0B-A564-C8C5-6B0AEB48F905}"/>
              </a:ext>
            </a:extLst>
          </p:cNvPr>
          <p:cNvPicPr/>
          <p:nvPr/>
        </p:nvPicPr>
        <p:blipFill>
          <a:blip r:embed="rId2" cstate="print"/>
          <a:stretch>
            <a:fillRect/>
          </a:stretch>
        </p:blipFill>
        <p:spPr>
          <a:xfrm>
            <a:off x="4366399" y="3240016"/>
            <a:ext cx="112794" cy="114265"/>
          </a:xfrm>
          <a:prstGeom prst="rect">
            <a:avLst/>
          </a:prstGeom>
        </p:spPr>
      </p:pic>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dirty="0">
                <a:latin typeface="Arial"/>
                <a:cs typeface="Arial"/>
              </a:rPr>
              <a:t>Body TOP Marking </a:t>
            </a:r>
            <a:endParaRPr lang="en-US" altLang="ko-KR" sz="1400" dirty="0">
              <a:latin typeface="Arial"/>
              <a:cs typeface="Arial"/>
            </a:endParaRPr>
          </a:p>
        </p:txBody>
      </p:sp>
      <p:sp>
        <p:nvSpPr>
          <p:cNvPr id="4482" name="타원 4481">
            <a:extLst>
              <a:ext uri="{FF2B5EF4-FFF2-40B4-BE49-F238E27FC236}">
                <a16:creationId xmlns:a16="http://schemas.microsoft.com/office/drawing/2014/main" id="{4C204CD4-FEA8-796B-E39D-9011CDC9AFFD}"/>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Tree>
    <p:extLst>
      <p:ext uri="{BB962C8B-B14F-4D97-AF65-F5344CB8AC3E}">
        <p14:creationId xmlns:p14="http://schemas.microsoft.com/office/powerpoint/2010/main" val="1915130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dirty="0">
                <a:latin typeface="Arial"/>
                <a:cs typeface="Arial"/>
              </a:rPr>
              <a:t>1</a:t>
            </a:r>
            <a:r>
              <a:rPr sz="1050" spc="-5" dirty="0">
                <a:latin typeface="Arial"/>
                <a:cs typeface="Arial"/>
              </a:rPr>
              <a:t>)</a:t>
            </a:r>
            <a:r>
              <a:rPr sz="1050" spc="-45" dirty="0">
                <a:latin typeface="Arial"/>
                <a:cs typeface="Arial"/>
              </a:rPr>
              <a:t> </a:t>
            </a:r>
            <a:r>
              <a:rPr sz="1200" spc="-5" dirty="0">
                <a:latin typeface="Arial"/>
                <a:cs typeface="Arial"/>
              </a:rPr>
              <a:t>JSICAT</a:t>
            </a:r>
            <a:endParaRPr sz="1050" dirty="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lnSpc>
                <a:spcPct val="100000"/>
              </a:lnSpc>
              <a:spcBef>
                <a:spcPts val="100"/>
              </a:spcBef>
            </a:pPr>
            <a:r>
              <a:rPr lang="en-US" altLang="ko-KR" sz="1400" b="1" spc="-5" dirty="0">
                <a:latin typeface="Arial"/>
                <a:cs typeface="Arial"/>
              </a:rPr>
              <a:t>Embossed</a:t>
            </a:r>
            <a:r>
              <a:rPr lang="en-US" altLang="ko-KR" sz="1400" b="1" spc="-50" dirty="0">
                <a:latin typeface="Arial"/>
                <a:cs typeface="Arial"/>
              </a:rPr>
              <a:t> </a:t>
            </a:r>
            <a:r>
              <a:rPr lang="en-US" altLang="ko-KR" sz="1400" b="1" dirty="0">
                <a:latin typeface="Arial"/>
                <a:cs typeface="Arial"/>
              </a:rPr>
              <a:t>tape</a:t>
            </a:r>
            <a:r>
              <a:rPr lang="en-US" altLang="ko-KR" sz="1400" b="1" spc="-40" dirty="0">
                <a:latin typeface="Arial"/>
                <a:cs typeface="Arial"/>
              </a:rPr>
              <a:t> </a:t>
            </a:r>
            <a:r>
              <a:rPr lang="en-US" altLang="ko-KR" sz="1400" b="1" dirty="0">
                <a:latin typeface="Arial"/>
                <a:cs typeface="Arial"/>
              </a:rPr>
              <a:t>and</a:t>
            </a:r>
            <a:r>
              <a:rPr lang="en-US" altLang="ko-KR" sz="1400" b="1" spc="-30" dirty="0">
                <a:latin typeface="Arial"/>
                <a:cs typeface="Arial"/>
              </a:rPr>
              <a:t> </a:t>
            </a:r>
            <a:r>
              <a:rPr lang="en-US" altLang="ko-KR" sz="1400" b="1" spc="-5" dirty="0">
                <a:latin typeface="Arial"/>
                <a:cs typeface="Arial"/>
              </a:rPr>
              <a:t>reel</a:t>
            </a:r>
            <a:r>
              <a:rPr lang="en-US" altLang="ko-KR" sz="1400" b="1" spc="-45" dirty="0">
                <a:latin typeface="Arial"/>
                <a:cs typeface="Arial"/>
              </a:rPr>
              <a:t> </a:t>
            </a:r>
            <a:r>
              <a:rPr lang="en-US" altLang="ko-KR" sz="1400" b="1" dirty="0">
                <a:latin typeface="Arial"/>
                <a:cs typeface="Arial"/>
              </a:rPr>
              <a:t>data</a:t>
            </a:r>
            <a:endParaRPr lang="en-US" altLang="ko-KR" sz="1400" dirty="0">
              <a:latin typeface="Arial"/>
              <a:cs typeface="Arial"/>
            </a:endParaRP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Tape and </a:t>
            </a:r>
            <a:r>
              <a:rPr lang="en-US" sz="900" b="1" spc="15" dirty="0">
                <a:solidFill>
                  <a:prstClr val="black"/>
                </a:solidFill>
                <a:latin typeface="Arial" panose="020B0604020202020204" pitchFamily="34" charset="0"/>
                <a:cs typeface="Arial" panose="020B0604020202020204" pitchFamily="34" charset="0"/>
              </a:rPr>
              <a:t>reel </a:t>
            </a:r>
            <a:r>
              <a:rPr kumimoji="0" lang="en-US" sz="900" b="1" spc="15" dirty="0">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3036793649"/>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0.20±0.05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dirty="0">
                          <a:solidFill>
                            <a:schemeClr val="tx1"/>
                          </a:solidFill>
                          <a:latin typeface="Arial" panose="020B0604020202020204" pitchFamily="34" charset="0"/>
                          <a:cs typeface="Arial" panose="020B0604020202020204" pitchFamily="34" charset="0"/>
                        </a:rPr>
                        <a:t>单位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Mm</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5.50±0.10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材质</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ABS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4.00±0.10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8.00±0.10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品名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QFN3*3-0.75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3.18±0.10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3.22±0.10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制造商</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新创源</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dirty="0">
                <a:latin typeface="Arial"/>
                <a:cs typeface="Arial"/>
              </a:rPr>
              <a:t>2</a:t>
            </a:r>
            <a:r>
              <a:rPr sz="1200" spc="-5" dirty="0">
                <a:latin typeface="Arial"/>
                <a:cs typeface="Arial"/>
              </a:rPr>
              <a:t>)</a:t>
            </a:r>
            <a:r>
              <a:rPr sz="1200" spc="-45" dirty="0">
                <a:latin typeface="Arial"/>
                <a:cs typeface="Arial"/>
              </a:rPr>
              <a:t> </a:t>
            </a:r>
            <a:r>
              <a:rPr lang="en-US" sz="1200" spc="-45" dirty="0">
                <a:latin typeface="Arial"/>
                <a:cs typeface="Arial"/>
              </a:rPr>
              <a:t>SEMTECH</a:t>
            </a:r>
            <a:endParaRPr sz="1200" dirty="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a:t>
            </a:r>
            <a:r>
              <a:rPr lang="en-US" sz="900" b="1" spc="15" dirty="0">
                <a:solidFill>
                  <a:prstClr val="black"/>
                </a:solidFill>
                <a:latin typeface="Arial" panose="020B0604020202020204" pitchFamily="34" charset="0"/>
                <a:cs typeface="Arial" panose="020B0604020202020204" pitchFamily="34" charset="0"/>
              </a:rPr>
              <a:t>7</a:t>
            </a:r>
            <a:r>
              <a:rPr kumimoji="0" lang="en-US" sz="900" b="1" spc="15" dirty="0">
                <a:solidFill>
                  <a:prstClr val="black"/>
                </a:solidFill>
                <a:latin typeface="Arial" panose="020B0604020202020204" pitchFamily="34" charset="0"/>
                <a:ea typeface="+mn-ea"/>
                <a:cs typeface="Arial" panose="020B0604020202020204" pitchFamily="34" charset="0"/>
              </a:rPr>
              <a:t>.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Note : </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1. Metric dimensions govern-English are in parentheses for reference only.</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dirty="0">
                <a:latin typeface="Arial" panose="020B0604020202020204" pitchFamily="34" charset="0"/>
                <a:cs typeface="Arial" panose="020B0604020202020204" pitchFamily="34" charset="0"/>
              </a:rPr>
              <a:t>3. The component cannot rotate more than 10</a:t>
            </a:r>
            <a:r>
              <a:rPr lang="en-US" altLang="ko-KR" sz="1000" dirty="0">
                <a:latin typeface="맑은 고딕" panose="020B0503020000020004" pitchFamily="50" charset="-127"/>
                <a:ea typeface="맑은 고딕" panose="020B0503020000020004" pitchFamily="50" charset="-127"/>
                <a:cs typeface="Arial" panose="020B0604020202020204" pitchFamily="34" charset="0"/>
              </a:rPr>
              <a:t>︒</a:t>
            </a:r>
            <a:r>
              <a:rPr lang="en-US" altLang="ko-KR" sz="1000" dirty="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dirty="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751329291"/>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Tape Size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1.75±0.1mm (0.069±0.004”)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5.5±0.1mm (0.217±0.004”)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8±0.1mm (0.315±0.004”)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4±0.1mm (0.157±0.004”)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2±0.1mm (0.079±0.004”)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3472337985"/>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a:t>
                      </a:r>
                      <a:br>
                        <a:rPr lang="en-US" altLang="ko-KR" sz="600" b="0" dirty="0">
                          <a:solidFill>
                            <a:schemeClr val="tx1"/>
                          </a:solidFill>
                          <a:latin typeface="Arial" panose="020B0604020202020204" pitchFamily="34" charset="0"/>
                          <a:ea typeface="+mn-ea"/>
                          <a:cs typeface="Arial" panose="020B0604020202020204" pitchFamily="34" charset="0"/>
                        </a:rPr>
                      </a:br>
                      <a:r>
                        <a:rPr lang="en-US" altLang="ko-KR" sz="600" b="0" dirty="0">
                          <a:solidFill>
                            <a:schemeClr val="tx1"/>
                          </a:solidFill>
                          <a:latin typeface="Arial" panose="020B0604020202020204" pitchFamily="34" charset="0"/>
                          <a:ea typeface="+mn-ea"/>
                          <a:cs typeface="Arial" panose="020B0604020202020204" pitchFamily="34" charset="0"/>
                        </a:rPr>
                        <a:t>-24L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0.20±0.05mm (0.008±0.002”)</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12mm±0.1mm (0.472±0.004”)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3.22±0.1 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0.75±0.1mm (0.03±0.004”)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821032"/>
            <a:ext cx="6048615" cy="215444"/>
          </a:xfrm>
          <a:prstGeom prst="rect">
            <a:avLst/>
          </a:prstGeom>
          <a:noFill/>
        </p:spPr>
        <p:txBody>
          <a:bodyPr vert="horz" wrap="square" lIns="0" tIns="0" rIns="0" bIns="0" rtlCol="0" anchor="ctr" anchorCtr="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950714" y="2048428"/>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597482" y="2048428"/>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719771" y="2070516"/>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584089" y="403865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29249" y="4247781"/>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36324" y="4246566"/>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57663" y="4240456"/>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5F43BF8-D5E2-952B-D8F5-804FC641D419}"/>
              </a:ext>
            </a:extLst>
          </p:cNvPr>
          <p:cNvSpPr txBox="1"/>
          <p:nvPr/>
        </p:nvSpPr>
        <p:spPr>
          <a:xfrm>
            <a:off x="1911804" y="4155817"/>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extLst>
              <p:ext uri="{D42A27DB-BD31-4B8C-83A1-F6EECF244321}">
                <p14:modId xmlns:p14="http://schemas.microsoft.com/office/powerpoint/2010/main" val="3680206732"/>
              </p:ext>
            </p:extLst>
          </p:nvPr>
        </p:nvGraphicFramePr>
        <p:xfrm>
          <a:off x="3919794" y="4723738"/>
          <a:ext cx="2359085" cy="3339850"/>
        </p:xfrm>
        <a:graphic>
          <a:graphicData uri="http://schemas.openxmlformats.org/drawingml/2006/table">
            <a:tbl>
              <a:tblPr firstRow="1" bandRow="1">
                <a:tableStyleId>{2D5ABB26-0587-4C30-8999-92F81FD0307C}</a:tableStyleId>
              </a:tblPr>
              <a:tblGrid>
                <a:gridCol w="693962">
                  <a:extLst>
                    <a:ext uri="{9D8B030D-6E8A-4147-A177-3AD203B41FA5}">
                      <a16:colId xmlns:a16="http://schemas.microsoft.com/office/drawing/2014/main" val="20000"/>
                    </a:ext>
                  </a:extLst>
                </a:gridCol>
                <a:gridCol w="556456">
                  <a:extLst>
                    <a:ext uri="{9D8B030D-6E8A-4147-A177-3AD203B41FA5}">
                      <a16:colId xmlns:a16="http://schemas.microsoft.com/office/drawing/2014/main" val="20001"/>
                    </a:ext>
                  </a:extLst>
                </a:gridCol>
                <a:gridCol w="545379">
                  <a:extLst>
                    <a:ext uri="{9D8B030D-6E8A-4147-A177-3AD203B41FA5}">
                      <a16:colId xmlns:a16="http://schemas.microsoft.com/office/drawing/2014/main" val="4065758931"/>
                    </a:ext>
                  </a:extLst>
                </a:gridCol>
                <a:gridCol w="563288">
                  <a:extLst>
                    <a:ext uri="{9D8B030D-6E8A-4147-A177-3AD203B41FA5}">
                      <a16:colId xmlns:a16="http://schemas.microsoft.com/office/drawing/2014/main" val="20002"/>
                    </a:ext>
                  </a:extLst>
                </a:gridCol>
              </a:tblGrid>
              <a:tr h="229005">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9005">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extLst>
                  <a:ext uri="{0D108BD9-81ED-4DB2-BD59-A6C34878D82A}">
                    <a16:rowId xmlns:a16="http://schemas.microsoft.com/office/drawing/2014/main" val="232165706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15945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98278" y="4634214"/>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2660200" y="881554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18.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2363268" y="1185896"/>
            <a:ext cx="2656407" cy="169277"/>
          </a:xfrm>
          <a:prstGeom prst="rect">
            <a:avLst/>
          </a:prstGeom>
        </p:spPr>
        <p:txBody>
          <a:bodyPr vert="horz" wrap="square" lIns="0" tIns="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 [TBD]</a:t>
            </a:r>
            <a:endParaRPr kumimoji="0" lang="en-US" altLang="ko-KR" sz="1100" b="1" dirty="0">
              <a:solidFill>
                <a:prstClr val="black"/>
              </a:solidFill>
              <a:latin typeface="Arial"/>
              <a:ea typeface="맑은 고딕" panose="020B0503020000020004" pitchFamily="50" charset="-127"/>
              <a:cs typeface="Arial"/>
            </a:endParaRPr>
          </a:p>
        </p:txBody>
      </p:sp>
      <p:sp>
        <p:nvSpPr>
          <p:cNvPr id="24" name="TextBox 23">
            <a:extLst>
              <a:ext uri="{FF2B5EF4-FFF2-40B4-BE49-F238E27FC236}">
                <a16:creationId xmlns:a16="http://schemas.microsoft.com/office/drawing/2014/main" id="{6F1D99D7-953D-A0B1-E3C7-F81D54B49737}"/>
              </a:ext>
            </a:extLst>
          </p:cNvPr>
          <p:cNvSpPr txBox="1"/>
          <p:nvPr/>
        </p:nvSpPr>
        <p:spPr>
          <a:xfrm>
            <a:off x="683684" y="2939513"/>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sp>
        <p:nvSpPr>
          <p:cNvPr id="15" name="TextBox 14">
            <a:extLst>
              <a:ext uri="{FF2B5EF4-FFF2-40B4-BE49-F238E27FC236}">
                <a16:creationId xmlns:a16="http://schemas.microsoft.com/office/drawing/2014/main" id="{0CB09810-A151-C751-9644-0DADE9A706F0}"/>
              </a:ext>
            </a:extLst>
          </p:cNvPr>
          <p:cNvSpPr txBox="1"/>
          <p:nvPr/>
        </p:nvSpPr>
        <p:spPr>
          <a:xfrm>
            <a:off x="1598278" y="1591805"/>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479475" y="1592262"/>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pic>
        <p:nvPicPr>
          <p:cNvPr id="9" name="그림 8">
            <a:extLst>
              <a:ext uri="{FF2B5EF4-FFF2-40B4-BE49-F238E27FC236}">
                <a16:creationId xmlns:a16="http://schemas.microsoft.com/office/drawing/2014/main" id="{02FD8DDD-4218-E119-5947-7CFC848EC676}"/>
              </a:ext>
            </a:extLst>
          </p:cNvPr>
          <p:cNvPicPr>
            <a:picLocks noChangeAspect="1"/>
          </p:cNvPicPr>
          <p:nvPr/>
        </p:nvPicPr>
        <p:blipFill>
          <a:blip r:embed="rId2"/>
          <a:stretch>
            <a:fillRect/>
          </a:stretch>
        </p:blipFill>
        <p:spPr>
          <a:xfrm>
            <a:off x="404813" y="4943255"/>
            <a:ext cx="2684442" cy="989696"/>
          </a:xfrm>
          <a:prstGeom prst="rect">
            <a:avLst/>
          </a:prstGeom>
        </p:spPr>
      </p:pic>
      <p:sp>
        <p:nvSpPr>
          <p:cNvPr id="2" name="object 84">
            <a:extLst>
              <a:ext uri="{FF2B5EF4-FFF2-40B4-BE49-F238E27FC236}">
                <a16:creationId xmlns:a16="http://schemas.microsoft.com/office/drawing/2014/main" id="{49553C9C-3EB1-76D2-3EC1-977A0C15A833}"/>
              </a:ext>
            </a:extLst>
          </p:cNvPr>
          <p:cNvSpPr txBox="1"/>
          <p:nvPr/>
        </p:nvSpPr>
        <p:spPr>
          <a:xfrm>
            <a:off x="3556004" y="8313738"/>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sp>
        <p:nvSpPr>
          <p:cNvPr id="4" name="직사각형 3">
            <a:extLst>
              <a:ext uri="{FF2B5EF4-FFF2-40B4-BE49-F238E27FC236}">
                <a16:creationId xmlns:a16="http://schemas.microsoft.com/office/drawing/2014/main" id="{1471AEBD-9BA9-1078-4052-F41330159F9E}"/>
              </a:ext>
            </a:extLst>
          </p:cNvPr>
          <p:cNvSpPr/>
          <p:nvPr/>
        </p:nvSpPr>
        <p:spPr>
          <a:xfrm>
            <a:off x="3536954" y="2057321"/>
            <a:ext cx="363790" cy="571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7" name="그림 16">
            <a:extLst>
              <a:ext uri="{FF2B5EF4-FFF2-40B4-BE49-F238E27FC236}">
                <a16:creationId xmlns:a16="http://schemas.microsoft.com/office/drawing/2014/main" id="{70F19BF5-FE86-8607-C86B-BE365181E3BB}"/>
              </a:ext>
            </a:extLst>
          </p:cNvPr>
          <p:cNvPicPr>
            <a:picLocks noChangeAspect="1"/>
          </p:cNvPicPr>
          <p:nvPr/>
        </p:nvPicPr>
        <p:blipFill>
          <a:blip r:embed="rId3"/>
          <a:stretch>
            <a:fillRect/>
          </a:stretch>
        </p:blipFill>
        <p:spPr>
          <a:xfrm>
            <a:off x="3718849" y="1790812"/>
            <a:ext cx="2970031" cy="2850164"/>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2"/>
          <a:stretch>
            <a:fillRect/>
          </a:stretch>
        </p:blipFill>
        <p:spPr>
          <a:xfrm>
            <a:off x="336089" y="1497985"/>
            <a:ext cx="3493136" cy="2842803"/>
          </a:xfrm>
          <a:prstGeom prst="rect">
            <a:avLst/>
          </a:prstGeom>
        </p:spPr>
      </p:pic>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14" name="object 2">
            <a:extLst>
              <a:ext uri="{FF2B5EF4-FFF2-40B4-BE49-F238E27FC236}">
                <a16:creationId xmlns:a16="http://schemas.microsoft.com/office/drawing/2014/main" id="{0DA3FDB8-0BB8-62D3-FA2F-DE8AFC70CBAD}"/>
              </a:ext>
            </a:extLst>
          </p:cNvPr>
          <p:cNvGraphicFramePr>
            <a:graphicFrameLocks noGrp="1"/>
          </p:cNvGraphicFramePr>
          <p:nvPr>
            <p:extLst>
              <p:ext uri="{D42A27DB-BD31-4B8C-83A1-F6EECF244321}">
                <p14:modId xmlns:p14="http://schemas.microsoft.com/office/powerpoint/2010/main" val="225491152"/>
              </p:ext>
            </p:extLst>
          </p:nvPr>
        </p:nvGraphicFramePr>
        <p:xfrm>
          <a:off x="4775344" y="156546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1.8</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18" name="object 84">
            <a:extLst>
              <a:ext uri="{FF2B5EF4-FFF2-40B4-BE49-F238E27FC236}">
                <a16:creationId xmlns:a16="http://schemas.microsoft.com/office/drawing/2014/main" id="{E30F228C-2DA5-3423-A961-6C3D1420DF3F}"/>
              </a:ext>
            </a:extLst>
          </p:cNvPr>
          <p:cNvSpPr txBox="1"/>
          <p:nvPr/>
        </p:nvSpPr>
        <p:spPr>
          <a:xfrm>
            <a:off x="1074047" y="468688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19.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6F863B-59A5-4DCE-B63F-FE618623F17F}">
  <ds:schemaRefs>
    <ds:schemaRef ds:uri="http://purl.org/dc/terms/"/>
    <ds:schemaRef ds:uri="http://schemas.microsoft.com/office/2006/documentManagement/types"/>
    <ds:schemaRef ds:uri="http://www.w3.org/XML/1998/namespace"/>
    <ds:schemaRef ds:uri="http://schemas.openxmlformats.org/package/2006/metadata/core-properties"/>
    <ds:schemaRef ds:uri="b68af7c0-9cef-4e12-8243-523fceba86ee"/>
    <ds:schemaRef ds:uri="http://purl.org/dc/dcmitype/"/>
    <ds:schemaRef ds:uri="http://schemas.microsoft.com/office/infopath/2007/PartnerControl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3.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57713</TotalTime>
  <Words>10644</Words>
  <Application>Microsoft Office PowerPoint</Application>
  <PresentationFormat>A4 용지(210x297mm)</PresentationFormat>
  <Paragraphs>3257</Paragraphs>
  <Slides>39</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39</vt:i4>
      </vt:variant>
    </vt:vector>
  </HeadingPairs>
  <TitlesOfParts>
    <vt:vector size="47" baseType="lpstr">
      <vt:lpstr>Microsoft GothicNeo</vt:lpstr>
      <vt:lpstr>굴림</vt:lpstr>
      <vt:lpstr>맑은 고딕</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moonki cho</cp:lastModifiedBy>
  <cp:revision>1963</cp:revision>
  <cp:lastPrinted>2025-09-16T00:33:36Z</cp:lastPrinted>
  <dcterms:created xsi:type="dcterms:W3CDTF">2020-06-17T04:27:48Z</dcterms:created>
  <dcterms:modified xsi:type="dcterms:W3CDTF">2026-01-09T08:48:14Z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