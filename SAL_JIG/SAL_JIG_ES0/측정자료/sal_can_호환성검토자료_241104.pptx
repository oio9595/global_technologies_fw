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56" r:id="rId4"/>
    <p:sldId id="257" r:id="rId5"/>
    <p:sldId id="258" r:id="rId6"/>
    <p:sldId id="260" r:id="rId7"/>
    <p:sldId id="261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00FF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E7AA31-0E4F-6602-0E21-1AC35D3298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C44B868-C0E9-0319-A188-2E63786D32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F1D323-E689-4DDD-E38B-9DCBEE054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758-7FEC-45FD-B27E-310E2095585C}" type="datetimeFigureOut">
              <a:rPr lang="ko-KR" altLang="en-US" smtClean="0"/>
              <a:t>2024-11-04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CAC871-5A93-2C70-9DED-A0672FE9B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7C3A09-5BC4-6078-8B68-ADE433616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C4061-27F1-4DCE-9354-2ACC559327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7450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9C45F1-BC1A-991E-B5A9-53EEC404F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FEF70D-1584-6208-C06C-F0905E4B0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0845F3-B621-5BF2-9A37-941F75DBC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758-7FEC-45FD-B27E-310E2095585C}" type="datetimeFigureOut">
              <a:rPr lang="ko-KR" altLang="en-US" smtClean="0"/>
              <a:t>2024-11-04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3CFF46-BEBF-52AC-2393-AD4B69C8F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E45E78-1411-5F1D-AB2E-E0963828C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C4061-27F1-4DCE-9354-2ACC559327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8875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326FEA-3A6D-72E1-3467-60C7C0671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A8307C6-9124-FCEF-4842-488694712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80F490-38A1-58C6-7F42-FA1BAB5C8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758-7FEC-45FD-B27E-310E2095585C}" type="datetimeFigureOut">
              <a:rPr lang="ko-KR" altLang="en-US" smtClean="0"/>
              <a:t>2024-11-04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A6E98E-C070-9C7A-5E89-AAAD2B607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ADB9D1-7FF1-6F1C-E9A6-E71A32298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C4061-27F1-4DCE-9354-2ACC559327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9625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645DA4-6BCE-5705-6510-556724BE6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3A7D85-7CF6-9088-F961-136BA4AB86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033B0A5-D321-C358-B217-4A76CF7D6A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4D4069D-483C-0885-4F4D-D78230DD2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758-7FEC-45FD-B27E-310E2095585C}" type="datetimeFigureOut">
              <a:rPr lang="ko-KR" altLang="en-US" smtClean="0"/>
              <a:t>2024-11-04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C4C8D07-A5D8-6523-7EE4-BF4C06B4C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0DB444F-F90B-EE4B-2821-8E1F3CC99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C4061-27F1-4DCE-9354-2ACC559327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6252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B70D97-79D9-CC24-E4B1-FAB09B5F1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BF5C18-E55E-FAB4-ACBD-E9095E62AC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0FB139C-B301-B3A9-88FF-E36D0D4445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0937065-50C6-4DF7-D1E4-CBBDC2A752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6F77B06-8FB2-249B-A8C0-6C06EDB52A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B0F79F7-D38E-9180-5B04-E70FFEDDC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758-7FEC-45FD-B27E-310E2095585C}" type="datetimeFigureOut">
              <a:rPr lang="ko-KR" altLang="en-US" smtClean="0"/>
              <a:t>2024-11-04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B81A4DF-9E5E-ED7F-9FAA-BC005484F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A0561B1-2772-9E1C-1CD4-6773B0EDC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C4061-27F1-4DCE-9354-2ACC559327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1780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469DBB-7811-0EE0-467B-F56E28AEC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92B78B0-EB60-83E4-2BA9-F19E7DA15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758-7FEC-45FD-B27E-310E2095585C}" type="datetimeFigureOut">
              <a:rPr lang="ko-KR" altLang="en-US" smtClean="0"/>
              <a:t>2024-11-04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859B88E-85B5-930A-A76C-F1E4FB528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594089D-96FC-4173-51BB-66BC814E3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C4061-27F1-4DCE-9354-2ACC559327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048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8DC957E-1C08-9410-D08A-AFDFC70B9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758-7FEC-45FD-B27E-310E2095585C}" type="datetimeFigureOut">
              <a:rPr lang="ko-KR" altLang="en-US" smtClean="0"/>
              <a:t>2024-11-04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5145F54-CE92-49F7-06EC-8643FEE58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3C33AD-5406-9792-76CF-4497386EF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C4061-27F1-4DCE-9354-2ACC559327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6043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282BBB-B357-5CB7-69AD-2B1D64556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4869FC-E641-758B-51D7-24BB7F89A5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3BD991F-ECF8-1493-2741-8F34E7D1D1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CF9C1C8-2251-753F-EC6A-7E2ED9455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758-7FEC-45FD-B27E-310E2095585C}" type="datetimeFigureOut">
              <a:rPr lang="ko-KR" altLang="en-US" smtClean="0"/>
              <a:t>2024-11-04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9BFEAC-7073-F9B8-9A65-7A42AE10E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3D7C4D3-2577-9C5D-A30B-D7E5583EA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C4061-27F1-4DCE-9354-2ACC559327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568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8A688A-B86F-675C-5472-244D22C53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E6E451F-0550-9F14-09BE-192A3F4362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9747E36-39A1-3A6D-1731-CDA87AF8A4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80110E1-4F77-2060-13B3-755E60614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758-7FEC-45FD-B27E-310E2095585C}" type="datetimeFigureOut">
              <a:rPr lang="ko-KR" altLang="en-US" smtClean="0"/>
              <a:t>2024-11-04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6E55A8E-75D6-28D4-C995-9DF2B52BC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3BAEF9-5D20-1227-D385-0BEE58396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C4061-27F1-4DCE-9354-2ACC559327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3731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085DE4-0AC7-D984-627F-BE3D8A977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28E5C47-E05B-A5B7-7F8E-0C08E1409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E0F34F-1960-10C4-5CF3-CC3CDE95C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758-7FEC-45FD-B27E-310E2095585C}" type="datetimeFigureOut">
              <a:rPr lang="ko-KR" altLang="en-US" smtClean="0"/>
              <a:t>2024-11-04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B68C3D-8786-9360-0801-C6AAF8E49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3CB8A5-9530-A881-E309-2CB6379EA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C4061-27F1-4DCE-9354-2ACC559327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5988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7BCF65D-A4C7-2EA4-8CBA-DBAD9A1444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8ECE223-6DE9-9048-4F10-EAD7E3F686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34C243-B773-B909-6684-04366A3E9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758-7FEC-45FD-B27E-310E2095585C}" type="datetimeFigureOut">
              <a:rPr lang="ko-KR" altLang="en-US" smtClean="0"/>
              <a:t>2024-11-04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AE4E19-27AD-AAFC-1DD8-E01F49DAC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68F204-D151-3559-799B-5D02F602F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C4061-27F1-4DCE-9354-2ACC559327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3620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3C59DB9-D9E1-60C1-8105-103FA25DF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D9D47E6-1A2A-AEA9-01B1-CE3B7EBC7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8C55CE-1236-4038-1367-8585BE7F05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BC1758-7FEC-45FD-B27E-310E2095585C}" type="datetimeFigureOut">
              <a:rPr lang="ko-KR" altLang="en-US" smtClean="0"/>
              <a:t>2024-11-04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EDAACD-2D8C-67F7-6AE9-9613A68D1C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8544A8-36A2-613B-F7D8-2CAA0DD527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4C4061-27F1-4DCE-9354-2ACC559327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29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867100-9799-4A8F-B39F-C5612598DAFF}"/>
              </a:ext>
            </a:extLst>
          </p:cNvPr>
          <p:cNvSpPr txBox="1"/>
          <p:nvPr/>
        </p:nvSpPr>
        <p:spPr>
          <a:xfrm>
            <a:off x="1687995" y="1398529"/>
            <a:ext cx="8816011" cy="97712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4400" b="1" dirty="0">
                <a:solidFill>
                  <a:srgbClr val="000099"/>
                </a:solidFill>
              </a:rPr>
              <a:t>SAL – CAN </a:t>
            </a:r>
            <a:r>
              <a:rPr lang="ko-KR" altLang="en-US" sz="4400" b="1" dirty="0">
                <a:solidFill>
                  <a:srgbClr val="000099"/>
                </a:solidFill>
              </a:rPr>
              <a:t>호환성 검토</a:t>
            </a:r>
            <a:endParaRPr lang="en-US" altLang="ko-KR" sz="4400" b="1" dirty="0">
              <a:solidFill>
                <a:srgbClr val="000099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D5F2AA-5B65-4210-840C-9D57D55E394F}"/>
              </a:ext>
            </a:extLst>
          </p:cNvPr>
          <p:cNvSpPr txBox="1"/>
          <p:nvPr/>
        </p:nvSpPr>
        <p:spPr>
          <a:xfrm>
            <a:off x="5618948" y="4030114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b="1" dirty="0"/>
              <a:t>이준영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6D7051-514F-451B-A600-C68725600D38}"/>
              </a:ext>
            </a:extLst>
          </p:cNvPr>
          <p:cNvSpPr txBox="1"/>
          <p:nvPr/>
        </p:nvSpPr>
        <p:spPr>
          <a:xfrm>
            <a:off x="4536920" y="5726096"/>
            <a:ext cx="3118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주식회사 글로벌 테크놀로지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D6403F-971A-D3D0-BB20-795232B552C5}"/>
              </a:ext>
            </a:extLst>
          </p:cNvPr>
          <p:cNvSpPr txBox="1"/>
          <p:nvPr/>
        </p:nvSpPr>
        <p:spPr>
          <a:xfrm>
            <a:off x="5216598" y="4833156"/>
            <a:ext cx="1758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/>
              <a:t>2024. 11. 04.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503341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E8DB5-584A-DBE9-31ED-EF0000EBA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F9B0CE59-9AB0-3349-E3E1-7732914C1174}"/>
              </a:ext>
            </a:extLst>
          </p:cNvPr>
          <p:cNvSpPr txBox="1"/>
          <p:nvPr/>
        </p:nvSpPr>
        <p:spPr>
          <a:xfrm>
            <a:off x="145175" y="177953"/>
            <a:ext cx="109279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실험</a:t>
            </a:r>
            <a:r>
              <a:rPr lang="en-US" altLang="ko-KR" dirty="0"/>
              <a:t>) CAN Bus</a:t>
            </a:r>
            <a:r>
              <a:rPr lang="ko-KR" altLang="en-US" dirty="0"/>
              <a:t>의 </a:t>
            </a:r>
            <a:r>
              <a:rPr lang="en-US" altLang="ko-KR" baseline="30000" dirty="0"/>
              <a:t>(1)</a:t>
            </a:r>
            <a:r>
              <a:rPr lang="en-US" altLang="ko-KR" dirty="0"/>
              <a:t>Load</a:t>
            </a:r>
            <a:r>
              <a:rPr lang="ko-KR" altLang="en-US" dirty="0"/>
              <a:t> 저항</a:t>
            </a:r>
            <a:r>
              <a:rPr lang="en-US" altLang="ko-KR" dirty="0"/>
              <a:t>(R103, R104)</a:t>
            </a:r>
            <a:r>
              <a:rPr lang="ko-KR" altLang="en-US" dirty="0"/>
              <a:t> </a:t>
            </a:r>
            <a:r>
              <a:rPr lang="en-US" altLang="ko-KR" dirty="0"/>
              <a:t>&amp; SPLIT </a:t>
            </a:r>
            <a:r>
              <a:rPr lang="ko-KR" altLang="en-US" dirty="0"/>
              <a:t>단자의 </a:t>
            </a:r>
            <a:r>
              <a:rPr lang="en-US" altLang="ko-KR" baseline="30000" dirty="0"/>
              <a:t>(2)</a:t>
            </a:r>
            <a:r>
              <a:rPr lang="ko-KR" altLang="en-US" dirty="0"/>
              <a:t>병렬 커패시터</a:t>
            </a:r>
            <a:r>
              <a:rPr lang="en-US" altLang="ko-KR" dirty="0"/>
              <a:t>(C81) </a:t>
            </a:r>
            <a:r>
              <a:rPr lang="ko-KR" altLang="en-US" dirty="0"/>
              <a:t>유무에 따른 특성 확인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A91C08D9-100C-9718-D7A2-B27FD8BACE77}"/>
              </a:ext>
            </a:extLst>
          </p:cNvPr>
          <p:cNvGrpSpPr/>
          <p:nvPr/>
        </p:nvGrpSpPr>
        <p:grpSpPr>
          <a:xfrm>
            <a:off x="1146292" y="842560"/>
            <a:ext cx="9899416" cy="5837487"/>
            <a:chOff x="485058" y="842560"/>
            <a:chExt cx="9899416" cy="5837487"/>
          </a:xfrm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FCB2CC15-8C1A-5C2C-34CA-92C6E3E09FF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85058" y="842560"/>
              <a:ext cx="9899416" cy="5364000"/>
              <a:chOff x="923203" y="547285"/>
              <a:chExt cx="10636573" cy="5763429"/>
            </a:xfrm>
          </p:grpSpPr>
          <p:pic>
            <p:nvPicPr>
              <p:cNvPr id="7" name="그림 6">
                <a:extLst>
                  <a:ext uri="{FF2B5EF4-FFF2-40B4-BE49-F238E27FC236}">
                    <a16:creationId xmlns:a16="http://schemas.microsoft.com/office/drawing/2014/main" id="{ADE720A0-7B19-6400-3C36-E0F0542350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23203" y="547285"/>
                <a:ext cx="10345594" cy="5763429"/>
              </a:xfrm>
              <a:prstGeom prst="rect">
                <a:avLst/>
              </a:prstGeom>
            </p:spPr>
          </p:pic>
          <p:pic>
            <p:nvPicPr>
              <p:cNvPr id="9" name="그림 8">
                <a:extLst>
                  <a:ext uri="{FF2B5EF4-FFF2-40B4-BE49-F238E27FC236}">
                    <a16:creationId xmlns:a16="http://schemas.microsoft.com/office/drawing/2014/main" id="{EC9B683D-0DD7-0FC8-321F-08E01F21A5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34317" y="2400278"/>
                <a:ext cx="3125459" cy="952522"/>
              </a:xfrm>
              <a:prstGeom prst="rect">
                <a:avLst/>
              </a:prstGeom>
            </p:spPr>
          </p:pic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D3C28D0D-F71F-993A-7B8F-7C847F7773C4}"/>
                  </a:ext>
                </a:extLst>
              </p:cNvPr>
              <p:cNvSpPr/>
              <p:nvPr/>
            </p:nvSpPr>
            <p:spPr>
              <a:xfrm>
                <a:off x="5781675" y="2400278"/>
                <a:ext cx="2105025" cy="1028722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50C9DBE6-7ABC-C69A-81ED-CBEF5874AFA3}"/>
                  </a:ext>
                </a:extLst>
              </p:cNvPr>
              <p:cNvSpPr/>
              <p:nvPr/>
            </p:nvSpPr>
            <p:spPr>
              <a:xfrm>
                <a:off x="7762875" y="4767632"/>
                <a:ext cx="2105025" cy="1028722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ED709E2-7CAF-8146-9949-F7B4BBF0A6E4}"/>
                </a:ext>
              </a:extLst>
            </p:cNvPr>
            <p:cNvSpPr txBox="1"/>
            <p:nvPr/>
          </p:nvSpPr>
          <p:spPr>
            <a:xfrm>
              <a:off x="5006818" y="2087192"/>
              <a:ext cx="484428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(1)</a:t>
              </a:r>
              <a:endParaRPr lang="ko-KR" altLang="en-US" b="1" dirty="0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28796AF-BDFA-E841-5CD2-B08E1912D612}"/>
                </a:ext>
              </a:extLst>
            </p:cNvPr>
            <p:cNvSpPr txBox="1"/>
            <p:nvPr/>
          </p:nvSpPr>
          <p:spPr>
            <a:xfrm>
              <a:off x="8325423" y="4376350"/>
              <a:ext cx="484428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(2)</a:t>
              </a:r>
              <a:endParaRPr lang="ko-KR" altLang="en-US" b="1" dirty="0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D401615C-E59F-C0DC-F20E-EFDEBA24D0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8157" y="5870309"/>
              <a:ext cx="1590718" cy="8097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92110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D7C3569-E59B-A5E8-005E-10F1AC8528FB}"/>
              </a:ext>
            </a:extLst>
          </p:cNvPr>
          <p:cNvSpPr txBox="1"/>
          <p:nvPr/>
        </p:nvSpPr>
        <p:spPr>
          <a:xfrm>
            <a:off x="123825" y="161925"/>
            <a:ext cx="5851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1) GCV1043; </a:t>
            </a:r>
            <a:r>
              <a:rPr lang="en-US" altLang="ko-KR" dirty="0">
                <a:solidFill>
                  <a:srgbClr val="FF00FF"/>
                </a:solidFill>
              </a:rPr>
              <a:t>No CAP</a:t>
            </a:r>
            <a:r>
              <a:rPr lang="en-US" altLang="ko-KR" dirty="0"/>
              <a:t> at SPLIT; </a:t>
            </a:r>
            <a:r>
              <a:rPr lang="en-US" altLang="ko-KR" dirty="0">
                <a:solidFill>
                  <a:srgbClr val="FF00FF"/>
                </a:solidFill>
              </a:rPr>
              <a:t>110Ω</a:t>
            </a:r>
            <a:r>
              <a:rPr lang="en-US" altLang="ko-KR" dirty="0"/>
              <a:t> at CAN_H/CAN_L</a:t>
            </a:r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516342C5-D901-1441-67A6-19F400A81AA8}"/>
              </a:ext>
            </a:extLst>
          </p:cNvPr>
          <p:cNvGrpSpPr/>
          <p:nvPr/>
        </p:nvGrpSpPr>
        <p:grpSpPr>
          <a:xfrm>
            <a:off x="108000" y="1289700"/>
            <a:ext cx="8388350" cy="5400000"/>
            <a:chOff x="1901825" y="729000"/>
            <a:chExt cx="8388350" cy="5400000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CBCFEE9C-CC2D-143A-7A4B-C3B9D3BA85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01825" y="729000"/>
              <a:ext cx="8388350" cy="54000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E6B0AD4-B954-F67B-8F24-0407D6A81D5D}"/>
                </a:ext>
              </a:extLst>
            </p:cNvPr>
            <p:cNvSpPr txBox="1"/>
            <p:nvPr/>
          </p:nvSpPr>
          <p:spPr>
            <a:xfrm>
              <a:off x="2152650" y="2447925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rgbClr val="FFFF00"/>
                  </a:solidFill>
                </a:rPr>
                <a:t>CAN_H</a:t>
              </a:r>
              <a:endParaRPr lang="ko-KR" altLang="en-US" dirty="0">
                <a:solidFill>
                  <a:srgbClr val="FFFF00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C5975B9-8D43-940C-C0A6-518A7FB043AB}"/>
                </a:ext>
              </a:extLst>
            </p:cNvPr>
            <p:cNvSpPr txBox="1"/>
            <p:nvPr/>
          </p:nvSpPr>
          <p:spPr>
            <a:xfrm>
              <a:off x="2208756" y="3376137"/>
              <a:ext cx="8675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rgbClr val="00FF00"/>
                  </a:solidFill>
                </a:rPr>
                <a:t>CAN_L</a:t>
              </a:r>
              <a:endParaRPr lang="ko-KR" altLang="en-US" dirty="0">
                <a:solidFill>
                  <a:srgbClr val="00FF00"/>
                </a:solidFill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87AED51F-45C6-FF4C-1CCA-98E49EE18719}"/>
              </a:ext>
            </a:extLst>
          </p:cNvPr>
          <p:cNvGrpSpPr>
            <a:grpSpLocks noChangeAspect="1"/>
          </p:cNvGrpSpPr>
          <p:nvPr/>
        </p:nvGrpSpPr>
        <p:grpSpPr>
          <a:xfrm>
            <a:off x="6425962" y="92660"/>
            <a:ext cx="5652287" cy="1080000"/>
            <a:chOff x="5190653" y="161925"/>
            <a:chExt cx="6782747" cy="1438476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3D4941C5-F593-D79A-40D7-427690AFEE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09703" y="161925"/>
              <a:ext cx="6763694" cy="666843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30F4D8D2-E547-575C-3975-74A99513CD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90653" y="828768"/>
              <a:ext cx="6782747" cy="771633"/>
            </a:xfrm>
            <a:prstGeom prst="rect">
              <a:avLst/>
            </a:prstGeom>
          </p:spPr>
        </p:pic>
      </p:grpSp>
      <p:sp>
        <p:nvSpPr>
          <p:cNvPr id="16" name="타원 15">
            <a:extLst>
              <a:ext uri="{FF2B5EF4-FFF2-40B4-BE49-F238E27FC236}">
                <a16:creationId xmlns:a16="http://schemas.microsoft.com/office/drawing/2014/main" id="{3F97012B-AFE6-9CCD-1609-0685A79D8F84}"/>
              </a:ext>
            </a:extLst>
          </p:cNvPr>
          <p:cNvSpPr/>
          <p:nvPr/>
        </p:nvSpPr>
        <p:spPr>
          <a:xfrm>
            <a:off x="962026" y="2358843"/>
            <a:ext cx="7391400" cy="369333"/>
          </a:xfrm>
          <a:prstGeom prst="ellipse">
            <a:avLst/>
          </a:prstGeom>
          <a:noFill/>
          <a:ln w="38100">
            <a:solidFill>
              <a:srgbClr val="F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25BD05-1F6C-4CC3-0BFC-FE48CC8B893D}"/>
              </a:ext>
            </a:extLst>
          </p:cNvPr>
          <p:cNvSpPr txBox="1"/>
          <p:nvPr/>
        </p:nvSpPr>
        <p:spPr>
          <a:xfrm flipH="1">
            <a:off x="8591550" y="2405009"/>
            <a:ext cx="36004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F00FF"/>
                </a:solidFill>
              </a:rPr>
              <a:t>Vo(dom); CANH; Spec : 2.75 ~ 4.5V</a:t>
            </a:r>
            <a:endParaRPr lang="ko-KR" altLang="en-US" sz="1200" dirty="0">
              <a:solidFill>
                <a:srgbClr val="FF00FF"/>
              </a:solidFill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7F9E77FC-B53C-E797-7B0E-5079EEDC70E5}"/>
              </a:ext>
            </a:extLst>
          </p:cNvPr>
          <p:cNvSpPr/>
          <p:nvPr/>
        </p:nvSpPr>
        <p:spPr>
          <a:xfrm>
            <a:off x="962026" y="4910622"/>
            <a:ext cx="7391400" cy="369333"/>
          </a:xfrm>
          <a:prstGeom prst="ellips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FF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7509DC-172A-E25F-E05B-29D93D14F3C4}"/>
              </a:ext>
            </a:extLst>
          </p:cNvPr>
          <p:cNvSpPr txBox="1"/>
          <p:nvPr/>
        </p:nvSpPr>
        <p:spPr>
          <a:xfrm flipH="1">
            <a:off x="8582025" y="4956788"/>
            <a:ext cx="34962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FC000"/>
                </a:solidFill>
              </a:rPr>
              <a:t>Vo(dom); CANL; Spec : 0.5 ~ 2.25V</a:t>
            </a:r>
            <a:endParaRPr lang="ko-KR" altLang="en-US" sz="1200" dirty="0">
              <a:solidFill>
                <a:srgbClr val="FFC000"/>
              </a:solidFill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3AF76EEA-2253-1D14-E66F-273E4948C952}"/>
              </a:ext>
            </a:extLst>
          </p:cNvPr>
          <p:cNvSpPr/>
          <p:nvPr/>
        </p:nvSpPr>
        <p:spPr>
          <a:xfrm>
            <a:off x="962026" y="4309949"/>
            <a:ext cx="7391400" cy="369333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200916-49BD-A681-6BE7-E032E7BAB107}"/>
              </a:ext>
            </a:extLst>
          </p:cNvPr>
          <p:cNvSpPr txBox="1"/>
          <p:nvPr/>
        </p:nvSpPr>
        <p:spPr>
          <a:xfrm flipH="1">
            <a:off x="8582025" y="4069673"/>
            <a:ext cx="325754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00B0F0"/>
                </a:solidFill>
              </a:rPr>
              <a:t>Vo(rec); Spec : 2 ~ 3V, </a:t>
            </a:r>
            <a:r>
              <a:rPr lang="en-US" altLang="ko-KR" sz="1200" b="1" dirty="0">
                <a:solidFill>
                  <a:srgbClr val="FF0000"/>
                </a:solidFill>
              </a:rPr>
              <a:t>NG!!</a:t>
            </a:r>
          </a:p>
          <a:p>
            <a:r>
              <a:rPr lang="en-US" altLang="ko-KR" sz="11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- dominant</a:t>
            </a:r>
            <a:r>
              <a:rPr lang="ko-KR" altLang="en-US" sz="11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에서 </a:t>
            </a:r>
            <a:r>
              <a:rPr lang="en-US" altLang="ko-KR" sz="11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recessive</a:t>
            </a:r>
            <a:r>
              <a:rPr lang="ko-KR" altLang="en-US" sz="11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로 전환될 때      </a:t>
            </a:r>
            <a:endParaRPr lang="en-US" altLang="ko-KR" sz="11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altLang="ko-KR" sz="11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CANH/CANL</a:t>
            </a:r>
            <a:r>
              <a:rPr lang="ko-KR" altLang="en-US" sz="11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의 상태 전환에 대한 </a:t>
            </a:r>
            <a:endParaRPr lang="en-US" altLang="ko-KR" sz="11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altLang="ko-KR" sz="11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timing issue</a:t>
            </a:r>
            <a:r>
              <a:rPr lang="ko-KR" altLang="en-US" sz="11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에 의해 발생하는 현상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DFE37921-BC08-1FF2-5C09-C46C45B7AA10}"/>
              </a:ext>
            </a:extLst>
          </p:cNvPr>
          <p:cNvCxnSpPr/>
          <p:nvPr/>
        </p:nvCxnSpPr>
        <p:spPr>
          <a:xfrm>
            <a:off x="2466975" y="2543175"/>
            <a:ext cx="3743325" cy="0"/>
          </a:xfrm>
          <a:prstGeom prst="line">
            <a:avLst/>
          </a:prstGeom>
          <a:ln>
            <a:solidFill>
              <a:srgbClr val="FF00F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D0DB6939-C576-CF83-CE2E-A3C4101321CC}"/>
              </a:ext>
            </a:extLst>
          </p:cNvPr>
          <p:cNvCxnSpPr/>
          <p:nvPr/>
        </p:nvCxnSpPr>
        <p:spPr>
          <a:xfrm>
            <a:off x="2466975" y="5105400"/>
            <a:ext cx="3743325" cy="0"/>
          </a:xfrm>
          <a:prstGeom prst="line">
            <a:avLst/>
          </a:prstGeom>
          <a:ln>
            <a:solidFill>
              <a:srgbClr val="FFC00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31F4148B-405E-2E6D-FA45-08D4E09FB19E}"/>
              </a:ext>
            </a:extLst>
          </p:cNvPr>
          <p:cNvCxnSpPr/>
          <p:nvPr/>
        </p:nvCxnSpPr>
        <p:spPr>
          <a:xfrm>
            <a:off x="2457450" y="4486275"/>
            <a:ext cx="3743325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D52FE7C-99C3-9F91-FA4F-066D51C65FE5}"/>
              </a:ext>
            </a:extLst>
          </p:cNvPr>
          <p:cNvSpPr/>
          <p:nvPr/>
        </p:nvSpPr>
        <p:spPr>
          <a:xfrm>
            <a:off x="8362951" y="276225"/>
            <a:ext cx="3362324" cy="118800"/>
          </a:xfrm>
          <a:prstGeom prst="rect">
            <a:avLst/>
          </a:prstGeom>
          <a:noFill/>
          <a:ln>
            <a:solidFill>
              <a:srgbClr val="F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D87108C-824D-9350-1E32-75A9B933E61C}"/>
              </a:ext>
            </a:extLst>
          </p:cNvPr>
          <p:cNvSpPr/>
          <p:nvPr/>
        </p:nvSpPr>
        <p:spPr>
          <a:xfrm>
            <a:off x="8362951" y="428625"/>
            <a:ext cx="3362324" cy="1188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6FEE5AD-4C9B-EECB-A2F5-B872045700D2}"/>
              </a:ext>
            </a:extLst>
          </p:cNvPr>
          <p:cNvSpPr/>
          <p:nvPr/>
        </p:nvSpPr>
        <p:spPr>
          <a:xfrm>
            <a:off x="8362951" y="781671"/>
            <a:ext cx="3362324" cy="11880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1814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DF9A6-C3C0-3B66-4BDB-F361C6A87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DED70E5-9AB7-DBB4-B0A9-2590182F8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1288800"/>
            <a:ext cx="8388350" cy="5400000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B35D8C81-BDB3-8604-5232-F7CE335AE1B4}"/>
              </a:ext>
            </a:extLst>
          </p:cNvPr>
          <p:cNvGrpSpPr>
            <a:grpSpLocks noChangeAspect="1"/>
          </p:cNvGrpSpPr>
          <p:nvPr/>
        </p:nvGrpSpPr>
        <p:grpSpPr>
          <a:xfrm>
            <a:off x="6425962" y="92660"/>
            <a:ext cx="5652287" cy="1080000"/>
            <a:chOff x="5190653" y="161925"/>
            <a:chExt cx="6782747" cy="1438476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A3104C9A-B5E7-9255-E7B5-E459D93887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09703" y="161925"/>
              <a:ext cx="6763694" cy="666843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495A2CEF-FB8B-16D2-5DF6-78AF93DE559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90653" y="828768"/>
              <a:ext cx="6782747" cy="771633"/>
            </a:xfrm>
            <a:prstGeom prst="rect">
              <a:avLst/>
            </a:prstGeom>
          </p:spPr>
        </p:pic>
      </p:grpSp>
      <p:sp>
        <p:nvSpPr>
          <p:cNvPr id="14" name="타원 13">
            <a:extLst>
              <a:ext uri="{FF2B5EF4-FFF2-40B4-BE49-F238E27FC236}">
                <a16:creationId xmlns:a16="http://schemas.microsoft.com/office/drawing/2014/main" id="{27FE9984-7C75-1D19-D975-5CD9FB59D3A9}"/>
              </a:ext>
            </a:extLst>
          </p:cNvPr>
          <p:cNvSpPr/>
          <p:nvPr/>
        </p:nvSpPr>
        <p:spPr>
          <a:xfrm>
            <a:off x="962026" y="2511243"/>
            <a:ext cx="7391400" cy="369333"/>
          </a:xfrm>
          <a:prstGeom prst="ellipse">
            <a:avLst/>
          </a:prstGeom>
          <a:noFill/>
          <a:ln w="38100">
            <a:solidFill>
              <a:srgbClr val="F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E59AD0-6FA5-6723-A5FD-817E8F101D0D}"/>
              </a:ext>
            </a:extLst>
          </p:cNvPr>
          <p:cNvSpPr txBox="1"/>
          <p:nvPr/>
        </p:nvSpPr>
        <p:spPr>
          <a:xfrm flipH="1">
            <a:off x="8591550" y="2557409"/>
            <a:ext cx="36004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F00FF"/>
                </a:solidFill>
              </a:rPr>
              <a:t>Vo(dom); CANH; Spec : 2.75 ~ 4.5V</a:t>
            </a:r>
            <a:endParaRPr lang="ko-KR" altLang="en-US" sz="1200" dirty="0">
              <a:solidFill>
                <a:srgbClr val="FF00FF"/>
              </a:solidFill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BC31A50D-EDC2-1FC4-719B-9AB3154C1BF3}"/>
              </a:ext>
            </a:extLst>
          </p:cNvPr>
          <p:cNvSpPr/>
          <p:nvPr/>
        </p:nvSpPr>
        <p:spPr>
          <a:xfrm>
            <a:off x="962026" y="4910622"/>
            <a:ext cx="7391400" cy="369333"/>
          </a:xfrm>
          <a:prstGeom prst="ellips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FF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616F80-E793-F2AA-4F62-BC070659361B}"/>
              </a:ext>
            </a:extLst>
          </p:cNvPr>
          <p:cNvSpPr txBox="1"/>
          <p:nvPr/>
        </p:nvSpPr>
        <p:spPr>
          <a:xfrm flipH="1">
            <a:off x="8582025" y="4956788"/>
            <a:ext cx="34962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FC000"/>
                </a:solidFill>
              </a:rPr>
              <a:t>Vo(dom); CANL; Spec : 0.5 ~ 2.25V</a:t>
            </a:r>
            <a:endParaRPr lang="ko-KR" altLang="en-US" sz="1200" dirty="0">
              <a:solidFill>
                <a:srgbClr val="FFC000"/>
              </a:solidFill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241DEF37-3359-FB51-25E7-7ED1C736FE93}"/>
              </a:ext>
            </a:extLst>
          </p:cNvPr>
          <p:cNvSpPr/>
          <p:nvPr/>
        </p:nvSpPr>
        <p:spPr>
          <a:xfrm>
            <a:off x="962026" y="3805124"/>
            <a:ext cx="7391400" cy="369333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A4A5DA67-C694-ADB3-E8CC-EE0EB3200318}"/>
              </a:ext>
            </a:extLst>
          </p:cNvPr>
          <p:cNvCxnSpPr/>
          <p:nvPr/>
        </p:nvCxnSpPr>
        <p:spPr>
          <a:xfrm>
            <a:off x="2466975" y="2695575"/>
            <a:ext cx="3743325" cy="0"/>
          </a:xfrm>
          <a:prstGeom prst="line">
            <a:avLst/>
          </a:prstGeom>
          <a:ln>
            <a:solidFill>
              <a:srgbClr val="FF00F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22A7163C-9ADE-6F9D-7AE5-3E95F4B814B6}"/>
              </a:ext>
            </a:extLst>
          </p:cNvPr>
          <p:cNvCxnSpPr/>
          <p:nvPr/>
        </p:nvCxnSpPr>
        <p:spPr>
          <a:xfrm>
            <a:off x="2466975" y="5105400"/>
            <a:ext cx="3743325" cy="0"/>
          </a:xfrm>
          <a:prstGeom prst="line">
            <a:avLst/>
          </a:prstGeom>
          <a:ln>
            <a:solidFill>
              <a:srgbClr val="FFC00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E1F00C6F-698F-9923-20BE-0D845FCF5241}"/>
              </a:ext>
            </a:extLst>
          </p:cNvPr>
          <p:cNvCxnSpPr/>
          <p:nvPr/>
        </p:nvCxnSpPr>
        <p:spPr>
          <a:xfrm>
            <a:off x="2457450" y="3981450"/>
            <a:ext cx="3743325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BF20DE5-8C47-9B24-565A-F198B49E56A4}"/>
              </a:ext>
            </a:extLst>
          </p:cNvPr>
          <p:cNvSpPr txBox="1"/>
          <p:nvPr/>
        </p:nvSpPr>
        <p:spPr>
          <a:xfrm>
            <a:off x="358825" y="300862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FF00"/>
                </a:solidFill>
              </a:rPr>
              <a:t>CAN_H</a:t>
            </a:r>
            <a:endParaRPr lang="ko-KR" altLang="en-US" dirty="0">
              <a:solidFill>
                <a:srgbClr val="FFFF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825DCC-501B-B5AA-D5C4-912BBBC5C7A8}"/>
              </a:ext>
            </a:extLst>
          </p:cNvPr>
          <p:cNvSpPr txBox="1"/>
          <p:nvPr/>
        </p:nvSpPr>
        <p:spPr>
          <a:xfrm>
            <a:off x="414931" y="3936837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FF00"/>
                </a:solidFill>
              </a:rPr>
              <a:t>CAN_L</a:t>
            </a:r>
            <a:endParaRPr lang="ko-KR" altLang="en-US" dirty="0">
              <a:solidFill>
                <a:srgbClr val="00FF00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ABDD7DE-56F1-7932-527F-7D02D4D8794E}"/>
              </a:ext>
            </a:extLst>
          </p:cNvPr>
          <p:cNvSpPr/>
          <p:nvPr/>
        </p:nvSpPr>
        <p:spPr>
          <a:xfrm>
            <a:off x="8362951" y="276225"/>
            <a:ext cx="3362324" cy="118800"/>
          </a:xfrm>
          <a:prstGeom prst="rect">
            <a:avLst/>
          </a:prstGeom>
          <a:noFill/>
          <a:ln>
            <a:solidFill>
              <a:srgbClr val="F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0A98C7-0BFA-4D6D-672A-A0B58067EB8E}"/>
              </a:ext>
            </a:extLst>
          </p:cNvPr>
          <p:cNvSpPr/>
          <p:nvPr/>
        </p:nvSpPr>
        <p:spPr>
          <a:xfrm>
            <a:off x="8362951" y="428625"/>
            <a:ext cx="3362324" cy="1188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5C9743F-0656-8E44-DAE8-4B18BAF6E2F2}"/>
              </a:ext>
            </a:extLst>
          </p:cNvPr>
          <p:cNvSpPr/>
          <p:nvPr/>
        </p:nvSpPr>
        <p:spPr>
          <a:xfrm>
            <a:off x="8362951" y="781671"/>
            <a:ext cx="3362324" cy="11880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54F38B-FBD2-8AC3-DC29-DF928A313FBF}"/>
              </a:ext>
            </a:extLst>
          </p:cNvPr>
          <p:cNvSpPr txBox="1"/>
          <p:nvPr/>
        </p:nvSpPr>
        <p:spPr>
          <a:xfrm flipH="1">
            <a:off x="8591550" y="3608094"/>
            <a:ext cx="325754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00B0F0"/>
                </a:solidFill>
              </a:rPr>
              <a:t>Vo(rec); Spec : 2 ~ 3V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lang="en-US" altLang="ko-KR" sz="11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- SPLIT</a:t>
            </a:r>
            <a:r>
              <a:rPr lang="ko-KR" altLang="en-US" sz="11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에 </a:t>
            </a:r>
            <a:r>
              <a:rPr lang="en-US" altLang="ko-KR" sz="11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CAP</a:t>
            </a:r>
            <a:r>
              <a:rPr lang="ko-KR" altLang="en-US" sz="11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을 장착 </a:t>
            </a:r>
            <a:endParaRPr lang="en-US" altLang="ko-KR" sz="11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altLang="ko-KR" sz="11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- CANH/CANL</a:t>
            </a:r>
            <a:r>
              <a:rPr lang="ko-KR" altLang="en-US" sz="11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의 중간지점 </a:t>
            </a:r>
            <a:r>
              <a:rPr lang="en-US" altLang="ko-KR" sz="11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</a:t>
            </a:r>
            <a:r>
              <a:rPr lang="ko-KR" altLang="en-US" sz="11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약 </a:t>
            </a:r>
            <a:r>
              <a:rPr lang="en-US" altLang="ko-KR" sz="11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2.2V)</a:t>
            </a:r>
            <a:r>
              <a:rPr lang="ko-KR" altLang="en-US" sz="11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으로 맞아짐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410CE6-78E6-9405-1147-FA3C4EE0A3F0}"/>
              </a:ext>
            </a:extLst>
          </p:cNvPr>
          <p:cNvSpPr txBox="1"/>
          <p:nvPr/>
        </p:nvSpPr>
        <p:spPr>
          <a:xfrm>
            <a:off x="123825" y="161925"/>
            <a:ext cx="5579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1) GCV1043; </a:t>
            </a:r>
            <a:r>
              <a:rPr lang="en-US" altLang="ko-KR" dirty="0">
                <a:solidFill>
                  <a:srgbClr val="FF00FF"/>
                </a:solidFill>
              </a:rPr>
              <a:t>4.7nF</a:t>
            </a:r>
            <a:r>
              <a:rPr lang="en-US" altLang="ko-KR" dirty="0"/>
              <a:t> at SPLIT; </a:t>
            </a:r>
            <a:r>
              <a:rPr lang="en-US" altLang="ko-KR" dirty="0">
                <a:solidFill>
                  <a:srgbClr val="FF00FF"/>
                </a:solidFill>
              </a:rPr>
              <a:t>110Ω</a:t>
            </a:r>
            <a:r>
              <a:rPr lang="en-US" altLang="ko-KR" dirty="0"/>
              <a:t> at CAN_H/CAN_L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09098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B4142-E6EF-813A-B315-D9B8C7CAE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>
            <a:extLst>
              <a:ext uri="{FF2B5EF4-FFF2-40B4-BE49-F238E27FC236}">
                <a16:creationId xmlns:a16="http://schemas.microsoft.com/office/drawing/2014/main" id="{EDE2277A-F1FA-33B1-FED8-DF77A376BED7}"/>
              </a:ext>
            </a:extLst>
          </p:cNvPr>
          <p:cNvGrpSpPr/>
          <p:nvPr/>
        </p:nvGrpSpPr>
        <p:grpSpPr>
          <a:xfrm>
            <a:off x="457200" y="1690875"/>
            <a:ext cx="5400000" cy="3476250"/>
            <a:chOff x="457200" y="1690875"/>
            <a:chExt cx="5400000" cy="347625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7B69C984-7223-3AF3-B389-AE02199B38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200" y="1690875"/>
              <a:ext cx="5400000" cy="347625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86F20E9-EE09-3AA5-FC0E-32B7F60B462B}"/>
                </a:ext>
              </a:extLst>
            </p:cNvPr>
            <p:cNvSpPr txBox="1"/>
            <p:nvPr/>
          </p:nvSpPr>
          <p:spPr>
            <a:xfrm>
              <a:off x="571550" y="2855356"/>
              <a:ext cx="76174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rgbClr val="FFFF00"/>
                  </a:solidFill>
                </a:rPr>
                <a:t>CAN_H</a:t>
              </a:r>
              <a:endParaRPr lang="ko-KR" altLang="en-US" sz="1400" dirty="0">
                <a:solidFill>
                  <a:srgbClr val="FFFF00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D82A8DA-3DB4-AE60-4DBF-51DAFA8E3025}"/>
                </a:ext>
              </a:extLst>
            </p:cNvPr>
            <p:cNvSpPr txBox="1"/>
            <p:nvPr/>
          </p:nvSpPr>
          <p:spPr>
            <a:xfrm>
              <a:off x="571550" y="3429000"/>
              <a:ext cx="71846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rgbClr val="00FF00"/>
                  </a:solidFill>
                </a:rPr>
                <a:t>CAN_L</a:t>
              </a:r>
              <a:endParaRPr lang="ko-KR" altLang="en-US" sz="1400" dirty="0">
                <a:solidFill>
                  <a:srgbClr val="00FF00"/>
                </a:solidFill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BCC84C5-C069-842F-C1ED-83AEA5FD0505}"/>
              </a:ext>
            </a:extLst>
          </p:cNvPr>
          <p:cNvSpPr txBox="1"/>
          <p:nvPr/>
        </p:nvSpPr>
        <p:spPr>
          <a:xfrm>
            <a:off x="123825" y="161925"/>
            <a:ext cx="6218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3) GCV1043; </a:t>
            </a:r>
            <a:r>
              <a:rPr lang="en-US" altLang="ko-KR" dirty="0">
                <a:solidFill>
                  <a:srgbClr val="FF00FF"/>
                </a:solidFill>
              </a:rPr>
              <a:t>No CAP</a:t>
            </a:r>
            <a:r>
              <a:rPr lang="en-US" altLang="ko-KR" dirty="0"/>
              <a:t> at SPLIT; </a:t>
            </a:r>
            <a:r>
              <a:rPr lang="en-US" altLang="ko-KR" dirty="0">
                <a:solidFill>
                  <a:srgbClr val="FF00FF"/>
                </a:solidFill>
              </a:rPr>
              <a:t>No RES</a:t>
            </a:r>
            <a:r>
              <a:rPr lang="en-US" altLang="ko-KR" dirty="0"/>
              <a:t> at CAN_H/CAN_L</a:t>
            </a:r>
            <a:endParaRPr lang="ko-KR" altLang="en-US" dirty="0"/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D56973C8-E06F-EB5D-FB75-ABAE47E420E5}"/>
              </a:ext>
            </a:extLst>
          </p:cNvPr>
          <p:cNvGrpSpPr/>
          <p:nvPr/>
        </p:nvGrpSpPr>
        <p:grpSpPr>
          <a:xfrm>
            <a:off x="6521450" y="1690875"/>
            <a:ext cx="5400000" cy="3476250"/>
            <a:chOff x="6521450" y="1690875"/>
            <a:chExt cx="5400000" cy="3476250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528D2A01-307F-6AE1-8510-D780324B47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21450" y="1690875"/>
              <a:ext cx="5400000" cy="3476250"/>
            </a:xfrm>
            <a:prstGeom prst="rect">
              <a:avLst/>
            </a:prstGeom>
          </p:spPr>
        </p:pic>
        <p:sp>
          <p:nvSpPr>
            <p:cNvPr id="20" name="화살표: 아래쪽 19">
              <a:extLst>
                <a:ext uri="{FF2B5EF4-FFF2-40B4-BE49-F238E27FC236}">
                  <a16:creationId xmlns:a16="http://schemas.microsoft.com/office/drawing/2014/main" id="{2FE39400-CF2A-536F-F386-297875058590}"/>
                </a:ext>
              </a:extLst>
            </p:cNvPr>
            <p:cNvSpPr/>
            <p:nvPr/>
          </p:nvSpPr>
          <p:spPr>
            <a:xfrm rot="7716256">
              <a:off x="8849528" y="3127205"/>
              <a:ext cx="512748" cy="1642698"/>
            </a:xfrm>
            <a:prstGeom prst="downArrow">
              <a:avLst>
                <a:gd name="adj1" fmla="val 19149"/>
                <a:gd name="adj2" fmla="val 43306"/>
              </a:avLst>
            </a:prstGeom>
            <a:solidFill>
              <a:srgbClr val="00FF00"/>
            </a:solidFill>
            <a:ln>
              <a:solidFill>
                <a:srgbClr val="00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E1844A7-E907-D88E-A65C-DFA94B5CFB16}"/>
                </a:ext>
              </a:extLst>
            </p:cNvPr>
            <p:cNvSpPr txBox="1"/>
            <p:nvPr/>
          </p:nvSpPr>
          <p:spPr>
            <a:xfrm>
              <a:off x="9793425" y="4276725"/>
              <a:ext cx="173521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rgbClr val="00FF00"/>
                  </a:solidFill>
                </a:rPr>
                <a:t>2.5V (0.5vcc) (</a:t>
              </a:r>
              <a:r>
                <a:rPr lang="ko-KR" altLang="en-US" sz="1400" dirty="0">
                  <a:solidFill>
                    <a:srgbClr val="00FF00"/>
                  </a:solidFill>
                </a:rPr>
                <a:t>정상</a:t>
              </a:r>
              <a:r>
                <a:rPr lang="en-US" altLang="ko-KR" sz="1400" dirty="0">
                  <a:solidFill>
                    <a:srgbClr val="00FF00"/>
                  </a:solidFill>
                </a:rPr>
                <a:t>)</a:t>
              </a:r>
              <a:endParaRPr lang="ko-KR" altLang="en-US" sz="1400" dirty="0">
                <a:solidFill>
                  <a:srgbClr val="00FF00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8276893-962F-5E58-B228-B022C5DBC173}"/>
                </a:ext>
              </a:extLst>
            </p:cNvPr>
            <p:cNvSpPr txBox="1"/>
            <p:nvPr/>
          </p:nvSpPr>
          <p:spPr>
            <a:xfrm>
              <a:off x="6709891" y="2855356"/>
              <a:ext cx="76174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rgbClr val="FFFF00"/>
                  </a:solidFill>
                </a:rPr>
                <a:t>CAN_H</a:t>
              </a:r>
              <a:endParaRPr lang="ko-KR" altLang="en-US" sz="1400" dirty="0">
                <a:solidFill>
                  <a:srgbClr val="FFFF00"/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F8B1DC4-09BA-822A-D0B7-D6230F6D62E3}"/>
                </a:ext>
              </a:extLst>
            </p:cNvPr>
            <p:cNvSpPr txBox="1"/>
            <p:nvPr/>
          </p:nvSpPr>
          <p:spPr>
            <a:xfrm>
              <a:off x="6709891" y="3429000"/>
              <a:ext cx="6158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rgbClr val="00FF00"/>
                  </a:solidFill>
                </a:rPr>
                <a:t>SPLIT</a:t>
              </a:r>
              <a:endParaRPr lang="ko-KR" altLang="en-US" sz="1400" dirty="0">
                <a:solidFill>
                  <a:srgbClr val="00FF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83403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6782A-8106-AE1E-79CD-8A22CFF4A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50483FD-A89C-A8BE-8C5A-6D343711F6F3}"/>
              </a:ext>
            </a:extLst>
          </p:cNvPr>
          <p:cNvSpPr txBox="1"/>
          <p:nvPr/>
        </p:nvSpPr>
        <p:spPr>
          <a:xfrm>
            <a:off x="123825" y="161925"/>
            <a:ext cx="60739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참고</a:t>
            </a:r>
            <a:r>
              <a:rPr lang="en-US" altLang="ko-KR" dirty="0"/>
              <a:t>) TJA1043; </a:t>
            </a:r>
            <a:r>
              <a:rPr lang="en-US" altLang="ko-KR" dirty="0">
                <a:solidFill>
                  <a:srgbClr val="FF00FF"/>
                </a:solidFill>
              </a:rPr>
              <a:t>No CAP</a:t>
            </a:r>
            <a:r>
              <a:rPr lang="en-US" altLang="ko-KR" dirty="0"/>
              <a:t> at SPLIT; </a:t>
            </a:r>
            <a:r>
              <a:rPr lang="en-US" altLang="ko-KR" dirty="0">
                <a:solidFill>
                  <a:srgbClr val="FF00FF"/>
                </a:solidFill>
              </a:rPr>
              <a:t>110Ω</a:t>
            </a:r>
            <a:r>
              <a:rPr lang="en-US" altLang="ko-KR" dirty="0"/>
              <a:t> at CAN_H/CAN_L</a:t>
            </a:r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C12F4182-0E88-9B4B-AECD-BCB9D5340AE8}"/>
              </a:ext>
            </a:extLst>
          </p:cNvPr>
          <p:cNvGrpSpPr/>
          <p:nvPr/>
        </p:nvGrpSpPr>
        <p:grpSpPr>
          <a:xfrm>
            <a:off x="108000" y="1289700"/>
            <a:ext cx="8388349" cy="5400000"/>
            <a:chOff x="1901825" y="729000"/>
            <a:chExt cx="8388349" cy="5400000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D9C4C55A-5D39-2693-9480-82C0615AE1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901825" y="729000"/>
              <a:ext cx="8388349" cy="54000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AA846EA-8061-406D-DE62-506F0C3C0443}"/>
                </a:ext>
              </a:extLst>
            </p:cNvPr>
            <p:cNvSpPr txBox="1"/>
            <p:nvPr/>
          </p:nvSpPr>
          <p:spPr>
            <a:xfrm>
              <a:off x="2152650" y="2447925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rgbClr val="FFFF00"/>
                  </a:solidFill>
                </a:rPr>
                <a:t>CAN_H</a:t>
              </a:r>
              <a:endParaRPr lang="ko-KR" altLang="en-US" dirty="0">
                <a:solidFill>
                  <a:srgbClr val="FFFF00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6B20FAC-9F21-9F11-B6CF-3859A80C0044}"/>
                </a:ext>
              </a:extLst>
            </p:cNvPr>
            <p:cNvSpPr txBox="1"/>
            <p:nvPr/>
          </p:nvSpPr>
          <p:spPr>
            <a:xfrm>
              <a:off x="2208756" y="3376137"/>
              <a:ext cx="8675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rgbClr val="00FF00"/>
                  </a:solidFill>
                </a:rPr>
                <a:t>CAN_L</a:t>
              </a:r>
              <a:endParaRPr lang="ko-KR" altLang="en-US" dirty="0">
                <a:solidFill>
                  <a:srgbClr val="00FF00"/>
                </a:solidFill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8D909C76-F6E8-E37B-F5DD-AB163A213EDC}"/>
              </a:ext>
            </a:extLst>
          </p:cNvPr>
          <p:cNvGrpSpPr>
            <a:grpSpLocks noChangeAspect="1"/>
          </p:cNvGrpSpPr>
          <p:nvPr/>
        </p:nvGrpSpPr>
        <p:grpSpPr>
          <a:xfrm>
            <a:off x="6425962" y="92660"/>
            <a:ext cx="5652287" cy="1080000"/>
            <a:chOff x="5190653" y="161925"/>
            <a:chExt cx="6782747" cy="1438476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2623A70B-9E67-ED85-0F71-056DF7A298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09703" y="161925"/>
              <a:ext cx="6763694" cy="666843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EFEEF32A-AB2D-57E5-3142-9A3ABBC70D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90653" y="828768"/>
              <a:ext cx="6782747" cy="771633"/>
            </a:xfrm>
            <a:prstGeom prst="rect">
              <a:avLst/>
            </a:prstGeom>
          </p:spPr>
        </p:pic>
      </p:grpSp>
      <p:sp>
        <p:nvSpPr>
          <p:cNvPr id="16" name="타원 15">
            <a:extLst>
              <a:ext uri="{FF2B5EF4-FFF2-40B4-BE49-F238E27FC236}">
                <a16:creationId xmlns:a16="http://schemas.microsoft.com/office/drawing/2014/main" id="{2E17AD66-4191-C2C9-205B-CC4BC825583A}"/>
              </a:ext>
            </a:extLst>
          </p:cNvPr>
          <p:cNvSpPr/>
          <p:nvPr/>
        </p:nvSpPr>
        <p:spPr>
          <a:xfrm>
            <a:off x="962026" y="2244543"/>
            <a:ext cx="7391400" cy="369333"/>
          </a:xfrm>
          <a:prstGeom prst="ellipse">
            <a:avLst/>
          </a:prstGeom>
          <a:noFill/>
          <a:ln w="38100">
            <a:solidFill>
              <a:srgbClr val="F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DAA726-F103-82C3-C807-F14EC6B50167}"/>
              </a:ext>
            </a:extLst>
          </p:cNvPr>
          <p:cNvSpPr txBox="1"/>
          <p:nvPr/>
        </p:nvSpPr>
        <p:spPr>
          <a:xfrm flipH="1">
            <a:off x="8591550" y="2290709"/>
            <a:ext cx="36004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F00FF"/>
                </a:solidFill>
              </a:rPr>
              <a:t>Vo(dom); CANH; Spec : 2.75 ~ 4.5V</a:t>
            </a:r>
            <a:endParaRPr lang="ko-KR" altLang="en-US" sz="1200" dirty="0">
              <a:solidFill>
                <a:srgbClr val="FF00FF"/>
              </a:solidFill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D0ABC909-9F66-0120-BDA6-2DBDC47D32D8}"/>
              </a:ext>
            </a:extLst>
          </p:cNvPr>
          <p:cNvSpPr/>
          <p:nvPr/>
        </p:nvSpPr>
        <p:spPr>
          <a:xfrm>
            <a:off x="962026" y="4815372"/>
            <a:ext cx="7391400" cy="369333"/>
          </a:xfrm>
          <a:prstGeom prst="ellips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FF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C03D03-34E3-9EA5-403E-CCDBF6C7E5EE}"/>
              </a:ext>
            </a:extLst>
          </p:cNvPr>
          <p:cNvSpPr txBox="1"/>
          <p:nvPr/>
        </p:nvSpPr>
        <p:spPr>
          <a:xfrm flipH="1">
            <a:off x="8582025" y="4861538"/>
            <a:ext cx="34962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FC000"/>
                </a:solidFill>
              </a:rPr>
              <a:t>Vo(dom); CANL; Spec : 0.5 ~ 2.25V</a:t>
            </a:r>
            <a:endParaRPr lang="ko-KR" altLang="en-US" sz="1200" dirty="0">
              <a:solidFill>
                <a:srgbClr val="FFC000"/>
              </a:solidFill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1A66C2B0-8590-797D-8BCA-3BCBCAC1C9FA}"/>
              </a:ext>
            </a:extLst>
          </p:cNvPr>
          <p:cNvSpPr/>
          <p:nvPr/>
        </p:nvSpPr>
        <p:spPr>
          <a:xfrm>
            <a:off x="962026" y="3452699"/>
            <a:ext cx="7391400" cy="369333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37DC0FE-6392-FC90-D5B7-F7906E7448F3}"/>
              </a:ext>
            </a:extLst>
          </p:cNvPr>
          <p:cNvSpPr txBox="1"/>
          <p:nvPr/>
        </p:nvSpPr>
        <p:spPr>
          <a:xfrm flipH="1">
            <a:off x="8582026" y="3466873"/>
            <a:ext cx="22574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00B0F0"/>
                </a:solidFill>
              </a:rPr>
              <a:t>Vo(rec); Spec : 2 ~ 3V, </a:t>
            </a:r>
            <a:r>
              <a:rPr lang="en-US" altLang="ko-KR" sz="1200" b="1" dirty="0">
                <a:solidFill>
                  <a:srgbClr val="00B0F0"/>
                </a:solidFill>
              </a:rPr>
              <a:t>OK</a:t>
            </a:r>
            <a:endParaRPr lang="ko-KR" altLang="en-US" sz="1200" b="1" dirty="0">
              <a:solidFill>
                <a:srgbClr val="00B0F0"/>
              </a:solidFill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FDA28DC5-50A0-AE3F-3AF7-C90ABCFFD72E}"/>
              </a:ext>
            </a:extLst>
          </p:cNvPr>
          <p:cNvCxnSpPr/>
          <p:nvPr/>
        </p:nvCxnSpPr>
        <p:spPr>
          <a:xfrm>
            <a:off x="2466975" y="2428875"/>
            <a:ext cx="3743325" cy="0"/>
          </a:xfrm>
          <a:prstGeom prst="line">
            <a:avLst/>
          </a:prstGeom>
          <a:ln>
            <a:solidFill>
              <a:srgbClr val="FF00F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0CC44599-F150-94B2-5A83-AE90579A9AAD}"/>
              </a:ext>
            </a:extLst>
          </p:cNvPr>
          <p:cNvCxnSpPr/>
          <p:nvPr/>
        </p:nvCxnSpPr>
        <p:spPr>
          <a:xfrm>
            <a:off x="2466975" y="5010150"/>
            <a:ext cx="3743325" cy="0"/>
          </a:xfrm>
          <a:prstGeom prst="line">
            <a:avLst/>
          </a:prstGeom>
          <a:ln>
            <a:solidFill>
              <a:srgbClr val="FFC00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EEC31F8-9E5C-4336-5A72-3A847636265A}"/>
              </a:ext>
            </a:extLst>
          </p:cNvPr>
          <p:cNvCxnSpPr/>
          <p:nvPr/>
        </p:nvCxnSpPr>
        <p:spPr>
          <a:xfrm>
            <a:off x="2457450" y="3629025"/>
            <a:ext cx="3743325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6097C0F-9AC1-E89F-57F2-9B7C8617F8FB}"/>
              </a:ext>
            </a:extLst>
          </p:cNvPr>
          <p:cNvSpPr/>
          <p:nvPr/>
        </p:nvSpPr>
        <p:spPr>
          <a:xfrm>
            <a:off x="8362951" y="276225"/>
            <a:ext cx="3362324" cy="118800"/>
          </a:xfrm>
          <a:prstGeom prst="rect">
            <a:avLst/>
          </a:prstGeom>
          <a:noFill/>
          <a:ln>
            <a:solidFill>
              <a:srgbClr val="F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F28048C-6ED5-D251-8BC7-DDE69B9EAFD5}"/>
              </a:ext>
            </a:extLst>
          </p:cNvPr>
          <p:cNvSpPr/>
          <p:nvPr/>
        </p:nvSpPr>
        <p:spPr>
          <a:xfrm>
            <a:off x="8362951" y="428625"/>
            <a:ext cx="3362324" cy="1188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921492F-E2A4-3CF1-7AD9-E8D3833FF779}"/>
              </a:ext>
            </a:extLst>
          </p:cNvPr>
          <p:cNvSpPr/>
          <p:nvPr/>
        </p:nvSpPr>
        <p:spPr>
          <a:xfrm>
            <a:off x="8362951" y="781671"/>
            <a:ext cx="3362324" cy="11880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3759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34BB1-5DB2-0F83-9083-2975D8EA1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>
            <a:extLst>
              <a:ext uri="{FF2B5EF4-FFF2-40B4-BE49-F238E27FC236}">
                <a16:creationId xmlns:a16="http://schemas.microsoft.com/office/drawing/2014/main" id="{F0AB9D3B-AF8C-D98C-A335-D8D357241CA3}"/>
              </a:ext>
            </a:extLst>
          </p:cNvPr>
          <p:cNvGrpSpPr/>
          <p:nvPr/>
        </p:nvGrpSpPr>
        <p:grpSpPr>
          <a:xfrm>
            <a:off x="108000" y="1289700"/>
            <a:ext cx="8388349" cy="5399999"/>
            <a:chOff x="1901825" y="729000"/>
            <a:chExt cx="8388349" cy="5399999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EEAE1BBD-4488-D257-FC43-669D73DBDE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901825" y="729000"/>
              <a:ext cx="8388349" cy="5399999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0002837-5DA0-EAEC-318F-9478AD661E3B}"/>
                </a:ext>
              </a:extLst>
            </p:cNvPr>
            <p:cNvSpPr txBox="1"/>
            <p:nvPr/>
          </p:nvSpPr>
          <p:spPr>
            <a:xfrm>
              <a:off x="2152650" y="2447925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rgbClr val="FFFF00"/>
                  </a:solidFill>
                </a:rPr>
                <a:t>CAN_H</a:t>
              </a:r>
              <a:endParaRPr lang="ko-KR" altLang="en-US" dirty="0">
                <a:solidFill>
                  <a:srgbClr val="FFFF00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7450202-5B06-8ED8-92C5-43873CDD670B}"/>
                </a:ext>
              </a:extLst>
            </p:cNvPr>
            <p:cNvSpPr txBox="1"/>
            <p:nvPr/>
          </p:nvSpPr>
          <p:spPr>
            <a:xfrm>
              <a:off x="2208756" y="3376137"/>
              <a:ext cx="8675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rgbClr val="00FF00"/>
                  </a:solidFill>
                </a:rPr>
                <a:t>CAN_L</a:t>
              </a:r>
              <a:endParaRPr lang="ko-KR" altLang="en-US" dirty="0">
                <a:solidFill>
                  <a:srgbClr val="00FF00"/>
                </a:solidFill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596064D-09A8-CE62-3097-034CE7195657}"/>
              </a:ext>
            </a:extLst>
          </p:cNvPr>
          <p:cNvGrpSpPr>
            <a:grpSpLocks noChangeAspect="1"/>
          </p:cNvGrpSpPr>
          <p:nvPr/>
        </p:nvGrpSpPr>
        <p:grpSpPr>
          <a:xfrm>
            <a:off x="6425962" y="92660"/>
            <a:ext cx="5652287" cy="1080000"/>
            <a:chOff x="5190653" y="161925"/>
            <a:chExt cx="6782747" cy="1438476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79B4C3B2-6F3C-7CB9-95F9-C38B54BC1F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09703" y="161925"/>
              <a:ext cx="6763694" cy="666843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6623C370-5651-E366-5ADF-84E875F7B2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90653" y="828768"/>
              <a:ext cx="6782747" cy="771633"/>
            </a:xfrm>
            <a:prstGeom prst="rect">
              <a:avLst/>
            </a:prstGeom>
          </p:spPr>
        </p:pic>
      </p:grpSp>
      <p:sp>
        <p:nvSpPr>
          <p:cNvPr id="16" name="타원 15">
            <a:extLst>
              <a:ext uri="{FF2B5EF4-FFF2-40B4-BE49-F238E27FC236}">
                <a16:creationId xmlns:a16="http://schemas.microsoft.com/office/drawing/2014/main" id="{915E8AB9-6BA2-0B93-F301-E59D7F697CBB}"/>
              </a:ext>
            </a:extLst>
          </p:cNvPr>
          <p:cNvSpPr/>
          <p:nvPr/>
        </p:nvSpPr>
        <p:spPr>
          <a:xfrm>
            <a:off x="962026" y="2244543"/>
            <a:ext cx="7391400" cy="369333"/>
          </a:xfrm>
          <a:prstGeom prst="ellipse">
            <a:avLst/>
          </a:prstGeom>
          <a:noFill/>
          <a:ln w="38100">
            <a:solidFill>
              <a:srgbClr val="F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0E0C54-BAE0-542A-CF4C-8C7171488B61}"/>
              </a:ext>
            </a:extLst>
          </p:cNvPr>
          <p:cNvSpPr txBox="1"/>
          <p:nvPr/>
        </p:nvSpPr>
        <p:spPr>
          <a:xfrm flipH="1">
            <a:off x="8591550" y="2290709"/>
            <a:ext cx="36004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F00FF"/>
                </a:solidFill>
              </a:rPr>
              <a:t>Vo(dom); CANH; Spec : 2.75 ~ 4.5V</a:t>
            </a:r>
            <a:endParaRPr lang="ko-KR" altLang="en-US" sz="1200" dirty="0">
              <a:solidFill>
                <a:srgbClr val="FF00FF"/>
              </a:solidFill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3EB21BC7-47AC-BE82-505E-217F5E6BDE76}"/>
              </a:ext>
            </a:extLst>
          </p:cNvPr>
          <p:cNvSpPr/>
          <p:nvPr/>
        </p:nvSpPr>
        <p:spPr>
          <a:xfrm>
            <a:off x="962026" y="4815372"/>
            <a:ext cx="7391400" cy="369333"/>
          </a:xfrm>
          <a:prstGeom prst="ellips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FF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D8DF4C-733E-377F-47E4-68CD3E82F1B6}"/>
              </a:ext>
            </a:extLst>
          </p:cNvPr>
          <p:cNvSpPr txBox="1"/>
          <p:nvPr/>
        </p:nvSpPr>
        <p:spPr>
          <a:xfrm flipH="1">
            <a:off x="8582025" y="4861538"/>
            <a:ext cx="34962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FC000"/>
                </a:solidFill>
              </a:rPr>
              <a:t>Vo(dom); CANL; Spec : 0.5 ~ 2.25V</a:t>
            </a:r>
            <a:endParaRPr lang="ko-KR" altLang="en-US" sz="1200" dirty="0">
              <a:solidFill>
                <a:srgbClr val="FFC000"/>
              </a:solidFill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435D4ABD-7431-1B5A-8375-D13537C64590}"/>
              </a:ext>
            </a:extLst>
          </p:cNvPr>
          <p:cNvSpPr/>
          <p:nvPr/>
        </p:nvSpPr>
        <p:spPr>
          <a:xfrm>
            <a:off x="962026" y="3538424"/>
            <a:ext cx="7391400" cy="369333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55EB41-C78E-52B5-D527-70FF2698F538}"/>
              </a:ext>
            </a:extLst>
          </p:cNvPr>
          <p:cNvSpPr txBox="1"/>
          <p:nvPr/>
        </p:nvSpPr>
        <p:spPr>
          <a:xfrm flipH="1">
            <a:off x="8582026" y="3552598"/>
            <a:ext cx="22574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00B0F0"/>
                </a:solidFill>
              </a:rPr>
              <a:t>Vo(rec); Spec : 2 ~ 3V, </a:t>
            </a:r>
            <a:r>
              <a:rPr lang="en-US" altLang="ko-KR" sz="1200" b="1" dirty="0">
                <a:solidFill>
                  <a:srgbClr val="00B0F0"/>
                </a:solidFill>
              </a:rPr>
              <a:t>OK</a:t>
            </a:r>
            <a:endParaRPr lang="ko-KR" altLang="en-US" sz="1200" b="1" dirty="0">
              <a:solidFill>
                <a:srgbClr val="00B0F0"/>
              </a:solidFill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42198A82-4CAD-10D5-6768-2B3941A3F9D2}"/>
              </a:ext>
            </a:extLst>
          </p:cNvPr>
          <p:cNvCxnSpPr/>
          <p:nvPr/>
        </p:nvCxnSpPr>
        <p:spPr>
          <a:xfrm>
            <a:off x="2466975" y="2428875"/>
            <a:ext cx="3743325" cy="0"/>
          </a:xfrm>
          <a:prstGeom prst="line">
            <a:avLst/>
          </a:prstGeom>
          <a:ln>
            <a:solidFill>
              <a:srgbClr val="FF00F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B88D52D9-FCA3-378D-7BEF-3A81A4591AB0}"/>
              </a:ext>
            </a:extLst>
          </p:cNvPr>
          <p:cNvCxnSpPr/>
          <p:nvPr/>
        </p:nvCxnSpPr>
        <p:spPr>
          <a:xfrm>
            <a:off x="2466975" y="5010150"/>
            <a:ext cx="3743325" cy="0"/>
          </a:xfrm>
          <a:prstGeom prst="line">
            <a:avLst/>
          </a:prstGeom>
          <a:ln>
            <a:solidFill>
              <a:srgbClr val="FFC00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89F58950-700D-4A01-A4E7-181F2E6FFAA1}"/>
              </a:ext>
            </a:extLst>
          </p:cNvPr>
          <p:cNvCxnSpPr/>
          <p:nvPr/>
        </p:nvCxnSpPr>
        <p:spPr>
          <a:xfrm>
            <a:off x="2457450" y="3714750"/>
            <a:ext cx="3743325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9391C71-4484-342B-9D01-7757100A53B2}"/>
              </a:ext>
            </a:extLst>
          </p:cNvPr>
          <p:cNvSpPr/>
          <p:nvPr/>
        </p:nvSpPr>
        <p:spPr>
          <a:xfrm>
            <a:off x="8362951" y="276225"/>
            <a:ext cx="3362324" cy="118800"/>
          </a:xfrm>
          <a:prstGeom prst="rect">
            <a:avLst/>
          </a:prstGeom>
          <a:noFill/>
          <a:ln>
            <a:solidFill>
              <a:srgbClr val="F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7CCD6FF-479A-5333-7FF5-56415673A6F3}"/>
              </a:ext>
            </a:extLst>
          </p:cNvPr>
          <p:cNvSpPr/>
          <p:nvPr/>
        </p:nvSpPr>
        <p:spPr>
          <a:xfrm>
            <a:off x="8362951" y="428625"/>
            <a:ext cx="3362324" cy="1188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F34E430-A406-A1F6-E5A6-87C3421C39FE}"/>
              </a:ext>
            </a:extLst>
          </p:cNvPr>
          <p:cNvSpPr/>
          <p:nvPr/>
        </p:nvSpPr>
        <p:spPr>
          <a:xfrm>
            <a:off x="8362951" y="781671"/>
            <a:ext cx="3362324" cy="11880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8E7889-D94C-0651-5A1B-1E17C7406D06}"/>
              </a:ext>
            </a:extLst>
          </p:cNvPr>
          <p:cNvSpPr txBox="1"/>
          <p:nvPr/>
        </p:nvSpPr>
        <p:spPr>
          <a:xfrm>
            <a:off x="123825" y="161925"/>
            <a:ext cx="58013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참고</a:t>
            </a:r>
            <a:r>
              <a:rPr lang="en-US" altLang="ko-KR" dirty="0"/>
              <a:t>) TJA1043; </a:t>
            </a:r>
            <a:r>
              <a:rPr lang="en-US" altLang="ko-KR" dirty="0">
                <a:solidFill>
                  <a:srgbClr val="FF00FF"/>
                </a:solidFill>
              </a:rPr>
              <a:t>4.7nF</a:t>
            </a:r>
            <a:r>
              <a:rPr lang="en-US" altLang="ko-KR" dirty="0"/>
              <a:t> at SPLIT; </a:t>
            </a:r>
            <a:r>
              <a:rPr lang="en-US" altLang="ko-KR" dirty="0">
                <a:solidFill>
                  <a:srgbClr val="FF00FF"/>
                </a:solidFill>
              </a:rPr>
              <a:t>110Ω</a:t>
            </a:r>
            <a:r>
              <a:rPr lang="en-US" altLang="ko-KR" dirty="0"/>
              <a:t> at CAN_H/CAN_L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2914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355</Words>
  <Application>Microsoft Office PowerPoint</Application>
  <PresentationFormat>와이드스크린</PresentationFormat>
  <Paragraphs>42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 준영</dc:creator>
  <cp:lastModifiedBy>이 준영</cp:lastModifiedBy>
  <cp:revision>5</cp:revision>
  <dcterms:created xsi:type="dcterms:W3CDTF">2024-11-04T05:29:41Z</dcterms:created>
  <dcterms:modified xsi:type="dcterms:W3CDTF">2024-11-04T07:14:23Z</dcterms:modified>
</cp:coreProperties>
</file>