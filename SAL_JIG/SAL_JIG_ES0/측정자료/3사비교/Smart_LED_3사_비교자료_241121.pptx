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74" r:id="rId3"/>
    <p:sldId id="259" r:id="rId4"/>
    <p:sldId id="271" r:id="rId5"/>
    <p:sldId id="272" r:id="rId6"/>
    <p:sldId id="275" r:id="rId7"/>
    <p:sldId id="276" r:id="rId8"/>
    <p:sldId id="277" r:id="rId9"/>
    <p:sldId id="278" r:id="rId10"/>
    <p:sldId id="279" r:id="rId11"/>
    <p:sldId id="280" r:id="rId12"/>
    <p:sldId id="273" r:id="rId13"/>
    <p:sldId id="281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00FF"/>
    <a:srgbClr val="FF0000"/>
    <a:srgbClr val="00FF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9BE8BF-91B4-83CC-40EE-0F404166F2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0628F0A-D2BE-4710-2463-459D09D0E3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EC5681-CBFB-1BCC-CDC6-66AA0F38C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A4639-2998-418C-B27F-B815C18A64E2}" type="datetimeFigureOut">
              <a:rPr lang="ko-KR" altLang="en-US" smtClean="0"/>
              <a:t>2024-11-21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479757-3016-CC41-AD73-85B1E44B5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B95E7B-F14E-8930-40C1-A15758EE6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C6592-25F4-4199-929F-1EA5725E1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127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263FD-BA5A-E8D8-999C-60E334422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5A5FC7-07E1-DAD5-CDEE-1E2FDF03E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153F1D-D48A-BB5C-1E96-E54E973B7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A4639-2998-418C-B27F-B815C18A64E2}" type="datetimeFigureOut">
              <a:rPr lang="ko-KR" altLang="en-US" smtClean="0"/>
              <a:t>2024-11-21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AA7280-034C-E8F1-1367-206B78364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804A7B-A172-2B25-A76D-0A2C159F3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C6592-25F4-4199-929F-1EA5725E1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8306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61B0D9-D996-ED4B-F638-3CC00D898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1F45D0D-1FFF-43EA-2B51-68B8985A7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A09831-C8EE-708B-92F8-25D06EE36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A4639-2998-418C-B27F-B815C18A64E2}" type="datetimeFigureOut">
              <a:rPr lang="ko-KR" altLang="en-US" smtClean="0"/>
              <a:t>2024-11-21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3FA1DD-83E2-FF7B-4C57-55EDA6C33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96177F-024D-7D6F-B6E5-D0ADBD424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C6592-25F4-4199-929F-1EA5725E1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9385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41F19F-FEA4-519A-795A-676B1ECD7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9C4C07-D96A-C140-1560-911A3C24D5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9369CC-79A4-F36C-1972-0FABA2D06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45188B-688B-18AF-3B0B-601EBE3D3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A4639-2998-418C-B27F-B815C18A64E2}" type="datetimeFigureOut">
              <a:rPr lang="ko-KR" altLang="en-US" smtClean="0"/>
              <a:t>2024-11-21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40768F-52DA-3A0F-16E9-31757FBE4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40D8EA-6834-DA74-8075-25211E2FA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C6592-25F4-4199-929F-1EA5725E1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731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7F2D62-F8C1-DB07-5B76-AC063D988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52D487-4AA4-27AA-9A17-D7EA342BC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ED493B-7795-7202-56A1-AB4812EFD0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630A5CE-0C79-DEE5-D935-C4D4589421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92FD91-F484-C382-E266-219A292118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3E6034A-3870-1E66-3E0B-09950EF5F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A4639-2998-418C-B27F-B815C18A64E2}" type="datetimeFigureOut">
              <a:rPr lang="ko-KR" altLang="en-US" smtClean="0"/>
              <a:t>2024-11-21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E3483D0-A6DA-4886-036B-0F944E6D5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8B92A37-1AC9-0275-424F-4CCBB081A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C6592-25F4-4199-929F-1EA5725E1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010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AD5C6A-2ADA-5248-8556-27A651712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EE16A43-7458-CB49-BA4D-5933688C8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A4639-2998-418C-B27F-B815C18A64E2}" type="datetimeFigureOut">
              <a:rPr lang="ko-KR" altLang="en-US" smtClean="0"/>
              <a:t>2024-11-21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A2F609-624E-4E70-1E82-F0898B8FB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3B4E23-D268-3697-71B6-397DCC855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C6592-25F4-4199-929F-1EA5725E1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3314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607F234-3E8B-336A-E72D-EA913F381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A4639-2998-418C-B27F-B815C18A64E2}" type="datetimeFigureOut">
              <a:rPr lang="ko-KR" altLang="en-US" smtClean="0"/>
              <a:t>2024-11-21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6CFA8BD-F750-1D15-6E74-AD3E25934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62668E-B06C-44D4-8826-745857032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C6592-25F4-4199-929F-1EA5725E1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328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78AF38-A7B6-6C7D-66C8-8BFE7818B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3945AF-48E8-73CD-6981-01FD34AB2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F80D18-8727-8265-65D0-60157FD484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00C753-E756-0372-B181-C35B4DDAD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A4639-2998-418C-B27F-B815C18A64E2}" type="datetimeFigureOut">
              <a:rPr lang="ko-KR" altLang="en-US" smtClean="0"/>
              <a:t>2024-11-21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AC8841-121A-DE7A-1639-B15C6AB9C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272449-CBB6-9406-54B5-9AA3AEC42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C6592-25F4-4199-929F-1EA5725E1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49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BF9587-B113-A828-178A-274210B05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D570E82-299D-5DA2-49B4-D5A9371FC0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AF295E-8D3C-F025-036D-974BCEE82E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393AE6-DC53-D965-4B7E-735A347BA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A4639-2998-418C-B27F-B815C18A64E2}" type="datetimeFigureOut">
              <a:rPr lang="ko-KR" altLang="en-US" smtClean="0"/>
              <a:t>2024-11-21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8403C0-8B05-B288-C9FB-CB848E828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FD6AE6-CF59-681F-6A0B-E345C441A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C6592-25F4-4199-929F-1EA5725E1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170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200D43-DF78-C813-14A3-066EDAD3A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41FFF1-9220-AB03-2F5B-75919064A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5969E1-603F-D96F-5982-740C5768F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A4639-2998-418C-B27F-B815C18A64E2}" type="datetimeFigureOut">
              <a:rPr lang="ko-KR" altLang="en-US" smtClean="0"/>
              <a:t>2024-11-21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D2D7D9-B04D-BB1F-AC8C-00EE4F46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51107B-CB88-DE13-F8B2-30DCFEA9D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C6592-25F4-4199-929F-1EA5725E1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115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3F50CDD-78EE-F249-4B82-C409A365AD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F8C291D-DBC2-0E1E-2265-E7E5004439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C34782-87E4-C9ED-CA9B-ACFBA22F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A4639-2998-418C-B27F-B815C18A64E2}" type="datetimeFigureOut">
              <a:rPr lang="ko-KR" altLang="en-US" smtClean="0"/>
              <a:t>2024-11-21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F97954-ED3C-3D5E-4B16-37304B400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FD4789-99B5-D5FD-B745-A1C33E486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CC6592-25F4-4199-929F-1EA5725E1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340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74CED73-0F67-5375-F7A9-55EAB4814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04A732-08D4-D580-6C0C-1BDC4977B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148A20-3D06-E87F-5453-852532890C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EA4639-2998-418C-B27F-B815C18A64E2}" type="datetimeFigureOut">
              <a:rPr lang="ko-KR" altLang="en-US" smtClean="0"/>
              <a:t>2024-11-21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3626E4-DDA3-49FE-0A3B-C20298B1B3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9B35EF-17FE-6BA9-6E19-8E5FF024D1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CC6592-25F4-4199-929F-1EA5725E1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7595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867100-9799-4A8F-B39F-C5612598DAFF}"/>
              </a:ext>
            </a:extLst>
          </p:cNvPr>
          <p:cNvSpPr txBox="1"/>
          <p:nvPr/>
        </p:nvSpPr>
        <p:spPr>
          <a:xfrm>
            <a:off x="1687995" y="1398529"/>
            <a:ext cx="8816011" cy="97712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4400" b="1" dirty="0">
                <a:solidFill>
                  <a:srgbClr val="000099"/>
                </a:solidFill>
              </a:rPr>
              <a:t>Smart LED 3</a:t>
            </a:r>
            <a:r>
              <a:rPr lang="ko-KR" altLang="en-US" sz="4400" b="1" dirty="0">
                <a:solidFill>
                  <a:srgbClr val="000099"/>
                </a:solidFill>
              </a:rPr>
              <a:t>社 특성 비교 자료</a:t>
            </a:r>
            <a:endParaRPr lang="en-US" altLang="ko-KR" sz="4400" b="1" dirty="0">
              <a:solidFill>
                <a:srgbClr val="000099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D5F2AA-5B65-4210-840C-9D57D55E394F}"/>
              </a:ext>
            </a:extLst>
          </p:cNvPr>
          <p:cNvSpPr txBox="1"/>
          <p:nvPr/>
        </p:nvSpPr>
        <p:spPr>
          <a:xfrm>
            <a:off x="5618947" y="4030114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b="1" dirty="0"/>
              <a:t>이준영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6D7051-514F-451B-A600-C68725600D38}"/>
              </a:ext>
            </a:extLst>
          </p:cNvPr>
          <p:cNvSpPr txBox="1"/>
          <p:nvPr/>
        </p:nvSpPr>
        <p:spPr>
          <a:xfrm>
            <a:off x="4536919" y="5726096"/>
            <a:ext cx="3118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주식회사 글로벌 테크놀로지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D6403F-971A-D3D0-BB20-795232B552C5}"/>
              </a:ext>
            </a:extLst>
          </p:cNvPr>
          <p:cNvSpPr txBox="1"/>
          <p:nvPr/>
        </p:nvSpPr>
        <p:spPr>
          <a:xfrm>
            <a:off x="5216593" y="4878105"/>
            <a:ext cx="17588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dirty="0"/>
              <a:t>2024. 11. 21.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03341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FD2D6-4CF0-B6FA-04FB-924B181A7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B9E6E1-D202-DB08-D035-BA72DFA4760C}"/>
              </a:ext>
            </a:extLst>
          </p:cNvPr>
          <p:cNvSpPr txBox="1"/>
          <p:nvPr/>
        </p:nvSpPr>
        <p:spPr>
          <a:xfrm>
            <a:off x="1687994" y="2045416"/>
            <a:ext cx="8816011" cy="276716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742950" indent="-742950" algn="ctr">
              <a:lnSpc>
                <a:spcPct val="150000"/>
              </a:lnSpc>
              <a:buAutoNum type="arabicPeriod"/>
            </a:pPr>
            <a:r>
              <a:rPr lang="ko-KR" altLang="en-US" sz="4400" b="1" dirty="0">
                <a:solidFill>
                  <a:srgbClr val="000099"/>
                </a:solidFill>
              </a:rPr>
              <a:t>광출력 특성</a:t>
            </a:r>
            <a:endParaRPr lang="en-US" altLang="ko-KR" sz="4400" b="1" dirty="0">
              <a:solidFill>
                <a:srgbClr val="000099"/>
              </a:solidFill>
            </a:endParaRPr>
          </a:p>
          <a:p>
            <a:pPr marL="742950" indent="-742950" algn="ctr">
              <a:lnSpc>
                <a:spcPct val="150000"/>
              </a:lnSpc>
              <a:buAutoNum type="arabicPeriod"/>
            </a:pPr>
            <a:endParaRPr lang="en-US" altLang="ko-KR" sz="4400" b="1" dirty="0">
              <a:solidFill>
                <a:srgbClr val="000099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3200" b="1" dirty="0">
                <a:solidFill>
                  <a:srgbClr val="000099"/>
                </a:solidFill>
              </a:rPr>
              <a:t>GT</a:t>
            </a:r>
            <a:r>
              <a:rPr lang="ko-KR" altLang="en-US" sz="3200" b="1" dirty="0">
                <a:solidFill>
                  <a:srgbClr val="000099"/>
                </a:solidFill>
              </a:rPr>
              <a:t> 광</a:t>
            </a:r>
            <a:r>
              <a:rPr lang="en-US" altLang="ko-KR" sz="3200" b="1" dirty="0">
                <a:solidFill>
                  <a:srgbClr val="000099"/>
                </a:solidFill>
              </a:rPr>
              <a:t>Probe Jig</a:t>
            </a:r>
            <a:r>
              <a:rPr lang="ko-KR" altLang="en-US" sz="3200" b="1" dirty="0">
                <a:solidFill>
                  <a:srgbClr val="000099"/>
                </a:solidFill>
              </a:rPr>
              <a:t>로 측정</a:t>
            </a:r>
            <a:endParaRPr lang="en-US" altLang="ko-KR" sz="4400" b="1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659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D4A5C950-07D1-62F4-2CC5-F2D4AC323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213088"/>
              </p:ext>
            </p:extLst>
          </p:nvPr>
        </p:nvGraphicFramePr>
        <p:xfrm>
          <a:off x="247361" y="2035907"/>
          <a:ext cx="11525541" cy="311504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841847">
                  <a:extLst>
                    <a:ext uri="{9D8B030D-6E8A-4147-A177-3AD203B41FA5}">
                      <a16:colId xmlns:a16="http://schemas.microsoft.com/office/drawing/2014/main" val="3211032197"/>
                    </a:ext>
                  </a:extLst>
                </a:gridCol>
                <a:gridCol w="3841847">
                  <a:extLst>
                    <a:ext uri="{9D8B030D-6E8A-4147-A177-3AD203B41FA5}">
                      <a16:colId xmlns:a16="http://schemas.microsoft.com/office/drawing/2014/main" val="775702590"/>
                    </a:ext>
                  </a:extLst>
                </a:gridCol>
                <a:gridCol w="3841847">
                  <a:extLst>
                    <a:ext uri="{9D8B030D-6E8A-4147-A177-3AD203B41FA5}">
                      <a16:colId xmlns:a16="http://schemas.microsoft.com/office/drawing/2014/main" val="1971966029"/>
                    </a:ext>
                  </a:extLst>
                </a:gridCol>
              </a:tblGrid>
              <a:tr h="1969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RED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00FF00"/>
                          </a:solidFill>
                        </a:rPr>
                        <a:t>GREEN</a:t>
                      </a:r>
                      <a:endParaRPr lang="ko-KR" altLang="en-US" dirty="0">
                        <a:solidFill>
                          <a:srgbClr val="00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0000FF"/>
                          </a:solidFill>
                        </a:rPr>
                        <a:t>BLUE</a:t>
                      </a:r>
                      <a:endParaRPr lang="ko-KR" altLang="en-US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516923"/>
                  </a:ext>
                </a:extLst>
              </a:tr>
              <a:tr h="2749288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7598893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956F6ABE-34ED-7A34-D4E9-EFA736EF6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5761" y="2596944"/>
            <a:ext cx="3599999" cy="23175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E3C45FA-D0D6-BFCA-A6BB-7C7278BC7B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10131" y="2596944"/>
            <a:ext cx="3599999" cy="23175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5EB2F4E-E6F2-BDD0-43E5-87AACE43D1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64501" y="2596944"/>
            <a:ext cx="3599999" cy="23175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BA2C1A7-D8BF-E1FA-CBE2-3BEEC14DB262}"/>
              </a:ext>
            </a:extLst>
          </p:cNvPr>
          <p:cNvSpPr txBox="1"/>
          <p:nvPr/>
        </p:nvSpPr>
        <p:spPr>
          <a:xfrm>
            <a:off x="247361" y="241300"/>
            <a:ext cx="11525540" cy="46166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1. ISE LED + ILaS</a:t>
            </a:r>
            <a:endParaRPr lang="ko-KR" alt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57A746-9547-62DB-3FA3-C8369642439C}"/>
              </a:ext>
            </a:extLst>
          </p:cNvPr>
          <p:cNvSpPr txBox="1"/>
          <p:nvPr/>
        </p:nvSpPr>
        <p:spPr>
          <a:xfrm>
            <a:off x="355760" y="865305"/>
            <a:ext cx="1846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FPWM = 483Hz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2141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851C8-2313-283C-846B-09767B1EF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61C901B-1BC3-612A-6C51-C44FB1989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035277"/>
              </p:ext>
            </p:extLst>
          </p:nvPr>
        </p:nvGraphicFramePr>
        <p:xfrm>
          <a:off x="247360" y="2037600"/>
          <a:ext cx="11525541" cy="311504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841847">
                  <a:extLst>
                    <a:ext uri="{9D8B030D-6E8A-4147-A177-3AD203B41FA5}">
                      <a16:colId xmlns:a16="http://schemas.microsoft.com/office/drawing/2014/main" val="3211032197"/>
                    </a:ext>
                  </a:extLst>
                </a:gridCol>
                <a:gridCol w="3841847">
                  <a:extLst>
                    <a:ext uri="{9D8B030D-6E8A-4147-A177-3AD203B41FA5}">
                      <a16:colId xmlns:a16="http://schemas.microsoft.com/office/drawing/2014/main" val="775702590"/>
                    </a:ext>
                  </a:extLst>
                </a:gridCol>
                <a:gridCol w="3841847">
                  <a:extLst>
                    <a:ext uri="{9D8B030D-6E8A-4147-A177-3AD203B41FA5}">
                      <a16:colId xmlns:a16="http://schemas.microsoft.com/office/drawing/2014/main" val="1971966029"/>
                    </a:ext>
                  </a:extLst>
                </a:gridCol>
              </a:tblGrid>
              <a:tr h="1969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RED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00FF00"/>
                          </a:solidFill>
                        </a:rPr>
                        <a:t>GREEN</a:t>
                      </a:r>
                      <a:endParaRPr lang="ko-KR" altLang="en-US" dirty="0">
                        <a:solidFill>
                          <a:srgbClr val="00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0000FF"/>
                          </a:solidFill>
                        </a:rPr>
                        <a:t>BLUE</a:t>
                      </a:r>
                      <a:endParaRPr lang="ko-KR" altLang="en-US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516923"/>
                  </a:ext>
                </a:extLst>
              </a:tr>
              <a:tr h="2749288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1800" b="1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759889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CBA4BB95-AD8F-72E4-401A-F83A9F0B29E7}"/>
              </a:ext>
            </a:extLst>
          </p:cNvPr>
          <p:cNvSpPr txBox="1"/>
          <p:nvPr/>
        </p:nvSpPr>
        <p:spPr>
          <a:xfrm>
            <a:off x="247360" y="241300"/>
            <a:ext cx="11525540" cy="46166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/>
            </a:lvl1pPr>
          </a:lstStyle>
          <a:p>
            <a:r>
              <a:rPr lang="en-US" altLang="ko-KR" dirty="0"/>
              <a:t>2. OSRAM RGBi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2EF326C0-7B95-7A24-8B1D-F0E24D3971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5760" y="2613490"/>
            <a:ext cx="3600000" cy="2317500"/>
          </a:xfr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64832B6-CDDD-8140-89D9-9A9580359B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10130" y="2613490"/>
            <a:ext cx="3599999" cy="2317500"/>
          </a:xfrm>
          <a:prstGeom prst="rect">
            <a:avLst/>
          </a:prstGeom>
        </p:spPr>
      </p:pic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34D3D764-602A-9847-D49D-FAF734F9F9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64500" y="2613490"/>
            <a:ext cx="3599999" cy="2317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6213A1-2920-A6DB-3CDF-F23982814F8D}"/>
              </a:ext>
            </a:extLst>
          </p:cNvPr>
          <p:cNvSpPr txBox="1"/>
          <p:nvPr/>
        </p:nvSpPr>
        <p:spPr>
          <a:xfrm>
            <a:off x="355760" y="865305"/>
            <a:ext cx="1846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FPWM = 582Hz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7233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D3E82-3F18-6340-F1F1-115F2DD30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CCA83E5-AF21-889C-38FB-F9A721EABB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957391"/>
              </p:ext>
            </p:extLst>
          </p:nvPr>
        </p:nvGraphicFramePr>
        <p:xfrm>
          <a:off x="247359" y="2037600"/>
          <a:ext cx="11525541" cy="311504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841847">
                  <a:extLst>
                    <a:ext uri="{9D8B030D-6E8A-4147-A177-3AD203B41FA5}">
                      <a16:colId xmlns:a16="http://schemas.microsoft.com/office/drawing/2014/main" val="3211032197"/>
                    </a:ext>
                  </a:extLst>
                </a:gridCol>
                <a:gridCol w="3841847">
                  <a:extLst>
                    <a:ext uri="{9D8B030D-6E8A-4147-A177-3AD203B41FA5}">
                      <a16:colId xmlns:a16="http://schemas.microsoft.com/office/drawing/2014/main" val="775702590"/>
                    </a:ext>
                  </a:extLst>
                </a:gridCol>
                <a:gridCol w="3841847">
                  <a:extLst>
                    <a:ext uri="{9D8B030D-6E8A-4147-A177-3AD203B41FA5}">
                      <a16:colId xmlns:a16="http://schemas.microsoft.com/office/drawing/2014/main" val="1971966029"/>
                    </a:ext>
                  </a:extLst>
                </a:gridCol>
              </a:tblGrid>
              <a:tr h="19699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RED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00FF00"/>
                          </a:solidFill>
                        </a:rPr>
                        <a:t>GREEN</a:t>
                      </a:r>
                      <a:endParaRPr lang="ko-KR" altLang="en-US" dirty="0">
                        <a:solidFill>
                          <a:srgbClr val="00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0000FF"/>
                          </a:solidFill>
                        </a:rPr>
                        <a:t>BLUE</a:t>
                      </a:r>
                      <a:endParaRPr lang="ko-KR" altLang="en-US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516923"/>
                  </a:ext>
                </a:extLst>
              </a:tr>
              <a:tr h="2749288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759889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F4534F2-48A6-B05F-0A02-06FAB897D26F}"/>
              </a:ext>
            </a:extLst>
          </p:cNvPr>
          <p:cNvSpPr txBox="1"/>
          <p:nvPr/>
        </p:nvSpPr>
        <p:spPr>
          <a:xfrm>
            <a:off x="247359" y="241300"/>
            <a:ext cx="11525541" cy="46166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/>
            </a:lvl1pPr>
          </a:lstStyle>
          <a:p>
            <a:r>
              <a:rPr lang="en-US" altLang="ko-KR" dirty="0"/>
              <a:t>3. MOBIS ID804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6F48824-DCBA-F4DD-BCC3-A2A53B2672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5760" y="2631414"/>
            <a:ext cx="3599999" cy="23175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02C149B-336E-CAA4-4E06-899633C6B9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10130" y="2631414"/>
            <a:ext cx="3599999" cy="23175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9F76FE3-23ED-ACA2-3EDF-8627890621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64500" y="2631414"/>
            <a:ext cx="3599999" cy="2317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CF7371-72FF-DE92-FAAE-F7B1965DDA8A}"/>
              </a:ext>
            </a:extLst>
          </p:cNvPr>
          <p:cNvSpPr txBox="1"/>
          <p:nvPr/>
        </p:nvSpPr>
        <p:spPr>
          <a:xfrm>
            <a:off x="355760" y="865305"/>
            <a:ext cx="1973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FPWM = 3915Hz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2935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1C86F-7BC0-DB36-15E2-B15FCA5F0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76BB76-8373-6652-3BD1-F100F0898DCF}"/>
              </a:ext>
            </a:extLst>
          </p:cNvPr>
          <p:cNvSpPr txBox="1"/>
          <p:nvPr/>
        </p:nvSpPr>
        <p:spPr>
          <a:xfrm>
            <a:off x="1687995" y="2940437"/>
            <a:ext cx="8816011" cy="97712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4400" b="1" dirty="0">
                <a:solidFill>
                  <a:srgbClr val="000099"/>
                </a:solidFill>
              </a:rPr>
              <a:t>2. </a:t>
            </a:r>
            <a:r>
              <a:rPr lang="ko-KR" altLang="en-US" sz="4400" b="1" dirty="0">
                <a:solidFill>
                  <a:srgbClr val="000099"/>
                </a:solidFill>
              </a:rPr>
              <a:t>통신 파형</a:t>
            </a:r>
            <a:endParaRPr lang="en-US" altLang="ko-KR" sz="4400" b="1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7516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B5DCB-B497-B678-8D52-3D775820F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BF7305D6-8236-6B74-2FE8-E9D4E094669D}"/>
              </a:ext>
            </a:extLst>
          </p:cNvPr>
          <p:cNvSpPr txBox="1"/>
          <p:nvPr/>
        </p:nvSpPr>
        <p:spPr>
          <a:xfrm>
            <a:off x="247361" y="241300"/>
            <a:ext cx="11525540" cy="46166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1. ISE LED + ILaS</a:t>
            </a:r>
            <a:endParaRPr lang="ko-KR" altLang="en-US" sz="2400" dirty="0"/>
          </a:p>
        </p:txBody>
      </p:sp>
      <p:pic>
        <p:nvPicPr>
          <p:cNvPr id="3" name="그림 2" descr="스크린샷, 텍스트, 멀티미디어 소프트웨어, 소프트웨어이(가) 표시된 사진&#10;&#10;자동 생성된 설명">
            <a:extLst>
              <a:ext uri="{FF2B5EF4-FFF2-40B4-BE49-F238E27FC236}">
                <a16:creationId xmlns:a16="http://schemas.microsoft.com/office/drawing/2014/main" id="{7C4F6455-93DD-E54A-A98C-17E7E1B7CC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825" y="821360"/>
            <a:ext cx="8388350" cy="540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AEB91E-EE8D-86B6-1743-8C162A786191}"/>
              </a:ext>
            </a:extLst>
          </p:cNvPr>
          <p:cNvSpPr txBox="1"/>
          <p:nvPr/>
        </p:nvSpPr>
        <p:spPr>
          <a:xfrm>
            <a:off x="3610369" y="3429000"/>
            <a:ext cx="3345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FF"/>
                </a:solidFill>
              </a:rPr>
              <a:t>ISE</a:t>
            </a:r>
            <a:r>
              <a:rPr lang="ko-KR" altLang="en-US" dirty="0">
                <a:solidFill>
                  <a:srgbClr val="FFFFFF"/>
                </a:solidFill>
              </a:rPr>
              <a:t> </a:t>
            </a:r>
            <a:r>
              <a:rPr lang="en-US" altLang="ko-KR" dirty="0">
                <a:solidFill>
                  <a:srgbClr val="FFFFFF"/>
                </a:solidFill>
              </a:rPr>
              <a:t>LED</a:t>
            </a:r>
            <a:r>
              <a:rPr lang="ko-KR" altLang="en-US" dirty="0">
                <a:solidFill>
                  <a:srgbClr val="FFFFFF"/>
                </a:solidFill>
              </a:rPr>
              <a:t> 자체의 통신 </a:t>
            </a:r>
            <a:r>
              <a:rPr lang="en-US" altLang="ko-KR" dirty="0">
                <a:solidFill>
                  <a:srgbClr val="FFFFFF"/>
                </a:solidFill>
              </a:rPr>
              <a:t>chip </a:t>
            </a:r>
            <a:r>
              <a:rPr lang="ko-KR" altLang="en-US" dirty="0">
                <a:solidFill>
                  <a:srgbClr val="FFFFFF"/>
                </a:solidFill>
              </a:rPr>
              <a:t>적용</a:t>
            </a:r>
          </a:p>
        </p:txBody>
      </p:sp>
    </p:spTree>
    <p:extLst>
      <p:ext uri="{BB962C8B-B14F-4D97-AF65-F5344CB8AC3E}">
        <p14:creationId xmlns:p14="http://schemas.microsoft.com/office/powerpoint/2010/main" val="504499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E10A8-C7A5-6F2E-BC84-8E7D3BCBB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BFC4D24E-4DBA-B1A3-42F9-0A43D008265D}"/>
              </a:ext>
            </a:extLst>
          </p:cNvPr>
          <p:cNvSpPr txBox="1"/>
          <p:nvPr/>
        </p:nvSpPr>
        <p:spPr>
          <a:xfrm>
            <a:off x="247360" y="241300"/>
            <a:ext cx="11525540" cy="46166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/>
            </a:lvl1pPr>
          </a:lstStyle>
          <a:p>
            <a:r>
              <a:rPr lang="en-US" altLang="ko-KR" dirty="0"/>
              <a:t>2. OSRAM RGBi</a:t>
            </a:r>
            <a:endParaRPr lang="ko-KR" altLang="en-US" dirty="0"/>
          </a:p>
        </p:txBody>
      </p:sp>
      <p:pic>
        <p:nvPicPr>
          <p:cNvPr id="10" name="내용 개체 틀 9" descr="텍스트, 스크린샷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74BFE290-919F-96F2-84CA-B26F010C02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825" y="821360"/>
            <a:ext cx="8388350" cy="54000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B9FB924-0438-8577-CF84-926DC0499CC4}"/>
              </a:ext>
            </a:extLst>
          </p:cNvPr>
          <p:cNvSpPr txBox="1"/>
          <p:nvPr/>
        </p:nvSpPr>
        <p:spPr>
          <a:xfrm>
            <a:off x="2946560" y="1648272"/>
            <a:ext cx="1902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FF"/>
                </a:solidFill>
              </a:rPr>
              <a:t>CAN RX, SIO_P 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726A5E-FEA3-E375-C741-11CF3940CFA5}"/>
              </a:ext>
            </a:extLst>
          </p:cNvPr>
          <p:cNvSpPr txBox="1"/>
          <p:nvPr/>
        </p:nvSpPr>
        <p:spPr>
          <a:xfrm>
            <a:off x="2946559" y="3565484"/>
            <a:ext cx="1884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FF"/>
                </a:solidFill>
              </a:rPr>
              <a:t>CAN TX, SIO_N </a:t>
            </a:r>
            <a:endParaRPr lang="ko-KR" alt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663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D5408-CA0C-80B0-592B-4EF5019AB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2A20B3D1-2415-1E86-36C4-F2041EE004D1}"/>
              </a:ext>
            </a:extLst>
          </p:cNvPr>
          <p:cNvSpPr txBox="1"/>
          <p:nvPr/>
        </p:nvSpPr>
        <p:spPr>
          <a:xfrm>
            <a:off x="247359" y="241300"/>
            <a:ext cx="11525541" cy="46166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/>
            </a:lvl1pPr>
          </a:lstStyle>
          <a:p>
            <a:r>
              <a:rPr lang="en-US" altLang="ko-KR" dirty="0"/>
              <a:t>3. MOBIS ID804</a:t>
            </a:r>
            <a:endParaRPr lang="ko-KR" altLang="en-US" dirty="0"/>
          </a:p>
        </p:txBody>
      </p:sp>
      <p:pic>
        <p:nvPicPr>
          <p:cNvPr id="3" name="그림 2" descr="스크린샷, 텍스트, 멀티미디어 소프트웨어, 소프트웨어이(가) 표시된 사진&#10;&#10;자동 생성된 설명">
            <a:extLst>
              <a:ext uri="{FF2B5EF4-FFF2-40B4-BE49-F238E27FC236}">
                <a16:creationId xmlns:a16="http://schemas.microsoft.com/office/drawing/2014/main" id="{4ADCC0F2-1E9F-A2E5-9F9F-A9821AE2C8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825" y="821360"/>
            <a:ext cx="8388350" cy="540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3E38E2D-C5B1-AE52-D6D8-99061FAE4E51}"/>
              </a:ext>
            </a:extLst>
          </p:cNvPr>
          <p:cNvSpPr txBox="1"/>
          <p:nvPr/>
        </p:nvSpPr>
        <p:spPr>
          <a:xfrm>
            <a:off x="2946560" y="1648272"/>
            <a:ext cx="2226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FF"/>
                </a:solidFill>
              </a:rPr>
              <a:t>Trigger </a:t>
            </a:r>
            <a:r>
              <a:rPr lang="ko-KR" altLang="en-US" dirty="0">
                <a:solidFill>
                  <a:srgbClr val="FFFFFF"/>
                </a:solidFill>
              </a:rPr>
              <a:t>잡히지 않음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59FF66-845C-68B2-46E1-016BCCC6667E}"/>
              </a:ext>
            </a:extLst>
          </p:cNvPr>
          <p:cNvSpPr txBox="1"/>
          <p:nvPr/>
        </p:nvSpPr>
        <p:spPr>
          <a:xfrm>
            <a:off x="2946559" y="3565484"/>
            <a:ext cx="1884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FFFF"/>
                </a:solidFill>
              </a:rPr>
              <a:t>CAN TX, SIO_N </a:t>
            </a:r>
            <a:endParaRPr lang="ko-KR" alt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5117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9D932-0F6E-9604-DCE7-DBA20C00B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A6B743-3DB7-CF62-82B4-FDD1DDF09E41}"/>
              </a:ext>
            </a:extLst>
          </p:cNvPr>
          <p:cNvSpPr txBox="1"/>
          <p:nvPr/>
        </p:nvSpPr>
        <p:spPr>
          <a:xfrm>
            <a:off x="1687995" y="2940437"/>
            <a:ext cx="8816011" cy="97712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4400" b="1" dirty="0">
                <a:solidFill>
                  <a:srgbClr val="000099"/>
                </a:solidFill>
              </a:rPr>
              <a:t>3. </a:t>
            </a:r>
            <a:r>
              <a:rPr lang="ko-KR" altLang="en-US" sz="4400" b="1" dirty="0">
                <a:solidFill>
                  <a:srgbClr val="000099"/>
                </a:solidFill>
              </a:rPr>
              <a:t>휘도 측정</a:t>
            </a:r>
            <a:endParaRPr lang="en-US" altLang="ko-KR" sz="4400" b="1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8917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AF947-458F-F890-D01F-24243B819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0EB67A1C-4FA1-1B04-BD21-72D57D67B3E0}"/>
              </a:ext>
            </a:extLst>
          </p:cNvPr>
          <p:cNvSpPr txBox="1"/>
          <p:nvPr/>
        </p:nvSpPr>
        <p:spPr>
          <a:xfrm>
            <a:off x="247361" y="241300"/>
            <a:ext cx="11525540" cy="46166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휘도 측정 데이터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E7F2917-DB87-CDA7-DF47-576240E28E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095092"/>
              </p:ext>
            </p:extLst>
          </p:nvPr>
        </p:nvGraphicFramePr>
        <p:xfrm>
          <a:off x="247361" y="971480"/>
          <a:ext cx="11525542" cy="4734195"/>
        </p:xfrm>
        <a:graphic>
          <a:graphicData uri="http://schemas.openxmlformats.org/drawingml/2006/table">
            <a:tbl>
              <a:tblPr/>
              <a:tblGrid>
                <a:gridCol w="2402279">
                  <a:extLst>
                    <a:ext uri="{9D8B030D-6E8A-4147-A177-3AD203B41FA5}">
                      <a16:colId xmlns:a16="http://schemas.microsoft.com/office/drawing/2014/main" val="2778224822"/>
                    </a:ext>
                  </a:extLst>
                </a:gridCol>
                <a:gridCol w="985204">
                  <a:extLst>
                    <a:ext uri="{9D8B030D-6E8A-4147-A177-3AD203B41FA5}">
                      <a16:colId xmlns:a16="http://schemas.microsoft.com/office/drawing/2014/main" val="902848473"/>
                    </a:ext>
                  </a:extLst>
                </a:gridCol>
                <a:gridCol w="985204">
                  <a:extLst>
                    <a:ext uri="{9D8B030D-6E8A-4147-A177-3AD203B41FA5}">
                      <a16:colId xmlns:a16="http://schemas.microsoft.com/office/drawing/2014/main" val="3255280387"/>
                    </a:ext>
                  </a:extLst>
                </a:gridCol>
                <a:gridCol w="1133660">
                  <a:extLst>
                    <a:ext uri="{9D8B030D-6E8A-4147-A177-3AD203B41FA5}">
                      <a16:colId xmlns:a16="http://schemas.microsoft.com/office/drawing/2014/main" val="314232573"/>
                    </a:ext>
                  </a:extLst>
                </a:gridCol>
                <a:gridCol w="971709">
                  <a:extLst>
                    <a:ext uri="{9D8B030D-6E8A-4147-A177-3AD203B41FA5}">
                      <a16:colId xmlns:a16="http://schemas.microsoft.com/office/drawing/2014/main" val="1672623501"/>
                    </a:ext>
                  </a:extLst>
                </a:gridCol>
                <a:gridCol w="971709">
                  <a:extLst>
                    <a:ext uri="{9D8B030D-6E8A-4147-A177-3AD203B41FA5}">
                      <a16:colId xmlns:a16="http://schemas.microsoft.com/office/drawing/2014/main" val="2503388049"/>
                    </a:ext>
                  </a:extLst>
                </a:gridCol>
                <a:gridCol w="971709">
                  <a:extLst>
                    <a:ext uri="{9D8B030D-6E8A-4147-A177-3AD203B41FA5}">
                      <a16:colId xmlns:a16="http://schemas.microsoft.com/office/drawing/2014/main" val="1822625184"/>
                    </a:ext>
                  </a:extLst>
                </a:gridCol>
                <a:gridCol w="985204">
                  <a:extLst>
                    <a:ext uri="{9D8B030D-6E8A-4147-A177-3AD203B41FA5}">
                      <a16:colId xmlns:a16="http://schemas.microsoft.com/office/drawing/2014/main" val="1812260607"/>
                    </a:ext>
                  </a:extLst>
                </a:gridCol>
                <a:gridCol w="985204">
                  <a:extLst>
                    <a:ext uri="{9D8B030D-6E8A-4147-A177-3AD203B41FA5}">
                      <a16:colId xmlns:a16="http://schemas.microsoft.com/office/drawing/2014/main" val="933688336"/>
                    </a:ext>
                  </a:extLst>
                </a:gridCol>
                <a:gridCol w="1133660">
                  <a:extLst>
                    <a:ext uri="{9D8B030D-6E8A-4147-A177-3AD203B41FA5}">
                      <a16:colId xmlns:a16="http://schemas.microsoft.com/office/drawing/2014/main" val="2762705300"/>
                    </a:ext>
                  </a:extLst>
                </a:gridCol>
              </a:tblGrid>
              <a:tr h="44821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ISE LED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OSRAM</a:t>
                      </a:r>
                      <a:r>
                        <a:rPr lang="en-US" sz="2000" b="0" i="0" u="none" strike="noStrike" baseline="30000" dirty="0">
                          <a:solidFill>
                            <a:srgbClr val="FF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MOBIS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033334"/>
                  </a:ext>
                </a:extLst>
              </a:tr>
              <a:tr h="3603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Color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Cx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휘도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Cx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휘도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Cx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휘도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039200"/>
                  </a:ext>
                </a:extLst>
              </a:tr>
              <a:tr h="3603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0.6852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0.3151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72.63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0.6875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0.3129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346.36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845913"/>
                  </a:ext>
                </a:extLst>
              </a:tr>
              <a:tr h="3603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Green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0.1647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0.7490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86.05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0.1120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0.7336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4996.52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5461474"/>
                  </a:ext>
                </a:extLst>
              </a:tr>
              <a:tr h="3603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Blue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0.1399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0.0440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7.81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0.1361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0.0483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509.02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129602"/>
                  </a:ext>
                </a:extLst>
              </a:tr>
              <a:tr h="36039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White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0.3829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0.3146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160.44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0.3012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0.3424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3211.98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91999"/>
                  </a:ext>
                </a:extLst>
              </a:tr>
              <a:tr h="2484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색좌표</a:t>
                      </a:r>
                      <a:r>
                        <a:rPr lang="ko-KR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그래프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49408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6EB4426-B4AF-BBA6-78B5-64767352418C}"/>
              </a:ext>
            </a:extLst>
          </p:cNvPr>
          <p:cNvSpPr txBox="1"/>
          <p:nvPr/>
        </p:nvSpPr>
        <p:spPr>
          <a:xfrm>
            <a:off x="118050" y="5740387"/>
            <a:ext cx="3873176" cy="11445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aseline="30000" dirty="0">
                <a:solidFill>
                  <a:srgbClr val="FF00FF"/>
                </a:solidFill>
              </a:rPr>
              <a:t>1)</a:t>
            </a:r>
            <a:r>
              <a:rPr lang="en-US" altLang="ko-KR" sz="1400" dirty="0"/>
              <a:t> OSRAM</a:t>
            </a:r>
            <a:r>
              <a:rPr lang="ko-KR" altLang="en-US" sz="1400" dirty="0"/>
              <a:t> </a:t>
            </a:r>
            <a:r>
              <a:rPr lang="en-US" altLang="ko-KR" sz="1400" dirty="0"/>
              <a:t>LED</a:t>
            </a:r>
            <a:r>
              <a:rPr lang="ko-KR" altLang="en-US" sz="1400" dirty="0"/>
              <a:t> </a:t>
            </a:r>
            <a:r>
              <a:rPr lang="en-US" altLang="ko-KR" sz="1400" dirty="0"/>
              <a:t>Module</a:t>
            </a:r>
            <a:r>
              <a:rPr lang="ko-KR" altLang="en-US" sz="1400" dirty="0"/>
              <a:t>의 휘도 측정 불가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100" dirty="0"/>
              <a:t> - </a:t>
            </a:r>
            <a:r>
              <a:rPr lang="ko-KR" altLang="en-US" sz="1100" dirty="0"/>
              <a:t>측정에 사용한 측정 장비는 매우 밝은 빛은 측정 불가함</a:t>
            </a:r>
            <a:r>
              <a:rPr lang="en-US" altLang="ko-KR" sz="1100" dirty="0"/>
              <a:t>.</a:t>
            </a:r>
            <a:endParaRPr lang="ko-KR" altLang="en-US" sz="1100" dirty="0"/>
          </a:p>
          <a:p>
            <a:pPr>
              <a:lnSpc>
                <a:spcPct val="150000"/>
              </a:lnSpc>
            </a:pPr>
            <a:r>
              <a:rPr lang="en-US" altLang="ko-KR" sz="1100" dirty="0"/>
              <a:t> - OSRAM</a:t>
            </a:r>
            <a:r>
              <a:rPr lang="ko-KR" altLang="en-US" sz="1100" dirty="0"/>
              <a:t> </a:t>
            </a:r>
            <a:r>
              <a:rPr lang="en-US" altLang="ko-KR" sz="1100" dirty="0"/>
              <a:t>Module</a:t>
            </a:r>
            <a:r>
              <a:rPr lang="ko-KR" altLang="en-US" sz="1100" dirty="0"/>
              <a:t>엔 밝기 감소 기능이 없음</a:t>
            </a:r>
            <a:r>
              <a:rPr lang="en-US" altLang="ko-KR" sz="1100" dirty="0"/>
              <a:t>.</a:t>
            </a:r>
          </a:p>
          <a:p>
            <a:pPr>
              <a:lnSpc>
                <a:spcPct val="150000"/>
              </a:lnSpc>
            </a:pPr>
            <a:endParaRPr lang="ko-KR" altLang="en-US" sz="11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6980388-4C36-9B5A-935F-B8F1CE782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515" y="3373584"/>
            <a:ext cx="2090323" cy="216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06FDE25-8208-617F-75E4-740DAD3042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98534" y="3384482"/>
            <a:ext cx="2146869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183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DCA4C-4D47-D2A8-C2BD-91C73EEB2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4625D87-00C8-1C1B-6EE1-4469284B6F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31613"/>
              </p:ext>
            </p:extLst>
          </p:nvPr>
        </p:nvGraphicFramePr>
        <p:xfrm>
          <a:off x="247360" y="1047863"/>
          <a:ext cx="11525544" cy="130339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920924">
                  <a:extLst>
                    <a:ext uri="{9D8B030D-6E8A-4147-A177-3AD203B41FA5}">
                      <a16:colId xmlns:a16="http://schemas.microsoft.com/office/drawing/2014/main" val="3211032197"/>
                    </a:ext>
                  </a:extLst>
                </a:gridCol>
                <a:gridCol w="1920924">
                  <a:extLst>
                    <a:ext uri="{9D8B030D-6E8A-4147-A177-3AD203B41FA5}">
                      <a16:colId xmlns:a16="http://schemas.microsoft.com/office/drawing/2014/main" val="2374002308"/>
                    </a:ext>
                  </a:extLst>
                </a:gridCol>
                <a:gridCol w="1920924">
                  <a:extLst>
                    <a:ext uri="{9D8B030D-6E8A-4147-A177-3AD203B41FA5}">
                      <a16:colId xmlns:a16="http://schemas.microsoft.com/office/drawing/2014/main" val="775702590"/>
                    </a:ext>
                  </a:extLst>
                </a:gridCol>
                <a:gridCol w="1920924">
                  <a:extLst>
                    <a:ext uri="{9D8B030D-6E8A-4147-A177-3AD203B41FA5}">
                      <a16:colId xmlns:a16="http://schemas.microsoft.com/office/drawing/2014/main" val="1123863001"/>
                    </a:ext>
                  </a:extLst>
                </a:gridCol>
                <a:gridCol w="1920924">
                  <a:extLst>
                    <a:ext uri="{9D8B030D-6E8A-4147-A177-3AD203B41FA5}">
                      <a16:colId xmlns:a16="http://schemas.microsoft.com/office/drawing/2014/main" val="1971966029"/>
                    </a:ext>
                  </a:extLst>
                </a:gridCol>
                <a:gridCol w="1920924">
                  <a:extLst>
                    <a:ext uri="{9D8B030D-6E8A-4147-A177-3AD203B41FA5}">
                      <a16:colId xmlns:a16="http://schemas.microsoft.com/office/drawing/2014/main" val="1296142712"/>
                    </a:ext>
                  </a:extLst>
                </a:gridCol>
              </a:tblGrid>
              <a:tr h="27726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RED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00FF00"/>
                          </a:solidFill>
                        </a:rPr>
                        <a:t>GREEN</a:t>
                      </a:r>
                      <a:endParaRPr lang="ko-KR" altLang="en-US" dirty="0">
                        <a:solidFill>
                          <a:srgbClr val="00FF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0000FF"/>
                          </a:solidFill>
                        </a:rPr>
                        <a:t>BLUE</a:t>
                      </a:r>
                      <a:endParaRPr lang="ko-KR" altLang="en-US" dirty="0">
                        <a:solidFill>
                          <a:srgbClr val="0000FF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516923"/>
                  </a:ext>
                </a:extLst>
              </a:tr>
              <a:tr h="2310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Cx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Cy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Cx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Cy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Cx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Cy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7598893"/>
                  </a:ext>
                </a:extLst>
              </a:tr>
              <a:tr h="6328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0.6865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0.3139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0.1130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0.7388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0.1348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0.0484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2826609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45A8B83-B831-E9EF-2225-976CDDC3C5BE}"/>
              </a:ext>
            </a:extLst>
          </p:cNvPr>
          <p:cNvSpPr txBox="1"/>
          <p:nvPr/>
        </p:nvSpPr>
        <p:spPr>
          <a:xfrm>
            <a:off x="247359" y="241300"/>
            <a:ext cx="11525541" cy="46166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/>
            </a:lvl1pPr>
          </a:lstStyle>
          <a:p>
            <a:r>
              <a:rPr lang="ko-KR" altLang="en-US" dirty="0"/>
              <a:t>참고자료</a:t>
            </a:r>
            <a:r>
              <a:rPr lang="en-US" altLang="ko-KR" dirty="0"/>
              <a:t>. MOBIS ID804 RGB</a:t>
            </a:r>
            <a:r>
              <a:rPr lang="ko-KR" altLang="en-US" dirty="0"/>
              <a:t> 색구현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0BB2934-6342-C232-FFE3-9C3B367FFB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498681"/>
              </p:ext>
            </p:extLst>
          </p:nvPr>
        </p:nvGraphicFramePr>
        <p:xfrm>
          <a:off x="247358" y="2696151"/>
          <a:ext cx="11520000" cy="3767456"/>
        </p:xfrm>
        <a:graphic>
          <a:graphicData uri="http://schemas.openxmlformats.org/drawingml/2006/table">
            <a:tbl>
              <a:tblPr/>
              <a:tblGrid>
                <a:gridCol w="1080000">
                  <a:extLst>
                    <a:ext uri="{9D8B030D-6E8A-4147-A177-3AD203B41FA5}">
                      <a16:colId xmlns:a16="http://schemas.microsoft.com/office/drawing/2014/main" val="75388007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326368718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09261928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89674487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85315483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71098310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21317445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711581417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093587405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35895825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33071218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534475602"/>
                    </a:ext>
                  </a:extLst>
                </a:gridCol>
              </a:tblGrid>
              <a:tr h="3333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Color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Cx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Cy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Color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Cx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Cy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Color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Cx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Cy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Color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Cx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Cy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511514"/>
                  </a:ext>
                </a:extLst>
              </a:tr>
              <a:tr h="2146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01B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0.1984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0.0777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14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0.6705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0.3255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C8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0.4199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0.5140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BE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0.1324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0.2670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84705"/>
                  </a:ext>
                </a:extLst>
              </a:tr>
              <a:tr h="2146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00A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0.2258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0.0909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1E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0.6579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0.3349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D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0.3851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0.5402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0.1291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0.2389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8900055"/>
                  </a:ext>
                </a:extLst>
              </a:tr>
              <a:tr h="2146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00A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0.2498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0.1024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8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0.6490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0.3416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EB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0.3610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0.5584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5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0.1302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0.2032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77444"/>
                  </a:ext>
                </a:extLst>
              </a:tr>
              <a:tr h="2146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009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0.2803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0.1169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2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0.6472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0.3429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F50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0.3414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0.5731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0.1307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0.1831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646220"/>
                  </a:ext>
                </a:extLst>
              </a:tr>
              <a:tr h="2146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009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0.3141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0.1331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0.6378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0.3500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FA1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0.3225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0.5867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2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0.1315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0.1557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901715"/>
                  </a:ext>
                </a:extLst>
              </a:tr>
              <a:tr h="2146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9008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0.3488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0.1497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0.6286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0.3569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FF2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0.3042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0.5870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E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0.1323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0.1298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004701"/>
                  </a:ext>
                </a:extLst>
              </a:tr>
              <a:tr h="2146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007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0.3897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0.1693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0.6177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0.3651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FF3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0.2870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0.5763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0.1330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0.1067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7422870"/>
                  </a:ext>
                </a:extLst>
              </a:tr>
              <a:tr h="2146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1007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0.4324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0.1897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A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0.6071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0.3731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FA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0.2741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0.5520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0.1336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0.0852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4645449"/>
                  </a:ext>
                </a:extLst>
              </a:tr>
              <a:tr h="2146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0.4989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0.2215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4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0.5970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0.3807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F56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0.2543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0.5268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2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0.1404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0.0724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43110"/>
                  </a:ext>
                </a:extLst>
              </a:tr>
              <a:tr h="2146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005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0.5526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0.2471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6E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0.5832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0.3910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9F0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0.2400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0.4920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28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0.1469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0.0700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929136"/>
                  </a:ext>
                </a:extLst>
              </a:tr>
              <a:tr h="2146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004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0.6111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0.2750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78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0.5630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0.4063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EB8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0.2293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0.4557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E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0.1537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0.0671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6689762"/>
                  </a:ext>
                </a:extLst>
              </a:tr>
              <a:tr h="2146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3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0.6360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0.2869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82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0.5434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0.4210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E6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0.2151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0.4255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4E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0.1636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0.0702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465832"/>
                  </a:ext>
                </a:extLst>
              </a:tr>
              <a:tr h="2146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001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0.6527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0.2948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8C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0.5183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0.4399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E1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0.1880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0.3843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0A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0.1688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0.0706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280644"/>
                  </a:ext>
                </a:extLst>
              </a:tr>
              <a:tr h="2146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000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0.6679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0.3021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D296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96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0.4988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0.4546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DC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0.1745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0.3496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05C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0.1748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0.0708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557541"/>
                  </a:ext>
                </a:extLst>
              </a:tr>
              <a:tr h="2146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0.6800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0.3078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A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0.4812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0.4679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D2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0.1614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0.3224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03C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0.1836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0.0722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839264"/>
                  </a:ext>
                </a:extLst>
              </a:tr>
              <a:tr h="21463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A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0.6802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0.3182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B9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0.4413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0.4979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C8D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0.1458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0.2938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02B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0.1925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0.0751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403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6169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0F073-D742-8C9E-6639-3893BF5FB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D6AEAA2-AA5C-EB06-4CAE-B270C89F59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859274"/>
              </p:ext>
            </p:extLst>
          </p:nvPr>
        </p:nvGraphicFramePr>
        <p:xfrm>
          <a:off x="369454" y="1115244"/>
          <a:ext cx="11275622" cy="4380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811">
                  <a:extLst>
                    <a:ext uri="{9D8B030D-6E8A-4147-A177-3AD203B41FA5}">
                      <a16:colId xmlns:a16="http://schemas.microsoft.com/office/drawing/2014/main" val="2513924651"/>
                    </a:ext>
                  </a:extLst>
                </a:gridCol>
                <a:gridCol w="5637811">
                  <a:extLst>
                    <a:ext uri="{9D8B030D-6E8A-4147-A177-3AD203B41FA5}">
                      <a16:colId xmlns:a16="http://schemas.microsoft.com/office/drawing/2014/main" val="312373214"/>
                    </a:ext>
                  </a:extLst>
                </a:gridCol>
              </a:tblGrid>
              <a:tr h="4380392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57946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EC44424-E963-2032-FA0E-06E42217E191}"/>
              </a:ext>
            </a:extLst>
          </p:cNvPr>
          <p:cNvSpPr txBox="1"/>
          <p:nvPr/>
        </p:nvSpPr>
        <p:spPr>
          <a:xfrm>
            <a:off x="247359" y="241300"/>
            <a:ext cx="11525541" cy="461665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2400"/>
            </a:lvl1pPr>
          </a:lstStyle>
          <a:p>
            <a:r>
              <a:rPr lang="ko-KR" altLang="en-US" dirty="0"/>
              <a:t>참고자료</a:t>
            </a:r>
            <a:r>
              <a:rPr lang="en-US" altLang="ko-KR" dirty="0"/>
              <a:t>. MOBIS ID804 </a:t>
            </a:r>
            <a:r>
              <a:rPr lang="ko-KR" altLang="en-US" dirty="0" err="1"/>
              <a:t>색좌표</a:t>
            </a:r>
            <a:r>
              <a:rPr lang="ko-KR" altLang="en-US" dirty="0"/>
              <a:t> 오차 그래프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CA8757A-1F27-EAA4-9F83-1650FFF92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83" y="1467611"/>
            <a:ext cx="4725059" cy="355332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03F7D3B-7BB8-782D-EA4D-EDFB28AD3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589" y="1467611"/>
            <a:ext cx="4963218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356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430</Words>
  <Application>Microsoft Office PowerPoint</Application>
  <PresentationFormat>와이드스크린</PresentationFormat>
  <Paragraphs>312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 준영</dc:creator>
  <cp:lastModifiedBy>이 준영</cp:lastModifiedBy>
  <cp:revision>14</cp:revision>
  <dcterms:created xsi:type="dcterms:W3CDTF">2024-11-20T06:59:33Z</dcterms:created>
  <dcterms:modified xsi:type="dcterms:W3CDTF">2024-11-21T01:30:54Z</dcterms:modified>
</cp:coreProperties>
</file>